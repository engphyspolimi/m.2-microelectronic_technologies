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3"/>
  </p:notesMasterIdLst>
  <p:handoutMasterIdLst>
    <p:handoutMasterId r:id="rId34"/>
  </p:handoutMasterIdLst>
  <p:sldIdLst>
    <p:sldId id="334" r:id="rId5"/>
    <p:sldId id="336" r:id="rId6"/>
    <p:sldId id="338" r:id="rId7"/>
    <p:sldId id="339" r:id="rId8"/>
    <p:sldId id="340" r:id="rId9"/>
    <p:sldId id="341" r:id="rId10"/>
    <p:sldId id="342" r:id="rId11"/>
    <p:sldId id="370" r:id="rId12"/>
    <p:sldId id="343" r:id="rId13"/>
    <p:sldId id="344" r:id="rId14"/>
    <p:sldId id="350" r:id="rId15"/>
    <p:sldId id="351" r:id="rId16"/>
    <p:sldId id="352" r:id="rId17"/>
    <p:sldId id="353" r:id="rId18"/>
    <p:sldId id="354" r:id="rId19"/>
    <p:sldId id="355" r:id="rId20"/>
    <p:sldId id="356" r:id="rId21"/>
    <p:sldId id="360" r:id="rId22"/>
    <p:sldId id="361" r:id="rId23"/>
    <p:sldId id="362" r:id="rId24"/>
    <p:sldId id="363" r:id="rId25"/>
    <p:sldId id="364" r:id="rId26"/>
    <p:sldId id="365" r:id="rId27"/>
    <p:sldId id="366" r:id="rId28"/>
    <p:sldId id="367" r:id="rId29"/>
    <p:sldId id="368" r:id="rId30"/>
    <p:sldId id="359" r:id="rId31"/>
    <p:sldId id="36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2D2D83-1241-402E-B33A-3A1DEBF81EFD}" v="1" dt="2025-02-14T09:42:22.124"/>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718" autoAdjust="0"/>
  </p:normalViewPr>
  <p:slideViewPr>
    <p:cSldViewPr snapToGrid="0" showGuides="1">
      <p:cViewPr>
        <p:scale>
          <a:sx n="71" d="100"/>
          <a:sy n="71" d="100"/>
        </p:scale>
        <p:origin x="484" y="48"/>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5E2D2D83-1241-402E-B33A-3A1DEBF81EFD}"/>
    <pc:docChg chg="addSld delSld modSld">
      <pc:chgData name="Marcello Mariani" userId="1e342699-93ad-4e2e-93b0-0f6a2c00c4b8" providerId="ADAL" clId="{5E2D2D83-1241-402E-B33A-3A1DEBF81EFD}" dt="2025-02-14T09:42:22.091" v="1"/>
      <pc:docMkLst>
        <pc:docMk/>
      </pc:docMkLst>
      <pc:sldChg chg="del">
        <pc:chgData name="Marcello Mariani" userId="1e342699-93ad-4e2e-93b0-0f6a2c00c4b8" providerId="ADAL" clId="{5E2D2D83-1241-402E-B33A-3A1DEBF81EFD}" dt="2025-02-14T09:42:20.992" v="0" actId="47"/>
        <pc:sldMkLst>
          <pc:docMk/>
          <pc:sldMk cId="0" sldId="310"/>
        </pc:sldMkLst>
      </pc:sldChg>
      <pc:sldChg chg="del">
        <pc:chgData name="Marcello Mariani" userId="1e342699-93ad-4e2e-93b0-0f6a2c00c4b8" providerId="ADAL" clId="{5E2D2D83-1241-402E-B33A-3A1DEBF81EFD}" dt="2025-02-14T09:42:20.992" v="0" actId="47"/>
        <pc:sldMkLst>
          <pc:docMk/>
          <pc:sldMk cId="0" sldId="311"/>
        </pc:sldMkLst>
      </pc:sldChg>
      <pc:sldChg chg="del">
        <pc:chgData name="Marcello Mariani" userId="1e342699-93ad-4e2e-93b0-0f6a2c00c4b8" providerId="ADAL" clId="{5E2D2D83-1241-402E-B33A-3A1DEBF81EFD}" dt="2025-02-14T09:42:20.992" v="0" actId="47"/>
        <pc:sldMkLst>
          <pc:docMk/>
          <pc:sldMk cId="0" sldId="312"/>
        </pc:sldMkLst>
      </pc:sldChg>
      <pc:sldChg chg="del">
        <pc:chgData name="Marcello Mariani" userId="1e342699-93ad-4e2e-93b0-0f6a2c00c4b8" providerId="ADAL" clId="{5E2D2D83-1241-402E-B33A-3A1DEBF81EFD}" dt="2025-02-14T09:42:20.992" v="0" actId="47"/>
        <pc:sldMkLst>
          <pc:docMk/>
          <pc:sldMk cId="0" sldId="313"/>
        </pc:sldMkLst>
      </pc:sldChg>
      <pc:sldChg chg="del">
        <pc:chgData name="Marcello Mariani" userId="1e342699-93ad-4e2e-93b0-0f6a2c00c4b8" providerId="ADAL" clId="{5E2D2D83-1241-402E-B33A-3A1DEBF81EFD}" dt="2025-02-14T09:42:20.992" v="0" actId="47"/>
        <pc:sldMkLst>
          <pc:docMk/>
          <pc:sldMk cId="0" sldId="314"/>
        </pc:sldMkLst>
      </pc:sldChg>
      <pc:sldChg chg="del">
        <pc:chgData name="Marcello Mariani" userId="1e342699-93ad-4e2e-93b0-0f6a2c00c4b8" providerId="ADAL" clId="{5E2D2D83-1241-402E-B33A-3A1DEBF81EFD}" dt="2025-02-14T09:42:20.992" v="0" actId="47"/>
        <pc:sldMkLst>
          <pc:docMk/>
          <pc:sldMk cId="0" sldId="315"/>
        </pc:sldMkLst>
      </pc:sldChg>
      <pc:sldChg chg="del">
        <pc:chgData name="Marcello Mariani" userId="1e342699-93ad-4e2e-93b0-0f6a2c00c4b8" providerId="ADAL" clId="{5E2D2D83-1241-402E-B33A-3A1DEBF81EFD}" dt="2025-02-14T09:42:20.992" v="0" actId="47"/>
        <pc:sldMkLst>
          <pc:docMk/>
          <pc:sldMk cId="0" sldId="316"/>
        </pc:sldMkLst>
      </pc:sldChg>
      <pc:sldChg chg="del">
        <pc:chgData name="Marcello Mariani" userId="1e342699-93ad-4e2e-93b0-0f6a2c00c4b8" providerId="ADAL" clId="{5E2D2D83-1241-402E-B33A-3A1DEBF81EFD}" dt="2025-02-14T09:42:20.992" v="0" actId="47"/>
        <pc:sldMkLst>
          <pc:docMk/>
          <pc:sldMk cId="0" sldId="317"/>
        </pc:sldMkLst>
      </pc:sldChg>
      <pc:sldChg chg="del">
        <pc:chgData name="Marcello Mariani" userId="1e342699-93ad-4e2e-93b0-0f6a2c00c4b8" providerId="ADAL" clId="{5E2D2D83-1241-402E-B33A-3A1DEBF81EFD}" dt="2025-02-14T09:42:20.992" v="0" actId="47"/>
        <pc:sldMkLst>
          <pc:docMk/>
          <pc:sldMk cId="0" sldId="318"/>
        </pc:sldMkLst>
      </pc:sldChg>
      <pc:sldChg chg="del">
        <pc:chgData name="Marcello Mariani" userId="1e342699-93ad-4e2e-93b0-0f6a2c00c4b8" providerId="ADAL" clId="{5E2D2D83-1241-402E-B33A-3A1DEBF81EFD}" dt="2025-02-14T09:42:20.992" v="0" actId="47"/>
        <pc:sldMkLst>
          <pc:docMk/>
          <pc:sldMk cId="0" sldId="319"/>
        </pc:sldMkLst>
      </pc:sldChg>
      <pc:sldChg chg="del">
        <pc:chgData name="Marcello Mariani" userId="1e342699-93ad-4e2e-93b0-0f6a2c00c4b8" providerId="ADAL" clId="{5E2D2D83-1241-402E-B33A-3A1DEBF81EFD}" dt="2025-02-14T09:42:20.992" v="0" actId="47"/>
        <pc:sldMkLst>
          <pc:docMk/>
          <pc:sldMk cId="0" sldId="320"/>
        </pc:sldMkLst>
      </pc:sldChg>
      <pc:sldChg chg="del">
        <pc:chgData name="Marcello Mariani" userId="1e342699-93ad-4e2e-93b0-0f6a2c00c4b8" providerId="ADAL" clId="{5E2D2D83-1241-402E-B33A-3A1DEBF81EFD}" dt="2025-02-14T09:42:20.992" v="0" actId="47"/>
        <pc:sldMkLst>
          <pc:docMk/>
          <pc:sldMk cId="0" sldId="321"/>
        </pc:sldMkLst>
      </pc:sldChg>
      <pc:sldChg chg="del">
        <pc:chgData name="Marcello Mariani" userId="1e342699-93ad-4e2e-93b0-0f6a2c00c4b8" providerId="ADAL" clId="{5E2D2D83-1241-402E-B33A-3A1DEBF81EFD}" dt="2025-02-14T09:42:20.992" v="0" actId="47"/>
        <pc:sldMkLst>
          <pc:docMk/>
          <pc:sldMk cId="0" sldId="322"/>
        </pc:sldMkLst>
      </pc:sldChg>
      <pc:sldChg chg="del">
        <pc:chgData name="Marcello Mariani" userId="1e342699-93ad-4e2e-93b0-0f6a2c00c4b8" providerId="ADAL" clId="{5E2D2D83-1241-402E-B33A-3A1DEBF81EFD}" dt="2025-02-14T09:42:20.992" v="0" actId="47"/>
        <pc:sldMkLst>
          <pc:docMk/>
          <pc:sldMk cId="0" sldId="323"/>
        </pc:sldMkLst>
      </pc:sldChg>
      <pc:sldChg chg="del">
        <pc:chgData name="Marcello Mariani" userId="1e342699-93ad-4e2e-93b0-0f6a2c00c4b8" providerId="ADAL" clId="{5E2D2D83-1241-402E-B33A-3A1DEBF81EFD}" dt="2025-02-14T09:42:20.992" v="0" actId="47"/>
        <pc:sldMkLst>
          <pc:docMk/>
          <pc:sldMk cId="0" sldId="324"/>
        </pc:sldMkLst>
      </pc:sldChg>
      <pc:sldChg chg="del">
        <pc:chgData name="Marcello Mariani" userId="1e342699-93ad-4e2e-93b0-0f6a2c00c4b8" providerId="ADAL" clId="{5E2D2D83-1241-402E-B33A-3A1DEBF81EFD}" dt="2025-02-14T09:42:20.992" v="0" actId="47"/>
        <pc:sldMkLst>
          <pc:docMk/>
          <pc:sldMk cId="0" sldId="325"/>
        </pc:sldMkLst>
      </pc:sldChg>
      <pc:sldChg chg="del">
        <pc:chgData name="Marcello Mariani" userId="1e342699-93ad-4e2e-93b0-0f6a2c00c4b8" providerId="ADAL" clId="{5E2D2D83-1241-402E-B33A-3A1DEBF81EFD}" dt="2025-02-14T09:42:20.992" v="0" actId="47"/>
        <pc:sldMkLst>
          <pc:docMk/>
          <pc:sldMk cId="0" sldId="326"/>
        </pc:sldMkLst>
      </pc:sldChg>
      <pc:sldChg chg="del">
        <pc:chgData name="Marcello Mariani" userId="1e342699-93ad-4e2e-93b0-0f6a2c00c4b8" providerId="ADAL" clId="{5E2D2D83-1241-402E-B33A-3A1DEBF81EFD}" dt="2025-02-14T09:42:20.992" v="0" actId="47"/>
        <pc:sldMkLst>
          <pc:docMk/>
          <pc:sldMk cId="0" sldId="327"/>
        </pc:sldMkLst>
      </pc:sldChg>
      <pc:sldChg chg="del">
        <pc:chgData name="Marcello Mariani" userId="1e342699-93ad-4e2e-93b0-0f6a2c00c4b8" providerId="ADAL" clId="{5E2D2D83-1241-402E-B33A-3A1DEBF81EFD}" dt="2025-02-14T09:42:20.992" v="0" actId="47"/>
        <pc:sldMkLst>
          <pc:docMk/>
          <pc:sldMk cId="0" sldId="329"/>
        </pc:sldMkLst>
      </pc:sldChg>
      <pc:sldChg chg="del">
        <pc:chgData name="Marcello Mariani" userId="1e342699-93ad-4e2e-93b0-0f6a2c00c4b8" providerId="ADAL" clId="{5E2D2D83-1241-402E-B33A-3A1DEBF81EFD}" dt="2025-02-14T09:42:20.992" v="0" actId="47"/>
        <pc:sldMkLst>
          <pc:docMk/>
          <pc:sldMk cId="0" sldId="330"/>
        </pc:sldMkLst>
      </pc:sldChg>
      <pc:sldChg chg="del">
        <pc:chgData name="Marcello Mariani" userId="1e342699-93ad-4e2e-93b0-0f6a2c00c4b8" providerId="ADAL" clId="{5E2D2D83-1241-402E-B33A-3A1DEBF81EFD}" dt="2025-02-14T09:42:20.992" v="0" actId="47"/>
        <pc:sldMkLst>
          <pc:docMk/>
          <pc:sldMk cId="0" sldId="331"/>
        </pc:sldMkLst>
      </pc:sldChg>
      <pc:sldChg chg="del">
        <pc:chgData name="Marcello Mariani" userId="1e342699-93ad-4e2e-93b0-0f6a2c00c4b8" providerId="ADAL" clId="{5E2D2D83-1241-402E-B33A-3A1DEBF81EFD}" dt="2025-02-14T09:42:20.992" v="0" actId="47"/>
        <pc:sldMkLst>
          <pc:docMk/>
          <pc:sldMk cId="0" sldId="332"/>
        </pc:sldMkLst>
      </pc:sldChg>
      <pc:sldChg chg="del">
        <pc:chgData name="Marcello Mariani" userId="1e342699-93ad-4e2e-93b0-0f6a2c00c4b8" providerId="ADAL" clId="{5E2D2D83-1241-402E-B33A-3A1DEBF81EFD}" dt="2025-02-14T09:42:20.992" v="0" actId="47"/>
        <pc:sldMkLst>
          <pc:docMk/>
          <pc:sldMk cId="0" sldId="333"/>
        </pc:sldMkLst>
      </pc:sldChg>
      <pc:sldChg chg="add">
        <pc:chgData name="Marcello Mariani" userId="1e342699-93ad-4e2e-93b0-0f6a2c00c4b8" providerId="ADAL" clId="{5E2D2D83-1241-402E-B33A-3A1DEBF81EFD}" dt="2025-02-14T09:42:22.091" v="1"/>
        <pc:sldMkLst>
          <pc:docMk/>
          <pc:sldMk cId="0" sldId="334"/>
        </pc:sldMkLst>
      </pc:sldChg>
      <pc:sldChg chg="add">
        <pc:chgData name="Marcello Mariani" userId="1e342699-93ad-4e2e-93b0-0f6a2c00c4b8" providerId="ADAL" clId="{5E2D2D83-1241-402E-B33A-3A1DEBF81EFD}" dt="2025-02-14T09:42:22.091" v="1"/>
        <pc:sldMkLst>
          <pc:docMk/>
          <pc:sldMk cId="0" sldId="336"/>
        </pc:sldMkLst>
      </pc:sldChg>
      <pc:sldChg chg="del">
        <pc:chgData name="Marcello Mariani" userId="1e342699-93ad-4e2e-93b0-0f6a2c00c4b8" providerId="ADAL" clId="{5E2D2D83-1241-402E-B33A-3A1DEBF81EFD}" dt="2025-02-14T09:42:20.992" v="0" actId="47"/>
        <pc:sldMkLst>
          <pc:docMk/>
          <pc:sldMk cId="0" sldId="337"/>
        </pc:sldMkLst>
      </pc:sldChg>
      <pc:sldChg chg="add">
        <pc:chgData name="Marcello Mariani" userId="1e342699-93ad-4e2e-93b0-0f6a2c00c4b8" providerId="ADAL" clId="{5E2D2D83-1241-402E-B33A-3A1DEBF81EFD}" dt="2025-02-14T09:42:22.091" v="1"/>
        <pc:sldMkLst>
          <pc:docMk/>
          <pc:sldMk cId="0" sldId="338"/>
        </pc:sldMkLst>
      </pc:sldChg>
      <pc:sldChg chg="add">
        <pc:chgData name="Marcello Mariani" userId="1e342699-93ad-4e2e-93b0-0f6a2c00c4b8" providerId="ADAL" clId="{5E2D2D83-1241-402E-B33A-3A1DEBF81EFD}" dt="2025-02-14T09:42:22.091" v="1"/>
        <pc:sldMkLst>
          <pc:docMk/>
          <pc:sldMk cId="0" sldId="339"/>
        </pc:sldMkLst>
      </pc:sldChg>
      <pc:sldChg chg="add">
        <pc:chgData name="Marcello Mariani" userId="1e342699-93ad-4e2e-93b0-0f6a2c00c4b8" providerId="ADAL" clId="{5E2D2D83-1241-402E-B33A-3A1DEBF81EFD}" dt="2025-02-14T09:42:22.091" v="1"/>
        <pc:sldMkLst>
          <pc:docMk/>
          <pc:sldMk cId="0" sldId="340"/>
        </pc:sldMkLst>
      </pc:sldChg>
      <pc:sldChg chg="add">
        <pc:chgData name="Marcello Mariani" userId="1e342699-93ad-4e2e-93b0-0f6a2c00c4b8" providerId="ADAL" clId="{5E2D2D83-1241-402E-B33A-3A1DEBF81EFD}" dt="2025-02-14T09:42:22.091" v="1"/>
        <pc:sldMkLst>
          <pc:docMk/>
          <pc:sldMk cId="0" sldId="341"/>
        </pc:sldMkLst>
      </pc:sldChg>
      <pc:sldChg chg="add">
        <pc:chgData name="Marcello Mariani" userId="1e342699-93ad-4e2e-93b0-0f6a2c00c4b8" providerId="ADAL" clId="{5E2D2D83-1241-402E-B33A-3A1DEBF81EFD}" dt="2025-02-14T09:42:22.091" v="1"/>
        <pc:sldMkLst>
          <pc:docMk/>
          <pc:sldMk cId="0" sldId="342"/>
        </pc:sldMkLst>
      </pc:sldChg>
      <pc:sldChg chg="add">
        <pc:chgData name="Marcello Mariani" userId="1e342699-93ad-4e2e-93b0-0f6a2c00c4b8" providerId="ADAL" clId="{5E2D2D83-1241-402E-B33A-3A1DEBF81EFD}" dt="2025-02-14T09:42:22.091" v="1"/>
        <pc:sldMkLst>
          <pc:docMk/>
          <pc:sldMk cId="0" sldId="343"/>
        </pc:sldMkLst>
      </pc:sldChg>
      <pc:sldChg chg="add">
        <pc:chgData name="Marcello Mariani" userId="1e342699-93ad-4e2e-93b0-0f6a2c00c4b8" providerId="ADAL" clId="{5E2D2D83-1241-402E-B33A-3A1DEBF81EFD}" dt="2025-02-14T09:42:22.091" v="1"/>
        <pc:sldMkLst>
          <pc:docMk/>
          <pc:sldMk cId="0" sldId="344"/>
        </pc:sldMkLst>
      </pc:sldChg>
      <pc:sldChg chg="del">
        <pc:chgData name="Marcello Mariani" userId="1e342699-93ad-4e2e-93b0-0f6a2c00c4b8" providerId="ADAL" clId="{5E2D2D83-1241-402E-B33A-3A1DEBF81EFD}" dt="2025-02-14T09:42:20.992" v="0" actId="47"/>
        <pc:sldMkLst>
          <pc:docMk/>
          <pc:sldMk cId="0" sldId="345"/>
        </pc:sldMkLst>
      </pc:sldChg>
      <pc:sldChg chg="del">
        <pc:chgData name="Marcello Mariani" userId="1e342699-93ad-4e2e-93b0-0f6a2c00c4b8" providerId="ADAL" clId="{5E2D2D83-1241-402E-B33A-3A1DEBF81EFD}" dt="2025-02-14T09:42:20.992" v="0" actId="47"/>
        <pc:sldMkLst>
          <pc:docMk/>
          <pc:sldMk cId="0" sldId="346"/>
        </pc:sldMkLst>
      </pc:sldChg>
      <pc:sldChg chg="del">
        <pc:chgData name="Marcello Mariani" userId="1e342699-93ad-4e2e-93b0-0f6a2c00c4b8" providerId="ADAL" clId="{5E2D2D83-1241-402E-B33A-3A1DEBF81EFD}" dt="2025-02-14T09:42:20.992" v="0" actId="47"/>
        <pc:sldMkLst>
          <pc:docMk/>
          <pc:sldMk cId="0" sldId="347"/>
        </pc:sldMkLst>
      </pc:sldChg>
      <pc:sldChg chg="del">
        <pc:chgData name="Marcello Mariani" userId="1e342699-93ad-4e2e-93b0-0f6a2c00c4b8" providerId="ADAL" clId="{5E2D2D83-1241-402E-B33A-3A1DEBF81EFD}" dt="2025-02-14T09:42:20.992" v="0" actId="47"/>
        <pc:sldMkLst>
          <pc:docMk/>
          <pc:sldMk cId="0" sldId="348"/>
        </pc:sldMkLst>
      </pc:sldChg>
      <pc:sldChg chg="del">
        <pc:chgData name="Marcello Mariani" userId="1e342699-93ad-4e2e-93b0-0f6a2c00c4b8" providerId="ADAL" clId="{5E2D2D83-1241-402E-B33A-3A1DEBF81EFD}" dt="2025-02-14T09:42:20.992" v="0" actId="47"/>
        <pc:sldMkLst>
          <pc:docMk/>
          <pc:sldMk cId="0" sldId="349"/>
        </pc:sldMkLst>
      </pc:sldChg>
      <pc:sldChg chg="add del">
        <pc:chgData name="Marcello Mariani" userId="1e342699-93ad-4e2e-93b0-0f6a2c00c4b8" providerId="ADAL" clId="{5E2D2D83-1241-402E-B33A-3A1DEBF81EFD}" dt="2025-02-14T09:42:22.091" v="1"/>
        <pc:sldMkLst>
          <pc:docMk/>
          <pc:sldMk cId="0" sldId="350"/>
        </pc:sldMkLst>
      </pc:sldChg>
      <pc:sldChg chg="add del">
        <pc:chgData name="Marcello Mariani" userId="1e342699-93ad-4e2e-93b0-0f6a2c00c4b8" providerId="ADAL" clId="{5E2D2D83-1241-402E-B33A-3A1DEBF81EFD}" dt="2025-02-14T09:42:22.091" v="1"/>
        <pc:sldMkLst>
          <pc:docMk/>
          <pc:sldMk cId="0" sldId="351"/>
        </pc:sldMkLst>
      </pc:sldChg>
      <pc:sldChg chg="add del">
        <pc:chgData name="Marcello Mariani" userId="1e342699-93ad-4e2e-93b0-0f6a2c00c4b8" providerId="ADAL" clId="{5E2D2D83-1241-402E-B33A-3A1DEBF81EFD}" dt="2025-02-14T09:42:22.091" v="1"/>
        <pc:sldMkLst>
          <pc:docMk/>
          <pc:sldMk cId="0" sldId="352"/>
        </pc:sldMkLst>
      </pc:sldChg>
      <pc:sldChg chg="add del">
        <pc:chgData name="Marcello Mariani" userId="1e342699-93ad-4e2e-93b0-0f6a2c00c4b8" providerId="ADAL" clId="{5E2D2D83-1241-402E-B33A-3A1DEBF81EFD}" dt="2025-02-14T09:42:22.091" v="1"/>
        <pc:sldMkLst>
          <pc:docMk/>
          <pc:sldMk cId="0" sldId="353"/>
        </pc:sldMkLst>
      </pc:sldChg>
      <pc:sldChg chg="add del">
        <pc:chgData name="Marcello Mariani" userId="1e342699-93ad-4e2e-93b0-0f6a2c00c4b8" providerId="ADAL" clId="{5E2D2D83-1241-402E-B33A-3A1DEBF81EFD}" dt="2025-02-14T09:42:22.091" v="1"/>
        <pc:sldMkLst>
          <pc:docMk/>
          <pc:sldMk cId="0" sldId="354"/>
        </pc:sldMkLst>
      </pc:sldChg>
      <pc:sldChg chg="add">
        <pc:chgData name="Marcello Mariani" userId="1e342699-93ad-4e2e-93b0-0f6a2c00c4b8" providerId="ADAL" clId="{5E2D2D83-1241-402E-B33A-3A1DEBF81EFD}" dt="2025-02-14T09:42:22.091" v="1"/>
        <pc:sldMkLst>
          <pc:docMk/>
          <pc:sldMk cId="0" sldId="355"/>
        </pc:sldMkLst>
      </pc:sldChg>
      <pc:sldChg chg="add">
        <pc:chgData name="Marcello Mariani" userId="1e342699-93ad-4e2e-93b0-0f6a2c00c4b8" providerId="ADAL" clId="{5E2D2D83-1241-402E-B33A-3A1DEBF81EFD}" dt="2025-02-14T09:42:22.091" v="1"/>
        <pc:sldMkLst>
          <pc:docMk/>
          <pc:sldMk cId="0" sldId="356"/>
        </pc:sldMkLst>
      </pc:sldChg>
      <pc:sldChg chg="add">
        <pc:chgData name="Marcello Mariani" userId="1e342699-93ad-4e2e-93b0-0f6a2c00c4b8" providerId="ADAL" clId="{5E2D2D83-1241-402E-B33A-3A1DEBF81EFD}" dt="2025-02-14T09:42:22.091" v="1"/>
        <pc:sldMkLst>
          <pc:docMk/>
          <pc:sldMk cId="0" sldId="359"/>
        </pc:sldMkLst>
      </pc:sldChg>
      <pc:sldChg chg="add">
        <pc:chgData name="Marcello Mariani" userId="1e342699-93ad-4e2e-93b0-0f6a2c00c4b8" providerId="ADAL" clId="{5E2D2D83-1241-402E-B33A-3A1DEBF81EFD}" dt="2025-02-14T09:42:22.091" v="1"/>
        <pc:sldMkLst>
          <pc:docMk/>
          <pc:sldMk cId="0" sldId="360"/>
        </pc:sldMkLst>
      </pc:sldChg>
      <pc:sldChg chg="add">
        <pc:chgData name="Marcello Mariani" userId="1e342699-93ad-4e2e-93b0-0f6a2c00c4b8" providerId="ADAL" clId="{5E2D2D83-1241-402E-B33A-3A1DEBF81EFD}" dt="2025-02-14T09:42:22.091" v="1"/>
        <pc:sldMkLst>
          <pc:docMk/>
          <pc:sldMk cId="0" sldId="361"/>
        </pc:sldMkLst>
      </pc:sldChg>
      <pc:sldChg chg="add">
        <pc:chgData name="Marcello Mariani" userId="1e342699-93ad-4e2e-93b0-0f6a2c00c4b8" providerId="ADAL" clId="{5E2D2D83-1241-402E-B33A-3A1DEBF81EFD}" dt="2025-02-14T09:42:22.091" v="1"/>
        <pc:sldMkLst>
          <pc:docMk/>
          <pc:sldMk cId="0" sldId="362"/>
        </pc:sldMkLst>
      </pc:sldChg>
      <pc:sldChg chg="add">
        <pc:chgData name="Marcello Mariani" userId="1e342699-93ad-4e2e-93b0-0f6a2c00c4b8" providerId="ADAL" clId="{5E2D2D83-1241-402E-B33A-3A1DEBF81EFD}" dt="2025-02-14T09:42:22.091" v="1"/>
        <pc:sldMkLst>
          <pc:docMk/>
          <pc:sldMk cId="0" sldId="363"/>
        </pc:sldMkLst>
      </pc:sldChg>
      <pc:sldChg chg="add">
        <pc:chgData name="Marcello Mariani" userId="1e342699-93ad-4e2e-93b0-0f6a2c00c4b8" providerId="ADAL" clId="{5E2D2D83-1241-402E-B33A-3A1DEBF81EFD}" dt="2025-02-14T09:42:22.091" v="1"/>
        <pc:sldMkLst>
          <pc:docMk/>
          <pc:sldMk cId="0" sldId="364"/>
        </pc:sldMkLst>
      </pc:sldChg>
      <pc:sldChg chg="add">
        <pc:chgData name="Marcello Mariani" userId="1e342699-93ad-4e2e-93b0-0f6a2c00c4b8" providerId="ADAL" clId="{5E2D2D83-1241-402E-B33A-3A1DEBF81EFD}" dt="2025-02-14T09:42:22.091" v="1"/>
        <pc:sldMkLst>
          <pc:docMk/>
          <pc:sldMk cId="0" sldId="365"/>
        </pc:sldMkLst>
      </pc:sldChg>
      <pc:sldChg chg="add">
        <pc:chgData name="Marcello Mariani" userId="1e342699-93ad-4e2e-93b0-0f6a2c00c4b8" providerId="ADAL" clId="{5E2D2D83-1241-402E-B33A-3A1DEBF81EFD}" dt="2025-02-14T09:42:22.091" v="1"/>
        <pc:sldMkLst>
          <pc:docMk/>
          <pc:sldMk cId="0" sldId="366"/>
        </pc:sldMkLst>
      </pc:sldChg>
      <pc:sldChg chg="add">
        <pc:chgData name="Marcello Mariani" userId="1e342699-93ad-4e2e-93b0-0f6a2c00c4b8" providerId="ADAL" clId="{5E2D2D83-1241-402E-B33A-3A1DEBF81EFD}" dt="2025-02-14T09:42:22.091" v="1"/>
        <pc:sldMkLst>
          <pc:docMk/>
          <pc:sldMk cId="0" sldId="367"/>
        </pc:sldMkLst>
      </pc:sldChg>
      <pc:sldChg chg="add">
        <pc:chgData name="Marcello Mariani" userId="1e342699-93ad-4e2e-93b0-0f6a2c00c4b8" providerId="ADAL" clId="{5E2D2D83-1241-402E-B33A-3A1DEBF81EFD}" dt="2025-02-14T09:42:22.091" v="1"/>
        <pc:sldMkLst>
          <pc:docMk/>
          <pc:sldMk cId="0" sldId="368"/>
        </pc:sldMkLst>
      </pc:sldChg>
      <pc:sldChg chg="add">
        <pc:chgData name="Marcello Mariani" userId="1e342699-93ad-4e2e-93b0-0f6a2c00c4b8" providerId="ADAL" clId="{5E2D2D83-1241-402E-B33A-3A1DEBF81EFD}" dt="2025-02-14T09:42:22.091" v="1"/>
        <pc:sldMkLst>
          <pc:docMk/>
          <pc:sldMk cId="0" sldId="369"/>
        </pc:sldMkLst>
      </pc:sldChg>
      <pc:sldChg chg="add">
        <pc:chgData name="Marcello Mariani" userId="1e342699-93ad-4e2e-93b0-0f6a2c00c4b8" providerId="ADAL" clId="{5E2D2D83-1241-402E-B33A-3A1DEBF81EFD}" dt="2025-02-14T09:42:22.091" v="1"/>
        <pc:sldMkLst>
          <pc:docMk/>
          <pc:sldMk cId="99123992" sldId="370"/>
        </pc:sldMkLst>
      </pc:sldChg>
      <pc:sldMasterChg chg="delSldLayout">
        <pc:chgData name="Marcello Mariani" userId="1e342699-93ad-4e2e-93b0-0f6a2c00c4b8" providerId="ADAL" clId="{5E2D2D83-1241-402E-B33A-3A1DEBF81EFD}" dt="2025-02-14T09:42:20.992" v="0" actId="47"/>
        <pc:sldMasterMkLst>
          <pc:docMk/>
          <pc:sldMasterMk cId="1404919433" sldId="2147483648"/>
        </pc:sldMasterMkLst>
        <pc:sldLayoutChg chg="del">
          <pc:chgData name="Marcello Mariani" userId="1e342699-93ad-4e2e-93b0-0f6a2c00c4b8" providerId="ADAL" clId="{5E2D2D83-1241-402E-B33A-3A1DEBF81EFD}" dt="2025-02-14T09:42:20.992" v="0" actId="47"/>
          <pc:sldLayoutMkLst>
            <pc:docMk/>
            <pc:sldMasterMk cId="1404919433" sldId="2147483648"/>
            <pc:sldLayoutMk cId="2690113847" sldId="21474837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2/14/2025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C127C24-BBC9-E498-0265-F0A86E88E486}"/>
              </a:ext>
            </a:extLst>
          </p:cNvPr>
          <p:cNvSpPr>
            <a:spLocks noGrp="1" noChangeArrowheads="1"/>
          </p:cNvSpPr>
          <p:nvPr>
            <p:ph type="sldNum" sz="quarter" idx="10"/>
          </p:nvPr>
        </p:nvSpPr>
        <p:spPr>
          <a:ln/>
        </p:spPr>
        <p:txBody>
          <a:bodyPr/>
          <a:lstStyle>
            <a:lvl1pPr>
              <a:defRPr/>
            </a:lvl1pPr>
          </a:lstStyle>
          <a:p>
            <a:r>
              <a:rPr lang="en-US" altLang="en-US"/>
              <a:t>Page </a:t>
            </a:r>
            <a:fld id="{F9177D9E-655B-4548-B8C0-85F9F95885D3}" type="slidenum">
              <a:rPr lang="en-US" altLang="en-US"/>
              <a:pPr/>
              <a:t>‹#›</a:t>
            </a:fld>
            <a:endParaRPr lang="en-US" altLang="en-US"/>
          </a:p>
        </p:txBody>
      </p:sp>
    </p:spTree>
    <p:extLst>
      <p:ext uri="{BB962C8B-B14F-4D97-AF65-F5344CB8AC3E}">
        <p14:creationId xmlns:p14="http://schemas.microsoft.com/office/powerpoint/2010/main" val="301267641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2.bin"/><Relationship Id="rId1" Type="http://schemas.openxmlformats.org/officeDocument/2006/relationships/slideLayout" Target="../slideLayouts/slideLayout48.xml"/><Relationship Id="rId6" Type="http://schemas.openxmlformats.org/officeDocument/2006/relationships/oleObject" Target="../embeddings/oleObject4.bin"/><Relationship Id="rId5" Type="http://schemas.openxmlformats.org/officeDocument/2006/relationships/image" Target="../media/image10.wmf"/><Relationship Id="rId4" Type="http://schemas.openxmlformats.org/officeDocument/2006/relationships/oleObject" Target="../embeddings/oleObject3.bin"/><Relationship Id="rId9" Type="http://schemas.openxmlformats.org/officeDocument/2006/relationships/image" Target="../media/image12.wmf"/></Relationships>
</file>

<file path=ppt/slides/_rels/slide4.x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4.wmf"/><Relationship Id="rId2" Type="http://schemas.openxmlformats.org/officeDocument/2006/relationships/oleObject" Target="../embeddings/oleObject6.bin"/><Relationship Id="rId1" Type="http://schemas.openxmlformats.org/officeDocument/2006/relationships/slideLayout" Target="../slideLayouts/slideLayout48.xml"/><Relationship Id="rId6" Type="http://schemas.openxmlformats.org/officeDocument/2006/relationships/oleObject" Target="../embeddings/oleObject8.bin"/><Relationship Id="rId5" Type="http://schemas.openxmlformats.org/officeDocument/2006/relationships/image" Target="../media/image13.wmf"/><Relationship Id="rId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9.bin"/><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1.bin"/><Relationship Id="rId1" Type="http://schemas.openxmlformats.org/officeDocument/2006/relationships/slideLayout" Target="../slideLayouts/slideLayout48.xml"/><Relationship Id="rId5" Type="http://schemas.openxmlformats.org/officeDocument/2006/relationships/image" Target="../media/image18.w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emf"/><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3.bin"/><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4.bin"/><Relationship Id="rId1" Type="http://schemas.openxmlformats.org/officeDocument/2006/relationships/slideLayout" Target="../slideLayouts/slideLayout48.xml"/><Relationship Id="rId5" Type="http://schemas.openxmlformats.org/officeDocument/2006/relationships/image" Target="../media/image22.wmf"/><Relationship Id="rId4" Type="http://schemas.openxmlformats.org/officeDocument/2006/relationships/oleObject" Target="../embeddings/oleObject15.bin"/></Relationships>
</file>

<file path=ppt/slides/_rels/slide1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6.bin"/><Relationship Id="rId1" Type="http://schemas.openxmlformats.org/officeDocument/2006/relationships/slideLayout" Target="../slideLayouts/slideLayout4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7.bin"/><Relationship Id="rId1" Type="http://schemas.openxmlformats.org/officeDocument/2006/relationships/slideLayout" Target="../slideLayouts/slideLayout48.xml"/><Relationship Id="rId5" Type="http://schemas.openxmlformats.org/officeDocument/2006/relationships/image" Target="../media/image25.wmf"/><Relationship Id="rId4"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9.bin"/><Relationship Id="rId1" Type="http://schemas.openxmlformats.org/officeDocument/2006/relationships/slideLayout" Target="../slideLayouts/slideLayout48.xml"/><Relationship Id="rId5" Type="http://schemas.openxmlformats.org/officeDocument/2006/relationships/image" Target="../media/image27.wmf"/><Relationship Id="rId4" Type="http://schemas.openxmlformats.org/officeDocument/2006/relationships/oleObject" Target="../embeddings/oleObject20.bin"/></Relationships>
</file>

<file path=ppt/slides/_rels/slide15.x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21.bin"/><Relationship Id="rId1" Type="http://schemas.openxmlformats.org/officeDocument/2006/relationships/slideLayout" Target="../slideLayouts/slideLayout48.xml"/><Relationship Id="rId6" Type="http://schemas.openxmlformats.org/officeDocument/2006/relationships/oleObject" Target="../embeddings/oleObject23.bin"/><Relationship Id="rId5" Type="http://schemas.openxmlformats.org/officeDocument/2006/relationships/image" Target="../media/image27.wmf"/><Relationship Id="rId4" Type="http://schemas.openxmlformats.org/officeDocument/2006/relationships/oleObject" Target="../embeddings/oleObject22.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4.bin"/><Relationship Id="rId1" Type="http://schemas.openxmlformats.org/officeDocument/2006/relationships/slideLayout" Target="../slideLayouts/slideLayout48.xml"/><Relationship Id="rId4" Type="http://schemas.openxmlformats.org/officeDocument/2006/relationships/image" Target="../media/image30.wmf"/></Relationships>
</file>

<file path=ppt/slides/_rels/slide18.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5.bin"/><Relationship Id="rId1" Type="http://schemas.openxmlformats.org/officeDocument/2006/relationships/slideLayout" Target="../slideLayouts/slideLayout48.xml"/><Relationship Id="rId5" Type="http://schemas.openxmlformats.org/officeDocument/2006/relationships/image" Target="../media/image32.wmf"/><Relationship Id="rId4" Type="http://schemas.openxmlformats.org/officeDocument/2006/relationships/oleObject" Target="../embeddings/oleObject26.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27.bin"/><Relationship Id="rId1" Type="http://schemas.openxmlformats.org/officeDocument/2006/relationships/slideLayout" Target="../slideLayouts/slideLayout48.xml"/><Relationship Id="rId6" Type="http://schemas.openxmlformats.org/officeDocument/2006/relationships/oleObject" Target="../embeddings/oleObject29.bin"/><Relationship Id="rId5" Type="http://schemas.openxmlformats.org/officeDocument/2006/relationships/image" Target="../media/image33.wmf"/><Relationship Id="rId10" Type="http://schemas.openxmlformats.org/officeDocument/2006/relationships/image" Target="../media/image36.wmf"/><Relationship Id="rId4" Type="http://schemas.openxmlformats.org/officeDocument/2006/relationships/oleObject" Target="../embeddings/oleObject28.bin"/><Relationship Id="rId9" Type="http://schemas.openxmlformats.org/officeDocument/2006/relationships/image" Target="../media/image35.wmf"/></Relationships>
</file>

<file path=ppt/slides/_rels/slide2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31.bin"/><Relationship Id="rId1" Type="http://schemas.openxmlformats.org/officeDocument/2006/relationships/slideLayout" Target="../slideLayouts/slideLayout48.xml"/><Relationship Id="rId5" Type="http://schemas.openxmlformats.org/officeDocument/2006/relationships/image" Target="../media/image37.wmf"/><Relationship Id="rId4" Type="http://schemas.openxmlformats.org/officeDocument/2006/relationships/oleObject" Target="../embeddings/oleObject32.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32.wmf"/><Relationship Id="rId7" Type="http://schemas.openxmlformats.org/officeDocument/2006/relationships/image" Target="../media/image39.wmf"/><Relationship Id="rId2" Type="http://schemas.openxmlformats.org/officeDocument/2006/relationships/oleObject" Target="../embeddings/oleObject33.bin"/><Relationship Id="rId1" Type="http://schemas.openxmlformats.org/officeDocument/2006/relationships/slideLayout" Target="../slideLayouts/slideLayout48.xml"/><Relationship Id="rId6" Type="http://schemas.openxmlformats.org/officeDocument/2006/relationships/oleObject" Target="../embeddings/oleObject35.bin"/><Relationship Id="rId5" Type="http://schemas.openxmlformats.org/officeDocument/2006/relationships/image" Target="../media/image38.wmf"/><Relationship Id="rId4" Type="http://schemas.openxmlformats.org/officeDocument/2006/relationships/oleObject" Target="../embeddings/oleObject34.bin"/><Relationship Id="rId9" Type="http://schemas.openxmlformats.org/officeDocument/2006/relationships/image" Target="../media/image40.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32.wmf"/><Relationship Id="rId7" Type="http://schemas.openxmlformats.org/officeDocument/2006/relationships/image" Target="../media/image42.wmf"/><Relationship Id="rId2" Type="http://schemas.openxmlformats.org/officeDocument/2006/relationships/oleObject" Target="../embeddings/oleObject37.bin"/><Relationship Id="rId1" Type="http://schemas.openxmlformats.org/officeDocument/2006/relationships/slideLayout" Target="../slideLayouts/slideLayout48.xml"/><Relationship Id="rId6" Type="http://schemas.openxmlformats.org/officeDocument/2006/relationships/oleObject" Target="../embeddings/oleObject39.bin"/><Relationship Id="rId5" Type="http://schemas.openxmlformats.org/officeDocument/2006/relationships/image" Target="../media/image41.wmf"/><Relationship Id="rId4" Type="http://schemas.openxmlformats.org/officeDocument/2006/relationships/oleObject" Target="../embeddings/oleObject38.bin"/><Relationship Id="rId9" Type="http://schemas.openxmlformats.org/officeDocument/2006/relationships/image" Target="../media/image43.wmf"/></Relationships>
</file>

<file path=ppt/slides/_rels/slide23.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41.bin"/><Relationship Id="rId1" Type="http://schemas.openxmlformats.org/officeDocument/2006/relationships/slideLayout" Target="../slideLayouts/slideLayout48.xml"/><Relationship Id="rId6" Type="http://schemas.openxmlformats.org/officeDocument/2006/relationships/image" Target="../media/image46.wmf"/><Relationship Id="rId5" Type="http://schemas.openxmlformats.org/officeDocument/2006/relationships/oleObject" Target="../embeddings/oleObject42.bin"/><Relationship Id="rId4" Type="http://schemas.openxmlformats.org/officeDocument/2006/relationships/image" Target="../media/image45.wmf"/></Relationships>
</file>

<file path=ppt/slides/_rels/slide24.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slideLayout" Target="../slideLayouts/slideLayout48.xml"/><Relationship Id="rId5" Type="http://schemas.openxmlformats.org/officeDocument/2006/relationships/image" Target="../media/image49.wmf"/><Relationship Id="rId4" Type="http://schemas.openxmlformats.org/officeDocument/2006/relationships/oleObject" Target="../embeddings/oleObject43.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image" Target="../media/image50.wmf"/><Relationship Id="rId1" Type="http://schemas.openxmlformats.org/officeDocument/2006/relationships/slideLayout" Target="../slideLayouts/slideLayout48.xml"/><Relationship Id="rId6" Type="http://schemas.openxmlformats.org/officeDocument/2006/relationships/image" Target="../media/image52.wmf"/><Relationship Id="rId5" Type="http://schemas.openxmlformats.org/officeDocument/2006/relationships/oleObject" Target="../embeddings/oleObject45.bin"/><Relationship Id="rId4" Type="http://schemas.openxmlformats.org/officeDocument/2006/relationships/image" Target="../media/image51.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image" Target="../media/image53.wmf"/><Relationship Id="rId1" Type="http://schemas.openxmlformats.org/officeDocument/2006/relationships/slideLayout" Target="../slideLayouts/slideLayout48.xml"/><Relationship Id="rId6" Type="http://schemas.openxmlformats.org/officeDocument/2006/relationships/image" Target="../media/image55.wmf"/><Relationship Id="rId5" Type="http://schemas.openxmlformats.org/officeDocument/2006/relationships/oleObject" Target="../embeddings/oleObject47.bin"/><Relationship Id="rId4" Type="http://schemas.openxmlformats.org/officeDocument/2006/relationships/image" Target="../media/image54.wmf"/></Relationships>
</file>

<file path=ppt/slides/_rels/slide27.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oleObject" Target="../embeddings/oleObject48.bin"/><Relationship Id="rId1" Type="http://schemas.openxmlformats.org/officeDocument/2006/relationships/slideLayout" Target="../slideLayouts/slideLayout4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97AB1701-10F0-1B27-E31D-369647495360}"/>
              </a:ext>
            </a:extLst>
          </p:cNvPr>
          <p:cNvSpPr>
            <a:spLocks noGrp="1" noChangeArrowheads="1"/>
          </p:cNvSpPr>
          <p:nvPr>
            <p:ph type="ctrTitle"/>
          </p:nvPr>
        </p:nvSpPr>
        <p:spPr/>
        <p:txBody>
          <a:bodyPr/>
          <a:lstStyle/>
          <a:p>
            <a:pPr eaLnBrk="1" hangingPunct="1"/>
            <a:r>
              <a:rPr lang="en-GB" altLang="en-US"/>
              <a:t>PVD processes and deposition modelling</a:t>
            </a:r>
            <a:endParaRPr lang="en-US" altLang="en-US"/>
          </a:p>
        </p:txBody>
      </p:sp>
      <p:sp>
        <p:nvSpPr>
          <p:cNvPr id="3" name="Subtitle 2">
            <a:extLst>
              <a:ext uri="{FF2B5EF4-FFF2-40B4-BE49-F238E27FC236}">
                <a16:creationId xmlns:a16="http://schemas.microsoft.com/office/drawing/2014/main" id="{41FF130E-ABBF-77E1-D163-461D58137892}"/>
              </a:ext>
            </a:extLst>
          </p:cNvPr>
          <p:cNvSpPr>
            <a:spLocks noGrp="1"/>
          </p:cNvSpPr>
          <p:nvPr>
            <p:ph type="subTitle" idx="1"/>
          </p:nvPr>
        </p:nvSpPr>
        <p:spPr/>
        <p:txBody>
          <a:bodyPr/>
          <a:lstStyle/>
          <a:p>
            <a:endParaRPr lang="en-US"/>
          </a:p>
        </p:txBody>
      </p:sp>
      <p:sp>
        <p:nvSpPr>
          <p:cNvPr id="2" name="Rectangle 1">
            <a:extLst>
              <a:ext uri="{FF2B5EF4-FFF2-40B4-BE49-F238E27FC236}">
                <a16:creationId xmlns:a16="http://schemas.microsoft.com/office/drawing/2014/main" id="{17E0EE5D-488E-7CDC-C12A-FB09E55778FD}"/>
              </a:ext>
            </a:extLst>
          </p:cNvPr>
          <p:cNvSpPr/>
          <p:nvPr/>
        </p:nvSpPr>
        <p:spPr>
          <a:xfrm>
            <a:off x="0" y="6627223"/>
            <a:ext cx="1201783" cy="230777"/>
          </a:xfrm>
          <a:prstGeom prst="rect">
            <a:avLst/>
          </a:prstGeom>
          <a:solidFill>
            <a:schemeClr val="accent6"/>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C1D5144A-C32B-DF94-9042-F23579E557E8}"/>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CD364A6C-7915-4B6C-8076-701A11679F8E}" type="slidenum">
              <a:rPr lang="en-US" altLang="en-US"/>
              <a:pPr>
                <a:lnSpc>
                  <a:spcPct val="100000"/>
                </a:lnSpc>
                <a:spcBef>
                  <a:spcPct val="0"/>
                </a:spcBef>
                <a:buClr>
                  <a:srgbClr val="F68933"/>
                </a:buClr>
                <a:buFontTx/>
                <a:buNone/>
              </a:pPr>
              <a:t>2</a:t>
            </a:fld>
            <a:endParaRPr lang="en-US" altLang="en-US"/>
          </a:p>
        </p:txBody>
      </p:sp>
      <p:sp>
        <p:nvSpPr>
          <p:cNvPr id="18435" name="Rectangle 2">
            <a:extLst>
              <a:ext uri="{FF2B5EF4-FFF2-40B4-BE49-F238E27FC236}">
                <a16:creationId xmlns:a16="http://schemas.microsoft.com/office/drawing/2014/main" id="{D8D2D527-3E4A-621C-547A-041DE451E160}"/>
              </a:ext>
            </a:extLst>
          </p:cNvPr>
          <p:cNvSpPr>
            <a:spLocks noGrp="1" noChangeArrowheads="1"/>
          </p:cNvSpPr>
          <p:nvPr>
            <p:ph type="title"/>
          </p:nvPr>
        </p:nvSpPr>
        <p:spPr/>
        <p:txBody>
          <a:bodyPr/>
          <a:lstStyle/>
          <a:p>
            <a:pPr eaLnBrk="1" hangingPunct="1"/>
            <a:r>
              <a:rPr lang="en-GB" altLang="en-US"/>
              <a:t>Evaporation</a:t>
            </a:r>
            <a:endParaRPr lang="en-US" altLang="en-US"/>
          </a:p>
        </p:txBody>
      </p:sp>
      <p:sp>
        <p:nvSpPr>
          <p:cNvPr id="18436" name="Rectangle 3">
            <a:extLst>
              <a:ext uri="{FF2B5EF4-FFF2-40B4-BE49-F238E27FC236}">
                <a16:creationId xmlns:a16="http://schemas.microsoft.com/office/drawing/2014/main" id="{5474FF39-A06A-6E30-077C-FA005154339B}"/>
              </a:ext>
            </a:extLst>
          </p:cNvPr>
          <p:cNvSpPr>
            <a:spLocks noGrp="1" noChangeArrowheads="1"/>
          </p:cNvSpPr>
          <p:nvPr>
            <p:ph type="body" idx="1"/>
          </p:nvPr>
        </p:nvSpPr>
        <p:spPr>
          <a:xfrm>
            <a:off x="1879600" y="1270000"/>
            <a:ext cx="8402638" cy="4114800"/>
          </a:xfrm>
        </p:spPr>
        <p:txBody>
          <a:bodyPr/>
          <a:lstStyle/>
          <a:p>
            <a:pPr>
              <a:tabLst>
                <a:tab pos="3314700" algn="l"/>
              </a:tabLst>
            </a:pPr>
            <a:r>
              <a:rPr lang="en-GB" altLang="en-US"/>
              <a:t>A source material is heated in a vacuum chamber</a:t>
            </a:r>
          </a:p>
          <a:p>
            <a:pPr marL="401638" lvl="1" indent="0">
              <a:tabLst>
                <a:tab pos="3314700" algn="l"/>
              </a:tabLst>
            </a:pPr>
            <a:r>
              <a:rPr lang="en-GB" altLang="en-US"/>
              <a:t> E-beam or tungsten filament are used to heat up the crucible containing the material</a:t>
            </a:r>
          </a:p>
          <a:p>
            <a:pPr>
              <a:tabLst>
                <a:tab pos="3314700" algn="l"/>
              </a:tabLst>
            </a:pPr>
            <a:r>
              <a:rPr lang="en-GB" altLang="en-US"/>
              <a:t>The source material evaporates or sublimates from the crucible and condensate on wafer surface</a:t>
            </a:r>
          </a:p>
          <a:p>
            <a:pPr marL="4408488" lvl="3">
              <a:buNone/>
              <a:tabLst>
                <a:tab pos="3314700" algn="l"/>
              </a:tabLst>
            </a:pPr>
            <a:r>
              <a:rPr lang="en-GB" altLang="en-US"/>
              <a:t>			</a:t>
            </a:r>
          </a:p>
          <a:p>
            <a:pPr>
              <a:tabLst>
                <a:tab pos="3314700" algn="l"/>
              </a:tabLst>
            </a:pPr>
            <a:endParaRPr lang="en-US" altLang="en-US"/>
          </a:p>
        </p:txBody>
      </p:sp>
      <p:graphicFrame>
        <p:nvGraphicFramePr>
          <p:cNvPr id="18437" name="Object 56">
            <a:extLst>
              <a:ext uri="{FF2B5EF4-FFF2-40B4-BE49-F238E27FC236}">
                <a16:creationId xmlns:a16="http://schemas.microsoft.com/office/drawing/2014/main" id="{7B54F401-4170-21E1-411B-F4FD61DF30E8}"/>
              </a:ext>
            </a:extLst>
          </p:cNvPr>
          <p:cNvGraphicFramePr>
            <a:graphicFrameLocks noChangeAspect="1"/>
          </p:cNvGraphicFramePr>
          <p:nvPr/>
        </p:nvGraphicFramePr>
        <p:xfrm>
          <a:off x="1752600" y="3429001"/>
          <a:ext cx="3176588" cy="3122613"/>
        </p:xfrm>
        <a:graphic>
          <a:graphicData uri="http://schemas.openxmlformats.org/presentationml/2006/ole">
            <mc:AlternateContent xmlns:mc="http://schemas.openxmlformats.org/markup-compatibility/2006">
              <mc:Choice xmlns:v="urn:schemas-microsoft-com:vml" Requires="v">
                <p:oleObj name="Document" r:id="rId2" imgW="3822192" imgH="3758184" progId="Word.Document.8">
                  <p:embed/>
                </p:oleObj>
              </mc:Choice>
              <mc:Fallback>
                <p:oleObj name="Document" r:id="rId2" imgW="3822192" imgH="3758184" progId="Word.Document.8">
                  <p:embed/>
                  <p:pic>
                    <p:nvPicPr>
                      <p:cNvPr id="18437" name="Object 56">
                        <a:extLst>
                          <a:ext uri="{FF2B5EF4-FFF2-40B4-BE49-F238E27FC236}">
                            <a16:creationId xmlns:a16="http://schemas.microsoft.com/office/drawing/2014/main" id="{7B54F401-4170-21E1-411B-F4FD61DF3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429001"/>
                        <a:ext cx="3176588" cy="312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8" name="Text Box 58">
            <a:extLst>
              <a:ext uri="{FF2B5EF4-FFF2-40B4-BE49-F238E27FC236}">
                <a16:creationId xmlns:a16="http://schemas.microsoft.com/office/drawing/2014/main" id="{1A6062A8-14B8-DB2F-8A53-5EB399B87021}"/>
              </a:ext>
            </a:extLst>
          </p:cNvPr>
          <p:cNvSpPr txBox="1">
            <a:spLocks noChangeArrowheads="1"/>
          </p:cNvSpPr>
          <p:nvPr/>
        </p:nvSpPr>
        <p:spPr bwMode="auto">
          <a:xfrm>
            <a:off x="5268913" y="3462338"/>
            <a:ext cx="5105400" cy="239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2000"/>
              <a:t>No gas phase collision in reactor chamber  ( very low pressure)</a:t>
            </a:r>
          </a:p>
          <a:p>
            <a:pPr eaLnBrk="1" hangingPunct="1"/>
            <a:r>
              <a:rPr lang="en-US" altLang="en-US" sz="2000"/>
              <a:t> Line of sight deposition</a:t>
            </a:r>
          </a:p>
          <a:p>
            <a:pPr eaLnBrk="1" hangingPunct="1"/>
            <a:r>
              <a:rPr lang="en-GB" altLang="en-US" sz="2000"/>
              <a:t>Dep. Rate is a function of source and reactor geometry</a:t>
            </a:r>
            <a:endParaRPr lang="en-US" altLang="en-US" sz="2000"/>
          </a:p>
        </p:txBody>
      </p:sp>
      <p:sp>
        <p:nvSpPr>
          <p:cNvPr id="18439" name="Text Box 60">
            <a:extLst>
              <a:ext uri="{FF2B5EF4-FFF2-40B4-BE49-F238E27FC236}">
                <a16:creationId xmlns:a16="http://schemas.microsoft.com/office/drawing/2014/main" id="{BDDADB82-3F24-B300-3F83-A5FCB56905EB}"/>
              </a:ext>
            </a:extLst>
          </p:cNvPr>
          <p:cNvSpPr txBox="1">
            <a:spLocks noChangeArrowheads="1"/>
          </p:cNvSpPr>
          <p:nvPr/>
        </p:nvSpPr>
        <p:spPr bwMode="auto">
          <a:xfrm>
            <a:off x="5264150" y="5407025"/>
            <a:ext cx="5143500" cy="1017588"/>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400"/>
              <a:t>Note:</a:t>
            </a:r>
          </a:p>
          <a:p>
            <a:pPr eaLnBrk="1" hangingPunct="1">
              <a:spcBef>
                <a:spcPct val="50000"/>
              </a:spcBef>
            </a:pPr>
            <a:r>
              <a:rPr lang="en-GB" altLang="en-US" sz="1400"/>
              <a:t>Evaporation is not commonly used in IC manufacturing today; anyway many concepts will be useful to understand Sputter-PVD</a:t>
            </a:r>
            <a:endParaRPr lang="en-US" altLang="en-US" sz="14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B57B30C0-F971-933E-359F-37CBFC3275FB}"/>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DC196885-F15A-4377-AE01-7BE3D9D792E4}" type="slidenum">
              <a:rPr lang="en-US" altLang="en-US"/>
              <a:pPr>
                <a:lnSpc>
                  <a:spcPct val="100000"/>
                </a:lnSpc>
                <a:spcBef>
                  <a:spcPct val="0"/>
                </a:spcBef>
                <a:buClr>
                  <a:srgbClr val="F68933"/>
                </a:buClr>
                <a:buFontTx/>
                <a:buNone/>
              </a:pPr>
              <a:t>3</a:t>
            </a:fld>
            <a:endParaRPr lang="en-US" altLang="en-US"/>
          </a:p>
        </p:txBody>
      </p:sp>
      <p:sp>
        <p:nvSpPr>
          <p:cNvPr id="19459" name="Rectangle 2">
            <a:extLst>
              <a:ext uri="{FF2B5EF4-FFF2-40B4-BE49-F238E27FC236}">
                <a16:creationId xmlns:a16="http://schemas.microsoft.com/office/drawing/2014/main" id="{2EBA49D1-FA70-7249-19DD-A85DB97AB28A}"/>
              </a:ext>
            </a:extLst>
          </p:cNvPr>
          <p:cNvSpPr>
            <a:spLocks noGrp="1" noChangeArrowheads="1"/>
          </p:cNvSpPr>
          <p:nvPr>
            <p:ph type="title"/>
          </p:nvPr>
        </p:nvSpPr>
        <p:spPr/>
        <p:txBody>
          <a:bodyPr/>
          <a:lstStyle/>
          <a:p>
            <a:pPr eaLnBrk="1" hangingPunct="1"/>
            <a:r>
              <a:rPr lang="en-GB" altLang="en-US"/>
              <a:t>Deposition rate: point source approximation</a:t>
            </a:r>
            <a:endParaRPr lang="en-US" altLang="en-US"/>
          </a:p>
        </p:txBody>
      </p:sp>
      <p:graphicFrame>
        <p:nvGraphicFramePr>
          <p:cNvPr id="19460" name="Object 4">
            <a:extLst>
              <a:ext uri="{FF2B5EF4-FFF2-40B4-BE49-F238E27FC236}">
                <a16:creationId xmlns:a16="http://schemas.microsoft.com/office/drawing/2014/main" id="{BD5249A2-2EF4-D509-5D79-BCD824492D83}"/>
              </a:ext>
            </a:extLst>
          </p:cNvPr>
          <p:cNvGraphicFramePr>
            <a:graphicFrameLocks noChangeAspect="1"/>
          </p:cNvGraphicFramePr>
          <p:nvPr/>
        </p:nvGraphicFramePr>
        <p:xfrm>
          <a:off x="1854200" y="1057276"/>
          <a:ext cx="2890838" cy="2860675"/>
        </p:xfrm>
        <a:graphic>
          <a:graphicData uri="http://schemas.openxmlformats.org/presentationml/2006/ole">
            <mc:AlternateContent xmlns:mc="http://schemas.openxmlformats.org/markup-compatibility/2006">
              <mc:Choice xmlns:v="urn:schemas-microsoft-com:vml" Requires="v">
                <p:oleObj name="Document" r:id="rId2" imgW="5803392" imgH="3051048" progId="Word.Document.8">
                  <p:embed/>
                </p:oleObj>
              </mc:Choice>
              <mc:Fallback>
                <p:oleObj name="Document" r:id="rId2" imgW="5803392" imgH="3051048" progId="Word.Document.8">
                  <p:embed/>
                  <p:pic>
                    <p:nvPicPr>
                      <p:cNvPr id="19460" name="Object 4">
                        <a:extLst>
                          <a:ext uri="{FF2B5EF4-FFF2-40B4-BE49-F238E27FC236}">
                            <a16:creationId xmlns:a16="http://schemas.microsoft.com/office/drawing/2014/main" id="{BD5249A2-2EF4-D509-5D79-BCD824492D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6890"/>
                      <a:stretch>
                        <a:fillRect/>
                      </a:stretch>
                    </p:blipFill>
                    <p:spPr bwMode="auto">
                      <a:xfrm>
                        <a:off x="1854200" y="1057276"/>
                        <a:ext cx="2890838" cy="286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1" name="Text Box 5">
            <a:extLst>
              <a:ext uri="{FF2B5EF4-FFF2-40B4-BE49-F238E27FC236}">
                <a16:creationId xmlns:a16="http://schemas.microsoft.com/office/drawing/2014/main" id="{17D3A50D-D7C7-145A-BF37-5D6D7068F884}"/>
              </a:ext>
            </a:extLst>
          </p:cNvPr>
          <p:cNvSpPr txBox="1">
            <a:spLocks noChangeArrowheads="1"/>
          </p:cNvSpPr>
          <p:nvPr/>
        </p:nvSpPr>
        <p:spPr bwMode="auto">
          <a:xfrm>
            <a:off x="5197476" y="1176339"/>
            <a:ext cx="5013325"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endParaRPr lang="en-US" altLang="en-US"/>
          </a:p>
        </p:txBody>
      </p:sp>
      <p:sp>
        <p:nvSpPr>
          <p:cNvPr id="19462" name="Text Box 6">
            <a:extLst>
              <a:ext uri="{FF2B5EF4-FFF2-40B4-BE49-F238E27FC236}">
                <a16:creationId xmlns:a16="http://schemas.microsoft.com/office/drawing/2014/main" id="{5630111F-3A74-9F84-9AE8-FE9648AA32CB}"/>
              </a:ext>
            </a:extLst>
          </p:cNvPr>
          <p:cNvSpPr txBox="1">
            <a:spLocks noChangeArrowheads="1"/>
          </p:cNvSpPr>
          <p:nvPr/>
        </p:nvSpPr>
        <p:spPr bwMode="auto">
          <a:xfrm>
            <a:off x="5083176" y="1649414"/>
            <a:ext cx="5275263" cy="101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Uniform emission from a point source  </a:t>
            </a:r>
            <a:r>
              <a:rPr lang="en-GB" altLang="en-US">
                <a:sym typeface="Wingdings" panose="05000000000000000000" pitchFamily="2" charset="2"/>
              </a:rPr>
              <a:t> equal evaporation rate in all direction. </a:t>
            </a:r>
          </a:p>
          <a:p>
            <a:pPr eaLnBrk="1" hangingPunct="1">
              <a:spcBef>
                <a:spcPct val="50000"/>
              </a:spcBef>
            </a:pPr>
            <a:r>
              <a:rPr lang="en-GB" altLang="en-US">
                <a:sym typeface="Wingdings" panose="05000000000000000000" pitchFamily="2" charset="2"/>
              </a:rPr>
              <a:t>Hence, the emitted flux is</a:t>
            </a:r>
            <a:endParaRPr lang="en-US" altLang="en-US"/>
          </a:p>
        </p:txBody>
      </p:sp>
      <p:graphicFrame>
        <p:nvGraphicFramePr>
          <p:cNvPr id="19463" name="Object 7">
            <a:extLst>
              <a:ext uri="{FF2B5EF4-FFF2-40B4-BE49-F238E27FC236}">
                <a16:creationId xmlns:a16="http://schemas.microsoft.com/office/drawing/2014/main" id="{7B0EC978-2D4F-66D7-CB94-3FD825DA3186}"/>
              </a:ext>
            </a:extLst>
          </p:cNvPr>
          <p:cNvGraphicFramePr>
            <a:graphicFrameLocks noChangeAspect="1"/>
          </p:cNvGraphicFramePr>
          <p:nvPr/>
        </p:nvGraphicFramePr>
        <p:xfrm>
          <a:off x="8334375" y="2233614"/>
          <a:ext cx="1062038" cy="636587"/>
        </p:xfrm>
        <a:graphic>
          <a:graphicData uri="http://schemas.openxmlformats.org/presentationml/2006/ole">
            <mc:AlternateContent xmlns:mc="http://schemas.openxmlformats.org/markup-compatibility/2006">
              <mc:Choice xmlns:v="urn:schemas-microsoft-com:vml" Requires="v">
                <p:oleObj name="Equation" r:id="rId4" imgW="698500" imgH="419100" progId="Equation.DSMT4">
                  <p:embed/>
                </p:oleObj>
              </mc:Choice>
              <mc:Fallback>
                <p:oleObj name="Equation" r:id="rId4" imgW="698500" imgH="419100" progId="Equation.DSMT4">
                  <p:embed/>
                  <p:pic>
                    <p:nvPicPr>
                      <p:cNvPr id="19463" name="Object 7">
                        <a:extLst>
                          <a:ext uri="{FF2B5EF4-FFF2-40B4-BE49-F238E27FC236}">
                            <a16:creationId xmlns:a16="http://schemas.microsoft.com/office/drawing/2014/main" id="{7B0EC978-2D4F-66D7-CB94-3FD825DA31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4375" y="2233614"/>
                        <a:ext cx="1062038"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4" name="Text Box 8">
            <a:extLst>
              <a:ext uri="{FF2B5EF4-FFF2-40B4-BE49-F238E27FC236}">
                <a16:creationId xmlns:a16="http://schemas.microsoft.com/office/drawing/2014/main" id="{9DA38679-9629-CB85-640B-7812E656975B}"/>
              </a:ext>
            </a:extLst>
          </p:cNvPr>
          <p:cNvSpPr txBox="1">
            <a:spLocks noChangeArrowheads="1"/>
          </p:cNvSpPr>
          <p:nvPr/>
        </p:nvSpPr>
        <p:spPr bwMode="auto">
          <a:xfrm>
            <a:off x="4937125" y="2797175"/>
            <a:ext cx="5518150" cy="126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Where:</a:t>
            </a:r>
          </a:p>
          <a:p>
            <a:pPr eaLnBrk="1" hangingPunct="1">
              <a:spcBef>
                <a:spcPct val="50000"/>
              </a:spcBef>
              <a:buFont typeface="Times" panose="02020603050405020304" pitchFamily="18" charset="0"/>
              <a:buChar char="•"/>
            </a:pPr>
            <a:r>
              <a:rPr lang="en-GB" altLang="en-US" sz="1600"/>
              <a:t> R</a:t>
            </a:r>
            <a:r>
              <a:rPr lang="en-GB" altLang="en-US" sz="1600" baseline="-25000"/>
              <a:t>evap</a:t>
            </a:r>
            <a:r>
              <a:rPr lang="en-GB" altLang="en-US" sz="1600"/>
              <a:t> is the evaporation rate</a:t>
            </a:r>
          </a:p>
          <a:p>
            <a:pPr eaLnBrk="1" hangingPunct="1">
              <a:spcBef>
                <a:spcPct val="50000"/>
              </a:spcBef>
              <a:buFont typeface="Times" panose="02020603050405020304" pitchFamily="18" charset="0"/>
              <a:buChar char="•"/>
            </a:pPr>
            <a:r>
              <a:rPr lang="en-GB" altLang="en-US" sz="1600">
                <a:latin typeface="Symbol" panose="05050102010706020507" pitchFamily="18" charset="2"/>
              </a:rPr>
              <a:t> W       </a:t>
            </a:r>
            <a:r>
              <a:rPr lang="en-GB" altLang="en-US" sz="1600"/>
              <a:t>is the solid angle of emission ( 4</a:t>
            </a:r>
            <a:r>
              <a:rPr lang="en-GB" altLang="en-US" sz="1600">
                <a:latin typeface="Symbol" panose="05050102010706020507" pitchFamily="18" charset="2"/>
              </a:rPr>
              <a:t>p </a:t>
            </a:r>
            <a:r>
              <a:rPr lang="en-GB" altLang="en-US" sz="1600"/>
              <a:t>in all directions, 2</a:t>
            </a:r>
            <a:r>
              <a:rPr lang="en-GB" altLang="en-US" sz="1600">
                <a:latin typeface="Symbol" panose="05050102010706020507" pitchFamily="18" charset="2"/>
              </a:rPr>
              <a:t>p</a:t>
            </a:r>
            <a:r>
              <a:rPr lang="en-GB" altLang="en-US" sz="1600"/>
              <a:t> upward only)</a:t>
            </a:r>
            <a:endParaRPr lang="en-US" altLang="en-US" sz="1600">
              <a:latin typeface="Symbol" panose="05050102010706020507" pitchFamily="18" charset="2"/>
            </a:endParaRPr>
          </a:p>
        </p:txBody>
      </p:sp>
      <p:sp>
        <p:nvSpPr>
          <p:cNvPr id="19465" name="Text Box 9">
            <a:extLst>
              <a:ext uri="{FF2B5EF4-FFF2-40B4-BE49-F238E27FC236}">
                <a16:creationId xmlns:a16="http://schemas.microsoft.com/office/drawing/2014/main" id="{97742B42-424B-384F-C929-BD760626D042}"/>
              </a:ext>
            </a:extLst>
          </p:cNvPr>
          <p:cNvSpPr txBox="1">
            <a:spLocks noChangeArrowheads="1"/>
          </p:cNvSpPr>
          <p:nvPr/>
        </p:nvSpPr>
        <p:spPr bwMode="auto">
          <a:xfrm>
            <a:off x="1931989" y="4164014"/>
            <a:ext cx="79851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Since the wafer is tilted at a </a:t>
            </a:r>
            <a:r>
              <a:rPr lang="en-GB" altLang="en-US">
                <a:latin typeface="Symbol" panose="05050102010706020507" pitchFamily="18" charset="2"/>
              </a:rPr>
              <a:t>q</a:t>
            </a:r>
            <a:r>
              <a:rPr lang="en-GB" altLang="en-US" baseline="-25000"/>
              <a:t>k</a:t>
            </a:r>
            <a:r>
              <a:rPr lang="en-GB" altLang="en-US"/>
              <a:t> angle with respect to the flow direction, the flow reaching the wafer surface will be </a:t>
            </a:r>
            <a:endParaRPr lang="en-US" altLang="en-US"/>
          </a:p>
        </p:txBody>
      </p:sp>
      <p:graphicFrame>
        <p:nvGraphicFramePr>
          <p:cNvPr id="19466" name="Object 10">
            <a:extLst>
              <a:ext uri="{FF2B5EF4-FFF2-40B4-BE49-F238E27FC236}">
                <a16:creationId xmlns:a16="http://schemas.microsoft.com/office/drawing/2014/main" id="{A503CADB-9006-C59E-C95B-50FC2C5D040A}"/>
              </a:ext>
            </a:extLst>
          </p:cNvPr>
          <p:cNvGraphicFramePr>
            <a:graphicFrameLocks noChangeAspect="1"/>
          </p:cNvGraphicFramePr>
          <p:nvPr/>
        </p:nvGraphicFramePr>
        <p:xfrm>
          <a:off x="1916114" y="5211764"/>
          <a:ext cx="1868487" cy="733425"/>
        </p:xfrm>
        <a:graphic>
          <a:graphicData uri="http://schemas.openxmlformats.org/presentationml/2006/ole">
            <mc:AlternateContent xmlns:mc="http://schemas.openxmlformats.org/markup-compatibility/2006">
              <mc:Choice xmlns:v="urn:schemas-microsoft-com:vml" Requires="v">
                <p:oleObj name="Equation" r:id="rId6" imgW="1066800" imgH="419100" progId="Equation.DSMT4">
                  <p:embed/>
                </p:oleObj>
              </mc:Choice>
              <mc:Fallback>
                <p:oleObj name="Equation" r:id="rId6" imgW="1066800" imgH="419100" progId="Equation.DSMT4">
                  <p:embed/>
                  <p:pic>
                    <p:nvPicPr>
                      <p:cNvPr id="19466" name="Object 10">
                        <a:extLst>
                          <a:ext uri="{FF2B5EF4-FFF2-40B4-BE49-F238E27FC236}">
                            <a16:creationId xmlns:a16="http://schemas.microsoft.com/office/drawing/2014/main" id="{A503CADB-9006-C59E-C95B-50FC2C5D04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6114" y="5211764"/>
                        <a:ext cx="1868487"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7" name="Text Box 11">
            <a:extLst>
              <a:ext uri="{FF2B5EF4-FFF2-40B4-BE49-F238E27FC236}">
                <a16:creationId xmlns:a16="http://schemas.microsoft.com/office/drawing/2014/main" id="{E9DA53A1-2F1A-8299-BF39-E34847160FCD}"/>
              </a:ext>
            </a:extLst>
          </p:cNvPr>
          <p:cNvSpPr txBox="1">
            <a:spLocks noChangeArrowheads="1"/>
          </p:cNvSpPr>
          <p:nvPr/>
        </p:nvSpPr>
        <p:spPr bwMode="auto">
          <a:xfrm>
            <a:off x="3981450" y="5324476"/>
            <a:ext cx="3771900"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And if N is the material density the deposition rate will be:</a:t>
            </a:r>
            <a:endParaRPr lang="en-US" altLang="en-US"/>
          </a:p>
        </p:txBody>
      </p:sp>
      <p:graphicFrame>
        <p:nvGraphicFramePr>
          <p:cNvPr id="19468" name="Object 12">
            <a:extLst>
              <a:ext uri="{FF2B5EF4-FFF2-40B4-BE49-F238E27FC236}">
                <a16:creationId xmlns:a16="http://schemas.microsoft.com/office/drawing/2014/main" id="{81615256-2E8A-9250-41DE-7A4C86A8D2C9}"/>
              </a:ext>
            </a:extLst>
          </p:cNvPr>
          <p:cNvGraphicFramePr>
            <a:graphicFrameLocks noChangeAspect="1"/>
          </p:cNvGraphicFramePr>
          <p:nvPr/>
        </p:nvGraphicFramePr>
        <p:xfrm>
          <a:off x="7837488" y="5249864"/>
          <a:ext cx="1890712" cy="733425"/>
        </p:xfrm>
        <a:graphic>
          <a:graphicData uri="http://schemas.openxmlformats.org/presentationml/2006/ole">
            <mc:AlternateContent xmlns:mc="http://schemas.openxmlformats.org/markup-compatibility/2006">
              <mc:Choice xmlns:v="urn:schemas-microsoft-com:vml" Requires="v">
                <p:oleObj name="Equation" r:id="rId8" imgW="1079500" imgH="419100" progId="Equation.DSMT4">
                  <p:embed/>
                </p:oleObj>
              </mc:Choice>
              <mc:Fallback>
                <p:oleObj name="Equation" r:id="rId8" imgW="1079500" imgH="419100" progId="Equation.DSMT4">
                  <p:embed/>
                  <p:pic>
                    <p:nvPicPr>
                      <p:cNvPr id="19468" name="Object 12">
                        <a:extLst>
                          <a:ext uri="{FF2B5EF4-FFF2-40B4-BE49-F238E27FC236}">
                            <a16:creationId xmlns:a16="http://schemas.microsoft.com/office/drawing/2014/main" id="{81615256-2E8A-9250-41DE-7A4C86A8D2C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37488" y="5249864"/>
                        <a:ext cx="1890712"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a:extLst>
              <a:ext uri="{FF2B5EF4-FFF2-40B4-BE49-F238E27FC236}">
                <a16:creationId xmlns:a16="http://schemas.microsoft.com/office/drawing/2014/main" id="{43030292-AA00-E86F-FF53-5C876137511B}"/>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C95E12F2-9283-49FB-9E6C-791BA57F5C73}" type="slidenum">
              <a:rPr lang="en-US" altLang="en-US"/>
              <a:pPr>
                <a:lnSpc>
                  <a:spcPct val="100000"/>
                </a:lnSpc>
                <a:spcBef>
                  <a:spcPct val="0"/>
                </a:spcBef>
                <a:buClr>
                  <a:srgbClr val="F68933"/>
                </a:buClr>
                <a:buFontTx/>
                <a:buNone/>
              </a:pPr>
              <a:t>4</a:t>
            </a:fld>
            <a:endParaRPr lang="en-US" altLang="en-US"/>
          </a:p>
        </p:txBody>
      </p:sp>
      <p:sp>
        <p:nvSpPr>
          <p:cNvPr id="20483" name="Rectangle 2">
            <a:extLst>
              <a:ext uri="{FF2B5EF4-FFF2-40B4-BE49-F238E27FC236}">
                <a16:creationId xmlns:a16="http://schemas.microsoft.com/office/drawing/2014/main" id="{BCAB811D-5B5C-BCCD-CA03-F14A3EE79661}"/>
              </a:ext>
            </a:extLst>
          </p:cNvPr>
          <p:cNvSpPr>
            <a:spLocks noGrp="1" noChangeArrowheads="1"/>
          </p:cNvSpPr>
          <p:nvPr>
            <p:ph type="title"/>
          </p:nvPr>
        </p:nvSpPr>
        <p:spPr/>
        <p:txBody>
          <a:bodyPr/>
          <a:lstStyle/>
          <a:p>
            <a:pPr eaLnBrk="1" hangingPunct="1"/>
            <a:r>
              <a:rPr lang="en-GB" altLang="en-US" sz="2800"/>
              <a:t>Deposition rate: small surface source</a:t>
            </a:r>
            <a:endParaRPr lang="en-US" altLang="en-US" sz="2800"/>
          </a:p>
        </p:txBody>
      </p:sp>
      <p:graphicFrame>
        <p:nvGraphicFramePr>
          <p:cNvPr id="20484" name="Object 4">
            <a:extLst>
              <a:ext uri="{FF2B5EF4-FFF2-40B4-BE49-F238E27FC236}">
                <a16:creationId xmlns:a16="http://schemas.microsoft.com/office/drawing/2014/main" id="{A0E65EBC-25F1-9C10-3690-85A8C81A87F4}"/>
              </a:ext>
            </a:extLst>
          </p:cNvPr>
          <p:cNvGraphicFramePr>
            <a:graphicFrameLocks noChangeAspect="1"/>
          </p:cNvGraphicFramePr>
          <p:nvPr/>
        </p:nvGraphicFramePr>
        <p:xfrm>
          <a:off x="1871664" y="1057275"/>
          <a:ext cx="2846387" cy="3049588"/>
        </p:xfrm>
        <a:graphic>
          <a:graphicData uri="http://schemas.openxmlformats.org/presentationml/2006/ole">
            <mc:AlternateContent xmlns:mc="http://schemas.openxmlformats.org/markup-compatibility/2006">
              <mc:Choice xmlns:v="urn:schemas-microsoft-com:vml" Requires="v">
                <p:oleObj name="Document" r:id="rId2" imgW="5803392" imgH="3051048" progId="Word.Document.8">
                  <p:embed/>
                </p:oleObj>
              </mc:Choice>
              <mc:Fallback>
                <p:oleObj name="Document" r:id="rId2" imgW="5803392" imgH="3051048" progId="Word.Document.8">
                  <p:embed/>
                  <p:pic>
                    <p:nvPicPr>
                      <p:cNvPr id="20484" name="Object 4">
                        <a:extLst>
                          <a:ext uri="{FF2B5EF4-FFF2-40B4-BE49-F238E27FC236}">
                            <a16:creationId xmlns:a16="http://schemas.microsoft.com/office/drawing/2014/main" id="{A0E65EBC-25F1-9C10-3690-85A8C81A8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0945"/>
                      <a:stretch>
                        <a:fillRect/>
                      </a:stretch>
                    </p:blipFill>
                    <p:spPr bwMode="auto">
                      <a:xfrm>
                        <a:off x="1871664" y="1057275"/>
                        <a:ext cx="2846387" cy="304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5" name="Text Box 5">
            <a:extLst>
              <a:ext uri="{FF2B5EF4-FFF2-40B4-BE49-F238E27FC236}">
                <a16:creationId xmlns:a16="http://schemas.microsoft.com/office/drawing/2014/main" id="{703C5865-2721-28C8-1319-B3562182A556}"/>
              </a:ext>
            </a:extLst>
          </p:cNvPr>
          <p:cNvSpPr txBox="1">
            <a:spLocks noChangeArrowheads="1"/>
          </p:cNvSpPr>
          <p:nvPr/>
        </p:nvSpPr>
        <p:spPr bwMode="auto">
          <a:xfrm>
            <a:off x="5281614" y="1195388"/>
            <a:ext cx="4556125"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 A small planar surface emission can be modelled as a cosine emission or perfectly diffused emission.</a:t>
            </a:r>
          </a:p>
          <a:p>
            <a:pPr eaLnBrk="1" hangingPunct="1">
              <a:spcBef>
                <a:spcPct val="50000"/>
              </a:spcBef>
              <a:buFont typeface="Times" panose="02020603050405020304" pitchFamily="18" charset="0"/>
              <a:buChar char="•"/>
            </a:pPr>
            <a:r>
              <a:rPr lang="en-GB" altLang="en-US" sz="1600"/>
              <a:t> Adding a 2cos</a:t>
            </a:r>
            <a:r>
              <a:rPr lang="en-GB" altLang="en-US" sz="1600">
                <a:latin typeface="Symbol" panose="05050102010706020507" pitchFamily="18" charset="2"/>
              </a:rPr>
              <a:t>q</a:t>
            </a:r>
            <a:r>
              <a:rPr lang="en-GB" altLang="en-US" sz="1600" baseline="-25000"/>
              <a:t>i</a:t>
            </a:r>
            <a:r>
              <a:rPr lang="en-GB" altLang="en-US" sz="1600"/>
              <a:t> term to the point does the trick ( 2 allows for normalization of total evaporation rate)</a:t>
            </a:r>
            <a:endParaRPr lang="en-US" altLang="en-US" sz="1600"/>
          </a:p>
        </p:txBody>
      </p:sp>
      <p:graphicFrame>
        <p:nvGraphicFramePr>
          <p:cNvPr id="20486" name="Object 6">
            <a:extLst>
              <a:ext uri="{FF2B5EF4-FFF2-40B4-BE49-F238E27FC236}">
                <a16:creationId xmlns:a16="http://schemas.microsoft.com/office/drawing/2014/main" id="{3CF45CED-1F18-643E-FEDD-DC42F963A784}"/>
              </a:ext>
            </a:extLst>
          </p:cNvPr>
          <p:cNvGraphicFramePr>
            <a:graphicFrameLocks noChangeAspect="1"/>
          </p:cNvGraphicFramePr>
          <p:nvPr/>
        </p:nvGraphicFramePr>
        <p:xfrm>
          <a:off x="5743575" y="2971801"/>
          <a:ext cx="2933700" cy="912813"/>
        </p:xfrm>
        <a:graphic>
          <a:graphicData uri="http://schemas.openxmlformats.org/presentationml/2006/ole">
            <mc:AlternateContent xmlns:mc="http://schemas.openxmlformats.org/markup-compatibility/2006">
              <mc:Choice xmlns:v="urn:schemas-microsoft-com:vml" Requires="v">
                <p:oleObj name="Equation" r:id="rId4" imgW="1346200" imgH="419100" progId="Equation.DSMT4">
                  <p:embed/>
                </p:oleObj>
              </mc:Choice>
              <mc:Fallback>
                <p:oleObj name="Equation" r:id="rId4" imgW="1346200" imgH="419100" progId="Equation.DSMT4">
                  <p:embed/>
                  <p:pic>
                    <p:nvPicPr>
                      <p:cNvPr id="20486" name="Object 6">
                        <a:extLst>
                          <a:ext uri="{FF2B5EF4-FFF2-40B4-BE49-F238E27FC236}">
                            <a16:creationId xmlns:a16="http://schemas.microsoft.com/office/drawing/2014/main" id="{3CF45CED-1F18-643E-FEDD-DC42F963A7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3575" y="2971801"/>
                        <a:ext cx="2933700"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7" name="Text Box 7">
            <a:extLst>
              <a:ext uri="{FF2B5EF4-FFF2-40B4-BE49-F238E27FC236}">
                <a16:creationId xmlns:a16="http://schemas.microsoft.com/office/drawing/2014/main" id="{734F830B-3927-D1F5-BA46-56E73ABB9852}"/>
              </a:ext>
            </a:extLst>
          </p:cNvPr>
          <p:cNvSpPr txBox="1">
            <a:spLocks noChangeArrowheads="1"/>
          </p:cNvSpPr>
          <p:nvPr/>
        </p:nvSpPr>
        <p:spPr bwMode="auto">
          <a:xfrm>
            <a:off x="2193925" y="4538664"/>
            <a:ext cx="7772400"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endParaRPr lang="en-US" altLang="en-US"/>
          </a:p>
        </p:txBody>
      </p:sp>
      <p:sp>
        <p:nvSpPr>
          <p:cNvPr id="20488" name="Text Box 8">
            <a:extLst>
              <a:ext uri="{FF2B5EF4-FFF2-40B4-BE49-F238E27FC236}">
                <a16:creationId xmlns:a16="http://schemas.microsoft.com/office/drawing/2014/main" id="{02C2E8DF-23F2-872D-69CE-F03C03CDF674}"/>
              </a:ext>
            </a:extLst>
          </p:cNvPr>
          <p:cNvSpPr txBox="1">
            <a:spLocks noChangeArrowheads="1"/>
          </p:cNvSpPr>
          <p:nvPr/>
        </p:nvSpPr>
        <p:spPr bwMode="auto">
          <a:xfrm>
            <a:off x="1982789" y="4267201"/>
            <a:ext cx="8131175"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Different, more realistic, angular distributions can be modelled as cos</a:t>
            </a:r>
            <a:r>
              <a:rPr lang="en-GB" altLang="en-US" sz="1600" baseline="30000"/>
              <a:t>n</a:t>
            </a:r>
            <a:r>
              <a:rPr lang="en-GB" altLang="en-US" sz="1600">
                <a:latin typeface="Symbol" panose="05050102010706020507" pitchFamily="18" charset="2"/>
              </a:rPr>
              <a:t>q</a:t>
            </a:r>
            <a:r>
              <a:rPr lang="en-GB" altLang="en-US" sz="1600" baseline="-25000"/>
              <a:t>i</a:t>
            </a:r>
            <a:r>
              <a:rPr lang="en-GB" altLang="en-US" sz="1600"/>
              <a:t> functions, with n&gt;1.</a:t>
            </a:r>
            <a:endParaRPr lang="en-US" altLang="en-US" sz="1600"/>
          </a:p>
        </p:txBody>
      </p:sp>
      <p:graphicFrame>
        <p:nvGraphicFramePr>
          <p:cNvPr id="20489" name="Object 9">
            <a:extLst>
              <a:ext uri="{FF2B5EF4-FFF2-40B4-BE49-F238E27FC236}">
                <a16:creationId xmlns:a16="http://schemas.microsoft.com/office/drawing/2014/main" id="{4E94FDCA-C34C-FC1E-E85B-9206E90E3B94}"/>
              </a:ext>
            </a:extLst>
          </p:cNvPr>
          <p:cNvGraphicFramePr>
            <a:graphicFrameLocks noChangeAspect="1"/>
          </p:cNvGraphicFramePr>
          <p:nvPr/>
        </p:nvGraphicFramePr>
        <p:xfrm>
          <a:off x="3422650" y="4587875"/>
          <a:ext cx="5410200" cy="1911350"/>
        </p:xfrm>
        <a:graphic>
          <a:graphicData uri="http://schemas.openxmlformats.org/presentationml/2006/ole">
            <mc:AlternateContent xmlns:mc="http://schemas.openxmlformats.org/markup-compatibility/2006">
              <mc:Choice xmlns:v="urn:schemas-microsoft-com:vml" Requires="v">
                <p:oleObj name="Document" r:id="rId6" imgW="5486400" imgH="1938528" progId="Word.Document.8">
                  <p:embed/>
                </p:oleObj>
              </mc:Choice>
              <mc:Fallback>
                <p:oleObj name="Document" r:id="rId6" imgW="5486400" imgH="1938528" progId="Word.Document.8">
                  <p:embed/>
                  <p:pic>
                    <p:nvPicPr>
                      <p:cNvPr id="20489" name="Object 9">
                        <a:extLst>
                          <a:ext uri="{FF2B5EF4-FFF2-40B4-BE49-F238E27FC236}">
                            <a16:creationId xmlns:a16="http://schemas.microsoft.com/office/drawing/2014/main" id="{4E94FDCA-C34C-FC1E-E85B-9206E90E3B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2650" y="4587875"/>
                        <a:ext cx="5410200" cy="191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71EBEE58-E85C-2C26-C477-4944A1139EEB}"/>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796E1F8E-14ED-462A-B1A9-29388D095CAE}" type="slidenum">
              <a:rPr lang="en-US" altLang="en-US"/>
              <a:pPr>
                <a:lnSpc>
                  <a:spcPct val="100000"/>
                </a:lnSpc>
                <a:spcBef>
                  <a:spcPct val="0"/>
                </a:spcBef>
                <a:buClr>
                  <a:srgbClr val="F68933"/>
                </a:buClr>
                <a:buFontTx/>
                <a:buNone/>
              </a:pPr>
              <a:t>5</a:t>
            </a:fld>
            <a:endParaRPr lang="en-US" altLang="en-US"/>
          </a:p>
        </p:txBody>
      </p:sp>
      <p:sp>
        <p:nvSpPr>
          <p:cNvPr id="21507" name="Rectangle 2">
            <a:extLst>
              <a:ext uri="{FF2B5EF4-FFF2-40B4-BE49-F238E27FC236}">
                <a16:creationId xmlns:a16="http://schemas.microsoft.com/office/drawing/2014/main" id="{09FB660F-CFE0-910A-9340-68F6EB1D4079}"/>
              </a:ext>
            </a:extLst>
          </p:cNvPr>
          <p:cNvSpPr>
            <a:spLocks noGrp="1" noChangeArrowheads="1"/>
          </p:cNvSpPr>
          <p:nvPr>
            <p:ph type="title"/>
          </p:nvPr>
        </p:nvSpPr>
        <p:spPr/>
        <p:txBody>
          <a:bodyPr/>
          <a:lstStyle/>
          <a:p>
            <a:pPr eaLnBrk="1" hangingPunct="1"/>
            <a:r>
              <a:rPr lang="en-GB" altLang="en-US"/>
              <a:t>Deposition rate uniformity</a:t>
            </a:r>
            <a:endParaRPr lang="en-US" altLang="en-US"/>
          </a:p>
        </p:txBody>
      </p:sp>
      <p:sp>
        <p:nvSpPr>
          <p:cNvPr id="21508" name="Rectangle 3">
            <a:extLst>
              <a:ext uri="{FF2B5EF4-FFF2-40B4-BE49-F238E27FC236}">
                <a16:creationId xmlns:a16="http://schemas.microsoft.com/office/drawing/2014/main" id="{39AE2356-C987-9359-B225-EB7A6238C3A6}"/>
              </a:ext>
            </a:extLst>
          </p:cNvPr>
          <p:cNvSpPr>
            <a:spLocks noGrp="1" noChangeArrowheads="1"/>
          </p:cNvSpPr>
          <p:nvPr>
            <p:ph type="body" idx="1"/>
          </p:nvPr>
        </p:nvSpPr>
        <p:spPr>
          <a:xfrm>
            <a:off x="1925639" y="1371600"/>
            <a:ext cx="8402637" cy="4114800"/>
          </a:xfrm>
        </p:spPr>
        <p:txBody>
          <a:bodyPr/>
          <a:lstStyle/>
          <a:p>
            <a:pPr eaLnBrk="1" hangingPunct="1"/>
            <a:r>
              <a:rPr lang="en-GB" altLang="en-US" sz="2000"/>
              <a:t>No matter if the source can be approximated to a point or surface source </a:t>
            </a:r>
            <a:r>
              <a:rPr lang="en-GB" altLang="en-US" sz="2000">
                <a:sym typeface="Wingdings" panose="05000000000000000000" pitchFamily="2" charset="2"/>
              </a:rPr>
              <a:t> evaporator deposition rate is not uniform on wafer</a:t>
            </a:r>
            <a:endParaRPr lang="en-US" altLang="en-US" sz="2000"/>
          </a:p>
        </p:txBody>
      </p:sp>
      <p:sp>
        <p:nvSpPr>
          <p:cNvPr id="21509" name="Text Box 6">
            <a:extLst>
              <a:ext uri="{FF2B5EF4-FFF2-40B4-BE49-F238E27FC236}">
                <a16:creationId xmlns:a16="http://schemas.microsoft.com/office/drawing/2014/main" id="{D8AB6C28-93A4-32A5-19A9-4852CA9DFFD4}"/>
              </a:ext>
            </a:extLst>
          </p:cNvPr>
          <p:cNvSpPr txBox="1">
            <a:spLocks noChangeArrowheads="1"/>
          </p:cNvSpPr>
          <p:nvPr/>
        </p:nvSpPr>
        <p:spPr bwMode="auto">
          <a:xfrm>
            <a:off x="1881188" y="2474914"/>
            <a:ext cx="8089900"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To maximize deposition uniformity, wafers are put in spherical or hemispherical holders (planetary). Planetary can also rotate</a:t>
            </a:r>
            <a:endParaRPr lang="en-US" altLang="en-US"/>
          </a:p>
        </p:txBody>
      </p:sp>
      <p:graphicFrame>
        <p:nvGraphicFramePr>
          <p:cNvPr id="21510" name="Object 7">
            <a:extLst>
              <a:ext uri="{FF2B5EF4-FFF2-40B4-BE49-F238E27FC236}">
                <a16:creationId xmlns:a16="http://schemas.microsoft.com/office/drawing/2014/main" id="{A9D55180-4BCA-E779-AAAF-59995CF91F64}"/>
              </a:ext>
            </a:extLst>
          </p:cNvPr>
          <p:cNvGraphicFramePr>
            <a:graphicFrameLocks noChangeAspect="1"/>
          </p:cNvGraphicFramePr>
          <p:nvPr/>
        </p:nvGraphicFramePr>
        <p:xfrm>
          <a:off x="5614988" y="3783013"/>
          <a:ext cx="4659312" cy="2309812"/>
        </p:xfrm>
        <a:graphic>
          <a:graphicData uri="http://schemas.openxmlformats.org/presentationml/2006/ole">
            <mc:AlternateContent xmlns:mc="http://schemas.openxmlformats.org/markup-compatibility/2006">
              <mc:Choice xmlns:v="urn:schemas-microsoft-com:vml" Requires="v">
                <p:oleObj name="Document" r:id="rId2" imgW="3669792" imgH="1819656" progId="Word.Document.8">
                  <p:embed/>
                </p:oleObj>
              </mc:Choice>
              <mc:Fallback>
                <p:oleObj name="Document" r:id="rId2" imgW="3669792" imgH="1819656" progId="Word.Document.8">
                  <p:embed/>
                  <p:pic>
                    <p:nvPicPr>
                      <p:cNvPr id="21510" name="Object 7">
                        <a:extLst>
                          <a:ext uri="{FF2B5EF4-FFF2-40B4-BE49-F238E27FC236}">
                            <a16:creationId xmlns:a16="http://schemas.microsoft.com/office/drawing/2014/main" id="{A9D55180-4BCA-E779-AAAF-59995CF91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4988" y="3783013"/>
                        <a:ext cx="4659312" cy="2309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DB90E5B3-7870-9469-806D-34997E294BCA}"/>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9425879D-ED5A-4BC6-938E-304CC729CBEF}" type="slidenum">
              <a:rPr lang="en-US" altLang="en-US"/>
              <a:pPr>
                <a:lnSpc>
                  <a:spcPct val="100000"/>
                </a:lnSpc>
                <a:spcBef>
                  <a:spcPct val="0"/>
                </a:spcBef>
                <a:buClr>
                  <a:srgbClr val="F68933"/>
                </a:buClr>
                <a:buFontTx/>
                <a:buNone/>
              </a:pPr>
              <a:t>6</a:t>
            </a:fld>
            <a:endParaRPr lang="en-US" altLang="en-US"/>
          </a:p>
        </p:txBody>
      </p:sp>
      <p:sp>
        <p:nvSpPr>
          <p:cNvPr id="22531" name="Rectangle 2">
            <a:extLst>
              <a:ext uri="{FF2B5EF4-FFF2-40B4-BE49-F238E27FC236}">
                <a16:creationId xmlns:a16="http://schemas.microsoft.com/office/drawing/2014/main" id="{DD87CF9E-550F-0597-7D23-450D921C38D8}"/>
              </a:ext>
            </a:extLst>
          </p:cNvPr>
          <p:cNvSpPr>
            <a:spLocks noGrp="1" noChangeArrowheads="1"/>
          </p:cNvSpPr>
          <p:nvPr>
            <p:ph type="title"/>
          </p:nvPr>
        </p:nvSpPr>
        <p:spPr/>
        <p:txBody>
          <a:bodyPr/>
          <a:lstStyle/>
          <a:p>
            <a:pPr eaLnBrk="1" hangingPunct="1"/>
            <a:r>
              <a:rPr lang="en-GB" altLang="en-US"/>
              <a:t>Evaporation rate</a:t>
            </a:r>
            <a:endParaRPr lang="en-US" altLang="en-US"/>
          </a:p>
        </p:txBody>
      </p:sp>
      <p:sp>
        <p:nvSpPr>
          <p:cNvPr id="22532" name="Rectangle 3">
            <a:extLst>
              <a:ext uri="{FF2B5EF4-FFF2-40B4-BE49-F238E27FC236}">
                <a16:creationId xmlns:a16="http://schemas.microsoft.com/office/drawing/2014/main" id="{AB5BF57C-649C-B63E-7CE3-1F3FEC060133}"/>
              </a:ext>
            </a:extLst>
          </p:cNvPr>
          <p:cNvSpPr>
            <a:spLocks noGrp="1" noChangeArrowheads="1"/>
          </p:cNvSpPr>
          <p:nvPr>
            <p:ph type="body" idx="1"/>
          </p:nvPr>
        </p:nvSpPr>
        <p:spPr>
          <a:xfrm>
            <a:off x="1524000" y="1371600"/>
            <a:ext cx="4794250" cy="4114800"/>
          </a:xfrm>
        </p:spPr>
        <p:txBody>
          <a:bodyPr/>
          <a:lstStyle/>
          <a:p>
            <a:pPr eaLnBrk="1" hangingPunct="1"/>
            <a:r>
              <a:rPr lang="en-GB" altLang="en-US"/>
              <a:t>Form Langmuir-Knudsen theory</a:t>
            </a:r>
          </a:p>
          <a:p>
            <a:pPr eaLnBrk="1" hangingPunct="1">
              <a:buFont typeface="Times" panose="02020603050405020304" pitchFamily="18" charset="0"/>
              <a:buNone/>
            </a:pPr>
            <a:r>
              <a:rPr lang="en-GB" altLang="en-US" sz="1600"/>
              <a:t>With </a:t>
            </a:r>
          </a:p>
          <a:p>
            <a:pPr eaLnBrk="1" hangingPunct="1">
              <a:buFont typeface="Times" panose="02020603050405020304" pitchFamily="18" charset="0"/>
              <a:buNone/>
            </a:pPr>
            <a:r>
              <a:rPr lang="en-GB" altLang="en-US" sz="1600"/>
              <a:t>A</a:t>
            </a:r>
            <a:r>
              <a:rPr lang="en-GB" altLang="en-US" sz="1600" baseline="-25000"/>
              <a:t>s</a:t>
            </a:r>
            <a:r>
              <a:rPr lang="en-GB" altLang="en-US" sz="1600"/>
              <a:t>= area of the source (cm</a:t>
            </a:r>
            <a:r>
              <a:rPr lang="en-GB" altLang="en-US" sz="1600" baseline="30000"/>
              <a:t>2</a:t>
            </a:r>
            <a:r>
              <a:rPr lang="en-GB" altLang="en-US" sz="1600"/>
              <a:t>)</a:t>
            </a:r>
          </a:p>
          <a:p>
            <a:pPr eaLnBrk="1" hangingPunct="1">
              <a:buFont typeface="Times" panose="02020603050405020304" pitchFamily="18" charset="0"/>
              <a:buNone/>
            </a:pPr>
            <a:r>
              <a:rPr lang="en-GB" altLang="en-US" sz="1600"/>
              <a:t>m = gram-molecular mass</a:t>
            </a:r>
          </a:p>
          <a:p>
            <a:pPr eaLnBrk="1" hangingPunct="1">
              <a:buFont typeface="Times" panose="02020603050405020304" pitchFamily="18" charset="0"/>
              <a:buNone/>
            </a:pPr>
            <a:r>
              <a:rPr lang="en-GB" altLang="en-US" sz="1600"/>
              <a:t>T = temperature in K</a:t>
            </a:r>
          </a:p>
          <a:p>
            <a:pPr eaLnBrk="1" hangingPunct="1">
              <a:buFont typeface="Times" panose="02020603050405020304" pitchFamily="18" charset="0"/>
              <a:buNone/>
            </a:pPr>
            <a:r>
              <a:rPr lang="en-GB" altLang="en-US" sz="1600"/>
              <a:t>P</a:t>
            </a:r>
            <a:r>
              <a:rPr lang="en-GB" altLang="en-US" sz="1600" baseline="-25000"/>
              <a:t>e</a:t>
            </a:r>
            <a:r>
              <a:rPr lang="en-GB" altLang="en-US" sz="1600"/>
              <a:t>= vapour pressure </a:t>
            </a:r>
            <a:r>
              <a:rPr lang="en-GB" altLang="en-US" sz="1600">
                <a:sym typeface="Wingdings" panose="05000000000000000000" pitchFamily="2" charset="2"/>
              </a:rPr>
              <a:t> a partial pressure of 1-10 mtorr is required to obtain reasonable deposition rates </a:t>
            </a:r>
          </a:p>
          <a:p>
            <a:pPr eaLnBrk="1" hangingPunct="1">
              <a:buFont typeface="Times" panose="02020603050405020304" pitchFamily="18" charset="0"/>
              <a:buNone/>
            </a:pPr>
            <a:endParaRPr lang="en-GB" altLang="en-US" sz="1600">
              <a:sym typeface="Wingdings" panose="05000000000000000000" pitchFamily="2" charset="2"/>
            </a:endParaRPr>
          </a:p>
          <a:p>
            <a:pPr eaLnBrk="1" hangingPunct="1">
              <a:buFont typeface="Times" panose="02020603050405020304" pitchFamily="18" charset="0"/>
              <a:buNone/>
            </a:pPr>
            <a:r>
              <a:rPr lang="en-GB" altLang="en-US" b="1">
                <a:solidFill>
                  <a:srgbClr val="F0522C"/>
                </a:solidFill>
                <a:sym typeface="Wingdings" panose="05000000000000000000" pitchFamily="2" charset="2"/>
              </a:rPr>
              <a:t>Note that P</a:t>
            </a:r>
            <a:r>
              <a:rPr lang="en-GB" altLang="en-US" b="1" baseline="-25000">
                <a:solidFill>
                  <a:srgbClr val="F0522C"/>
                </a:solidFill>
                <a:sym typeface="Wingdings" panose="05000000000000000000" pitchFamily="2" charset="2"/>
              </a:rPr>
              <a:t>e</a:t>
            </a:r>
            <a:r>
              <a:rPr lang="en-GB" altLang="en-US" b="1">
                <a:solidFill>
                  <a:srgbClr val="F0522C"/>
                </a:solidFill>
                <a:sym typeface="Wingdings" panose="05000000000000000000" pitchFamily="2" charset="2"/>
              </a:rPr>
              <a:t> dramatically depends on temperature</a:t>
            </a:r>
            <a:endParaRPr lang="en-US" altLang="en-US" b="1">
              <a:solidFill>
                <a:srgbClr val="F0522C"/>
              </a:solidFill>
            </a:endParaRPr>
          </a:p>
        </p:txBody>
      </p:sp>
      <p:graphicFrame>
        <p:nvGraphicFramePr>
          <p:cNvPr id="22533" name="Object 4">
            <a:extLst>
              <a:ext uri="{FF2B5EF4-FFF2-40B4-BE49-F238E27FC236}">
                <a16:creationId xmlns:a16="http://schemas.microsoft.com/office/drawing/2014/main" id="{88FC3F80-AF16-15EC-D555-68869959BB12}"/>
              </a:ext>
            </a:extLst>
          </p:cNvPr>
          <p:cNvGraphicFramePr>
            <a:graphicFrameLocks noChangeAspect="1"/>
          </p:cNvGraphicFramePr>
          <p:nvPr/>
        </p:nvGraphicFramePr>
        <p:xfrm>
          <a:off x="6049964" y="1485900"/>
          <a:ext cx="4092575" cy="1028700"/>
        </p:xfrm>
        <a:graphic>
          <a:graphicData uri="http://schemas.openxmlformats.org/presentationml/2006/ole">
            <mc:AlternateContent xmlns:mc="http://schemas.openxmlformats.org/markup-compatibility/2006">
              <mc:Choice xmlns:v="urn:schemas-microsoft-com:vml" Requires="v">
                <p:oleObj name="Equation" r:id="rId2" imgW="2070100" imgH="520700" progId="Equation.DSMT4">
                  <p:embed/>
                </p:oleObj>
              </mc:Choice>
              <mc:Fallback>
                <p:oleObj name="Equation" r:id="rId2" imgW="2070100" imgH="520700" progId="Equation.DSMT4">
                  <p:embed/>
                  <p:pic>
                    <p:nvPicPr>
                      <p:cNvPr id="22533" name="Object 4">
                        <a:extLst>
                          <a:ext uri="{FF2B5EF4-FFF2-40B4-BE49-F238E27FC236}">
                            <a16:creationId xmlns:a16="http://schemas.microsoft.com/office/drawing/2014/main" id="{88FC3F80-AF16-15EC-D555-68869959BB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9964" y="1485900"/>
                        <a:ext cx="4092575"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2534" name="Group 7">
            <a:extLst>
              <a:ext uri="{FF2B5EF4-FFF2-40B4-BE49-F238E27FC236}">
                <a16:creationId xmlns:a16="http://schemas.microsoft.com/office/drawing/2014/main" id="{840B1D1C-DD31-DFAC-D447-9F291EB8E032}"/>
              </a:ext>
            </a:extLst>
          </p:cNvPr>
          <p:cNvGrpSpPr>
            <a:grpSpLocks noChangeAspect="1"/>
          </p:cNvGrpSpPr>
          <p:nvPr/>
        </p:nvGrpSpPr>
        <p:grpSpPr bwMode="auto">
          <a:xfrm>
            <a:off x="5694364" y="2593976"/>
            <a:ext cx="4768849" cy="3878263"/>
            <a:chOff x="2679" y="1614"/>
            <a:chExt cx="3004" cy="2443"/>
          </a:xfrm>
        </p:grpSpPr>
        <p:sp>
          <p:nvSpPr>
            <p:cNvPr id="22535" name="AutoShape 6">
              <a:extLst>
                <a:ext uri="{FF2B5EF4-FFF2-40B4-BE49-F238E27FC236}">
                  <a16:creationId xmlns:a16="http://schemas.microsoft.com/office/drawing/2014/main" id="{FCE3BD76-E22B-667E-4BFE-19785BE61CBE}"/>
                </a:ext>
              </a:extLst>
            </p:cNvPr>
            <p:cNvSpPr>
              <a:spLocks noChangeAspect="1" noChangeArrowheads="1" noTextEdit="1"/>
            </p:cNvSpPr>
            <p:nvPr/>
          </p:nvSpPr>
          <p:spPr bwMode="auto">
            <a:xfrm>
              <a:off x="2900" y="1889"/>
              <a:ext cx="2713" cy="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536" name="Rectangle 8">
              <a:extLst>
                <a:ext uri="{FF2B5EF4-FFF2-40B4-BE49-F238E27FC236}">
                  <a16:creationId xmlns:a16="http://schemas.microsoft.com/office/drawing/2014/main" id="{3F3841C1-8839-E41D-5344-9BA4CD6A05A3}"/>
                </a:ext>
              </a:extLst>
            </p:cNvPr>
            <p:cNvSpPr>
              <a:spLocks noChangeArrowheads="1"/>
            </p:cNvSpPr>
            <p:nvPr/>
          </p:nvSpPr>
          <p:spPr bwMode="auto">
            <a:xfrm>
              <a:off x="2679" y="1614"/>
              <a:ext cx="3" cy="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 b="1">
                  <a:latin typeface="Times" panose="02020603050405020304" pitchFamily="18" charset="0"/>
                </a:rPr>
                <a:t>‘</a:t>
              </a:r>
              <a:endParaRPr lang="en-US" altLang="en-US"/>
            </a:p>
          </p:txBody>
        </p:sp>
        <p:sp>
          <p:nvSpPr>
            <p:cNvPr id="22537" name="Rectangle 9">
              <a:extLst>
                <a:ext uri="{FF2B5EF4-FFF2-40B4-BE49-F238E27FC236}">
                  <a16:creationId xmlns:a16="http://schemas.microsoft.com/office/drawing/2014/main" id="{771351CF-DC4B-DCC0-7262-67191A9F9B74}"/>
                </a:ext>
              </a:extLst>
            </p:cNvPr>
            <p:cNvSpPr>
              <a:spLocks noChangeArrowheads="1"/>
            </p:cNvSpPr>
            <p:nvPr/>
          </p:nvSpPr>
          <p:spPr bwMode="auto">
            <a:xfrm>
              <a:off x="3333" y="1919"/>
              <a:ext cx="2212" cy="1849"/>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2538" name="Rectangle 10">
              <a:extLst>
                <a:ext uri="{FF2B5EF4-FFF2-40B4-BE49-F238E27FC236}">
                  <a16:creationId xmlns:a16="http://schemas.microsoft.com/office/drawing/2014/main" id="{C88A0721-3D35-6133-710C-01198B8A7B52}"/>
                </a:ext>
              </a:extLst>
            </p:cNvPr>
            <p:cNvSpPr>
              <a:spLocks noChangeArrowheads="1"/>
            </p:cNvSpPr>
            <p:nvPr/>
          </p:nvSpPr>
          <p:spPr bwMode="auto">
            <a:xfrm>
              <a:off x="3082" y="1898"/>
              <a:ext cx="11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10</a:t>
              </a:r>
              <a:endParaRPr lang="en-US" altLang="en-US"/>
            </a:p>
          </p:txBody>
        </p:sp>
        <p:sp>
          <p:nvSpPr>
            <p:cNvPr id="22539" name="Rectangle 11">
              <a:extLst>
                <a:ext uri="{FF2B5EF4-FFF2-40B4-BE49-F238E27FC236}">
                  <a16:creationId xmlns:a16="http://schemas.microsoft.com/office/drawing/2014/main" id="{8080C1B0-6C53-FF0B-EBDF-F207F0C3B04A}"/>
                </a:ext>
              </a:extLst>
            </p:cNvPr>
            <p:cNvSpPr>
              <a:spLocks noChangeArrowheads="1"/>
            </p:cNvSpPr>
            <p:nvPr/>
          </p:nvSpPr>
          <p:spPr bwMode="auto">
            <a:xfrm>
              <a:off x="3192" y="1890"/>
              <a:ext cx="4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0</a:t>
              </a:r>
              <a:endParaRPr lang="en-US" altLang="en-US"/>
            </a:p>
          </p:txBody>
        </p:sp>
        <p:sp>
          <p:nvSpPr>
            <p:cNvPr id="22540" name="Rectangle 12">
              <a:extLst>
                <a:ext uri="{FF2B5EF4-FFF2-40B4-BE49-F238E27FC236}">
                  <a16:creationId xmlns:a16="http://schemas.microsoft.com/office/drawing/2014/main" id="{5EB959C8-2B32-A1C9-1974-1836ABE775EC}"/>
                </a:ext>
              </a:extLst>
            </p:cNvPr>
            <p:cNvSpPr>
              <a:spLocks noChangeArrowheads="1"/>
            </p:cNvSpPr>
            <p:nvPr/>
          </p:nvSpPr>
          <p:spPr bwMode="auto">
            <a:xfrm>
              <a:off x="3082" y="2198"/>
              <a:ext cx="11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10</a:t>
              </a:r>
              <a:endParaRPr lang="en-US" altLang="en-US"/>
            </a:p>
          </p:txBody>
        </p:sp>
        <p:sp>
          <p:nvSpPr>
            <p:cNvPr id="22541" name="Rectangle 13">
              <a:extLst>
                <a:ext uri="{FF2B5EF4-FFF2-40B4-BE49-F238E27FC236}">
                  <a16:creationId xmlns:a16="http://schemas.microsoft.com/office/drawing/2014/main" id="{0417F3C3-24EB-017D-9953-E1D09525D54B}"/>
                </a:ext>
              </a:extLst>
            </p:cNvPr>
            <p:cNvSpPr>
              <a:spLocks noChangeArrowheads="1"/>
            </p:cNvSpPr>
            <p:nvPr/>
          </p:nvSpPr>
          <p:spPr bwMode="auto">
            <a:xfrm>
              <a:off x="3192" y="2190"/>
              <a:ext cx="7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-1</a:t>
              </a:r>
              <a:endParaRPr lang="en-US" altLang="en-US"/>
            </a:p>
          </p:txBody>
        </p:sp>
        <p:sp>
          <p:nvSpPr>
            <p:cNvPr id="22542" name="Rectangle 14">
              <a:extLst>
                <a:ext uri="{FF2B5EF4-FFF2-40B4-BE49-F238E27FC236}">
                  <a16:creationId xmlns:a16="http://schemas.microsoft.com/office/drawing/2014/main" id="{ACF6642E-4291-7821-C20C-FA1AA5D3013C}"/>
                </a:ext>
              </a:extLst>
            </p:cNvPr>
            <p:cNvSpPr>
              <a:spLocks noChangeArrowheads="1"/>
            </p:cNvSpPr>
            <p:nvPr/>
          </p:nvSpPr>
          <p:spPr bwMode="auto">
            <a:xfrm>
              <a:off x="3082" y="2499"/>
              <a:ext cx="11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10</a:t>
              </a:r>
              <a:endParaRPr lang="en-US" altLang="en-US"/>
            </a:p>
          </p:txBody>
        </p:sp>
        <p:sp>
          <p:nvSpPr>
            <p:cNvPr id="22543" name="Rectangle 15">
              <a:extLst>
                <a:ext uri="{FF2B5EF4-FFF2-40B4-BE49-F238E27FC236}">
                  <a16:creationId xmlns:a16="http://schemas.microsoft.com/office/drawing/2014/main" id="{B99B1268-9480-D813-6F33-D1977A8C00A7}"/>
                </a:ext>
              </a:extLst>
            </p:cNvPr>
            <p:cNvSpPr>
              <a:spLocks noChangeArrowheads="1"/>
            </p:cNvSpPr>
            <p:nvPr/>
          </p:nvSpPr>
          <p:spPr bwMode="auto">
            <a:xfrm>
              <a:off x="3192" y="2492"/>
              <a:ext cx="7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-2</a:t>
              </a:r>
              <a:endParaRPr lang="en-US" altLang="en-US"/>
            </a:p>
          </p:txBody>
        </p:sp>
        <p:sp>
          <p:nvSpPr>
            <p:cNvPr id="22544" name="Rectangle 16">
              <a:extLst>
                <a:ext uri="{FF2B5EF4-FFF2-40B4-BE49-F238E27FC236}">
                  <a16:creationId xmlns:a16="http://schemas.microsoft.com/office/drawing/2014/main" id="{FDED0B7E-0482-4DF0-9E6A-439943945A6E}"/>
                </a:ext>
              </a:extLst>
            </p:cNvPr>
            <p:cNvSpPr>
              <a:spLocks noChangeArrowheads="1"/>
            </p:cNvSpPr>
            <p:nvPr/>
          </p:nvSpPr>
          <p:spPr bwMode="auto">
            <a:xfrm>
              <a:off x="3082" y="2799"/>
              <a:ext cx="11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10</a:t>
              </a:r>
              <a:endParaRPr lang="en-US" altLang="en-US"/>
            </a:p>
          </p:txBody>
        </p:sp>
        <p:sp>
          <p:nvSpPr>
            <p:cNvPr id="22545" name="Rectangle 17">
              <a:extLst>
                <a:ext uri="{FF2B5EF4-FFF2-40B4-BE49-F238E27FC236}">
                  <a16:creationId xmlns:a16="http://schemas.microsoft.com/office/drawing/2014/main" id="{F9EFA642-8D8A-91BF-0948-715917AFE2F5}"/>
                </a:ext>
              </a:extLst>
            </p:cNvPr>
            <p:cNvSpPr>
              <a:spLocks noChangeArrowheads="1"/>
            </p:cNvSpPr>
            <p:nvPr/>
          </p:nvSpPr>
          <p:spPr bwMode="auto">
            <a:xfrm>
              <a:off x="3192" y="2791"/>
              <a:ext cx="7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-3</a:t>
              </a:r>
              <a:endParaRPr lang="en-US" altLang="en-US"/>
            </a:p>
          </p:txBody>
        </p:sp>
        <p:sp>
          <p:nvSpPr>
            <p:cNvPr id="22546" name="Rectangle 18">
              <a:extLst>
                <a:ext uri="{FF2B5EF4-FFF2-40B4-BE49-F238E27FC236}">
                  <a16:creationId xmlns:a16="http://schemas.microsoft.com/office/drawing/2014/main" id="{F28A269E-7AE6-6BD6-C81B-B93F8D806884}"/>
                </a:ext>
              </a:extLst>
            </p:cNvPr>
            <p:cNvSpPr>
              <a:spLocks noChangeArrowheads="1"/>
            </p:cNvSpPr>
            <p:nvPr/>
          </p:nvSpPr>
          <p:spPr bwMode="auto">
            <a:xfrm>
              <a:off x="3082" y="3100"/>
              <a:ext cx="11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10</a:t>
              </a:r>
              <a:endParaRPr lang="en-US" altLang="en-US"/>
            </a:p>
          </p:txBody>
        </p:sp>
        <p:sp>
          <p:nvSpPr>
            <p:cNvPr id="22547" name="Rectangle 19">
              <a:extLst>
                <a:ext uri="{FF2B5EF4-FFF2-40B4-BE49-F238E27FC236}">
                  <a16:creationId xmlns:a16="http://schemas.microsoft.com/office/drawing/2014/main" id="{1EAC4318-6A3E-EF94-9F12-D4D0E48641CB}"/>
                </a:ext>
              </a:extLst>
            </p:cNvPr>
            <p:cNvSpPr>
              <a:spLocks noChangeArrowheads="1"/>
            </p:cNvSpPr>
            <p:nvPr/>
          </p:nvSpPr>
          <p:spPr bwMode="auto">
            <a:xfrm>
              <a:off x="3192" y="3093"/>
              <a:ext cx="7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-4</a:t>
              </a:r>
              <a:endParaRPr lang="en-US" altLang="en-US"/>
            </a:p>
          </p:txBody>
        </p:sp>
        <p:sp>
          <p:nvSpPr>
            <p:cNvPr id="22548" name="Rectangle 20">
              <a:extLst>
                <a:ext uri="{FF2B5EF4-FFF2-40B4-BE49-F238E27FC236}">
                  <a16:creationId xmlns:a16="http://schemas.microsoft.com/office/drawing/2014/main" id="{65461EC2-001A-50C3-EF09-917B10356A0A}"/>
                </a:ext>
              </a:extLst>
            </p:cNvPr>
            <p:cNvSpPr>
              <a:spLocks noChangeArrowheads="1"/>
            </p:cNvSpPr>
            <p:nvPr/>
          </p:nvSpPr>
          <p:spPr bwMode="auto">
            <a:xfrm>
              <a:off x="3082" y="3402"/>
              <a:ext cx="11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10</a:t>
              </a:r>
              <a:endParaRPr lang="en-US" altLang="en-US"/>
            </a:p>
          </p:txBody>
        </p:sp>
        <p:sp>
          <p:nvSpPr>
            <p:cNvPr id="22549" name="Rectangle 21">
              <a:extLst>
                <a:ext uri="{FF2B5EF4-FFF2-40B4-BE49-F238E27FC236}">
                  <a16:creationId xmlns:a16="http://schemas.microsoft.com/office/drawing/2014/main" id="{48745D19-D970-84D0-DF77-455B8CFDAD23}"/>
                </a:ext>
              </a:extLst>
            </p:cNvPr>
            <p:cNvSpPr>
              <a:spLocks noChangeArrowheads="1"/>
            </p:cNvSpPr>
            <p:nvPr/>
          </p:nvSpPr>
          <p:spPr bwMode="auto">
            <a:xfrm>
              <a:off x="3192" y="3392"/>
              <a:ext cx="7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-5</a:t>
              </a:r>
              <a:endParaRPr lang="en-US" altLang="en-US"/>
            </a:p>
          </p:txBody>
        </p:sp>
        <p:sp>
          <p:nvSpPr>
            <p:cNvPr id="22550" name="Rectangle 22">
              <a:extLst>
                <a:ext uri="{FF2B5EF4-FFF2-40B4-BE49-F238E27FC236}">
                  <a16:creationId xmlns:a16="http://schemas.microsoft.com/office/drawing/2014/main" id="{C841F001-CC8A-0584-D6BA-E5010E616D34}"/>
                </a:ext>
              </a:extLst>
            </p:cNvPr>
            <p:cNvSpPr>
              <a:spLocks noChangeArrowheads="1"/>
            </p:cNvSpPr>
            <p:nvPr/>
          </p:nvSpPr>
          <p:spPr bwMode="auto">
            <a:xfrm>
              <a:off x="3082" y="3692"/>
              <a:ext cx="11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10</a:t>
              </a:r>
              <a:endParaRPr lang="en-US" altLang="en-US"/>
            </a:p>
          </p:txBody>
        </p:sp>
        <p:sp>
          <p:nvSpPr>
            <p:cNvPr id="22551" name="Rectangle 23">
              <a:extLst>
                <a:ext uri="{FF2B5EF4-FFF2-40B4-BE49-F238E27FC236}">
                  <a16:creationId xmlns:a16="http://schemas.microsoft.com/office/drawing/2014/main" id="{20761687-86BA-A469-4FCF-578B13FBA6C2}"/>
                </a:ext>
              </a:extLst>
            </p:cNvPr>
            <p:cNvSpPr>
              <a:spLocks noChangeArrowheads="1"/>
            </p:cNvSpPr>
            <p:nvPr/>
          </p:nvSpPr>
          <p:spPr bwMode="auto">
            <a:xfrm>
              <a:off x="3192" y="3684"/>
              <a:ext cx="7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-6</a:t>
              </a:r>
              <a:endParaRPr lang="en-US" altLang="en-US"/>
            </a:p>
          </p:txBody>
        </p:sp>
        <p:sp>
          <p:nvSpPr>
            <p:cNvPr id="22552" name="Line 24">
              <a:extLst>
                <a:ext uri="{FF2B5EF4-FFF2-40B4-BE49-F238E27FC236}">
                  <a16:creationId xmlns:a16="http://schemas.microsoft.com/office/drawing/2014/main" id="{8377090B-E2B9-12B9-5C39-2FCEA17AD27D}"/>
                </a:ext>
              </a:extLst>
            </p:cNvPr>
            <p:cNvSpPr>
              <a:spLocks noChangeShapeType="1"/>
            </p:cNvSpPr>
            <p:nvPr/>
          </p:nvSpPr>
          <p:spPr bwMode="auto">
            <a:xfrm>
              <a:off x="3332" y="3448"/>
              <a:ext cx="4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3" name="Rectangle 25">
              <a:extLst>
                <a:ext uri="{FF2B5EF4-FFF2-40B4-BE49-F238E27FC236}">
                  <a16:creationId xmlns:a16="http://schemas.microsoft.com/office/drawing/2014/main" id="{5CB8922C-3670-FD4D-B45E-900E6015C63B}"/>
                </a:ext>
              </a:extLst>
            </p:cNvPr>
            <p:cNvSpPr>
              <a:spLocks noChangeArrowheads="1"/>
            </p:cNvSpPr>
            <p:nvPr/>
          </p:nvSpPr>
          <p:spPr bwMode="auto">
            <a:xfrm rot="16200000">
              <a:off x="2355" y="2710"/>
              <a:ext cx="1034"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Vapor pressure (torr)</a:t>
              </a:r>
              <a:endParaRPr lang="en-US" altLang="en-US"/>
            </a:p>
          </p:txBody>
        </p:sp>
        <p:sp>
          <p:nvSpPr>
            <p:cNvPr id="22554" name="Line 26">
              <a:extLst>
                <a:ext uri="{FF2B5EF4-FFF2-40B4-BE49-F238E27FC236}">
                  <a16:creationId xmlns:a16="http://schemas.microsoft.com/office/drawing/2014/main" id="{AF2DAE4E-7E98-1C21-4DA7-AAE662533448}"/>
                </a:ext>
              </a:extLst>
            </p:cNvPr>
            <p:cNvSpPr>
              <a:spLocks noChangeShapeType="1"/>
            </p:cNvSpPr>
            <p:nvPr/>
          </p:nvSpPr>
          <p:spPr bwMode="auto">
            <a:xfrm>
              <a:off x="3332" y="3156"/>
              <a:ext cx="54"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5" name="Line 27">
              <a:extLst>
                <a:ext uri="{FF2B5EF4-FFF2-40B4-BE49-F238E27FC236}">
                  <a16:creationId xmlns:a16="http://schemas.microsoft.com/office/drawing/2014/main" id="{B0C7A234-B55B-163D-8D48-50F515FE3CA0}"/>
                </a:ext>
              </a:extLst>
            </p:cNvPr>
            <p:cNvSpPr>
              <a:spLocks noChangeShapeType="1"/>
            </p:cNvSpPr>
            <p:nvPr/>
          </p:nvSpPr>
          <p:spPr bwMode="auto">
            <a:xfrm>
              <a:off x="3332" y="2838"/>
              <a:ext cx="4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6" name="Line 28">
              <a:extLst>
                <a:ext uri="{FF2B5EF4-FFF2-40B4-BE49-F238E27FC236}">
                  <a16:creationId xmlns:a16="http://schemas.microsoft.com/office/drawing/2014/main" id="{3B57A4C4-BAC5-0522-BD85-BC54DD418657}"/>
                </a:ext>
              </a:extLst>
            </p:cNvPr>
            <p:cNvSpPr>
              <a:spLocks noChangeShapeType="1"/>
            </p:cNvSpPr>
            <p:nvPr/>
          </p:nvSpPr>
          <p:spPr bwMode="auto">
            <a:xfrm>
              <a:off x="3332" y="2538"/>
              <a:ext cx="4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7" name="Line 29">
              <a:extLst>
                <a:ext uri="{FF2B5EF4-FFF2-40B4-BE49-F238E27FC236}">
                  <a16:creationId xmlns:a16="http://schemas.microsoft.com/office/drawing/2014/main" id="{546F7767-CC45-3FFE-4AA1-C77631DF8D2E}"/>
                </a:ext>
              </a:extLst>
            </p:cNvPr>
            <p:cNvSpPr>
              <a:spLocks noChangeShapeType="1"/>
            </p:cNvSpPr>
            <p:nvPr/>
          </p:nvSpPr>
          <p:spPr bwMode="auto">
            <a:xfrm>
              <a:off x="3332" y="2229"/>
              <a:ext cx="54"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8" name="Line 30">
              <a:extLst>
                <a:ext uri="{FF2B5EF4-FFF2-40B4-BE49-F238E27FC236}">
                  <a16:creationId xmlns:a16="http://schemas.microsoft.com/office/drawing/2014/main" id="{F232734C-BD11-0E41-F2B3-C695E18BEFD0}"/>
                </a:ext>
              </a:extLst>
            </p:cNvPr>
            <p:cNvSpPr>
              <a:spLocks noChangeShapeType="1"/>
            </p:cNvSpPr>
            <p:nvPr/>
          </p:nvSpPr>
          <p:spPr bwMode="auto">
            <a:xfrm flipV="1">
              <a:off x="3697" y="3721"/>
              <a:ext cx="1" cy="46"/>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9" name="Line 31">
              <a:extLst>
                <a:ext uri="{FF2B5EF4-FFF2-40B4-BE49-F238E27FC236}">
                  <a16:creationId xmlns:a16="http://schemas.microsoft.com/office/drawing/2014/main" id="{AA0D0AEA-B899-3E2B-B372-7ACEDD17D766}"/>
                </a:ext>
              </a:extLst>
            </p:cNvPr>
            <p:cNvSpPr>
              <a:spLocks noChangeShapeType="1"/>
            </p:cNvSpPr>
            <p:nvPr/>
          </p:nvSpPr>
          <p:spPr bwMode="auto">
            <a:xfrm flipV="1">
              <a:off x="4060" y="3721"/>
              <a:ext cx="1" cy="46"/>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0" name="Line 32">
              <a:extLst>
                <a:ext uri="{FF2B5EF4-FFF2-40B4-BE49-F238E27FC236}">
                  <a16:creationId xmlns:a16="http://schemas.microsoft.com/office/drawing/2014/main" id="{5251D7E6-8879-02BE-E6CC-42BF3513EBC5}"/>
                </a:ext>
              </a:extLst>
            </p:cNvPr>
            <p:cNvSpPr>
              <a:spLocks noChangeShapeType="1"/>
            </p:cNvSpPr>
            <p:nvPr/>
          </p:nvSpPr>
          <p:spPr bwMode="auto">
            <a:xfrm flipV="1">
              <a:off x="4425" y="3713"/>
              <a:ext cx="1" cy="5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1" name="Line 33">
              <a:extLst>
                <a:ext uri="{FF2B5EF4-FFF2-40B4-BE49-F238E27FC236}">
                  <a16:creationId xmlns:a16="http://schemas.microsoft.com/office/drawing/2014/main" id="{F19AA034-35F5-01BA-4ED3-9CBA6BFC12C9}"/>
                </a:ext>
              </a:extLst>
            </p:cNvPr>
            <p:cNvSpPr>
              <a:spLocks noChangeShapeType="1"/>
            </p:cNvSpPr>
            <p:nvPr/>
          </p:nvSpPr>
          <p:spPr bwMode="auto">
            <a:xfrm flipV="1">
              <a:off x="4780" y="3713"/>
              <a:ext cx="1" cy="4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2" name="Line 34">
              <a:extLst>
                <a:ext uri="{FF2B5EF4-FFF2-40B4-BE49-F238E27FC236}">
                  <a16:creationId xmlns:a16="http://schemas.microsoft.com/office/drawing/2014/main" id="{D82F21D5-2C49-B667-6D4F-876AA59F2980}"/>
                </a:ext>
              </a:extLst>
            </p:cNvPr>
            <p:cNvSpPr>
              <a:spLocks noChangeShapeType="1"/>
            </p:cNvSpPr>
            <p:nvPr/>
          </p:nvSpPr>
          <p:spPr bwMode="auto">
            <a:xfrm flipV="1">
              <a:off x="5143" y="3713"/>
              <a:ext cx="1" cy="4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3" name="Rectangle 35">
              <a:extLst>
                <a:ext uri="{FF2B5EF4-FFF2-40B4-BE49-F238E27FC236}">
                  <a16:creationId xmlns:a16="http://schemas.microsoft.com/office/drawing/2014/main" id="{C6B4EAA1-71F6-E2B6-4CBE-DE34646CB443}"/>
                </a:ext>
              </a:extLst>
            </p:cNvPr>
            <p:cNvSpPr>
              <a:spLocks noChangeArrowheads="1"/>
            </p:cNvSpPr>
            <p:nvPr/>
          </p:nvSpPr>
          <p:spPr bwMode="auto">
            <a:xfrm>
              <a:off x="3280" y="3801"/>
              <a:ext cx="240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0          500      1000     1500     2000      2500     3000</a:t>
              </a:r>
              <a:endParaRPr lang="en-US" altLang="en-US"/>
            </a:p>
          </p:txBody>
        </p:sp>
        <p:sp>
          <p:nvSpPr>
            <p:cNvPr id="22564" name="Rectangle 36">
              <a:extLst>
                <a:ext uri="{FF2B5EF4-FFF2-40B4-BE49-F238E27FC236}">
                  <a16:creationId xmlns:a16="http://schemas.microsoft.com/office/drawing/2014/main" id="{15627CCB-C204-4691-AA1D-EA85605FACEF}"/>
                </a:ext>
              </a:extLst>
            </p:cNvPr>
            <p:cNvSpPr>
              <a:spLocks noChangeArrowheads="1"/>
            </p:cNvSpPr>
            <p:nvPr/>
          </p:nvSpPr>
          <p:spPr bwMode="auto">
            <a:xfrm>
              <a:off x="4014" y="3920"/>
              <a:ext cx="8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b="1">
                  <a:latin typeface="Times" panose="02020603050405020304" pitchFamily="18" charset="0"/>
                </a:rPr>
                <a:t>Temperature (ÞC)</a:t>
              </a:r>
              <a:endParaRPr lang="en-US" altLang="en-US"/>
            </a:p>
          </p:txBody>
        </p:sp>
        <p:sp>
          <p:nvSpPr>
            <p:cNvPr id="22565" name="Freeform 37">
              <a:extLst>
                <a:ext uri="{FF2B5EF4-FFF2-40B4-BE49-F238E27FC236}">
                  <a16:creationId xmlns:a16="http://schemas.microsoft.com/office/drawing/2014/main" id="{6BD0D750-FAF3-B663-E6B1-74119193E58A}"/>
                </a:ext>
              </a:extLst>
            </p:cNvPr>
            <p:cNvSpPr>
              <a:spLocks/>
            </p:cNvSpPr>
            <p:nvPr/>
          </p:nvSpPr>
          <p:spPr bwMode="auto">
            <a:xfrm>
              <a:off x="4643" y="2528"/>
              <a:ext cx="500" cy="1229"/>
            </a:xfrm>
            <a:custGeom>
              <a:avLst/>
              <a:gdLst>
                <a:gd name="T0" fmla="*/ 0 w 500"/>
                <a:gd name="T1" fmla="*/ 1229 h 1229"/>
                <a:gd name="T2" fmla="*/ 18 w 500"/>
                <a:gd name="T3" fmla="*/ 1166 h 1229"/>
                <a:gd name="T4" fmla="*/ 37 w 500"/>
                <a:gd name="T5" fmla="*/ 1103 h 1229"/>
                <a:gd name="T6" fmla="*/ 54 w 500"/>
                <a:gd name="T7" fmla="*/ 1049 h 1229"/>
                <a:gd name="T8" fmla="*/ 73 w 500"/>
                <a:gd name="T9" fmla="*/ 993 h 1229"/>
                <a:gd name="T10" fmla="*/ 91 w 500"/>
                <a:gd name="T11" fmla="*/ 939 h 1229"/>
                <a:gd name="T12" fmla="*/ 100 w 500"/>
                <a:gd name="T13" fmla="*/ 893 h 1229"/>
                <a:gd name="T14" fmla="*/ 118 w 500"/>
                <a:gd name="T15" fmla="*/ 857 h 1229"/>
                <a:gd name="T16" fmla="*/ 127 w 500"/>
                <a:gd name="T17" fmla="*/ 820 h 1229"/>
                <a:gd name="T18" fmla="*/ 154 w 500"/>
                <a:gd name="T19" fmla="*/ 757 h 1229"/>
                <a:gd name="T20" fmla="*/ 181 w 500"/>
                <a:gd name="T21" fmla="*/ 694 h 1229"/>
                <a:gd name="T22" fmla="*/ 210 w 500"/>
                <a:gd name="T23" fmla="*/ 621 h 1229"/>
                <a:gd name="T24" fmla="*/ 237 w 500"/>
                <a:gd name="T25" fmla="*/ 555 h 1229"/>
                <a:gd name="T26" fmla="*/ 273 w 500"/>
                <a:gd name="T27" fmla="*/ 482 h 1229"/>
                <a:gd name="T28" fmla="*/ 300 w 500"/>
                <a:gd name="T29" fmla="*/ 419 h 1229"/>
                <a:gd name="T30" fmla="*/ 327 w 500"/>
                <a:gd name="T31" fmla="*/ 356 h 1229"/>
                <a:gd name="T32" fmla="*/ 363 w 500"/>
                <a:gd name="T33" fmla="*/ 292 h 1229"/>
                <a:gd name="T34" fmla="*/ 373 w 500"/>
                <a:gd name="T35" fmla="*/ 256 h 1229"/>
                <a:gd name="T36" fmla="*/ 392 w 500"/>
                <a:gd name="T37" fmla="*/ 219 h 1229"/>
                <a:gd name="T38" fmla="*/ 409 w 500"/>
                <a:gd name="T39" fmla="*/ 192 h 1229"/>
                <a:gd name="T40" fmla="*/ 429 w 500"/>
                <a:gd name="T41" fmla="*/ 156 h 1229"/>
                <a:gd name="T42" fmla="*/ 446 w 500"/>
                <a:gd name="T43" fmla="*/ 120 h 1229"/>
                <a:gd name="T44" fmla="*/ 463 w 500"/>
                <a:gd name="T45" fmla="*/ 83 h 1229"/>
                <a:gd name="T46" fmla="*/ 482 w 500"/>
                <a:gd name="T47" fmla="*/ 47 h 1229"/>
                <a:gd name="T48" fmla="*/ 500 w 500"/>
                <a:gd name="T49" fmla="*/ 0 h 12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00" h="1229">
                  <a:moveTo>
                    <a:pt x="0" y="1229"/>
                  </a:moveTo>
                  <a:lnTo>
                    <a:pt x="18" y="1166"/>
                  </a:lnTo>
                  <a:lnTo>
                    <a:pt x="37" y="1103"/>
                  </a:lnTo>
                  <a:lnTo>
                    <a:pt x="54" y="1049"/>
                  </a:lnTo>
                  <a:lnTo>
                    <a:pt x="73" y="993"/>
                  </a:lnTo>
                  <a:lnTo>
                    <a:pt x="91" y="939"/>
                  </a:lnTo>
                  <a:lnTo>
                    <a:pt x="100" y="893"/>
                  </a:lnTo>
                  <a:lnTo>
                    <a:pt x="118" y="857"/>
                  </a:lnTo>
                  <a:lnTo>
                    <a:pt x="127" y="820"/>
                  </a:lnTo>
                  <a:lnTo>
                    <a:pt x="154" y="757"/>
                  </a:lnTo>
                  <a:lnTo>
                    <a:pt x="181" y="694"/>
                  </a:lnTo>
                  <a:lnTo>
                    <a:pt x="210" y="621"/>
                  </a:lnTo>
                  <a:lnTo>
                    <a:pt x="237" y="555"/>
                  </a:lnTo>
                  <a:lnTo>
                    <a:pt x="273" y="482"/>
                  </a:lnTo>
                  <a:lnTo>
                    <a:pt x="300" y="419"/>
                  </a:lnTo>
                  <a:lnTo>
                    <a:pt x="327" y="356"/>
                  </a:lnTo>
                  <a:lnTo>
                    <a:pt x="363" y="292"/>
                  </a:lnTo>
                  <a:lnTo>
                    <a:pt x="373" y="256"/>
                  </a:lnTo>
                  <a:lnTo>
                    <a:pt x="392" y="219"/>
                  </a:lnTo>
                  <a:lnTo>
                    <a:pt x="409" y="192"/>
                  </a:lnTo>
                  <a:lnTo>
                    <a:pt x="429" y="156"/>
                  </a:lnTo>
                  <a:lnTo>
                    <a:pt x="446" y="120"/>
                  </a:lnTo>
                  <a:lnTo>
                    <a:pt x="463" y="83"/>
                  </a:lnTo>
                  <a:lnTo>
                    <a:pt x="482" y="47"/>
                  </a:lnTo>
                  <a:lnTo>
                    <a:pt x="50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6" name="Line 38">
              <a:extLst>
                <a:ext uri="{FF2B5EF4-FFF2-40B4-BE49-F238E27FC236}">
                  <a16:creationId xmlns:a16="http://schemas.microsoft.com/office/drawing/2014/main" id="{1FA9A626-7D5E-D352-D0C5-C8D7D54B418F}"/>
                </a:ext>
              </a:extLst>
            </p:cNvPr>
            <p:cNvSpPr>
              <a:spLocks noChangeShapeType="1"/>
            </p:cNvSpPr>
            <p:nvPr/>
          </p:nvSpPr>
          <p:spPr bwMode="auto">
            <a:xfrm flipV="1">
              <a:off x="5517" y="3713"/>
              <a:ext cx="1" cy="4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7" name="Freeform 39">
              <a:extLst>
                <a:ext uri="{FF2B5EF4-FFF2-40B4-BE49-F238E27FC236}">
                  <a16:creationId xmlns:a16="http://schemas.microsoft.com/office/drawing/2014/main" id="{67DC15A2-91DB-EEF4-4DF3-519745CBE6A2}"/>
                </a:ext>
              </a:extLst>
            </p:cNvPr>
            <p:cNvSpPr>
              <a:spLocks/>
            </p:cNvSpPr>
            <p:nvPr/>
          </p:nvSpPr>
          <p:spPr bwMode="auto">
            <a:xfrm>
              <a:off x="4597" y="2409"/>
              <a:ext cx="336" cy="721"/>
            </a:xfrm>
            <a:custGeom>
              <a:avLst/>
              <a:gdLst>
                <a:gd name="T0" fmla="*/ 0 w 336"/>
                <a:gd name="T1" fmla="*/ 721 h 721"/>
                <a:gd name="T2" fmla="*/ 18 w 336"/>
                <a:gd name="T3" fmla="*/ 684 h 721"/>
                <a:gd name="T4" fmla="*/ 27 w 336"/>
                <a:gd name="T5" fmla="*/ 657 h 721"/>
                <a:gd name="T6" fmla="*/ 46 w 336"/>
                <a:gd name="T7" fmla="*/ 621 h 721"/>
                <a:gd name="T8" fmla="*/ 54 w 336"/>
                <a:gd name="T9" fmla="*/ 584 h 721"/>
                <a:gd name="T10" fmla="*/ 73 w 336"/>
                <a:gd name="T11" fmla="*/ 557 h 721"/>
                <a:gd name="T12" fmla="*/ 83 w 336"/>
                <a:gd name="T13" fmla="*/ 530 h 721"/>
                <a:gd name="T14" fmla="*/ 91 w 336"/>
                <a:gd name="T15" fmla="*/ 502 h 721"/>
                <a:gd name="T16" fmla="*/ 110 w 336"/>
                <a:gd name="T17" fmla="*/ 475 h 721"/>
                <a:gd name="T18" fmla="*/ 119 w 336"/>
                <a:gd name="T19" fmla="*/ 448 h 721"/>
                <a:gd name="T20" fmla="*/ 127 w 336"/>
                <a:gd name="T21" fmla="*/ 421 h 721"/>
                <a:gd name="T22" fmla="*/ 137 w 336"/>
                <a:gd name="T23" fmla="*/ 392 h 721"/>
                <a:gd name="T24" fmla="*/ 146 w 336"/>
                <a:gd name="T25" fmla="*/ 375 h 721"/>
                <a:gd name="T26" fmla="*/ 156 w 336"/>
                <a:gd name="T27" fmla="*/ 356 h 721"/>
                <a:gd name="T28" fmla="*/ 164 w 336"/>
                <a:gd name="T29" fmla="*/ 329 h 721"/>
                <a:gd name="T30" fmla="*/ 173 w 336"/>
                <a:gd name="T31" fmla="*/ 311 h 721"/>
                <a:gd name="T32" fmla="*/ 183 w 336"/>
                <a:gd name="T33" fmla="*/ 292 h 721"/>
                <a:gd name="T34" fmla="*/ 219 w 336"/>
                <a:gd name="T35" fmla="*/ 229 h 721"/>
                <a:gd name="T36" fmla="*/ 256 w 336"/>
                <a:gd name="T37" fmla="*/ 156 h 721"/>
                <a:gd name="T38" fmla="*/ 300 w 336"/>
                <a:gd name="T39" fmla="*/ 83 h 721"/>
                <a:gd name="T40" fmla="*/ 336 w 336"/>
                <a:gd name="T41" fmla="*/ 0 h 7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6" h="721">
                  <a:moveTo>
                    <a:pt x="0" y="721"/>
                  </a:moveTo>
                  <a:lnTo>
                    <a:pt x="18" y="684"/>
                  </a:lnTo>
                  <a:lnTo>
                    <a:pt x="27" y="657"/>
                  </a:lnTo>
                  <a:lnTo>
                    <a:pt x="46" y="621"/>
                  </a:lnTo>
                  <a:lnTo>
                    <a:pt x="54" y="584"/>
                  </a:lnTo>
                  <a:lnTo>
                    <a:pt x="73" y="557"/>
                  </a:lnTo>
                  <a:lnTo>
                    <a:pt x="83" y="530"/>
                  </a:lnTo>
                  <a:lnTo>
                    <a:pt x="91" y="502"/>
                  </a:lnTo>
                  <a:lnTo>
                    <a:pt x="110" y="475"/>
                  </a:lnTo>
                  <a:lnTo>
                    <a:pt x="119" y="448"/>
                  </a:lnTo>
                  <a:lnTo>
                    <a:pt x="127" y="421"/>
                  </a:lnTo>
                  <a:lnTo>
                    <a:pt x="137" y="392"/>
                  </a:lnTo>
                  <a:lnTo>
                    <a:pt x="146" y="375"/>
                  </a:lnTo>
                  <a:lnTo>
                    <a:pt x="156" y="356"/>
                  </a:lnTo>
                  <a:lnTo>
                    <a:pt x="164" y="329"/>
                  </a:lnTo>
                  <a:lnTo>
                    <a:pt x="173" y="311"/>
                  </a:lnTo>
                  <a:lnTo>
                    <a:pt x="183" y="292"/>
                  </a:lnTo>
                  <a:lnTo>
                    <a:pt x="219" y="229"/>
                  </a:lnTo>
                  <a:lnTo>
                    <a:pt x="256" y="156"/>
                  </a:lnTo>
                  <a:lnTo>
                    <a:pt x="300" y="83"/>
                  </a:lnTo>
                  <a:lnTo>
                    <a:pt x="336"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8" name="Freeform 40">
              <a:extLst>
                <a:ext uri="{FF2B5EF4-FFF2-40B4-BE49-F238E27FC236}">
                  <a16:creationId xmlns:a16="http://schemas.microsoft.com/office/drawing/2014/main" id="{25FB55C3-34F2-BFCA-7113-839B8ACF81C4}"/>
                </a:ext>
              </a:extLst>
            </p:cNvPr>
            <p:cNvSpPr>
              <a:spLocks/>
            </p:cNvSpPr>
            <p:nvPr/>
          </p:nvSpPr>
          <p:spPr bwMode="auto">
            <a:xfrm>
              <a:off x="5079" y="2728"/>
              <a:ext cx="465" cy="1029"/>
            </a:xfrm>
            <a:custGeom>
              <a:avLst/>
              <a:gdLst>
                <a:gd name="T0" fmla="*/ 0 w 465"/>
                <a:gd name="T1" fmla="*/ 1029 h 1029"/>
                <a:gd name="T2" fmla="*/ 10 w 465"/>
                <a:gd name="T3" fmla="*/ 993 h 1029"/>
                <a:gd name="T4" fmla="*/ 27 w 465"/>
                <a:gd name="T5" fmla="*/ 966 h 1029"/>
                <a:gd name="T6" fmla="*/ 37 w 465"/>
                <a:gd name="T7" fmla="*/ 939 h 1029"/>
                <a:gd name="T8" fmla="*/ 46 w 465"/>
                <a:gd name="T9" fmla="*/ 903 h 1029"/>
                <a:gd name="T10" fmla="*/ 56 w 465"/>
                <a:gd name="T11" fmla="*/ 876 h 1029"/>
                <a:gd name="T12" fmla="*/ 64 w 465"/>
                <a:gd name="T13" fmla="*/ 849 h 1029"/>
                <a:gd name="T14" fmla="*/ 73 w 465"/>
                <a:gd name="T15" fmla="*/ 830 h 1029"/>
                <a:gd name="T16" fmla="*/ 83 w 465"/>
                <a:gd name="T17" fmla="*/ 803 h 1029"/>
                <a:gd name="T18" fmla="*/ 92 w 465"/>
                <a:gd name="T19" fmla="*/ 776 h 1029"/>
                <a:gd name="T20" fmla="*/ 92 w 465"/>
                <a:gd name="T21" fmla="*/ 757 h 1029"/>
                <a:gd name="T22" fmla="*/ 100 w 465"/>
                <a:gd name="T23" fmla="*/ 739 h 1029"/>
                <a:gd name="T24" fmla="*/ 110 w 465"/>
                <a:gd name="T25" fmla="*/ 720 h 1029"/>
                <a:gd name="T26" fmla="*/ 119 w 465"/>
                <a:gd name="T27" fmla="*/ 703 h 1029"/>
                <a:gd name="T28" fmla="*/ 119 w 465"/>
                <a:gd name="T29" fmla="*/ 684 h 1029"/>
                <a:gd name="T30" fmla="*/ 129 w 465"/>
                <a:gd name="T31" fmla="*/ 667 h 1029"/>
                <a:gd name="T32" fmla="*/ 137 w 465"/>
                <a:gd name="T33" fmla="*/ 657 h 1029"/>
                <a:gd name="T34" fmla="*/ 156 w 465"/>
                <a:gd name="T35" fmla="*/ 603 h 1029"/>
                <a:gd name="T36" fmla="*/ 173 w 465"/>
                <a:gd name="T37" fmla="*/ 557 h 1029"/>
                <a:gd name="T38" fmla="*/ 202 w 465"/>
                <a:gd name="T39" fmla="*/ 511 h 1029"/>
                <a:gd name="T40" fmla="*/ 219 w 465"/>
                <a:gd name="T41" fmla="*/ 465 h 1029"/>
                <a:gd name="T42" fmla="*/ 265 w 465"/>
                <a:gd name="T43" fmla="*/ 375 h 1029"/>
                <a:gd name="T44" fmla="*/ 309 w 465"/>
                <a:gd name="T45" fmla="*/ 292 h 1029"/>
                <a:gd name="T46" fmla="*/ 319 w 465"/>
                <a:gd name="T47" fmla="*/ 265 h 1029"/>
                <a:gd name="T48" fmla="*/ 329 w 465"/>
                <a:gd name="T49" fmla="*/ 238 h 1029"/>
                <a:gd name="T50" fmla="*/ 346 w 465"/>
                <a:gd name="T51" fmla="*/ 211 h 1029"/>
                <a:gd name="T52" fmla="*/ 365 w 465"/>
                <a:gd name="T53" fmla="*/ 175 h 1029"/>
                <a:gd name="T54" fmla="*/ 392 w 465"/>
                <a:gd name="T55" fmla="*/ 138 h 1029"/>
                <a:gd name="T56" fmla="*/ 411 w 465"/>
                <a:gd name="T57" fmla="*/ 102 h 1029"/>
                <a:gd name="T58" fmla="*/ 438 w 465"/>
                <a:gd name="T59" fmla="*/ 56 h 1029"/>
                <a:gd name="T60" fmla="*/ 465 w 465"/>
                <a:gd name="T61" fmla="*/ 0 h 102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65" h="1029">
                  <a:moveTo>
                    <a:pt x="0" y="1029"/>
                  </a:moveTo>
                  <a:lnTo>
                    <a:pt x="10" y="993"/>
                  </a:lnTo>
                  <a:lnTo>
                    <a:pt x="27" y="966"/>
                  </a:lnTo>
                  <a:lnTo>
                    <a:pt x="37" y="939"/>
                  </a:lnTo>
                  <a:lnTo>
                    <a:pt x="46" y="903"/>
                  </a:lnTo>
                  <a:lnTo>
                    <a:pt x="56" y="876"/>
                  </a:lnTo>
                  <a:lnTo>
                    <a:pt x="64" y="849"/>
                  </a:lnTo>
                  <a:lnTo>
                    <a:pt x="73" y="830"/>
                  </a:lnTo>
                  <a:lnTo>
                    <a:pt x="83" y="803"/>
                  </a:lnTo>
                  <a:lnTo>
                    <a:pt x="92" y="776"/>
                  </a:lnTo>
                  <a:lnTo>
                    <a:pt x="92" y="757"/>
                  </a:lnTo>
                  <a:lnTo>
                    <a:pt x="100" y="739"/>
                  </a:lnTo>
                  <a:lnTo>
                    <a:pt x="110" y="720"/>
                  </a:lnTo>
                  <a:lnTo>
                    <a:pt x="119" y="703"/>
                  </a:lnTo>
                  <a:lnTo>
                    <a:pt x="119" y="684"/>
                  </a:lnTo>
                  <a:lnTo>
                    <a:pt x="129" y="667"/>
                  </a:lnTo>
                  <a:lnTo>
                    <a:pt x="137" y="657"/>
                  </a:lnTo>
                  <a:lnTo>
                    <a:pt x="156" y="603"/>
                  </a:lnTo>
                  <a:lnTo>
                    <a:pt x="173" y="557"/>
                  </a:lnTo>
                  <a:lnTo>
                    <a:pt x="202" y="511"/>
                  </a:lnTo>
                  <a:lnTo>
                    <a:pt x="219" y="465"/>
                  </a:lnTo>
                  <a:lnTo>
                    <a:pt x="265" y="375"/>
                  </a:lnTo>
                  <a:lnTo>
                    <a:pt x="309" y="292"/>
                  </a:lnTo>
                  <a:lnTo>
                    <a:pt x="319" y="265"/>
                  </a:lnTo>
                  <a:lnTo>
                    <a:pt x="329" y="238"/>
                  </a:lnTo>
                  <a:lnTo>
                    <a:pt x="346" y="211"/>
                  </a:lnTo>
                  <a:lnTo>
                    <a:pt x="365" y="175"/>
                  </a:lnTo>
                  <a:lnTo>
                    <a:pt x="392" y="138"/>
                  </a:lnTo>
                  <a:lnTo>
                    <a:pt x="411" y="102"/>
                  </a:lnTo>
                  <a:lnTo>
                    <a:pt x="438" y="56"/>
                  </a:lnTo>
                  <a:lnTo>
                    <a:pt x="465"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9" name="Freeform 41">
              <a:extLst>
                <a:ext uri="{FF2B5EF4-FFF2-40B4-BE49-F238E27FC236}">
                  <a16:creationId xmlns:a16="http://schemas.microsoft.com/office/drawing/2014/main" id="{FB56B5A7-D876-FE4D-4F7F-80E8AA0D4889}"/>
                </a:ext>
              </a:extLst>
            </p:cNvPr>
            <p:cNvSpPr>
              <a:spLocks/>
            </p:cNvSpPr>
            <p:nvPr/>
          </p:nvSpPr>
          <p:spPr bwMode="auto">
            <a:xfrm>
              <a:off x="4225" y="2156"/>
              <a:ext cx="555" cy="1611"/>
            </a:xfrm>
            <a:custGeom>
              <a:avLst/>
              <a:gdLst>
                <a:gd name="T0" fmla="*/ 0 w 555"/>
                <a:gd name="T1" fmla="*/ 1611 h 1611"/>
                <a:gd name="T2" fmla="*/ 17 w 555"/>
                <a:gd name="T3" fmla="*/ 1530 h 1611"/>
                <a:gd name="T4" fmla="*/ 36 w 555"/>
                <a:gd name="T5" fmla="*/ 1465 h 1611"/>
                <a:gd name="T6" fmla="*/ 44 w 555"/>
                <a:gd name="T7" fmla="*/ 1402 h 1611"/>
                <a:gd name="T8" fmla="*/ 63 w 555"/>
                <a:gd name="T9" fmla="*/ 1338 h 1611"/>
                <a:gd name="T10" fmla="*/ 80 w 555"/>
                <a:gd name="T11" fmla="*/ 1275 h 1611"/>
                <a:gd name="T12" fmla="*/ 100 w 555"/>
                <a:gd name="T13" fmla="*/ 1219 h 1611"/>
                <a:gd name="T14" fmla="*/ 107 w 555"/>
                <a:gd name="T15" fmla="*/ 1175 h 1611"/>
                <a:gd name="T16" fmla="*/ 127 w 555"/>
                <a:gd name="T17" fmla="*/ 1129 h 1611"/>
                <a:gd name="T18" fmla="*/ 153 w 555"/>
                <a:gd name="T19" fmla="*/ 1046 h 1611"/>
                <a:gd name="T20" fmla="*/ 180 w 555"/>
                <a:gd name="T21" fmla="*/ 956 h 1611"/>
                <a:gd name="T22" fmla="*/ 200 w 555"/>
                <a:gd name="T23" fmla="*/ 874 h 1611"/>
                <a:gd name="T24" fmla="*/ 226 w 555"/>
                <a:gd name="T25" fmla="*/ 791 h 1611"/>
                <a:gd name="T26" fmla="*/ 253 w 555"/>
                <a:gd name="T27" fmla="*/ 718 h 1611"/>
                <a:gd name="T28" fmla="*/ 282 w 555"/>
                <a:gd name="T29" fmla="*/ 637 h 1611"/>
                <a:gd name="T30" fmla="*/ 309 w 555"/>
                <a:gd name="T31" fmla="*/ 564 h 1611"/>
                <a:gd name="T32" fmla="*/ 336 w 555"/>
                <a:gd name="T33" fmla="*/ 492 h 1611"/>
                <a:gd name="T34" fmla="*/ 353 w 555"/>
                <a:gd name="T35" fmla="*/ 419 h 1611"/>
                <a:gd name="T36" fmla="*/ 382 w 555"/>
                <a:gd name="T37" fmla="*/ 355 h 1611"/>
                <a:gd name="T38" fmla="*/ 409 w 555"/>
                <a:gd name="T39" fmla="*/ 290 h 1611"/>
                <a:gd name="T40" fmla="*/ 436 w 555"/>
                <a:gd name="T41" fmla="*/ 227 h 1611"/>
                <a:gd name="T42" fmla="*/ 463 w 555"/>
                <a:gd name="T43" fmla="*/ 173 h 1611"/>
                <a:gd name="T44" fmla="*/ 491 w 555"/>
                <a:gd name="T45" fmla="*/ 117 h 1611"/>
                <a:gd name="T46" fmla="*/ 518 w 555"/>
                <a:gd name="T47" fmla="*/ 54 h 1611"/>
                <a:gd name="T48" fmla="*/ 555 w 555"/>
                <a:gd name="T49" fmla="*/ 0 h 16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55" h="1611">
                  <a:moveTo>
                    <a:pt x="0" y="1611"/>
                  </a:moveTo>
                  <a:lnTo>
                    <a:pt x="17" y="1530"/>
                  </a:lnTo>
                  <a:lnTo>
                    <a:pt x="36" y="1465"/>
                  </a:lnTo>
                  <a:lnTo>
                    <a:pt x="44" y="1402"/>
                  </a:lnTo>
                  <a:lnTo>
                    <a:pt x="63" y="1338"/>
                  </a:lnTo>
                  <a:lnTo>
                    <a:pt x="80" y="1275"/>
                  </a:lnTo>
                  <a:lnTo>
                    <a:pt x="100" y="1219"/>
                  </a:lnTo>
                  <a:lnTo>
                    <a:pt x="107" y="1175"/>
                  </a:lnTo>
                  <a:lnTo>
                    <a:pt x="127" y="1129"/>
                  </a:lnTo>
                  <a:lnTo>
                    <a:pt x="153" y="1046"/>
                  </a:lnTo>
                  <a:lnTo>
                    <a:pt x="180" y="956"/>
                  </a:lnTo>
                  <a:lnTo>
                    <a:pt x="200" y="874"/>
                  </a:lnTo>
                  <a:lnTo>
                    <a:pt x="226" y="791"/>
                  </a:lnTo>
                  <a:lnTo>
                    <a:pt x="253" y="718"/>
                  </a:lnTo>
                  <a:lnTo>
                    <a:pt x="282" y="637"/>
                  </a:lnTo>
                  <a:lnTo>
                    <a:pt x="309" y="564"/>
                  </a:lnTo>
                  <a:lnTo>
                    <a:pt x="336" y="492"/>
                  </a:lnTo>
                  <a:lnTo>
                    <a:pt x="353" y="419"/>
                  </a:lnTo>
                  <a:lnTo>
                    <a:pt x="382" y="355"/>
                  </a:lnTo>
                  <a:lnTo>
                    <a:pt x="409" y="290"/>
                  </a:lnTo>
                  <a:lnTo>
                    <a:pt x="436" y="227"/>
                  </a:lnTo>
                  <a:lnTo>
                    <a:pt x="463" y="173"/>
                  </a:lnTo>
                  <a:lnTo>
                    <a:pt x="491" y="117"/>
                  </a:lnTo>
                  <a:lnTo>
                    <a:pt x="518" y="54"/>
                  </a:lnTo>
                  <a:lnTo>
                    <a:pt x="555"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0" name="Freeform 42">
              <a:extLst>
                <a:ext uri="{FF2B5EF4-FFF2-40B4-BE49-F238E27FC236}">
                  <a16:creationId xmlns:a16="http://schemas.microsoft.com/office/drawing/2014/main" id="{3F28B5B9-6E82-954F-5F4C-F7BAAC0B6D6B}"/>
                </a:ext>
              </a:extLst>
            </p:cNvPr>
            <p:cNvSpPr>
              <a:spLocks/>
            </p:cNvSpPr>
            <p:nvPr/>
          </p:nvSpPr>
          <p:spPr bwMode="auto">
            <a:xfrm>
              <a:off x="4179" y="2210"/>
              <a:ext cx="610" cy="1547"/>
            </a:xfrm>
            <a:custGeom>
              <a:avLst/>
              <a:gdLst>
                <a:gd name="T0" fmla="*/ 0 w 610"/>
                <a:gd name="T1" fmla="*/ 1547 h 1547"/>
                <a:gd name="T2" fmla="*/ 17 w 610"/>
                <a:gd name="T3" fmla="*/ 1476 h 1547"/>
                <a:gd name="T4" fmla="*/ 36 w 610"/>
                <a:gd name="T5" fmla="*/ 1411 h 1547"/>
                <a:gd name="T6" fmla="*/ 53 w 610"/>
                <a:gd name="T7" fmla="*/ 1348 h 1547"/>
                <a:gd name="T8" fmla="*/ 73 w 610"/>
                <a:gd name="T9" fmla="*/ 1284 h 1547"/>
                <a:gd name="T10" fmla="*/ 90 w 610"/>
                <a:gd name="T11" fmla="*/ 1229 h 1547"/>
                <a:gd name="T12" fmla="*/ 109 w 610"/>
                <a:gd name="T13" fmla="*/ 1175 h 1547"/>
                <a:gd name="T14" fmla="*/ 117 w 610"/>
                <a:gd name="T15" fmla="*/ 1129 h 1547"/>
                <a:gd name="T16" fmla="*/ 136 w 610"/>
                <a:gd name="T17" fmla="*/ 1085 h 1547"/>
                <a:gd name="T18" fmla="*/ 146 w 610"/>
                <a:gd name="T19" fmla="*/ 1039 h 1547"/>
                <a:gd name="T20" fmla="*/ 163 w 610"/>
                <a:gd name="T21" fmla="*/ 992 h 1547"/>
                <a:gd name="T22" fmla="*/ 173 w 610"/>
                <a:gd name="T23" fmla="*/ 946 h 1547"/>
                <a:gd name="T24" fmla="*/ 190 w 610"/>
                <a:gd name="T25" fmla="*/ 910 h 1547"/>
                <a:gd name="T26" fmla="*/ 199 w 610"/>
                <a:gd name="T27" fmla="*/ 866 h 1547"/>
                <a:gd name="T28" fmla="*/ 219 w 610"/>
                <a:gd name="T29" fmla="*/ 829 h 1547"/>
                <a:gd name="T30" fmla="*/ 226 w 610"/>
                <a:gd name="T31" fmla="*/ 793 h 1547"/>
                <a:gd name="T32" fmla="*/ 246 w 610"/>
                <a:gd name="T33" fmla="*/ 756 h 1547"/>
                <a:gd name="T34" fmla="*/ 272 w 610"/>
                <a:gd name="T35" fmla="*/ 683 h 1547"/>
                <a:gd name="T36" fmla="*/ 299 w 610"/>
                <a:gd name="T37" fmla="*/ 601 h 1547"/>
                <a:gd name="T38" fmla="*/ 336 w 610"/>
                <a:gd name="T39" fmla="*/ 518 h 1547"/>
                <a:gd name="T40" fmla="*/ 372 w 610"/>
                <a:gd name="T41" fmla="*/ 438 h 1547"/>
                <a:gd name="T42" fmla="*/ 391 w 610"/>
                <a:gd name="T43" fmla="*/ 401 h 1547"/>
                <a:gd name="T44" fmla="*/ 409 w 610"/>
                <a:gd name="T45" fmla="*/ 355 h 1547"/>
                <a:gd name="T46" fmla="*/ 428 w 610"/>
                <a:gd name="T47" fmla="*/ 318 h 1547"/>
                <a:gd name="T48" fmla="*/ 445 w 610"/>
                <a:gd name="T49" fmla="*/ 292 h 1547"/>
                <a:gd name="T50" fmla="*/ 455 w 610"/>
                <a:gd name="T51" fmla="*/ 255 h 1547"/>
                <a:gd name="T52" fmla="*/ 472 w 610"/>
                <a:gd name="T53" fmla="*/ 228 h 1547"/>
                <a:gd name="T54" fmla="*/ 491 w 610"/>
                <a:gd name="T55" fmla="*/ 199 h 1547"/>
                <a:gd name="T56" fmla="*/ 501 w 610"/>
                <a:gd name="T57" fmla="*/ 182 h 1547"/>
                <a:gd name="T58" fmla="*/ 528 w 610"/>
                <a:gd name="T59" fmla="*/ 136 h 1547"/>
                <a:gd name="T60" fmla="*/ 555 w 610"/>
                <a:gd name="T61" fmla="*/ 90 h 1547"/>
                <a:gd name="T62" fmla="*/ 582 w 610"/>
                <a:gd name="T63" fmla="*/ 46 h 1547"/>
                <a:gd name="T64" fmla="*/ 610 w 610"/>
                <a:gd name="T65" fmla="*/ 0 h 15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10" h="1547">
                  <a:moveTo>
                    <a:pt x="0" y="1547"/>
                  </a:moveTo>
                  <a:lnTo>
                    <a:pt x="17" y="1476"/>
                  </a:lnTo>
                  <a:lnTo>
                    <a:pt x="36" y="1411"/>
                  </a:lnTo>
                  <a:lnTo>
                    <a:pt x="53" y="1348"/>
                  </a:lnTo>
                  <a:lnTo>
                    <a:pt x="73" y="1284"/>
                  </a:lnTo>
                  <a:lnTo>
                    <a:pt x="90" y="1229"/>
                  </a:lnTo>
                  <a:lnTo>
                    <a:pt x="109" y="1175"/>
                  </a:lnTo>
                  <a:lnTo>
                    <a:pt x="117" y="1129"/>
                  </a:lnTo>
                  <a:lnTo>
                    <a:pt x="136" y="1085"/>
                  </a:lnTo>
                  <a:lnTo>
                    <a:pt x="146" y="1039"/>
                  </a:lnTo>
                  <a:lnTo>
                    <a:pt x="163" y="992"/>
                  </a:lnTo>
                  <a:lnTo>
                    <a:pt x="173" y="946"/>
                  </a:lnTo>
                  <a:lnTo>
                    <a:pt x="190" y="910"/>
                  </a:lnTo>
                  <a:lnTo>
                    <a:pt x="199" y="866"/>
                  </a:lnTo>
                  <a:lnTo>
                    <a:pt x="219" y="829"/>
                  </a:lnTo>
                  <a:lnTo>
                    <a:pt x="226" y="793"/>
                  </a:lnTo>
                  <a:lnTo>
                    <a:pt x="246" y="756"/>
                  </a:lnTo>
                  <a:lnTo>
                    <a:pt x="272" y="683"/>
                  </a:lnTo>
                  <a:lnTo>
                    <a:pt x="299" y="601"/>
                  </a:lnTo>
                  <a:lnTo>
                    <a:pt x="336" y="518"/>
                  </a:lnTo>
                  <a:lnTo>
                    <a:pt x="372" y="438"/>
                  </a:lnTo>
                  <a:lnTo>
                    <a:pt x="391" y="401"/>
                  </a:lnTo>
                  <a:lnTo>
                    <a:pt x="409" y="355"/>
                  </a:lnTo>
                  <a:lnTo>
                    <a:pt x="428" y="318"/>
                  </a:lnTo>
                  <a:lnTo>
                    <a:pt x="445" y="292"/>
                  </a:lnTo>
                  <a:lnTo>
                    <a:pt x="455" y="255"/>
                  </a:lnTo>
                  <a:lnTo>
                    <a:pt x="472" y="228"/>
                  </a:lnTo>
                  <a:lnTo>
                    <a:pt x="491" y="199"/>
                  </a:lnTo>
                  <a:lnTo>
                    <a:pt x="501" y="182"/>
                  </a:lnTo>
                  <a:lnTo>
                    <a:pt x="528" y="136"/>
                  </a:lnTo>
                  <a:lnTo>
                    <a:pt x="555" y="90"/>
                  </a:lnTo>
                  <a:lnTo>
                    <a:pt x="582" y="46"/>
                  </a:lnTo>
                  <a:lnTo>
                    <a:pt x="61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1" name="Freeform 43">
              <a:extLst>
                <a:ext uri="{FF2B5EF4-FFF2-40B4-BE49-F238E27FC236}">
                  <a16:creationId xmlns:a16="http://schemas.microsoft.com/office/drawing/2014/main" id="{1618AAA7-B274-8428-3FA9-D43B08B247D8}"/>
                </a:ext>
              </a:extLst>
            </p:cNvPr>
            <p:cNvSpPr>
              <a:spLocks/>
            </p:cNvSpPr>
            <p:nvPr/>
          </p:nvSpPr>
          <p:spPr bwMode="auto">
            <a:xfrm>
              <a:off x="4123" y="1973"/>
              <a:ext cx="574" cy="1794"/>
            </a:xfrm>
            <a:custGeom>
              <a:avLst/>
              <a:gdLst>
                <a:gd name="T0" fmla="*/ 0 w 574"/>
                <a:gd name="T1" fmla="*/ 1794 h 1794"/>
                <a:gd name="T2" fmla="*/ 10 w 574"/>
                <a:gd name="T3" fmla="*/ 1721 h 1794"/>
                <a:gd name="T4" fmla="*/ 19 w 574"/>
                <a:gd name="T5" fmla="*/ 1667 h 1794"/>
                <a:gd name="T6" fmla="*/ 29 w 574"/>
                <a:gd name="T7" fmla="*/ 1604 h 1794"/>
                <a:gd name="T8" fmla="*/ 37 w 574"/>
                <a:gd name="T9" fmla="*/ 1548 h 1794"/>
                <a:gd name="T10" fmla="*/ 56 w 574"/>
                <a:gd name="T11" fmla="*/ 1494 h 1794"/>
                <a:gd name="T12" fmla="*/ 65 w 574"/>
                <a:gd name="T13" fmla="*/ 1448 h 1794"/>
                <a:gd name="T14" fmla="*/ 73 w 574"/>
                <a:gd name="T15" fmla="*/ 1402 h 1794"/>
                <a:gd name="T16" fmla="*/ 83 w 574"/>
                <a:gd name="T17" fmla="*/ 1358 h 1794"/>
                <a:gd name="T18" fmla="*/ 119 w 574"/>
                <a:gd name="T19" fmla="*/ 1203 h 1794"/>
                <a:gd name="T20" fmla="*/ 165 w 574"/>
                <a:gd name="T21" fmla="*/ 1037 h 1794"/>
                <a:gd name="T22" fmla="*/ 192 w 574"/>
                <a:gd name="T23" fmla="*/ 966 h 1794"/>
                <a:gd name="T24" fmla="*/ 219 w 574"/>
                <a:gd name="T25" fmla="*/ 884 h 1794"/>
                <a:gd name="T26" fmla="*/ 238 w 574"/>
                <a:gd name="T27" fmla="*/ 811 h 1794"/>
                <a:gd name="T28" fmla="*/ 265 w 574"/>
                <a:gd name="T29" fmla="*/ 738 h 1794"/>
                <a:gd name="T30" fmla="*/ 282 w 574"/>
                <a:gd name="T31" fmla="*/ 675 h 1794"/>
                <a:gd name="T32" fmla="*/ 311 w 574"/>
                <a:gd name="T33" fmla="*/ 611 h 1794"/>
                <a:gd name="T34" fmla="*/ 338 w 574"/>
                <a:gd name="T35" fmla="*/ 538 h 1794"/>
                <a:gd name="T36" fmla="*/ 355 w 574"/>
                <a:gd name="T37" fmla="*/ 473 h 1794"/>
                <a:gd name="T38" fmla="*/ 384 w 574"/>
                <a:gd name="T39" fmla="*/ 419 h 1794"/>
                <a:gd name="T40" fmla="*/ 401 w 574"/>
                <a:gd name="T41" fmla="*/ 356 h 1794"/>
                <a:gd name="T42" fmla="*/ 419 w 574"/>
                <a:gd name="T43" fmla="*/ 300 h 1794"/>
                <a:gd name="T44" fmla="*/ 447 w 574"/>
                <a:gd name="T45" fmla="*/ 256 h 1794"/>
                <a:gd name="T46" fmla="*/ 455 w 574"/>
                <a:gd name="T47" fmla="*/ 227 h 1794"/>
                <a:gd name="T48" fmla="*/ 465 w 574"/>
                <a:gd name="T49" fmla="*/ 210 h 1794"/>
                <a:gd name="T50" fmla="*/ 474 w 574"/>
                <a:gd name="T51" fmla="*/ 183 h 1794"/>
                <a:gd name="T52" fmla="*/ 484 w 574"/>
                <a:gd name="T53" fmla="*/ 164 h 1794"/>
                <a:gd name="T54" fmla="*/ 492 w 574"/>
                <a:gd name="T55" fmla="*/ 146 h 1794"/>
                <a:gd name="T56" fmla="*/ 501 w 574"/>
                <a:gd name="T57" fmla="*/ 127 h 1794"/>
                <a:gd name="T58" fmla="*/ 511 w 574"/>
                <a:gd name="T59" fmla="*/ 110 h 1794"/>
                <a:gd name="T60" fmla="*/ 511 w 574"/>
                <a:gd name="T61" fmla="*/ 100 h 1794"/>
                <a:gd name="T62" fmla="*/ 528 w 574"/>
                <a:gd name="T63" fmla="*/ 73 h 1794"/>
                <a:gd name="T64" fmla="*/ 547 w 574"/>
                <a:gd name="T65" fmla="*/ 45 h 1794"/>
                <a:gd name="T66" fmla="*/ 557 w 574"/>
                <a:gd name="T67" fmla="*/ 18 h 1794"/>
                <a:gd name="T68" fmla="*/ 574 w 574"/>
                <a:gd name="T69" fmla="*/ 0 h 179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74" h="1794">
                  <a:moveTo>
                    <a:pt x="0" y="1794"/>
                  </a:moveTo>
                  <a:lnTo>
                    <a:pt x="10" y="1721"/>
                  </a:lnTo>
                  <a:lnTo>
                    <a:pt x="19" y="1667"/>
                  </a:lnTo>
                  <a:lnTo>
                    <a:pt x="29" y="1604"/>
                  </a:lnTo>
                  <a:lnTo>
                    <a:pt x="37" y="1548"/>
                  </a:lnTo>
                  <a:lnTo>
                    <a:pt x="56" y="1494"/>
                  </a:lnTo>
                  <a:lnTo>
                    <a:pt x="65" y="1448"/>
                  </a:lnTo>
                  <a:lnTo>
                    <a:pt x="73" y="1402"/>
                  </a:lnTo>
                  <a:lnTo>
                    <a:pt x="83" y="1358"/>
                  </a:lnTo>
                  <a:lnTo>
                    <a:pt x="119" y="1203"/>
                  </a:lnTo>
                  <a:lnTo>
                    <a:pt x="165" y="1037"/>
                  </a:lnTo>
                  <a:lnTo>
                    <a:pt x="192" y="966"/>
                  </a:lnTo>
                  <a:lnTo>
                    <a:pt x="219" y="884"/>
                  </a:lnTo>
                  <a:lnTo>
                    <a:pt x="238" y="811"/>
                  </a:lnTo>
                  <a:lnTo>
                    <a:pt x="265" y="738"/>
                  </a:lnTo>
                  <a:lnTo>
                    <a:pt x="282" y="675"/>
                  </a:lnTo>
                  <a:lnTo>
                    <a:pt x="311" y="611"/>
                  </a:lnTo>
                  <a:lnTo>
                    <a:pt x="338" y="538"/>
                  </a:lnTo>
                  <a:lnTo>
                    <a:pt x="355" y="473"/>
                  </a:lnTo>
                  <a:lnTo>
                    <a:pt x="384" y="419"/>
                  </a:lnTo>
                  <a:lnTo>
                    <a:pt x="401" y="356"/>
                  </a:lnTo>
                  <a:lnTo>
                    <a:pt x="419" y="300"/>
                  </a:lnTo>
                  <a:lnTo>
                    <a:pt x="447" y="256"/>
                  </a:lnTo>
                  <a:lnTo>
                    <a:pt x="455" y="227"/>
                  </a:lnTo>
                  <a:lnTo>
                    <a:pt x="465" y="210"/>
                  </a:lnTo>
                  <a:lnTo>
                    <a:pt x="474" y="183"/>
                  </a:lnTo>
                  <a:lnTo>
                    <a:pt x="484" y="164"/>
                  </a:lnTo>
                  <a:lnTo>
                    <a:pt x="492" y="146"/>
                  </a:lnTo>
                  <a:lnTo>
                    <a:pt x="501" y="127"/>
                  </a:lnTo>
                  <a:lnTo>
                    <a:pt x="511" y="110"/>
                  </a:lnTo>
                  <a:lnTo>
                    <a:pt x="511" y="100"/>
                  </a:lnTo>
                  <a:lnTo>
                    <a:pt x="528" y="73"/>
                  </a:lnTo>
                  <a:lnTo>
                    <a:pt x="547" y="45"/>
                  </a:lnTo>
                  <a:lnTo>
                    <a:pt x="557" y="18"/>
                  </a:lnTo>
                  <a:lnTo>
                    <a:pt x="574"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2" name="Freeform 44">
              <a:extLst>
                <a:ext uri="{FF2B5EF4-FFF2-40B4-BE49-F238E27FC236}">
                  <a16:creationId xmlns:a16="http://schemas.microsoft.com/office/drawing/2014/main" id="{30791AB5-BDFC-84CC-40FB-DE8BA64492FC}"/>
                </a:ext>
              </a:extLst>
            </p:cNvPr>
            <p:cNvSpPr>
              <a:spLocks/>
            </p:cNvSpPr>
            <p:nvPr/>
          </p:nvSpPr>
          <p:spPr bwMode="auto">
            <a:xfrm>
              <a:off x="4023" y="2000"/>
              <a:ext cx="574" cy="1767"/>
            </a:xfrm>
            <a:custGeom>
              <a:avLst/>
              <a:gdLst>
                <a:gd name="T0" fmla="*/ 0 w 574"/>
                <a:gd name="T1" fmla="*/ 1767 h 1767"/>
                <a:gd name="T2" fmla="*/ 19 w 574"/>
                <a:gd name="T3" fmla="*/ 1704 h 1767"/>
                <a:gd name="T4" fmla="*/ 27 w 574"/>
                <a:gd name="T5" fmla="*/ 1640 h 1767"/>
                <a:gd name="T6" fmla="*/ 37 w 574"/>
                <a:gd name="T7" fmla="*/ 1577 h 1767"/>
                <a:gd name="T8" fmla="*/ 56 w 574"/>
                <a:gd name="T9" fmla="*/ 1521 h 1767"/>
                <a:gd name="T10" fmla="*/ 64 w 574"/>
                <a:gd name="T11" fmla="*/ 1467 h 1767"/>
                <a:gd name="T12" fmla="*/ 73 w 574"/>
                <a:gd name="T13" fmla="*/ 1412 h 1767"/>
                <a:gd name="T14" fmla="*/ 92 w 574"/>
                <a:gd name="T15" fmla="*/ 1366 h 1767"/>
                <a:gd name="T16" fmla="*/ 100 w 574"/>
                <a:gd name="T17" fmla="*/ 1322 h 1767"/>
                <a:gd name="T18" fmla="*/ 119 w 574"/>
                <a:gd name="T19" fmla="*/ 1239 h 1767"/>
                <a:gd name="T20" fmla="*/ 146 w 574"/>
                <a:gd name="T21" fmla="*/ 1156 h 1767"/>
                <a:gd name="T22" fmla="*/ 165 w 574"/>
                <a:gd name="T23" fmla="*/ 1076 h 1767"/>
                <a:gd name="T24" fmla="*/ 192 w 574"/>
                <a:gd name="T25" fmla="*/ 1003 h 1767"/>
                <a:gd name="T26" fmla="*/ 209 w 574"/>
                <a:gd name="T27" fmla="*/ 930 h 1767"/>
                <a:gd name="T28" fmla="*/ 238 w 574"/>
                <a:gd name="T29" fmla="*/ 857 h 1767"/>
                <a:gd name="T30" fmla="*/ 256 w 574"/>
                <a:gd name="T31" fmla="*/ 784 h 1767"/>
                <a:gd name="T32" fmla="*/ 282 w 574"/>
                <a:gd name="T33" fmla="*/ 720 h 1767"/>
                <a:gd name="T34" fmla="*/ 329 w 574"/>
                <a:gd name="T35" fmla="*/ 592 h 1767"/>
                <a:gd name="T36" fmla="*/ 365 w 574"/>
                <a:gd name="T37" fmla="*/ 475 h 1767"/>
                <a:gd name="T38" fmla="*/ 392 w 574"/>
                <a:gd name="T39" fmla="*/ 409 h 1767"/>
                <a:gd name="T40" fmla="*/ 411 w 574"/>
                <a:gd name="T41" fmla="*/ 356 h 1767"/>
                <a:gd name="T42" fmla="*/ 428 w 574"/>
                <a:gd name="T43" fmla="*/ 300 h 1767"/>
                <a:gd name="T44" fmla="*/ 455 w 574"/>
                <a:gd name="T45" fmla="*/ 256 h 1767"/>
                <a:gd name="T46" fmla="*/ 465 w 574"/>
                <a:gd name="T47" fmla="*/ 229 h 1767"/>
                <a:gd name="T48" fmla="*/ 474 w 574"/>
                <a:gd name="T49" fmla="*/ 200 h 1767"/>
                <a:gd name="T50" fmla="*/ 492 w 574"/>
                <a:gd name="T51" fmla="*/ 173 h 1767"/>
                <a:gd name="T52" fmla="*/ 501 w 574"/>
                <a:gd name="T53" fmla="*/ 146 h 1767"/>
                <a:gd name="T54" fmla="*/ 519 w 574"/>
                <a:gd name="T55" fmla="*/ 110 h 1767"/>
                <a:gd name="T56" fmla="*/ 538 w 574"/>
                <a:gd name="T57" fmla="*/ 73 h 1767"/>
                <a:gd name="T58" fmla="*/ 555 w 574"/>
                <a:gd name="T59" fmla="*/ 37 h 1767"/>
                <a:gd name="T60" fmla="*/ 574 w 574"/>
                <a:gd name="T61" fmla="*/ 0 h 176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4" h="1767">
                  <a:moveTo>
                    <a:pt x="0" y="1767"/>
                  </a:moveTo>
                  <a:lnTo>
                    <a:pt x="19" y="1704"/>
                  </a:lnTo>
                  <a:lnTo>
                    <a:pt x="27" y="1640"/>
                  </a:lnTo>
                  <a:lnTo>
                    <a:pt x="37" y="1577"/>
                  </a:lnTo>
                  <a:lnTo>
                    <a:pt x="56" y="1521"/>
                  </a:lnTo>
                  <a:lnTo>
                    <a:pt x="64" y="1467"/>
                  </a:lnTo>
                  <a:lnTo>
                    <a:pt x="73" y="1412"/>
                  </a:lnTo>
                  <a:lnTo>
                    <a:pt x="92" y="1366"/>
                  </a:lnTo>
                  <a:lnTo>
                    <a:pt x="100" y="1322"/>
                  </a:lnTo>
                  <a:lnTo>
                    <a:pt x="119" y="1239"/>
                  </a:lnTo>
                  <a:lnTo>
                    <a:pt x="146" y="1156"/>
                  </a:lnTo>
                  <a:lnTo>
                    <a:pt x="165" y="1076"/>
                  </a:lnTo>
                  <a:lnTo>
                    <a:pt x="192" y="1003"/>
                  </a:lnTo>
                  <a:lnTo>
                    <a:pt x="209" y="930"/>
                  </a:lnTo>
                  <a:lnTo>
                    <a:pt x="238" y="857"/>
                  </a:lnTo>
                  <a:lnTo>
                    <a:pt x="256" y="784"/>
                  </a:lnTo>
                  <a:lnTo>
                    <a:pt x="282" y="720"/>
                  </a:lnTo>
                  <a:lnTo>
                    <a:pt x="329" y="592"/>
                  </a:lnTo>
                  <a:lnTo>
                    <a:pt x="365" y="475"/>
                  </a:lnTo>
                  <a:lnTo>
                    <a:pt x="392" y="409"/>
                  </a:lnTo>
                  <a:lnTo>
                    <a:pt x="411" y="356"/>
                  </a:lnTo>
                  <a:lnTo>
                    <a:pt x="428" y="300"/>
                  </a:lnTo>
                  <a:lnTo>
                    <a:pt x="455" y="256"/>
                  </a:lnTo>
                  <a:lnTo>
                    <a:pt x="465" y="229"/>
                  </a:lnTo>
                  <a:lnTo>
                    <a:pt x="474" y="200"/>
                  </a:lnTo>
                  <a:lnTo>
                    <a:pt x="492" y="173"/>
                  </a:lnTo>
                  <a:lnTo>
                    <a:pt x="501" y="146"/>
                  </a:lnTo>
                  <a:lnTo>
                    <a:pt x="519" y="110"/>
                  </a:lnTo>
                  <a:lnTo>
                    <a:pt x="538" y="73"/>
                  </a:lnTo>
                  <a:lnTo>
                    <a:pt x="555" y="37"/>
                  </a:lnTo>
                  <a:lnTo>
                    <a:pt x="574"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3" name="Freeform 45">
              <a:extLst>
                <a:ext uri="{FF2B5EF4-FFF2-40B4-BE49-F238E27FC236}">
                  <a16:creationId xmlns:a16="http://schemas.microsoft.com/office/drawing/2014/main" id="{947CACFB-E0B2-BA1D-0FF7-73892E2A2367}"/>
                </a:ext>
              </a:extLst>
            </p:cNvPr>
            <p:cNvSpPr>
              <a:spLocks/>
            </p:cNvSpPr>
            <p:nvPr/>
          </p:nvSpPr>
          <p:spPr bwMode="auto">
            <a:xfrm>
              <a:off x="3933" y="1927"/>
              <a:ext cx="538" cy="1830"/>
            </a:xfrm>
            <a:custGeom>
              <a:avLst/>
              <a:gdLst>
                <a:gd name="T0" fmla="*/ 0 w 538"/>
                <a:gd name="T1" fmla="*/ 1830 h 1830"/>
                <a:gd name="T2" fmla="*/ 17 w 538"/>
                <a:gd name="T3" fmla="*/ 1750 h 1830"/>
                <a:gd name="T4" fmla="*/ 27 w 538"/>
                <a:gd name="T5" fmla="*/ 1677 h 1830"/>
                <a:gd name="T6" fmla="*/ 46 w 538"/>
                <a:gd name="T7" fmla="*/ 1604 h 1830"/>
                <a:gd name="T8" fmla="*/ 54 w 538"/>
                <a:gd name="T9" fmla="*/ 1531 h 1830"/>
                <a:gd name="T10" fmla="*/ 73 w 538"/>
                <a:gd name="T11" fmla="*/ 1468 h 1830"/>
                <a:gd name="T12" fmla="*/ 81 w 538"/>
                <a:gd name="T13" fmla="*/ 1412 h 1830"/>
                <a:gd name="T14" fmla="*/ 90 w 538"/>
                <a:gd name="T15" fmla="*/ 1358 h 1830"/>
                <a:gd name="T16" fmla="*/ 109 w 538"/>
                <a:gd name="T17" fmla="*/ 1312 h 1830"/>
                <a:gd name="T18" fmla="*/ 127 w 538"/>
                <a:gd name="T19" fmla="*/ 1212 h 1830"/>
                <a:gd name="T20" fmla="*/ 154 w 538"/>
                <a:gd name="T21" fmla="*/ 1120 h 1830"/>
                <a:gd name="T22" fmla="*/ 173 w 538"/>
                <a:gd name="T23" fmla="*/ 1030 h 1830"/>
                <a:gd name="T24" fmla="*/ 200 w 538"/>
                <a:gd name="T25" fmla="*/ 939 h 1830"/>
                <a:gd name="T26" fmla="*/ 255 w 538"/>
                <a:gd name="T27" fmla="*/ 765 h 1830"/>
                <a:gd name="T28" fmla="*/ 299 w 538"/>
                <a:gd name="T29" fmla="*/ 601 h 1830"/>
                <a:gd name="T30" fmla="*/ 328 w 538"/>
                <a:gd name="T31" fmla="*/ 519 h 1830"/>
                <a:gd name="T32" fmla="*/ 355 w 538"/>
                <a:gd name="T33" fmla="*/ 438 h 1830"/>
                <a:gd name="T34" fmla="*/ 382 w 538"/>
                <a:gd name="T35" fmla="*/ 365 h 1830"/>
                <a:gd name="T36" fmla="*/ 409 w 538"/>
                <a:gd name="T37" fmla="*/ 292 h 1830"/>
                <a:gd name="T38" fmla="*/ 428 w 538"/>
                <a:gd name="T39" fmla="*/ 256 h 1830"/>
                <a:gd name="T40" fmla="*/ 436 w 538"/>
                <a:gd name="T41" fmla="*/ 219 h 1830"/>
                <a:gd name="T42" fmla="*/ 455 w 538"/>
                <a:gd name="T43" fmla="*/ 192 h 1830"/>
                <a:gd name="T44" fmla="*/ 465 w 538"/>
                <a:gd name="T45" fmla="*/ 164 h 1830"/>
                <a:gd name="T46" fmla="*/ 472 w 538"/>
                <a:gd name="T47" fmla="*/ 137 h 1830"/>
                <a:gd name="T48" fmla="*/ 482 w 538"/>
                <a:gd name="T49" fmla="*/ 110 h 1830"/>
                <a:gd name="T50" fmla="*/ 492 w 538"/>
                <a:gd name="T51" fmla="*/ 91 h 1830"/>
                <a:gd name="T52" fmla="*/ 501 w 538"/>
                <a:gd name="T53" fmla="*/ 73 h 1830"/>
                <a:gd name="T54" fmla="*/ 538 w 538"/>
                <a:gd name="T55" fmla="*/ 0 h 18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38" h="1830">
                  <a:moveTo>
                    <a:pt x="0" y="1830"/>
                  </a:moveTo>
                  <a:lnTo>
                    <a:pt x="17" y="1750"/>
                  </a:lnTo>
                  <a:lnTo>
                    <a:pt x="27" y="1677"/>
                  </a:lnTo>
                  <a:lnTo>
                    <a:pt x="46" y="1604"/>
                  </a:lnTo>
                  <a:lnTo>
                    <a:pt x="54" y="1531"/>
                  </a:lnTo>
                  <a:lnTo>
                    <a:pt x="73" y="1468"/>
                  </a:lnTo>
                  <a:lnTo>
                    <a:pt x="81" y="1412"/>
                  </a:lnTo>
                  <a:lnTo>
                    <a:pt x="90" y="1358"/>
                  </a:lnTo>
                  <a:lnTo>
                    <a:pt x="109" y="1312"/>
                  </a:lnTo>
                  <a:lnTo>
                    <a:pt x="127" y="1212"/>
                  </a:lnTo>
                  <a:lnTo>
                    <a:pt x="154" y="1120"/>
                  </a:lnTo>
                  <a:lnTo>
                    <a:pt x="173" y="1030"/>
                  </a:lnTo>
                  <a:lnTo>
                    <a:pt x="200" y="939"/>
                  </a:lnTo>
                  <a:lnTo>
                    <a:pt x="255" y="765"/>
                  </a:lnTo>
                  <a:lnTo>
                    <a:pt x="299" y="601"/>
                  </a:lnTo>
                  <a:lnTo>
                    <a:pt x="328" y="519"/>
                  </a:lnTo>
                  <a:lnTo>
                    <a:pt x="355" y="438"/>
                  </a:lnTo>
                  <a:lnTo>
                    <a:pt x="382" y="365"/>
                  </a:lnTo>
                  <a:lnTo>
                    <a:pt x="409" y="292"/>
                  </a:lnTo>
                  <a:lnTo>
                    <a:pt x="428" y="256"/>
                  </a:lnTo>
                  <a:lnTo>
                    <a:pt x="436" y="219"/>
                  </a:lnTo>
                  <a:lnTo>
                    <a:pt x="455" y="192"/>
                  </a:lnTo>
                  <a:lnTo>
                    <a:pt x="465" y="164"/>
                  </a:lnTo>
                  <a:lnTo>
                    <a:pt x="472" y="137"/>
                  </a:lnTo>
                  <a:lnTo>
                    <a:pt x="482" y="110"/>
                  </a:lnTo>
                  <a:lnTo>
                    <a:pt x="492" y="91"/>
                  </a:lnTo>
                  <a:lnTo>
                    <a:pt x="501" y="73"/>
                  </a:lnTo>
                  <a:lnTo>
                    <a:pt x="538"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4" name="Freeform 46">
              <a:extLst>
                <a:ext uri="{FF2B5EF4-FFF2-40B4-BE49-F238E27FC236}">
                  <a16:creationId xmlns:a16="http://schemas.microsoft.com/office/drawing/2014/main" id="{C5FB3C9C-6FFB-6041-B4BE-2DF0E2060EB6}"/>
                </a:ext>
              </a:extLst>
            </p:cNvPr>
            <p:cNvSpPr>
              <a:spLocks/>
            </p:cNvSpPr>
            <p:nvPr/>
          </p:nvSpPr>
          <p:spPr bwMode="auto">
            <a:xfrm>
              <a:off x="3833" y="1973"/>
              <a:ext cx="446" cy="1784"/>
            </a:xfrm>
            <a:custGeom>
              <a:avLst/>
              <a:gdLst>
                <a:gd name="T0" fmla="*/ 0 w 446"/>
                <a:gd name="T1" fmla="*/ 1784 h 1784"/>
                <a:gd name="T2" fmla="*/ 8 w 446"/>
                <a:gd name="T3" fmla="*/ 1731 h 1784"/>
                <a:gd name="T4" fmla="*/ 17 w 446"/>
                <a:gd name="T5" fmla="*/ 1667 h 1784"/>
                <a:gd name="T6" fmla="*/ 27 w 446"/>
                <a:gd name="T7" fmla="*/ 1612 h 1784"/>
                <a:gd name="T8" fmla="*/ 37 w 446"/>
                <a:gd name="T9" fmla="*/ 1558 h 1784"/>
                <a:gd name="T10" fmla="*/ 44 w 446"/>
                <a:gd name="T11" fmla="*/ 1502 h 1784"/>
                <a:gd name="T12" fmla="*/ 54 w 446"/>
                <a:gd name="T13" fmla="*/ 1458 h 1784"/>
                <a:gd name="T14" fmla="*/ 63 w 446"/>
                <a:gd name="T15" fmla="*/ 1412 h 1784"/>
                <a:gd name="T16" fmla="*/ 73 w 446"/>
                <a:gd name="T17" fmla="*/ 1366 h 1784"/>
                <a:gd name="T18" fmla="*/ 81 w 446"/>
                <a:gd name="T19" fmla="*/ 1322 h 1784"/>
                <a:gd name="T20" fmla="*/ 90 w 446"/>
                <a:gd name="T21" fmla="*/ 1276 h 1784"/>
                <a:gd name="T22" fmla="*/ 100 w 446"/>
                <a:gd name="T23" fmla="*/ 1229 h 1784"/>
                <a:gd name="T24" fmla="*/ 100 w 446"/>
                <a:gd name="T25" fmla="*/ 1193 h 1784"/>
                <a:gd name="T26" fmla="*/ 110 w 446"/>
                <a:gd name="T27" fmla="*/ 1157 h 1784"/>
                <a:gd name="T28" fmla="*/ 117 w 446"/>
                <a:gd name="T29" fmla="*/ 1120 h 1784"/>
                <a:gd name="T30" fmla="*/ 127 w 446"/>
                <a:gd name="T31" fmla="*/ 1084 h 1784"/>
                <a:gd name="T32" fmla="*/ 136 w 446"/>
                <a:gd name="T33" fmla="*/ 1047 h 1784"/>
                <a:gd name="T34" fmla="*/ 163 w 446"/>
                <a:gd name="T35" fmla="*/ 920 h 1784"/>
                <a:gd name="T36" fmla="*/ 190 w 446"/>
                <a:gd name="T37" fmla="*/ 792 h 1784"/>
                <a:gd name="T38" fmla="*/ 227 w 446"/>
                <a:gd name="T39" fmla="*/ 665 h 1784"/>
                <a:gd name="T40" fmla="*/ 254 w 446"/>
                <a:gd name="T41" fmla="*/ 538 h 1784"/>
                <a:gd name="T42" fmla="*/ 263 w 446"/>
                <a:gd name="T43" fmla="*/ 509 h 1784"/>
                <a:gd name="T44" fmla="*/ 273 w 446"/>
                <a:gd name="T45" fmla="*/ 482 h 1784"/>
                <a:gd name="T46" fmla="*/ 282 w 446"/>
                <a:gd name="T47" fmla="*/ 446 h 1784"/>
                <a:gd name="T48" fmla="*/ 290 w 446"/>
                <a:gd name="T49" fmla="*/ 419 h 1784"/>
                <a:gd name="T50" fmla="*/ 300 w 446"/>
                <a:gd name="T51" fmla="*/ 392 h 1784"/>
                <a:gd name="T52" fmla="*/ 309 w 446"/>
                <a:gd name="T53" fmla="*/ 373 h 1784"/>
                <a:gd name="T54" fmla="*/ 309 w 446"/>
                <a:gd name="T55" fmla="*/ 346 h 1784"/>
                <a:gd name="T56" fmla="*/ 319 w 446"/>
                <a:gd name="T57" fmla="*/ 327 h 1784"/>
                <a:gd name="T58" fmla="*/ 327 w 446"/>
                <a:gd name="T59" fmla="*/ 300 h 1784"/>
                <a:gd name="T60" fmla="*/ 336 w 446"/>
                <a:gd name="T61" fmla="*/ 283 h 1784"/>
                <a:gd name="T62" fmla="*/ 336 w 446"/>
                <a:gd name="T63" fmla="*/ 264 h 1784"/>
                <a:gd name="T64" fmla="*/ 346 w 446"/>
                <a:gd name="T65" fmla="*/ 246 h 1784"/>
                <a:gd name="T66" fmla="*/ 346 w 446"/>
                <a:gd name="T67" fmla="*/ 227 h 1784"/>
                <a:gd name="T68" fmla="*/ 355 w 446"/>
                <a:gd name="T69" fmla="*/ 210 h 1784"/>
                <a:gd name="T70" fmla="*/ 363 w 446"/>
                <a:gd name="T71" fmla="*/ 200 h 1784"/>
                <a:gd name="T72" fmla="*/ 363 w 446"/>
                <a:gd name="T73" fmla="*/ 183 h 1784"/>
                <a:gd name="T74" fmla="*/ 399 w 446"/>
                <a:gd name="T75" fmla="*/ 91 h 1784"/>
                <a:gd name="T76" fmla="*/ 446 w 446"/>
                <a:gd name="T77" fmla="*/ 0 h 178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46" h="1784">
                  <a:moveTo>
                    <a:pt x="0" y="1784"/>
                  </a:moveTo>
                  <a:lnTo>
                    <a:pt x="8" y="1731"/>
                  </a:lnTo>
                  <a:lnTo>
                    <a:pt x="17" y="1667"/>
                  </a:lnTo>
                  <a:lnTo>
                    <a:pt x="27" y="1612"/>
                  </a:lnTo>
                  <a:lnTo>
                    <a:pt x="37" y="1558"/>
                  </a:lnTo>
                  <a:lnTo>
                    <a:pt x="44" y="1502"/>
                  </a:lnTo>
                  <a:lnTo>
                    <a:pt x="54" y="1458"/>
                  </a:lnTo>
                  <a:lnTo>
                    <a:pt x="63" y="1412"/>
                  </a:lnTo>
                  <a:lnTo>
                    <a:pt x="73" y="1366"/>
                  </a:lnTo>
                  <a:lnTo>
                    <a:pt x="81" y="1322"/>
                  </a:lnTo>
                  <a:lnTo>
                    <a:pt x="90" y="1276"/>
                  </a:lnTo>
                  <a:lnTo>
                    <a:pt x="100" y="1229"/>
                  </a:lnTo>
                  <a:lnTo>
                    <a:pt x="100" y="1193"/>
                  </a:lnTo>
                  <a:lnTo>
                    <a:pt x="110" y="1157"/>
                  </a:lnTo>
                  <a:lnTo>
                    <a:pt x="117" y="1120"/>
                  </a:lnTo>
                  <a:lnTo>
                    <a:pt x="127" y="1084"/>
                  </a:lnTo>
                  <a:lnTo>
                    <a:pt x="136" y="1047"/>
                  </a:lnTo>
                  <a:lnTo>
                    <a:pt x="163" y="920"/>
                  </a:lnTo>
                  <a:lnTo>
                    <a:pt x="190" y="792"/>
                  </a:lnTo>
                  <a:lnTo>
                    <a:pt x="227" y="665"/>
                  </a:lnTo>
                  <a:lnTo>
                    <a:pt x="254" y="538"/>
                  </a:lnTo>
                  <a:lnTo>
                    <a:pt x="263" y="509"/>
                  </a:lnTo>
                  <a:lnTo>
                    <a:pt x="273" y="482"/>
                  </a:lnTo>
                  <a:lnTo>
                    <a:pt x="282" y="446"/>
                  </a:lnTo>
                  <a:lnTo>
                    <a:pt x="290" y="419"/>
                  </a:lnTo>
                  <a:lnTo>
                    <a:pt x="300" y="392"/>
                  </a:lnTo>
                  <a:lnTo>
                    <a:pt x="309" y="373"/>
                  </a:lnTo>
                  <a:lnTo>
                    <a:pt x="309" y="346"/>
                  </a:lnTo>
                  <a:lnTo>
                    <a:pt x="319" y="327"/>
                  </a:lnTo>
                  <a:lnTo>
                    <a:pt x="327" y="300"/>
                  </a:lnTo>
                  <a:lnTo>
                    <a:pt x="336" y="283"/>
                  </a:lnTo>
                  <a:lnTo>
                    <a:pt x="336" y="264"/>
                  </a:lnTo>
                  <a:lnTo>
                    <a:pt x="346" y="246"/>
                  </a:lnTo>
                  <a:lnTo>
                    <a:pt x="346" y="227"/>
                  </a:lnTo>
                  <a:lnTo>
                    <a:pt x="355" y="210"/>
                  </a:lnTo>
                  <a:lnTo>
                    <a:pt x="363" y="200"/>
                  </a:lnTo>
                  <a:lnTo>
                    <a:pt x="363" y="183"/>
                  </a:lnTo>
                  <a:lnTo>
                    <a:pt x="399" y="91"/>
                  </a:lnTo>
                  <a:lnTo>
                    <a:pt x="446"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5" name="Freeform 47">
              <a:extLst>
                <a:ext uri="{FF2B5EF4-FFF2-40B4-BE49-F238E27FC236}">
                  <a16:creationId xmlns:a16="http://schemas.microsoft.com/office/drawing/2014/main" id="{B6FAE49D-EE40-35BA-F658-058C57603448}"/>
                </a:ext>
              </a:extLst>
            </p:cNvPr>
            <p:cNvSpPr>
              <a:spLocks/>
            </p:cNvSpPr>
            <p:nvPr/>
          </p:nvSpPr>
          <p:spPr bwMode="auto">
            <a:xfrm>
              <a:off x="4060" y="1927"/>
              <a:ext cx="265" cy="784"/>
            </a:xfrm>
            <a:custGeom>
              <a:avLst/>
              <a:gdLst>
                <a:gd name="T0" fmla="*/ 0 w 265"/>
                <a:gd name="T1" fmla="*/ 784 h 784"/>
                <a:gd name="T2" fmla="*/ 9 w 265"/>
                <a:gd name="T3" fmla="*/ 728 h 784"/>
                <a:gd name="T4" fmla="*/ 27 w 265"/>
                <a:gd name="T5" fmla="*/ 674 h 784"/>
                <a:gd name="T6" fmla="*/ 46 w 265"/>
                <a:gd name="T7" fmla="*/ 621 h 784"/>
                <a:gd name="T8" fmla="*/ 55 w 265"/>
                <a:gd name="T9" fmla="*/ 575 h 784"/>
                <a:gd name="T10" fmla="*/ 73 w 265"/>
                <a:gd name="T11" fmla="*/ 528 h 784"/>
                <a:gd name="T12" fmla="*/ 82 w 265"/>
                <a:gd name="T13" fmla="*/ 492 h 784"/>
                <a:gd name="T14" fmla="*/ 92 w 265"/>
                <a:gd name="T15" fmla="*/ 456 h 784"/>
                <a:gd name="T16" fmla="*/ 100 w 265"/>
                <a:gd name="T17" fmla="*/ 429 h 784"/>
                <a:gd name="T18" fmla="*/ 119 w 265"/>
                <a:gd name="T19" fmla="*/ 365 h 784"/>
                <a:gd name="T20" fmla="*/ 136 w 265"/>
                <a:gd name="T21" fmla="*/ 319 h 784"/>
                <a:gd name="T22" fmla="*/ 155 w 265"/>
                <a:gd name="T23" fmla="*/ 265 h 784"/>
                <a:gd name="T24" fmla="*/ 172 w 265"/>
                <a:gd name="T25" fmla="*/ 229 h 784"/>
                <a:gd name="T26" fmla="*/ 182 w 265"/>
                <a:gd name="T27" fmla="*/ 200 h 784"/>
                <a:gd name="T28" fmla="*/ 192 w 265"/>
                <a:gd name="T29" fmla="*/ 183 h 784"/>
                <a:gd name="T30" fmla="*/ 201 w 265"/>
                <a:gd name="T31" fmla="*/ 156 h 784"/>
                <a:gd name="T32" fmla="*/ 209 w 265"/>
                <a:gd name="T33" fmla="*/ 127 h 784"/>
                <a:gd name="T34" fmla="*/ 219 w 265"/>
                <a:gd name="T35" fmla="*/ 100 h 784"/>
                <a:gd name="T36" fmla="*/ 236 w 265"/>
                <a:gd name="T37" fmla="*/ 64 h 784"/>
                <a:gd name="T38" fmla="*/ 245 w 265"/>
                <a:gd name="T39" fmla="*/ 37 h 784"/>
                <a:gd name="T40" fmla="*/ 265 w 265"/>
                <a:gd name="T41" fmla="*/ 0 h 7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5" h="784">
                  <a:moveTo>
                    <a:pt x="0" y="784"/>
                  </a:moveTo>
                  <a:lnTo>
                    <a:pt x="9" y="728"/>
                  </a:lnTo>
                  <a:lnTo>
                    <a:pt x="27" y="674"/>
                  </a:lnTo>
                  <a:lnTo>
                    <a:pt x="46" y="621"/>
                  </a:lnTo>
                  <a:lnTo>
                    <a:pt x="55" y="575"/>
                  </a:lnTo>
                  <a:lnTo>
                    <a:pt x="73" y="528"/>
                  </a:lnTo>
                  <a:lnTo>
                    <a:pt x="82" y="492"/>
                  </a:lnTo>
                  <a:lnTo>
                    <a:pt x="92" y="456"/>
                  </a:lnTo>
                  <a:lnTo>
                    <a:pt x="100" y="429"/>
                  </a:lnTo>
                  <a:lnTo>
                    <a:pt x="119" y="365"/>
                  </a:lnTo>
                  <a:lnTo>
                    <a:pt x="136" y="319"/>
                  </a:lnTo>
                  <a:lnTo>
                    <a:pt x="155" y="265"/>
                  </a:lnTo>
                  <a:lnTo>
                    <a:pt x="172" y="229"/>
                  </a:lnTo>
                  <a:lnTo>
                    <a:pt x="182" y="200"/>
                  </a:lnTo>
                  <a:lnTo>
                    <a:pt x="192" y="183"/>
                  </a:lnTo>
                  <a:lnTo>
                    <a:pt x="201" y="156"/>
                  </a:lnTo>
                  <a:lnTo>
                    <a:pt x="209" y="127"/>
                  </a:lnTo>
                  <a:lnTo>
                    <a:pt x="219" y="100"/>
                  </a:lnTo>
                  <a:lnTo>
                    <a:pt x="236" y="64"/>
                  </a:lnTo>
                  <a:lnTo>
                    <a:pt x="245" y="37"/>
                  </a:lnTo>
                  <a:lnTo>
                    <a:pt x="265"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6" name="Freeform 48">
              <a:extLst>
                <a:ext uri="{FF2B5EF4-FFF2-40B4-BE49-F238E27FC236}">
                  <a16:creationId xmlns:a16="http://schemas.microsoft.com/office/drawing/2014/main" id="{E8D97E74-D0FD-9EA4-D1BF-53DFC1846BBD}"/>
                </a:ext>
              </a:extLst>
            </p:cNvPr>
            <p:cNvSpPr>
              <a:spLocks/>
            </p:cNvSpPr>
            <p:nvPr/>
          </p:nvSpPr>
          <p:spPr bwMode="auto">
            <a:xfrm>
              <a:off x="3760" y="2365"/>
              <a:ext cx="300" cy="1392"/>
            </a:xfrm>
            <a:custGeom>
              <a:avLst/>
              <a:gdLst>
                <a:gd name="T0" fmla="*/ 0 w 300"/>
                <a:gd name="T1" fmla="*/ 1392 h 1392"/>
                <a:gd name="T2" fmla="*/ 8 w 300"/>
                <a:gd name="T3" fmla="*/ 1339 h 1392"/>
                <a:gd name="T4" fmla="*/ 17 w 300"/>
                <a:gd name="T5" fmla="*/ 1285 h 1392"/>
                <a:gd name="T6" fmla="*/ 27 w 300"/>
                <a:gd name="T7" fmla="*/ 1229 h 1392"/>
                <a:gd name="T8" fmla="*/ 37 w 300"/>
                <a:gd name="T9" fmla="*/ 1183 h 1392"/>
                <a:gd name="T10" fmla="*/ 37 w 300"/>
                <a:gd name="T11" fmla="*/ 1139 h 1392"/>
                <a:gd name="T12" fmla="*/ 44 w 300"/>
                <a:gd name="T13" fmla="*/ 1093 h 1392"/>
                <a:gd name="T14" fmla="*/ 54 w 300"/>
                <a:gd name="T15" fmla="*/ 1056 h 1392"/>
                <a:gd name="T16" fmla="*/ 64 w 300"/>
                <a:gd name="T17" fmla="*/ 1010 h 1392"/>
                <a:gd name="T18" fmla="*/ 64 w 300"/>
                <a:gd name="T19" fmla="*/ 983 h 1392"/>
                <a:gd name="T20" fmla="*/ 73 w 300"/>
                <a:gd name="T21" fmla="*/ 947 h 1392"/>
                <a:gd name="T22" fmla="*/ 81 w 300"/>
                <a:gd name="T23" fmla="*/ 920 h 1392"/>
                <a:gd name="T24" fmla="*/ 81 w 300"/>
                <a:gd name="T25" fmla="*/ 893 h 1392"/>
                <a:gd name="T26" fmla="*/ 90 w 300"/>
                <a:gd name="T27" fmla="*/ 864 h 1392"/>
                <a:gd name="T28" fmla="*/ 90 w 300"/>
                <a:gd name="T29" fmla="*/ 847 h 1392"/>
                <a:gd name="T30" fmla="*/ 100 w 300"/>
                <a:gd name="T31" fmla="*/ 820 h 1392"/>
                <a:gd name="T32" fmla="*/ 100 w 300"/>
                <a:gd name="T33" fmla="*/ 811 h 1392"/>
                <a:gd name="T34" fmla="*/ 127 w 300"/>
                <a:gd name="T35" fmla="*/ 682 h 1392"/>
                <a:gd name="T36" fmla="*/ 154 w 300"/>
                <a:gd name="T37" fmla="*/ 555 h 1392"/>
                <a:gd name="T38" fmla="*/ 190 w 300"/>
                <a:gd name="T39" fmla="*/ 419 h 1392"/>
                <a:gd name="T40" fmla="*/ 219 w 300"/>
                <a:gd name="T41" fmla="*/ 290 h 1392"/>
                <a:gd name="T42" fmla="*/ 236 w 300"/>
                <a:gd name="T43" fmla="*/ 227 h 1392"/>
                <a:gd name="T44" fmla="*/ 254 w 300"/>
                <a:gd name="T45" fmla="*/ 154 h 1392"/>
                <a:gd name="T46" fmla="*/ 282 w 300"/>
                <a:gd name="T47" fmla="*/ 73 h 1392"/>
                <a:gd name="T48" fmla="*/ 300 w 300"/>
                <a:gd name="T49" fmla="*/ 0 h 139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00" h="1392">
                  <a:moveTo>
                    <a:pt x="0" y="1392"/>
                  </a:moveTo>
                  <a:lnTo>
                    <a:pt x="8" y="1339"/>
                  </a:lnTo>
                  <a:lnTo>
                    <a:pt x="17" y="1285"/>
                  </a:lnTo>
                  <a:lnTo>
                    <a:pt x="27" y="1229"/>
                  </a:lnTo>
                  <a:lnTo>
                    <a:pt x="37" y="1183"/>
                  </a:lnTo>
                  <a:lnTo>
                    <a:pt x="37" y="1139"/>
                  </a:lnTo>
                  <a:lnTo>
                    <a:pt x="44" y="1093"/>
                  </a:lnTo>
                  <a:lnTo>
                    <a:pt x="54" y="1056"/>
                  </a:lnTo>
                  <a:lnTo>
                    <a:pt x="64" y="1010"/>
                  </a:lnTo>
                  <a:lnTo>
                    <a:pt x="64" y="983"/>
                  </a:lnTo>
                  <a:lnTo>
                    <a:pt x="73" y="947"/>
                  </a:lnTo>
                  <a:lnTo>
                    <a:pt x="81" y="920"/>
                  </a:lnTo>
                  <a:lnTo>
                    <a:pt x="81" y="893"/>
                  </a:lnTo>
                  <a:lnTo>
                    <a:pt x="90" y="864"/>
                  </a:lnTo>
                  <a:lnTo>
                    <a:pt x="90" y="847"/>
                  </a:lnTo>
                  <a:lnTo>
                    <a:pt x="100" y="820"/>
                  </a:lnTo>
                  <a:lnTo>
                    <a:pt x="100" y="811"/>
                  </a:lnTo>
                  <a:lnTo>
                    <a:pt x="127" y="682"/>
                  </a:lnTo>
                  <a:lnTo>
                    <a:pt x="154" y="555"/>
                  </a:lnTo>
                  <a:lnTo>
                    <a:pt x="190" y="419"/>
                  </a:lnTo>
                  <a:lnTo>
                    <a:pt x="219" y="290"/>
                  </a:lnTo>
                  <a:lnTo>
                    <a:pt x="236" y="227"/>
                  </a:lnTo>
                  <a:lnTo>
                    <a:pt x="254" y="154"/>
                  </a:lnTo>
                  <a:lnTo>
                    <a:pt x="282" y="73"/>
                  </a:lnTo>
                  <a:lnTo>
                    <a:pt x="30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7" name="Freeform 49">
              <a:extLst>
                <a:ext uri="{FF2B5EF4-FFF2-40B4-BE49-F238E27FC236}">
                  <a16:creationId xmlns:a16="http://schemas.microsoft.com/office/drawing/2014/main" id="{5A900E55-ADC1-C716-704A-74C88B933E9C}"/>
                </a:ext>
              </a:extLst>
            </p:cNvPr>
            <p:cNvSpPr>
              <a:spLocks/>
            </p:cNvSpPr>
            <p:nvPr/>
          </p:nvSpPr>
          <p:spPr bwMode="auto">
            <a:xfrm>
              <a:off x="3422" y="1918"/>
              <a:ext cx="238" cy="1849"/>
            </a:xfrm>
            <a:custGeom>
              <a:avLst/>
              <a:gdLst>
                <a:gd name="T0" fmla="*/ 0 w 238"/>
                <a:gd name="T1" fmla="*/ 1849 h 1849"/>
                <a:gd name="T2" fmla="*/ 10 w 238"/>
                <a:gd name="T3" fmla="*/ 1795 h 1849"/>
                <a:gd name="T4" fmla="*/ 10 w 238"/>
                <a:gd name="T5" fmla="*/ 1749 h 1849"/>
                <a:gd name="T6" fmla="*/ 10 w 238"/>
                <a:gd name="T7" fmla="*/ 1703 h 1849"/>
                <a:gd name="T8" fmla="*/ 19 w 238"/>
                <a:gd name="T9" fmla="*/ 1659 h 1849"/>
                <a:gd name="T10" fmla="*/ 19 w 238"/>
                <a:gd name="T11" fmla="*/ 1613 h 1849"/>
                <a:gd name="T12" fmla="*/ 27 w 238"/>
                <a:gd name="T13" fmla="*/ 1567 h 1849"/>
                <a:gd name="T14" fmla="*/ 27 w 238"/>
                <a:gd name="T15" fmla="*/ 1521 h 1849"/>
                <a:gd name="T16" fmla="*/ 27 w 238"/>
                <a:gd name="T17" fmla="*/ 1484 h 1849"/>
                <a:gd name="T18" fmla="*/ 37 w 238"/>
                <a:gd name="T19" fmla="*/ 1448 h 1849"/>
                <a:gd name="T20" fmla="*/ 37 w 238"/>
                <a:gd name="T21" fmla="*/ 1413 h 1849"/>
                <a:gd name="T22" fmla="*/ 37 w 238"/>
                <a:gd name="T23" fmla="*/ 1377 h 1849"/>
                <a:gd name="T24" fmla="*/ 46 w 238"/>
                <a:gd name="T25" fmla="*/ 1340 h 1849"/>
                <a:gd name="T26" fmla="*/ 46 w 238"/>
                <a:gd name="T27" fmla="*/ 1304 h 1849"/>
                <a:gd name="T28" fmla="*/ 46 w 238"/>
                <a:gd name="T29" fmla="*/ 1275 h 1849"/>
                <a:gd name="T30" fmla="*/ 56 w 238"/>
                <a:gd name="T31" fmla="*/ 1238 h 1849"/>
                <a:gd name="T32" fmla="*/ 56 w 238"/>
                <a:gd name="T33" fmla="*/ 1212 h 1849"/>
                <a:gd name="T34" fmla="*/ 64 w 238"/>
                <a:gd name="T35" fmla="*/ 1158 h 1849"/>
                <a:gd name="T36" fmla="*/ 64 w 238"/>
                <a:gd name="T37" fmla="*/ 1092 h 1849"/>
                <a:gd name="T38" fmla="*/ 73 w 238"/>
                <a:gd name="T39" fmla="*/ 1039 h 1849"/>
                <a:gd name="T40" fmla="*/ 83 w 238"/>
                <a:gd name="T41" fmla="*/ 993 h 1849"/>
                <a:gd name="T42" fmla="*/ 83 w 238"/>
                <a:gd name="T43" fmla="*/ 939 h 1849"/>
                <a:gd name="T44" fmla="*/ 92 w 238"/>
                <a:gd name="T45" fmla="*/ 883 h 1849"/>
                <a:gd name="T46" fmla="*/ 92 w 238"/>
                <a:gd name="T47" fmla="*/ 839 h 1849"/>
                <a:gd name="T48" fmla="*/ 100 w 238"/>
                <a:gd name="T49" fmla="*/ 793 h 1849"/>
                <a:gd name="T50" fmla="*/ 110 w 238"/>
                <a:gd name="T51" fmla="*/ 701 h 1849"/>
                <a:gd name="T52" fmla="*/ 119 w 238"/>
                <a:gd name="T53" fmla="*/ 610 h 1849"/>
                <a:gd name="T54" fmla="*/ 137 w 238"/>
                <a:gd name="T55" fmla="*/ 528 h 1849"/>
                <a:gd name="T56" fmla="*/ 146 w 238"/>
                <a:gd name="T57" fmla="*/ 447 h 1849"/>
                <a:gd name="T58" fmla="*/ 156 w 238"/>
                <a:gd name="T59" fmla="*/ 411 h 1849"/>
                <a:gd name="T60" fmla="*/ 165 w 238"/>
                <a:gd name="T61" fmla="*/ 374 h 1849"/>
                <a:gd name="T62" fmla="*/ 165 w 238"/>
                <a:gd name="T63" fmla="*/ 338 h 1849"/>
                <a:gd name="T64" fmla="*/ 173 w 238"/>
                <a:gd name="T65" fmla="*/ 311 h 1849"/>
                <a:gd name="T66" fmla="*/ 173 w 238"/>
                <a:gd name="T67" fmla="*/ 282 h 1849"/>
                <a:gd name="T68" fmla="*/ 183 w 238"/>
                <a:gd name="T69" fmla="*/ 255 h 1849"/>
                <a:gd name="T70" fmla="*/ 183 w 238"/>
                <a:gd name="T71" fmla="*/ 228 h 1849"/>
                <a:gd name="T72" fmla="*/ 192 w 238"/>
                <a:gd name="T73" fmla="*/ 201 h 1849"/>
                <a:gd name="T74" fmla="*/ 202 w 238"/>
                <a:gd name="T75" fmla="*/ 155 h 1849"/>
                <a:gd name="T76" fmla="*/ 210 w 238"/>
                <a:gd name="T77" fmla="*/ 109 h 1849"/>
                <a:gd name="T78" fmla="*/ 219 w 238"/>
                <a:gd name="T79" fmla="*/ 55 h 1849"/>
                <a:gd name="T80" fmla="*/ 238 w 238"/>
                <a:gd name="T81" fmla="*/ 0 h 184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38" h="1849">
                  <a:moveTo>
                    <a:pt x="0" y="1849"/>
                  </a:moveTo>
                  <a:lnTo>
                    <a:pt x="10" y="1795"/>
                  </a:lnTo>
                  <a:lnTo>
                    <a:pt x="10" y="1749"/>
                  </a:lnTo>
                  <a:lnTo>
                    <a:pt x="10" y="1703"/>
                  </a:lnTo>
                  <a:lnTo>
                    <a:pt x="19" y="1659"/>
                  </a:lnTo>
                  <a:lnTo>
                    <a:pt x="19" y="1613"/>
                  </a:lnTo>
                  <a:lnTo>
                    <a:pt x="27" y="1567"/>
                  </a:lnTo>
                  <a:lnTo>
                    <a:pt x="27" y="1521"/>
                  </a:lnTo>
                  <a:lnTo>
                    <a:pt x="27" y="1484"/>
                  </a:lnTo>
                  <a:lnTo>
                    <a:pt x="37" y="1448"/>
                  </a:lnTo>
                  <a:lnTo>
                    <a:pt x="37" y="1413"/>
                  </a:lnTo>
                  <a:lnTo>
                    <a:pt x="37" y="1377"/>
                  </a:lnTo>
                  <a:lnTo>
                    <a:pt x="46" y="1340"/>
                  </a:lnTo>
                  <a:lnTo>
                    <a:pt x="46" y="1304"/>
                  </a:lnTo>
                  <a:lnTo>
                    <a:pt x="46" y="1275"/>
                  </a:lnTo>
                  <a:lnTo>
                    <a:pt x="56" y="1238"/>
                  </a:lnTo>
                  <a:lnTo>
                    <a:pt x="56" y="1212"/>
                  </a:lnTo>
                  <a:lnTo>
                    <a:pt x="64" y="1158"/>
                  </a:lnTo>
                  <a:lnTo>
                    <a:pt x="64" y="1092"/>
                  </a:lnTo>
                  <a:lnTo>
                    <a:pt x="73" y="1039"/>
                  </a:lnTo>
                  <a:lnTo>
                    <a:pt x="83" y="993"/>
                  </a:lnTo>
                  <a:lnTo>
                    <a:pt x="83" y="939"/>
                  </a:lnTo>
                  <a:lnTo>
                    <a:pt x="92" y="883"/>
                  </a:lnTo>
                  <a:lnTo>
                    <a:pt x="92" y="839"/>
                  </a:lnTo>
                  <a:lnTo>
                    <a:pt x="100" y="793"/>
                  </a:lnTo>
                  <a:lnTo>
                    <a:pt x="110" y="701"/>
                  </a:lnTo>
                  <a:lnTo>
                    <a:pt x="119" y="610"/>
                  </a:lnTo>
                  <a:lnTo>
                    <a:pt x="137" y="528"/>
                  </a:lnTo>
                  <a:lnTo>
                    <a:pt x="146" y="447"/>
                  </a:lnTo>
                  <a:lnTo>
                    <a:pt x="156" y="411"/>
                  </a:lnTo>
                  <a:lnTo>
                    <a:pt x="165" y="374"/>
                  </a:lnTo>
                  <a:lnTo>
                    <a:pt x="165" y="338"/>
                  </a:lnTo>
                  <a:lnTo>
                    <a:pt x="173" y="311"/>
                  </a:lnTo>
                  <a:lnTo>
                    <a:pt x="173" y="282"/>
                  </a:lnTo>
                  <a:lnTo>
                    <a:pt x="183" y="255"/>
                  </a:lnTo>
                  <a:lnTo>
                    <a:pt x="183" y="228"/>
                  </a:lnTo>
                  <a:lnTo>
                    <a:pt x="192" y="201"/>
                  </a:lnTo>
                  <a:lnTo>
                    <a:pt x="202" y="155"/>
                  </a:lnTo>
                  <a:lnTo>
                    <a:pt x="210" y="109"/>
                  </a:lnTo>
                  <a:lnTo>
                    <a:pt x="219" y="55"/>
                  </a:lnTo>
                  <a:lnTo>
                    <a:pt x="238"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8" name="Rectangle 50">
              <a:extLst>
                <a:ext uri="{FF2B5EF4-FFF2-40B4-BE49-F238E27FC236}">
                  <a16:creationId xmlns:a16="http://schemas.microsoft.com/office/drawing/2014/main" id="{D36A3465-FB65-C435-69F5-DABEA42D92D2}"/>
                </a:ext>
              </a:extLst>
            </p:cNvPr>
            <p:cNvSpPr>
              <a:spLocks noChangeArrowheads="1"/>
            </p:cNvSpPr>
            <p:nvPr/>
          </p:nvSpPr>
          <p:spPr bwMode="auto">
            <a:xfrm>
              <a:off x="5100" y="3292"/>
              <a:ext cx="8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W</a:t>
              </a:r>
              <a:endParaRPr lang="en-US" altLang="en-US"/>
            </a:p>
          </p:txBody>
        </p:sp>
        <p:sp>
          <p:nvSpPr>
            <p:cNvPr id="22579" name="Rectangle 51">
              <a:extLst>
                <a:ext uri="{FF2B5EF4-FFF2-40B4-BE49-F238E27FC236}">
                  <a16:creationId xmlns:a16="http://schemas.microsoft.com/office/drawing/2014/main" id="{4DA63BF5-6E0C-B517-A874-2E700D662C38}"/>
                </a:ext>
              </a:extLst>
            </p:cNvPr>
            <p:cNvSpPr>
              <a:spLocks noChangeArrowheads="1"/>
            </p:cNvSpPr>
            <p:nvPr/>
          </p:nvSpPr>
          <p:spPr bwMode="auto">
            <a:xfrm>
              <a:off x="4751" y="3492"/>
              <a:ext cx="12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Mo</a:t>
              </a:r>
              <a:endParaRPr lang="en-US" altLang="en-US"/>
            </a:p>
          </p:txBody>
        </p:sp>
        <p:sp>
          <p:nvSpPr>
            <p:cNvPr id="22580" name="Rectangle 52">
              <a:extLst>
                <a:ext uri="{FF2B5EF4-FFF2-40B4-BE49-F238E27FC236}">
                  <a16:creationId xmlns:a16="http://schemas.microsoft.com/office/drawing/2014/main" id="{B5184AD4-ECCB-0D42-222E-D12B3C6CECE9}"/>
                </a:ext>
              </a:extLst>
            </p:cNvPr>
            <p:cNvSpPr>
              <a:spLocks noChangeArrowheads="1"/>
            </p:cNvSpPr>
            <p:nvPr/>
          </p:nvSpPr>
          <p:spPr bwMode="auto">
            <a:xfrm>
              <a:off x="4883" y="2528"/>
              <a:ext cx="8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Pt</a:t>
              </a:r>
              <a:endParaRPr lang="en-US" altLang="en-US"/>
            </a:p>
          </p:txBody>
        </p:sp>
        <p:sp>
          <p:nvSpPr>
            <p:cNvPr id="22581" name="Rectangle 53">
              <a:extLst>
                <a:ext uri="{FF2B5EF4-FFF2-40B4-BE49-F238E27FC236}">
                  <a16:creationId xmlns:a16="http://schemas.microsoft.com/office/drawing/2014/main" id="{30390C59-EA3B-4061-5C97-C03DBD7BF2C3}"/>
                </a:ext>
              </a:extLst>
            </p:cNvPr>
            <p:cNvSpPr>
              <a:spLocks noChangeArrowheads="1"/>
            </p:cNvSpPr>
            <p:nvPr/>
          </p:nvSpPr>
          <p:spPr bwMode="auto">
            <a:xfrm>
              <a:off x="4764" y="2246"/>
              <a:ext cx="10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Cr</a:t>
              </a:r>
              <a:endParaRPr lang="en-US" altLang="en-US"/>
            </a:p>
          </p:txBody>
        </p:sp>
        <p:sp>
          <p:nvSpPr>
            <p:cNvPr id="22582" name="Rectangle 54">
              <a:extLst>
                <a:ext uri="{FF2B5EF4-FFF2-40B4-BE49-F238E27FC236}">
                  <a16:creationId xmlns:a16="http://schemas.microsoft.com/office/drawing/2014/main" id="{8B3D5230-7AE7-C3CD-753A-9C31656DD7C0}"/>
                </a:ext>
              </a:extLst>
            </p:cNvPr>
            <p:cNvSpPr>
              <a:spLocks noChangeArrowheads="1"/>
            </p:cNvSpPr>
            <p:nvPr/>
          </p:nvSpPr>
          <p:spPr bwMode="auto">
            <a:xfrm>
              <a:off x="4282" y="3557"/>
              <a:ext cx="8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Ti</a:t>
              </a:r>
              <a:endParaRPr lang="en-US" altLang="en-US"/>
            </a:p>
          </p:txBody>
        </p:sp>
        <p:sp>
          <p:nvSpPr>
            <p:cNvPr id="22583" name="Rectangle 55">
              <a:extLst>
                <a:ext uri="{FF2B5EF4-FFF2-40B4-BE49-F238E27FC236}">
                  <a16:creationId xmlns:a16="http://schemas.microsoft.com/office/drawing/2014/main" id="{B198FCA3-0529-6F90-2716-B3834E5690FD}"/>
                </a:ext>
              </a:extLst>
            </p:cNvPr>
            <p:cNvSpPr>
              <a:spLocks noChangeArrowheads="1"/>
            </p:cNvSpPr>
            <p:nvPr/>
          </p:nvSpPr>
          <p:spPr bwMode="auto">
            <a:xfrm>
              <a:off x="4701" y="1981"/>
              <a:ext cx="8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Ni</a:t>
              </a:r>
              <a:endParaRPr lang="en-US" altLang="en-US"/>
            </a:p>
          </p:txBody>
        </p:sp>
        <p:sp>
          <p:nvSpPr>
            <p:cNvPr id="22584" name="Rectangle 56">
              <a:extLst>
                <a:ext uri="{FF2B5EF4-FFF2-40B4-BE49-F238E27FC236}">
                  <a16:creationId xmlns:a16="http://schemas.microsoft.com/office/drawing/2014/main" id="{45A0A590-FBD0-A388-4F18-2D8DBE15E846}"/>
                </a:ext>
              </a:extLst>
            </p:cNvPr>
            <p:cNvSpPr>
              <a:spLocks noChangeArrowheads="1"/>
            </p:cNvSpPr>
            <p:nvPr/>
          </p:nvSpPr>
          <p:spPr bwMode="auto">
            <a:xfrm>
              <a:off x="4409" y="2054"/>
              <a:ext cx="11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Au</a:t>
              </a:r>
              <a:endParaRPr lang="en-US" altLang="en-US"/>
            </a:p>
          </p:txBody>
        </p:sp>
        <p:sp>
          <p:nvSpPr>
            <p:cNvPr id="22585" name="Rectangle 57">
              <a:extLst>
                <a:ext uri="{FF2B5EF4-FFF2-40B4-BE49-F238E27FC236}">
                  <a16:creationId xmlns:a16="http://schemas.microsoft.com/office/drawing/2014/main" id="{C03B85F6-E138-23CE-8D08-EF6067F3D9D1}"/>
                </a:ext>
              </a:extLst>
            </p:cNvPr>
            <p:cNvSpPr>
              <a:spLocks noChangeArrowheads="1"/>
            </p:cNvSpPr>
            <p:nvPr/>
          </p:nvSpPr>
          <p:spPr bwMode="auto">
            <a:xfrm>
              <a:off x="4037" y="2782"/>
              <a:ext cx="8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Al</a:t>
              </a:r>
              <a:endParaRPr lang="en-US" altLang="en-US"/>
            </a:p>
          </p:txBody>
        </p:sp>
        <p:sp>
          <p:nvSpPr>
            <p:cNvPr id="22586" name="Rectangle 58">
              <a:extLst>
                <a:ext uri="{FF2B5EF4-FFF2-40B4-BE49-F238E27FC236}">
                  <a16:creationId xmlns:a16="http://schemas.microsoft.com/office/drawing/2014/main" id="{B0416039-8AB3-C0BC-04C7-50413ABDAB3F}"/>
                </a:ext>
              </a:extLst>
            </p:cNvPr>
            <p:cNvSpPr>
              <a:spLocks noChangeArrowheads="1"/>
            </p:cNvSpPr>
            <p:nvPr/>
          </p:nvSpPr>
          <p:spPr bwMode="auto">
            <a:xfrm>
              <a:off x="4259" y="2035"/>
              <a:ext cx="112"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Ga</a:t>
              </a:r>
              <a:endParaRPr lang="en-US" altLang="en-US"/>
            </a:p>
          </p:txBody>
        </p:sp>
        <p:sp>
          <p:nvSpPr>
            <p:cNvPr id="22587" name="Rectangle 59">
              <a:extLst>
                <a:ext uri="{FF2B5EF4-FFF2-40B4-BE49-F238E27FC236}">
                  <a16:creationId xmlns:a16="http://schemas.microsoft.com/office/drawing/2014/main" id="{6431CF6A-0E85-4DD9-E467-1771FC51B36E}"/>
                </a:ext>
              </a:extLst>
            </p:cNvPr>
            <p:cNvSpPr>
              <a:spLocks noChangeArrowheads="1"/>
            </p:cNvSpPr>
            <p:nvPr/>
          </p:nvSpPr>
          <p:spPr bwMode="auto">
            <a:xfrm>
              <a:off x="4087" y="2027"/>
              <a:ext cx="10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Ag</a:t>
              </a:r>
              <a:endParaRPr lang="en-US" altLang="en-US"/>
            </a:p>
          </p:txBody>
        </p:sp>
        <p:sp>
          <p:nvSpPr>
            <p:cNvPr id="22588" name="Rectangle 60">
              <a:extLst>
                <a:ext uri="{FF2B5EF4-FFF2-40B4-BE49-F238E27FC236}">
                  <a16:creationId xmlns:a16="http://schemas.microsoft.com/office/drawing/2014/main" id="{07EA5ECB-1300-AEAC-A69F-C40EF1659CAB}"/>
                </a:ext>
              </a:extLst>
            </p:cNvPr>
            <p:cNvSpPr>
              <a:spLocks noChangeArrowheads="1"/>
            </p:cNvSpPr>
            <p:nvPr/>
          </p:nvSpPr>
          <p:spPr bwMode="auto">
            <a:xfrm>
              <a:off x="3812" y="2847"/>
              <a:ext cx="84"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In</a:t>
              </a:r>
              <a:endParaRPr lang="en-US" altLang="en-US"/>
            </a:p>
          </p:txBody>
        </p:sp>
        <p:sp>
          <p:nvSpPr>
            <p:cNvPr id="22589" name="Rectangle 61">
              <a:extLst>
                <a:ext uri="{FF2B5EF4-FFF2-40B4-BE49-F238E27FC236}">
                  <a16:creationId xmlns:a16="http://schemas.microsoft.com/office/drawing/2014/main" id="{9C15A67C-14F6-BF49-5B67-052F38BD2907}"/>
                </a:ext>
              </a:extLst>
            </p:cNvPr>
            <p:cNvSpPr>
              <a:spLocks noChangeArrowheads="1"/>
            </p:cNvSpPr>
            <p:nvPr/>
          </p:nvSpPr>
          <p:spPr bwMode="auto">
            <a:xfrm>
              <a:off x="3466" y="2100"/>
              <a:ext cx="10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100" b="1">
                  <a:latin typeface="Times" panose="02020603050405020304" pitchFamily="18" charset="0"/>
                </a:rPr>
                <a:t>Na</a:t>
              </a:r>
              <a:endParaRPr lang="en-US"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E0BA0A87-E2D8-5BAA-100D-E473ADEB83BB}"/>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8FCE13C8-15FF-4445-A526-7AB66FCEEDA1}" type="slidenum">
              <a:rPr lang="en-US" altLang="en-US"/>
              <a:pPr>
                <a:lnSpc>
                  <a:spcPct val="100000"/>
                </a:lnSpc>
                <a:spcBef>
                  <a:spcPct val="0"/>
                </a:spcBef>
                <a:buClr>
                  <a:srgbClr val="F68933"/>
                </a:buClr>
                <a:buFontTx/>
                <a:buNone/>
              </a:pPr>
              <a:t>7</a:t>
            </a:fld>
            <a:endParaRPr lang="en-US" altLang="en-US"/>
          </a:p>
        </p:txBody>
      </p:sp>
      <p:sp>
        <p:nvSpPr>
          <p:cNvPr id="23555" name="Rectangle 2">
            <a:extLst>
              <a:ext uri="{FF2B5EF4-FFF2-40B4-BE49-F238E27FC236}">
                <a16:creationId xmlns:a16="http://schemas.microsoft.com/office/drawing/2014/main" id="{6AE04B33-A8D9-1469-FE88-D37891AB3177}"/>
              </a:ext>
            </a:extLst>
          </p:cNvPr>
          <p:cNvSpPr>
            <a:spLocks noGrp="1" noChangeArrowheads="1"/>
          </p:cNvSpPr>
          <p:nvPr>
            <p:ph type="title"/>
          </p:nvPr>
        </p:nvSpPr>
        <p:spPr/>
        <p:txBody>
          <a:bodyPr/>
          <a:lstStyle/>
          <a:p>
            <a:pPr eaLnBrk="1" hangingPunct="1"/>
            <a:r>
              <a:rPr lang="en-GB" altLang="en-US"/>
              <a:t>Evaporation: pros and cons</a:t>
            </a:r>
            <a:endParaRPr lang="en-US" altLang="en-US"/>
          </a:p>
        </p:txBody>
      </p:sp>
      <p:sp>
        <p:nvSpPr>
          <p:cNvPr id="23556" name="Rectangle 3">
            <a:extLst>
              <a:ext uri="{FF2B5EF4-FFF2-40B4-BE49-F238E27FC236}">
                <a16:creationId xmlns:a16="http://schemas.microsoft.com/office/drawing/2014/main" id="{A0EBACD8-E41B-7D9A-F473-5B005D7B730F}"/>
              </a:ext>
            </a:extLst>
          </p:cNvPr>
          <p:cNvSpPr>
            <a:spLocks noGrp="1" noChangeArrowheads="1"/>
          </p:cNvSpPr>
          <p:nvPr>
            <p:ph type="body" idx="1"/>
          </p:nvPr>
        </p:nvSpPr>
        <p:spPr>
          <a:xfrm>
            <a:off x="1524000" y="1116013"/>
            <a:ext cx="8402638" cy="4114800"/>
          </a:xfrm>
        </p:spPr>
        <p:txBody>
          <a:bodyPr/>
          <a:lstStyle/>
          <a:p>
            <a:pPr eaLnBrk="1" hangingPunct="1"/>
            <a:r>
              <a:rPr lang="en-GB" altLang="en-US"/>
              <a:t>Almost every material can be evaporated</a:t>
            </a:r>
          </a:p>
          <a:p>
            <a:pPr eaLnBrk="1" hangingPunct="1"/>
            <a:r>
              <a:rPr lang="en-GB" altLang="en-US"/>
              <a:t>Low wafer contamination and damage</a:t>
            </a:r>
          </a:p>
          <a:p>
            <a:pPr eaLnBrk="1" hangingPunct="1"/>
            <a:r>
              <a:rPr lang="en-GB" altLang="en-US"/>
              <a:t>Metals with low P</a:t>
            </a:r>
            <a:r>
              <a:rPr lang="en-GB" altLang="en-US" baseline="-25000"/>
              <a:t>e</a:t>
            </a:r>
            <a:r>
              <a:rPr lang="en-GB" altLang="en-US"/>
              <a:t> (e.g. W) are difficult to evaporate</a:t>
            </a:r>
          </a:p>
          <a:p>
            <a:pPr eaLnBrk="1" hangingPunct="1"/>
            <a:r>
              <a:rPr lang="en-GB" altLang="en-US"/>
              <a:t>No in-situ pre-cleaning</a:t>
            </a:r>
          </a:p>
          <a:p>
            <a:pPr eaLnBrk="1" hangingPunct="1"/>
            <a:r>
              <a:rPr lang="en-GB" altLang="en-US"/>
              <a:t>Alloys deposition is a difficult task ( due to different P</a:t>
            </a:r>
            <a:r>
              <a:rPr lang="en-GB" altLang="en-US" baseline="-25000"/>
              <a:t>e</a:t>
            </a:r>
            <a:r>
              <a:rPr lang="en-GB" altLang="en-US"/>
              <a:t> of different materials </a:t>
            </a:r>
            <a:r>
              <a:rPr lang="en-GB" altLang="en-US">
                <a:sym typeface="Wingdings" panose="05000000000000000000" pitchFamily="2" charset="2"/>
              </a:rPr>
              <a:t> multiple crucible and heating system needed  uniformity problems)</a:t>
            </a:r>
          </a:p>
          <a:p>
            <a:pPr eaLnBrk="1" hangingPunct="1"/>
            <a:r>
              <a:rPr lang="en-GB" altLang="en-US">
                <a:sym typeface="Wingdings" panose="05000000000000000000" pitchFamily="2" charset="2"/>
              </a:rPr>
              <a:t>Line of sight deposition, no resputtering, </a:t>
            </a:r>
            <a:r>
              <a:rPr lang="en-GB" altLang="en-US" b="1">
                <a:solidFill>
                  <a:srgbClr val="F0522C"/>
                </a:solidFill>
                <a:sym typeface="Wingdings" panose="05000000000000000000" pitchFamily="2" charset="2"/>
              </a:rPr>
              <a:t>sticking coefficient</a:t>
            </a:r>
            <a:r>
              <a:rPr lang="en-GB" altLang="en-US" b="1">
                <a:solidFill>
                  <a:srgbClr val="F0522C"/>
                </a:solidFill>
                <a:cs typeface="Arial" panose="020B0604020202020204" pitchFamily="34" charset="0"/>
                <a:sym typeface="Wingdings" panose="05000000000000000000" pitchFamily="2" charset="2"/>
              </a:rPr>
              <a:t>≈1</a:t>
            </a:r>
            <a:r>
              <a:rPr lang="en-GB" altLang="en-US">
                <a:solidFill>
                  <a:srgbClr val="F0522C"/>
                </a:solidFill>
                <a:sym typeface="Wingdings" panose="05000000000000000000" pitchFamily="2" charset="2"/>
              </a:rPr>
              <a:t> </a:t>
            </a:r>
            <a:r>
              <a:rPr lang="en-GB" altLang="en-US">
                <a:sym typeface="Wingdings" panose="05000000000000000000" pitchFamily="2" charset="2"/>
              </a:rPr>
              <a:t>poor step coverage</a:t>
            </a:r>
          </a:p>
          <a:p>
            <a:pPr eaLnBrk="1" hangingPunct="1"/>
            <a:endParaRPr lang="en-US" altLang="en-US">
              <a:solidFill>
                <a:srgbClr val="F0522C"/>
              </a:solidFill>
            </a:endParaRPr>
          </a:p>
        </p:txBody>
      </p:sp>
      <p:graphicFrame>
        <p:nvGraphicFramePr>
          <p:cNvPr id="23557" name="Object 4">
            <a:extLst>
              <a:ext uri="{FF2B5EF4-FFF2-40B4-BE49-F238E27FC236}">
                <a16:creationId xmlns:a16="http://schemas.microsoft.com/office/drawing/2014/main" id="{080BB647-FF48-F2B5-4CB1-A4CFFCF723A0}"/>
              </a:ext>
            </a:extLst>
          </p:cNvPr>
          <p:cNvGraphicFramePr>
            <a:graphicFrameLocks noChangeAspect="1"/>
          </p:cNvGraphicFramePr>
          <p:nvPr/>
        </p:nvGraphicFramePr>
        <p:xfrm>
          <a:off x="1893889" y="4338639"/>
          <a:ext cx="1862137" cy="1055687"/>
        </p:xfrm>
        <a:graphic>
          <a:graphicData uri="http://schemas.openxmlformats.org/presentationml/2006/ole">
            <mc:AlternateContent xmlns:mc="http://schemas.openxmlformats.org/markup-compatibility/2006">
              <mc:Choice xmlns:v="urn:schemas-microsoft-com:vml" Requires="v">
                <p:oleObj name="Equation" r:id="rId2" imgW="761669" imgH="431613" progId="Equation.DSMT4">
                  <p:embed/>
                </p:oleObj>
              </mc:Choice>
              <mc:Fallback>
                <p:oleObj name="Equation" r:id="rId2" imgW="761669" imgH="431613" progId="Equation.DSMT4">
                  <p:embed/>
                  <p:pic>
                    <p:nvPicPr>
                      <p:cNvPr id="23557" name="Object 4">
                        <a:extLst>
                          <a:ext uri="{FF2B5EF4-FFF2-40B4-BE49-F238E27FC236}">
                            <a16:creationId xmlns:a16="http://schemas.microsoft.com/office/drawing/2014/main" id="{080BB647-FF48-F2B5-4CB1-A4CFFCF72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3889" y="4338639"/>
                        <a:ext cx="1862137" cy="1055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8" name="Object 5">
            <a:extLst>
              <a:ext uri="{FF2B5EF4-FFF2-40B4-BE49-F238E27FC236}">
                <a16:creationId xmlns:a16="http://schemas.microsoft.com/office/drawing/2014/main" id="{2B479BB8-7DB9-F67E-60D8-9C960A6014F9}"/>
              </a:ext>
            </a:extLst>
          </p:cNvPr>
          <p:cNvGraphicFramePr>
            <a:graphicFrameLocks noChangeAspect="1"/>
          </p:cNvGraphicFramePr>
          <p:nvPr/>
        </p:nvGraphicFramePr>
        <p:xfrm>
          <a:off x="4398963" y="3733801"/>
          <a:ext cx="5975350" cy="1831975"/>
        </p:xfrm>
        <a:graphic>
          <a:graphicData uri="http://schemas.openxmlformats.org/presentationml/2006/ole">
            <mc:AlternateContent xmlns:mc="http://schemas.openxmlformats.org/markup-compatibility/2006">
              <mc:Choice xmlns:v="urn:schemas-microsoft-com:vml" Requires="v">
                <p:oleObj name="Document" r:id="rId4" imgW="4940808" imgH="1514856" progId="Word.Document.8">
                  <p:embed/>
                </p:oleObj>
              </mc:Choice>
              <mc:Fallback>
                <p:oleObj name="Document" r:id="rId4" imgW="4940808" imgH="1514856" progId="Word.Document.8">
                  <p:embed/>
                  <p:pic>
                    <p:nvPicPr>
                      <p:cNvPr id="23558" name="Object 5">
                        <a:extLst>
                          <a:ext uri="{FF2B5EF4-FFF2-40B4-BE49-F238E27FC236}">
                            <a16:creationId xmlns:a16="http://schemas.microsoft.com/office/drawing/2014/main" id="{2B479BB8-7DB9-F67E-60D8-9C960A6014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8963" y="3733801"/>
                        <a:ext cx="5975350" cy="183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9" name="Text Box 7">
            <a:extLst>
              <a:ext uri="{FF2B5EF4-FFF2-40B4-BE49-F238E27FC236}">
                <a16:creationId xmlns:a16="http://schemas.microsoft.com/office/drawing/2014/main" id="{F08F4BBF-2F90-AFB9-C13C-7611B54289D1}"/>
              </a:ext>
            </a:extLst>
          </p:cNvPr>
          <p:cNvSpPr txBox="1">
            <a:spLocks noChangeArrowheads="1"/>
          </p:cNvSpPr>
          <p:nvPr/>
        </p:nvSpPr>
        <p:spPr bwMode="auto">
          <a:xfrm>
            <a:off x="8731251" y="5757864"/>
            <a:ext cx="96361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800"/>
              <a:t>S</a:t>
            </a:r>
            <a:r>
              <a:rPr lang="en-GB" altLang="en-US" sz="2800" baseline="-25000"/>
              <a:t>c</a:t>
            </a:r>
            <a:r>
              <a:rPr lang="en-GB" altLang="en-US" sz="2800"/>
              <a:t>&lt;1</a:t>
            </a:r>
            <a:endParaRPr lang="en-US" altLang="en-US" sz="2800"/>
          </a:p>
        </p:txBody>
      </p:sp>
      <p:sp>
        <p:nvSpPr>
          <p:cNvPr id="23560" name="Text Box 8">
            <a:extLst>
              <a:ext uri="{FF2B5EF4-FFF2-40B4-BE49-F238E27FC236}">
                <a16:creationId xmlns:a16="http://schemas.microsoft.com/office/drawing/2014/main" id="{CBAEA5D2-4BAE-2F96-8113-7D62E0482579}"/>
              </a:ext>
            </a:extLst>
          </p:cNvPr>
          <p:cNvSpPr txBox="1">
            <a:spLocks noChangeArrowheads="1"/>
          </p:cNvSpPr>
          <p:nvPr/>
        </p:nvSpPr>
        <p:spPr bwMode="auto">
          <a:xfrm>
            <a:off x="5797551" y="5757864"/>
            <a:ext cx="96361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800"/>
              <a:t>S</a:t>
            </a:r>
            <a:r>
              <a:rPr lang="en-GB" altLang="en-US" sz="2800" baseline="-25000"/>
              <a:t>c</a:t>
            </a:r>
            <a:r>
              <a:rPr lang="en-GB" altLang="en-US" sz="2800"/>
              <a:t>=1</a:t>
            </a:r>
            <a:endParaRPr lang="en-US" alt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34DC9-CAFC-A021-1F90-989FF9E8463E}"/>
              </a:ext>
            </a:extLst>
          </p:cNvPr>
          <p:cNvSpPr>
            <a:spLocks noGrp="1"/>
          </p:cNvSpPr>
          <p:nvPr>
            <p:ph type="title"/>
          </p:nvPr>
        </p:nvSpPr>
        <p:spPr/>
        <p:txBody>
          <a:bodyPr/>
          <a:lstStyle/>
          <a:p>
            <a:r>
              <a:rPr lang="it-IT" dirty="0"/>
              <a:t>MBE: </a:t>
            </a:r>
            <a:r>
              <a:rPr lang="it-IT" dirty="0" err="1"/>
              <a:t>Molecular</a:t>
            </a:r>
            <a:r>
              <a:rPr lang="it-IT" dirty="0"/>
              <a:t> </a:t>
            </a:r>
            <a:r>
              <a:rPr lang="it-IT" dirty="0" err="1"/>
              <a:t>Beam</a:t>
            </a:r>
            <a:r>
              <a:rPr lang="it-IT" dirty="0"/>
              <a:t> </a:t>
            </a:r>
            <a:r>
              <a:rPr lang="it-IT" dirty="0" err="1"/>
              <a:t>Epitaxy</a:t>
            </a:r>
            <a:endParaRPr lang="en-US" dirty="0"/>
          </a:p>
        </p:txBody>
      </p:sp>
      <p:sp>
        <p:nvSpPr>
          <p:cNvPr id="4" name="Slide Number Placeholder 3">
            <a:extLst>
              <a:ext uri="{FF2B5EF4-FFF2-40B4-BE49-F238E27FC236}">
                <a16:creationId xmlns:a16="http://schemas.microsoft.com/office/drawing/2014/main" id="{63196C7B-BAFB-CFED-81FE-C3E48D04B85D}"/>
              </a:ext>
            </a:extLst>
          </p:cNvPr>
          <p:cNvSpPr>
            <a:spLocks noGrp="1"/>
          </p:cNvSpPr>
          <p:nvPr>
            <p:ph type="sldNum" sz="quarter" idx="10"/>
          </p:nvPr>
        </p:nvSpPr>
        <p:spPr/>
        <p:txBody>
          <a:bodyPr/>
          <a:lstStyle/>
          <a:p>
            <a:r>
              <a:rPr lang="en-US" altLang="en-US"/>
              <a:t>Page </a:t>
            </a:r>
            <a:fld id="{F9177D9E-655B-4548-B8C0-85F9F95885D3}" type="slidenum">
              <a:rPr lang="en-US" altLang="en-US" smtClean="0"/>
              <a:pPr/>
              <a:t>8</a:t>
            </a:fld>
            <a:endParaRPr lang="en-US" altLang="en-US"/>
          </a:p>
        </p:txBody>
      </p:sp>
      <p:sp>
        <p:nvSpPr>
          <p:cNvPr id="5" name="Rectangle 4">
            <a:extLst>
              <a:ext uri="{FF2B5EF4-FFF2-40B4-BE49-F238E27FC236}">
                <a16:creationId xmlns:a16="http://schemas.microsoft.com/office/drawing/2014/main" id="{E484C026-F084-7D4E-8161-FEDAB8876A0E}"/>
              </a:ext>
            </a:extLst>
          </p:cNvPr>
          <p:cNvSpPr/>
          <p:nvPr/>
        </p:nvSpPr>
        <p:spPr>
          <a:xfrm>
            <a:off x="150874" y="4870347"/>
            <a:ext cx="11887199" cy="1938992"/>
          </a:xfrm>
          <a:prstGeom prst="rect">
            <a:avLst/>
          </a:prstGeom>
        </p:spPr>
        <p:txBody>
          <a:bodyPr wrap="square">
            <a:spAutoFit/>
          </a:bodyPr>
          <a:lstStyle>
            <a:defPPr>
              <a:defRPr lang="en-US"/>
            </a:defPPr>
            <a:lvl1pPr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1pPr>
            <a:lvl2pPr marL="457200"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2pPr>
            <a:lvl3pPr marL="914400"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3pPr>
            <a:lvl4pPr marL="1371600"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4pPr>
            <a:lvl5pPr marL="1828800"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5pPr>
            <a:lvl6pPr marL="2286000" algn="l" defTabSz="457200" rtl="0" eaLnBrk="1" latinLnBrk="0" hangingPunct="1">
              <a:defRPr sz="2400" kern="1200">
                <a:solidFill>
                  <a:schemeClr val="tx1"/>
                </a:solidFill>
                <a:latin typeface="Times" charset="0"/>
                <a:ea typeface="ＭＳ Ｐゴシック" charset="0"/>
                <a:cs typeface="ＭＳ Ｐゴシック" charset="0"/>
              </a:defRPr>
            </a:lvl6pPr>
            <a:lvl7pPr marL="2743200" algn="l" defTabSz="457200" rtl="0" eaLnBrk="1" latinLnBrk="0" hangingPunct="1">
              <a:defRPr sz="2400" kern="1200">
                <a:solidFill>
                  <a:schemeClr val="tx1"/>
                </a:solidFill>
                <a:latin typeface="Times" charset="0"/>
                <a:ea typeface="ＭＳ Ｐゴシック" charset="0"/>
                <a:cs typeface="ＭＳ Ｐゴシック" charset="0"/>
              </a:defRPr>
            </a:lvl7pPr>
            <a:lvl8pPr marL="3200400" algn="l" defTabSz="457200" rtl="0" eaLnBrk="1" latinLnBrk="0" hangingPunct="1">
              <a:defRPr sz="2400" kern="1200">
                <a:solidFill>
                  <a:schemeClr val="tx1"/>
                </a:solidFill>
                <a:latin typeface="Times" charset="0"/>
                <a:ea typeface="ＭＳ Ｐゴシック" charset="0"/>
                <a:cs typeface="ＭＳ Ｐゴシック" charset="0"/>
              </a:defRPr>
            </a:lvl8pPr>
            <a:lvl9pPr marL="3657600" algn="l" defTabSz="457200" rtl="0" eaLnBrk="1" latinLnBrk="0" hangingPunct="1">
              <a:defRPr sz="2400" kern="1200">
                <a:solidFill>
                  <a:schemeClr val="tx1"/>
                </a:solidFill>
                <a:latin typeface="Times" charset="0"/>
                <a:ea typeface="ＭＳ Ｐゴシック" charset="0"/>
                <a:cs typeface="ＭＳ Ｐゴシック" charset="0"/>
              </a:defRPr>
            </a:lvl9pPr>
          </a:lstStyle>
          <a:p>
            <a:r>
              <a:rPr lang="en-US" sz="2000" dirty="0">
                <a:latin typeface="Calibri" panose="020F0502020204030204" pitchFamily="34" charset="0"/>
                <a:cs typeface="Calibri" panose="020F0502020204030204" pitchFamily="34" charset="0"/>
              </a:rPr>
              <a:t>• Operates under high vacuum, line of sight deposition, epitaxial layers can be deposited if substrate is heated to</a:t>
            </a:r>
          </a:p>
          <a:p>
            <a:r>
              <a:rPr lang="en-US" sz="2000" dirty="0">
                <a:latin typeface="Calibri" panose="020F0502020204030204" pitchFamily="34" charset="0"/>
                <a:cs typeface="Calibri" panose="020F0502020204030204" pitchFamily="34" charset="0"/>
              </a:rPr>
              <a:t>   provide thermal energy.</a:t>
            </a:r>
          </a:p>
          <a:p>
            <a:r>
              <a:rPr lang="en-US" sz="2000" dirty="0">
                <a:latin typeface="Calibri" panose="020F0502020204030204" pitchFamily="34" charset="0"/>
                <a:cs typeface="Calibri" panose="020F0502020204030204" pitchFamily="34" charset="0"/>
              </a:rPr>
              <a:t>• Deposition rate usually slow so epitaxial growth can occur (≈ 1 atomic layer/sec).</a:t>
            </a:r>
          </a:p>
          <a:p>
            <a:r>
              <a:rPr lang="en-US" sz="2000" dirty="0">
                <a:latin typeface="Calibri" panose="020F0502020204030204" pitchFamily="34" charset="0"/>
                <a:cs typeface="Calibri" panose="020F0502020204030204" pitchFamily="34" charset="0"/>
              </a:rPr>
              <a:t>• “Effusion” sources used to evaporate elements needed for thin films to be deposited. T of effusion cells</a:t>
            </a:r>
          </a:p>
          <a:p>
            <a:r>
              <a:rPr lang="en-US" sz="2000" dirty="0">
                <a:latin typeface="Calibri" panose="020F0502020204030204" pitchFamily="34" charset="0"/>
                <a:cs typeface="Calibri" panose="020F0502020204030204" pitchFamily="34" charset="0"/>
              </a:rPr>
              <a:t>   controls relative evaporation rates.</a:t>
            </a:r>
          </a:p>
          <a:p>
            <a:r>
              <a:rPr lang="en-US" sz="2000" dirty="0">
                <a:latin typeface="Calibri" panose="020F0502020204030204" pitchFamily="34" charset="0"/>
                <a:cs typeface="Calibri" panose="020F0502020204030204" pitchFamily="34" charset="0"/>
              </a:rPr>
              <a:t>• Widely used in university and industry research, generally too slow for manufacturing.</a:t>
            </a:r>
          </a:p>
        </p:txBody>
      </p:sp>
      <p:pic>
        <p:nvPicPr>
          <p:cNvPr id="6" name="Picture 5">
            <a:extLst>
              <a:ext uri="{FF2B5EF4-FFF2-40B4-BE49-F238E27FC236}">
                <a16:creationId xmlns:a16="http://schemas.microsoft.com/office/drawing/2014/main" id="{842F6C5C-E2A8-CED3-4234-74B95A9A243A}"/>
              </a:ext>
            </a:extLst>
          </p:cNvPr>
          <p:cNvPicPr>
            <a:picLocks noChangeAspect="1"/>
          </p:cNvPicPr>
          <p:nvPr/>
        </p:nvPicPr>
        <p:blipFill>
          <a:blip r:embed="rId2"/>
          <a:stretch>
            <a:fillRect/>
          </a:stretch>
        </p:blipFill>
        <p:spPr>
          <a:xfrm>
            <a:off x="669774" y="1203617"/>
            <a:ext cx="4233301" cy="3837254"/>
          </a:xfrm>
          <a:prstGeom prst="rect">
            <a:avLst/>
          </a:prstGeom>
        </p:spPr>
      </p:pic>
      <p:pic>
        <p:nvPicPr>
          <p:cNvPr id="7" name="Picture 6">
            <a:extLst>
              <a:ext uri="{FF2B5EF4-FFF2-40B4-BE49-F238E27FC236}">
                <a16:creationId xmlns:a16="http://schemas.microsoft.com/office/drawing/2014/main" id="{7B1DFCF7-4D7F-4C2A-0CC4-0A98D9BA29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3264" y="1398788"/>
            <a:ext cx="3385232" cy="3419253"/>
          </a:xfrm>
          <a:prstGeom prst="rect">
            <a:avLst/>
          </a:prstGeom>
        </p:spPr>
      </p:pic>
    </p:spTree>
    <p:extLst>
      <p:ext uri="{BB962C8B-B14F-4D97-AF65-F5344CB8AC3E}">
        <p14:creationId xmlns:p14="http://schemas.microsoft.com/office/powerpoint/2010/main" val="99123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a:extLst>
              <a:ext uri="{FF2B5EF4-FFF2-40B4-BE49-F238E27FC236}">
                <a16:creationId xmlns:a16="http://schemas.microsoft.com/office/drawing/2014/main" id="{89E639A9-C23E-678F-6A72-9C64F109CD42}"/>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587553E5-B51D-40C2-9803-B2C21736BD31}" type="slidenum">
              <a:rPr lang="en-US" altLang="en-US"/>
              <a:pPr>
                <a:lnSpc>
                  <a:spcPct val="100000"/>
                </a:lnSpc>
                <a:spcBef>
                  <a:spcPct val="0"/>
                </a:spcBef>
                <a:buClr>
                  <a:srgbClr val="F68933"/>
                </a:buClr>
                <a:buFontTx/>
                <a:buNone/>
              </a:pPr>
              <a:t>9</a:t>
            </a:fld>
            <a:endParaRPr lang="en-US" altLang="en-US"/>
          </a:p>
        </p:txBody>
      </p:sp>
      <p:sp>
        <p:nvSpPr>
          <p:cNvPr id="24579" name="Rectangle 2">
            <a:extLst>
              <a:ext uri="{FF2B5EF4-FFF2-40B4-BE49-F238E27FC236}">
                <a16:creationId xmlns:a16="http://schemas.microsoft.com/office/drawing/2014/main" id="{4C3C5036-56E8-55C6-E273-117A8CE57E43}"/>
              </a:ext>
            </a:extLst>
          </p:cNvPr>
          <p:cNvSpPr>
            <a:spLocks noGrp="1" noChangeArrowheads="1"/>
          </p:cNvSpPr>
          <p:nvPr>
            <p:ph type="title"/>
          </p:nvPr>
        </p:nvSpPr>
        <p:spPr/>
        <p:txBody>
          <a:bodyPr/>
          <a:lstStyle/>
          <a:p>
            <a:pPr eaLnBrk="1" hangingPunct="1"/>
            <a:r>
              <a:rPr lang="en-GB" altLang="en-US"/>
              <a:t>Sputter deposition</a:t>
            </a:r>
            <a:endParaRPr lang="en-US" altLang="en-US"/>
          </a:p>
        </p:txBody>
      </p:sp>
      <p:sp>
        <p:nvSpPr>
          <p:cNvPr id="24580" name="Text Box 4">
            <a:extLst>
              <a:ext uri="{FF2B5EF4-FFF2-40B4-BE49-F238E27FC236}">
                <a16:creationId xmlns:a16="http://schemas.microsoft.com/office/drawing/2014/main" id="{72BF24D5-30AF-6F92-7C43-C033A9293B25}"/>
              </a:ext>
            </a:extLst>
          </p:cNvPr>
          <p:cNvSpPr txBox="1">
            <a:spLocks noChangeArrowheads="1"/>
          </p:cNvSpPr>
          <p:nvPr/>
        </p:nvSpPr>
        <p:spPr bwMode="auto">
          <a:xfrm>
            <a:off x="2160589" y="1436688"/>
            <a:ext cx="7445375" cy="180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In sputter deposition a plasma (usually Ar) is used to dislodge atoms form a source “target”  </a:t>
            </a:r>
            <a:r>
              <a:rPr lang="en-GB" altLang="en-US">
                <a:sym typeface="Wingdings" panose="05000000000000000000" pitchFamily="2" charset="2"/>
              </a:rPr>
              <a:t> the atoms the are deposited on the wafer</a:t>
            </a:r>
            <a:endParaRPr lang="en-GB" altLang="en-US"/>
          </a:p>
          <a:p>
            <a:pPr eaLnBrk="1" hangingPunct="1">
              <a:spcBef>
                <a:spcPct val="50000"/>
              </a:spcBef>
              <a:buFont typeface="Times" panose="02020603050405020304" pitchFamily="18" charset="0"/>
              <a:buChar char="•"/>
            </a:pPr>
            <a:r>
              <a:rPr lang="en-GB" altLang="en-US"/>
              <a:t>Higher pressures compared to evaporation (1-100 mTorr)</a:t>
            </a:r>
          </a:p>
          <a:p>
            <a:pPr eaLnBrk="1" hangingPunct="1">
              <a:spcBef>
                <a:spcPct val="50000"/>
              </a:spcBef>
              <a:buFont typeface="Times" panose="02020603050405020304" pitchFamily="18" charset="0"/>
              <a:buChar char="•"/>
            </a:pPr>
            <a:r>
              <a:rPr lang="en-GB" altLang="en-US"/>
              <a:t>Alloys can easily be deposited</a:t>
            </a:r>
          </a:p>
          <a:p>
            <a:pPr eaLnBrk="1" hangingPunct="1">
              <a:spcBef>
                <a:spcPct val="50000"/>
              </a:spcBef>
            </a:pPr>
            <a:endParaRPr lang="en-US" altLang="en-US"/>
          </a:p>
        </p:txBody>
      </p:sp>
      <p:graphicFrame>
        <p:nvGraphicFramePr>
          <p:cNvPr id="24581" name="Object 5">
            <a:extLst>
              <a:ext uri="{FF2B5EF4-FFF2-40B4-BE49-F238E27FC236}">
                <a16:creationId xmlns:a16="http://schemas.microsoft.com/office/drawing/2014/main" id="{E9CA0308-CD15-DC58-1D0F-A9BAF7A6A8F7}"/>
              </a:ext>
            </a:extLst>
          </p:cNvPr>
          <p:cNvGraphicFramePr>
            <a:graphicFrameLocks noChangeAspect="1"/>
          </p:cNvGraphicFramePr>
          <p:nvPr/>
        </p:nvGraphicFramePr>
        <p:xfrm>
          <a:off x="3286125" y="3063875"/>
          <a:ext cx="5257800" cy="3322638"/>
        </p:xfrm>
        <a:graphic>
          <a:graphicData uri="http://schemas.openxmlformats.org/presentationml/2006/ole">
            <mc:AlternateContent xmlns:mc="http://schemas.openxmlformats.org/markup-compatibility/2006">
              <mc:Choice xmlns:v="urn:schemas-microsoft-com:vml" Requires="v">
                <p:oleObj name="Document" r:id="rId2" imgW="5257800" imgH="3322320" progId="Word.Document.8">
                  <p:embed/>
                </p:oleObj>
              </mc:Choice>
              <mc:Fallback>
                <p:oleObj name="Document" r:id="rId2" imgW="5257800" imgH="3322320" progId="Word.Document.8">
                  <p:embed/>
                  <p:pic>
                    <p:nvPicPr>
                      <p:cNvPr id="24581" name="Object 5">
                        <a:extLst>
                          <a:ext uri="{FF2B5EF4-FFF2-40B4-BE49-F238E27FC236}">
                            <a16:creationId xmlns:a16="http://schemas.microsoft.com/office/drawing/2014/main" id="{E9CA0308-CD15-DC58-1D0F-A9BAF7A6A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25" y="3063875"/>
                        <a:ext cx="5257800" cy="3322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95DFC13D-F485-D824-25C2-7F500892C32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4B79510A-2E79-41CF-A0CD-D01B31384800}" type="slidenum">
              <a:rPr lang="en-US" altLang="en-US"/>
              <a:pPr>
                <a:lnSpc>
                  <a:spcPct val="100000"/>
                </a:lnSpc>
                <a:spcBef>
                  <a:spcPct val="0"/>
                </a:spcBef>
                <a:buClr>
                  <a:srgbClr val="F68933"/>
                </a:buClr>
                <a:buFontTx/>
                <a:buNone/>
              </a:pPr>
              <a:t>10</a:t>
            </a:fld>
            <a:endParaRPr lang="en-US" altLang="en-US"/>
          </a:p>
        </p:txBody>
      </p:sp>
      <p:sp>
        <p:nvSpPr>
          <p:cNvPr id="25603" name="Rectangle 2">
            <a:extLst>
              <a:ext uri="{FF2B5EF4-FFF2-40B4-BE49-F238E27FC236}">
                <a16:creationId xmlns:a16="http://schemas.microsoft.com/office/drawing/2014/main" id="{66F49A00-5DB7-62C3-7134-FC58A439E652}"/>
              </a:ext>
            </a:extLst>
          </p:cNvPr>
          <p:cNvSpPr>
            <a:spLocks noGrp="1" noChangeArrowheads="1"/>
          </p:cNvSpPr>
          <p:nvPr>
            <p:ph type="title"/>
          </p:nvPr>
        </p:nvSpPr>
        <p:spPr/>
        <p:txBody>
          <a:bodyPr/>
          <a:lstStyle/>
          <a:p>
            <a:pPr eaLnBrk="1" hangingPunct="1"/>
            <a:r>
              <a:rPr lang="en-GB" altLang="en-US"/>
              <a:t>DC sputter deposition</a:t>
            </a:r>
            <a:endParaRPr lang="en-US" altLang="en-US"/>
          </a:p>
        </p:txBody>
      </p:sp>
      <p:graphicFrame>
        <p:nvGraphicFramePr>
          <p:cNvPr id="25604" name="Object 4">
            <a:extLst>
              <a:ext uri="{FF2B5EF4-FFF2-40B4-BE49-F238E27FC236}">
                <a16:creationId xmlns:a16="http://schemas.microsoft.com/office/drawing/2014/main" id="{0BA5883E-146F-19BC-E0E3-78D5E2C060E1}"/>
              </a:ext>
            </a:extLst>
          </p:cNvPr>
          <p:cNvGraphicFramePr>
            <a:graphicFrameLocks noChangeAspect="1"/>
          </p:cNvGraphicFramePr>
          <p:nvPr/>
        </p:nvGraphicFramePr>
        <p:xfrm>
          <a:off x="1735138" y="1211264"/>
          <a:ext cx="3509962" cy="2217737"/>
        </p:xfrm>
        <a:graphic>
          <a:graphicData uri="http://schemas.openxmlformats.org/presentationml/2006/ole">
            <mc:AlternateContent xmlns:mc="http://schemas.openxmlformats.org/markup-compatibility/2006">
              <mc:Choice xmlns:v="urn:schemas-microsoft-com:vml" Requires="v">
                <p:oleObj name="Document" r:id="rId2" imgW="5257800" imgH="3322320" progId="Word.Document.8">
                  <p:embed/>
                </p:oleObj>
              </mc:Choice>
              <mc:Fallback>
                <p:oleObj name="Document" r:id="rId2" imgW="5257800" imgH="3322320" progId="Word.Document.8">
                  <p:embed/>
                  <p:pic>
                    <p:nvPicPr>
                      <p:cNvPr id="25604" name="Object 4">
                        <a:extLst>
                          <a:ext uri="{FF2B5EF4-FFF2-40B4-BE49-F238E27FC236}">
                            <a16:creationId xmlns:a16="http://schemas.microsoft.com/office/drawing/2014/main" id="{0BA5883E-146F-19BC-E0E3-78D5E2C06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5138" y="1211264"/>
                        <a:ext cx="3509962" cy="2217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 name="Object 5">
            <a:extLst>
              <a:ext uri="{FF2B5EF4-FFF2-40B4-BE49-F238E27FC236}">
                <a16:creationId xmlns:a16="http://schemas.microsoft.com/office/drawing/2014/main" id="{928631CA-2172-28A5-BDAF-7CFD9E1E2F0B}"/>
              </a:ext>
            </a:extLst>
          </p:cNvPr>
          <p:cNvGraphicFramePr>
            <a:graphicFrameLocks noChangeAspect="1"/>
          </p:cNvGraphicFramePr>
          <p:nvPr/>
        </p:nvGraphicFramePr>
        <p:xfrm>
          <a:off x="5048250" y="1793876"/>
          <a:ext cx="5619750" cy="3717925"/>
        </p:xfrm>
        <a:graphic>
          <a:graphicData uri="http://schemas.openxmlformats.org/presentationml/2006/ole">
            <mc:AlternateContent xmlns:mc="http://schemas.openxmlformats.org/markup-compatibility/2006">
              <mc:Choice xmlns:v="urn:schemas-microsoft-com:vml" Requires="v">
                <p:oleObj name="Document" r:id="rId4" imgW="5410200" imgH="4632960" progId="Word.Document.8">
                  <p:embed/>
                </p:oleObj>
              </mc:Choice>
              <mc:Fallback>
                <p:oleObj name="Document" r:id="rId4" imgW="5410200" imgH="4632960" progId="Word.Document.8">
                  <p:embed/>
                  <p:pic>
                    <p:nvPicPr>
                      <p:cNvPr id="25605" name="Object 5">
                        <a:extLst>
                          <a:ext uri="{FF2B5EF4-FFF2-40B4-BE49-F238E27FC236}">
                            <a16:creationId xmlns:a16="http://schemas.microsoft.com/office/drawing/2014/main" id="{928631CA-2172-28A5-BDAF-7CFD9E1E2F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8250" y="1793876"/>
                        <a:ext cx="5619750" cy="371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6" name="Text Box 6">
            <a:extLst>
              <a:ext uri="{FF2B5EF4-FFF2-40B4-BE49-F238E27FC236}">
                <a16:creationId xmlns:a16="http://schemas.microsoft.com/office/drawing/2014/main" id="{5FE5EE86-49DC-0491-D8DB-6A85174C2294}"/>
              </a:ext>
            </a:extLst>
          </p:cNvPr>
          <p:cNvSpPr txBox="1">
            <a:spLocks noChangeArrowheads="1"/>
          </p:cNvSpPr>
          <p:nvPr/>
        </p:nvSpPr>
        <p:spPr bwMode="auto">
          <a:xfrm>
            <a:off x="1914525" y="3786189"/>
            <a:ext cx="3919538" cy="242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A net DC current flows in the circuit</a:t>
            </a:r>
          </a:p>
          <a:p>
            <a:pPr eaLnBrk="1" hangingPunct="1">
              <a:spcBef>
                <a:spcPct val="50000"/>
              </a:spcBef>
              <a:buFont typeface="Times" panose="02020603050405020304" pitchFamily="18" charset="0"/>
              <a:buChar char="•"/>
            </a:pPr>
            <a:r>
              <a:rPr lang="en-GB" altLang="en-US" sz="1600"/>
              <a:t>In the cathode region the current is carried by ion flux ( which also sputters atoms from the target)</a:t>
            </a:r>
          </a:p>
          <a:p>
            <a:pPr eaLnBrk="1" hangingPunct="1">
              <a:spcBef>
                <a:spcPct val="50000"/>
              </a:spcBef>
              <a:buFont typeface="Times" panose="02020603050405020304" pitchFamily="18" charset="0"/>
              <a:buChar char="•"/>
            </a:pPr>
            <a:r>
              <a:rPr lang="en-GB" altLang="en-US" sz="1600"/>
              <a:t>In the anode region the current is mainly due to electrons. Due to the maxwellian distribution of electrons a small drop in the plasma potential is enough to sustain the anode current.</a:t>
            </a:r>
            <a:endParaRPr lang="en-US" alt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F8862F47-C952-2852-4C83-2FDC1A2F210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5A6297EF-17CB-41AA-B81B-4A70D64D87CA}" type="slidenum">
              <a:rPr lang="en-US" altLang="en-US"/>
              <a:pPr>
                <a:lnSpc>
                  <a:spcPct val="100000"/>
                </a:lnSpc>
                <a:spcBef>
                  <a:spcPct val="0"/>
                </a:spcBef>
                <a:buClr>
                  <a:srgbClr val="F68933"/>
                </a:buClr>
                <a:buFontTx/>
                <a:buNone/>
              </a:pPr>
              <a:t>11</a:t>
            </a:fld>
            <a:endParaRPr lang="en-US" altLang="en-US"/>
          </a:p>
        </p:txBody>
      </p:sp>
      <p:sp>
        <p:nvSpPr>
          <p:cNvPr id="26627" name="Rectangle 2">
            <a:extLst>
              <a:ext uri="{FF2B5EF4-FFF2-40B4-BE49-F238E27FC236}">
                <a16:creationId xmlns:a16="http://schemas.microsoft.com/office/drawing/2014/main" id="{20AC0D09-CBAD-AB44-2628-E757CB259D51}"/>
              </a:ext>
            </a:extLst>
          </p:cNvPr>
          <p:cNvSpPr>
            <a:spLocks noGrp="1" noChangeArrowheads="1"/>
          </p:cNvSpPr>
          <p:nvPr>
            <p:ph type="title"/>
          </p:nvPr>
        </p:nvSpPr>
        <p:spPr/>
        <p:txBody>
          <a:bodyPr/>
          <a:lstStyle/>
          <a:p>
            <a:pPr eaLnBrk="1" hangingPunct="1"/>
            <a:r>
              <a:rPr lang="en-GB" altLang="en-US"/>
              <a:t>DC sputter deposition</a:t>
            </a:r>
            <a:endParaRPr lang="en-US" altLang="en-US"/>
          </a:p>
        </p:txBody>
      </p:sp>
      <p:graphicFrame>
        <p:nvGraphicFramePr>
          <p:cNvPr id="26628" name="Object 4">
            <a:extLst>
              <a:ext uri="{FF2B5EF4-FFF2-40B4-BE49-F238E27FC236}">
                <a16:creationId xmlns:a16="http://schemas.microsoft.com/office/drawing/2014/main" id="{FDEE38E3-8A4B-0F1D-058D-4AF04F81F898}"/>
              </a:ext>
            </a:extLst>
          </p:cNvPr>
          <p:cNvGraphicFramePr>
            <a:graphicFrameLocks noChangeAspect="1"/>
          </p:cNvGraphicFramePr>
          <p:nvPr/>
        </p:nvGraphicFramePr>
        <p:xfrm>
          <a:off x="5853114" y="1676400"/>
          <a:ext cx="4814887" cy="3944938"/>
        </p:xfrm>
        <a:graphic>
          <a:graphicData uri="http://schemas.openxmlformats.org/presentationml/2006/ole">
            <mc:AlternateContent xmlns:mc="http://schemas.openxmlformats.org/markup-compatibility/2006">
              <mc:Choice xmlns:v="urn:schemas-microsoft-com:vml" Requires="v">
                <p:oleObj name="Document" r:id="rId2" imgW="5498592" imgH="4992624" progId="Word.Document.8">
                  <p:embed/>
                </p:oleObj>
              </mc:Choice>
              <mc:Fallback>
                <p:oleObj name="Document" r:id="rId2" imgW="5498592" imgH="4992624" progId="Word.Document.8">
                  <p:embed/>
                  <p:pic>
                    <p:nvPicPr>
                      <p:cNvPr id="26628" name="Object 4">
                        <a:extLst>
                          <a:ext uri="{FF2B5EF4-FFF2-40B4-BE49-F238E27FC236}">
                            <a16:creationId xmlns:a16="http://schemas.microsoft.com/office/drawing/2014/main" id="{FDEE38E3-8A4B-0F1D-058D-4AF04F81F8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114" y="1676400"/>
                        <a:ext cx="4814887" cy="3944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3349" name="Text Box 5">
            <a:extLst>
              <a:ext uri="{FF2B5EF4-FFF2-40B4-BE49-F238E27FC236}">
                <a16:creationId xmlns:a16="http://schemas.microsoft.com/office/drawing/2014/main" id="{9D0FE522-9309-2696-FC9E-1596FB2B0F2A}"/>
              </a:ext>
            </a:extLst>
          </p:cNvPr>
          <p:cNvSpPr txBox="1">
            <a:spLocks noChangeArrowheads="1"/>
          </p:cNvSpPr>
          <p:nvPr/>
        </p:nvSpPr>
        <p:spPr bwMode="auto">
          <a:xfrm>
            <a:off x="1719263" y="1306514"/>
            <a:ext cx="3446462"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Ar ion accelerated in the sheath sputters a target atom ( e.g. Al)</a:t>
            </a:r>
            <a:endParaRPr lang="en-US" altLang="en-US" sz="1600"/>
          </a:p>
        </p:txBody>
      </p:sp>
      <p:sp>
        <p:nvSpPr>
          <p:cNvPr id="313350" name="Oval 6">
            <a:extLst>
              <a:ext uri="{FF2B5EF4-FFF2-40B4-BE49-F238E27FC236}">
                <a16:creationId xmlns:a16="http://schemas.microsoft.com/office/drawing/2014/main" id="{CC0CF745-8F17-E45F-ABC6-9988A2708C4F}"/>
              </a:ext>
            </a:extLst>
          </p:cNvPr>
          <p:cNvSpPr>
            <a:spLocks noChangeArrowheads="1"/>
          </p:cNvSpPr>
          <p:nvPr/>
        </p:nvSpPr>
        <p:spPr bwMode="auto">
          <a:xfrm rot="837271">
            <a:off x="6781801" y="2041526"/>
            <a:ext cx="358775" cy="1077913"/>
          </a:xfrm>
          <a:prstGeom prst="ellipse">
            <a:avLst/>
          </a:prstGeom>
          <a:noFill/>
          <a:ln w="12700" algn="ctr">
            <a:solidFill>
              <a:srgbClr val="FF7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13351" name="Text Box 7">
            <a:extLst>
              <a:ext uri="{FF2B5EF4-FFF2-40B4-BE49-F238E27FC236}">
                <a16:creationId xmlns:a16="http://schemas.microsoft.com/office/drawing/2014/main" id="{710795A7-D18C-5757-C416-9F26F53244DD}"/>
              </a:ext>
            </a:extLst>
          </p:cNvPr>
          <p:cNvSpPr txBox="1">
            <a:spLocks noChangeArrowheads="1"/>
          </p:cNvSpPr>
          <p:nvPr/>
        </p:nvSpPr>
        <p:spPr bwMode="auto">
          <a:xfrm>
            <a:off x="1744663" y="1954214"/>
            <a:ext cx="3446462"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The Al the migrates to the wafer surface where it can:</a:t>
            </a:r>
            <a:endParaRPr lang="en-US" altLang="en-US" sz="1600"/>
          </a:p>
        </p:txBody>
      </p:sp>
      <p:sp>
        <p:nvSpPr>
          <p:cNvPr id="313352" name="Oval 8">
            <a:extLst>
              <a:ext uri="{FF2B5EF4-FFF2-40B4-BE49-F238E27FC236}">
                <a16:creationId xmlns:a16="http://schemas.microsoft.com/office/drawing/2014/main" id="{94AE991D-13E3-22B4-AFB2-51A8FEA59D91}"/>
              </a:ext>
            </a:extLst>
          </p:cNvPr>
          <p:cNvSpPr>
            <a:spLocks noChangeArrowheads="1"/>
          </p:cNvSpPr>
          <p:nvPr/>
        </p:nvSpPr>
        <p:spPr bwMode="auto">
          <a:xfrm rot="20720860">
            <a:off x="7115175" y="2909889"/>
            <a:ext cx="750888" cy="2187575"/>
          </a:xfrm>
          <a:prstGeom prst="ellipse">
            <a:avLst/>
          </a:prstGeom>
          <a:noFill/>
          <a:ln w="12700" algn="ctr">
            <a:solidFill>
              <a:srgbClr val="FF7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13353" name="Text Box 9">
            <a:extLst>
              <a:ext uri="{FF2B5EF4-FFF2-40B4-BE49-F238E27FC236}">
                <a16:creationId xmlns:a16="http://schemas.microsoft.com/office/drawing/2014/main" id="{E4F63E44-073E-0417-B5AB-C3A05D8EDAC0}"/>
              </a:ext>
            </a:extLst>
          </p:cNvPr>
          <p:cNvSpPr txBox="1">
            <a:spLocks noChangeArrowheads="1"/>
          </p:cNvSpPr>
          <p:nvPr/>
        </p:nvSpPr>
        <p:spPr bwMode="auto">
          <a:xfrm>
            <a:off x="2166938" y="2487614"/>
            <a:ext cx="3446462"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Stay absorbed</a:t>
            </a:r>
          </a:p>
          <a:p>
            <a:pPr eaLnBrk="1" hangingPunct="1">
              <a:spcBef>
                <a:spcPct val="50000"/>
              </a:spcBef>
              <a:buFont typeface="Times" panose="02020603050405020304" pitchFamily="18" charset="0"/>
              <a:buChar char="•"/>
            </a:pPr>
            <a:r>
              <a:rPr lang="en-GB" altLang="en-US" sz="1600"/>
              <a:t>Migrate to another surface site</a:t>
            </a:r>
          </a:p>
          <a:p>
            <a:pPr eaLnBrk="1" hangingPunct="1">
              <a:spcBef>
                <a:spcPct val="50000"/>
              </a:spcBef>
              <a:buFont typeface="Times" panose="02020603050405020304" pitchFamily="18" charset="0"/>
              <a:buChar char="•"/>
            </a:pPr>
            <a:r>
              <a:rPr lang="en-GB" altLang="en-US" sz="1600"/>
              <a:t>Be re-emitted</a:t>
            </a:r>
            <a:endParaRPr lang="en-US" altLang="en-US" sz="1600"/>
          </a:p>
        </p:txBody>
      </p:sp>
      <p:sp>
        <p:nvSpPr>
          <p:cNvPr id="313354" name="Oval 10">
            <a:extLst>
              <a:ext uri="{FF2B5EF4-FFF2-40B4-BE49-F238E27FC236}">
                <a16:creationId xmlns:a16="http://schemas.microsoft.com/office/drawing/2014/main" id="{498799DA-A371-041F-7051-6E9C4D7AE527}"/>
              </a:ext>
            </a:extLst>
          </p:cNvPr>
          <p:cNvSpPr>
            <a:spLocks noChangeArrowheads="1"/>
          </p:cNvSpPr>
          <p:nvPr/>
        </p:nvSpPr>
        <p:spPr bwMode="auto">
          <a:xfrm>
            <a:off x="7205663" y="4441825"/>
            <a:ext cx="1960562" cy="654050"/>
          </a:xfrm>
          <a:prstGeom prst="ellipse">
            <a:avLst/>
          </a:prstGeom>
          <a:noFill/>
          <a:ln w="12700" algn="ctr">
            <a:solidFill>
              <a:srgbClr val="FF7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13355" name="Text Box 11">
            <a:extLst>
              <a:ext uri="{FF2B5EF4-FFF2-40B4-BE49-F238E27FC236}">
                <a16:creationId xmlns:a16="http://schemas.microsoft.com/office/drawing/2014/main" id="{24FEDAEA-EB39-DD02-4B79-BF258D17E961}"/>
              </a:ext>
            </a:extLst>
          </p:cNvPr>
          <p:cNvSpPr txBox="1">
            <a:spLocks noChangeArrowheads="1"/>
          </p:cNvSpPr>
          <p:nvPr/>
        </p:nvSpPr>
        <p:spPr bwMode="auto">
          <a:xfrm>
            <a:off x="1795463" y="3608388"/>
            <a:ext cx="3446462"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The Ar ion can be neutralized during sputtering and incorporated in the growing film</a:t>
            </a:r>
            <a:endParaRPr lang="en-US" altLang="en-US" sz="1600"/>
          </a:p>
        </p:txBody>
      </p:sp>
      <p:sp>
        <p:nvSpPr>
          <p:cNvPr id="313356" name="Oval 12">
            <a:extLst>
              <a:ext uri="{FF2B5EF4-FFF2-40B4-BE49-F238E27FC236}">
                <a16:creationId xmlns:a16="http://schemas.microsoft.com/office/drawing/2014/main" id="{2297E0B8-E744-63E2-2885-9A809C950B4F}"/>
              </a:ext>
            </a:extLst>
          </p:cNvPr>
          <p:cNvSpPr>
            <a:spLocks noChangeArrowheads="1"/>
          </p:cNvSpPr>
          <p:nvPr/>
        </p:nvSpPr>
        <p:spPr bwMode="auto">
          <a:xfrm>
            <a:off x="7516813" y="2433638"/>
            <a:ext cx="571500" cy="766762"/>
          </a:xfrm>
          <a:prstGeom prst="ellipse">
            <a:avLst/>
          </a:prstGeom>
          <a:noFill/>
          <a:ln w="12700" algn="ctr">
            <a:solidFill>
              <a:srgbClr val="FF7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13357" name="Text Box 13">
            <a:extLst>
              <a:ext uri="{FF2B5EF4-FFF2-40B4-BE49-F238E27FC236}">
                <a16:creationId xmlns:a16="http://schemas.microsoft.com/office/drawing/2014/main" id="{F87E4DF3-EFC9-BDAE-5B68-57F75E3464DF}"/>
              </a:ext>
            </a:extLst>
          </p:cNvPr>
          <p:cNvSpPr txBox="1">
            <a:spLocks noChangeArrowheads="1"/>
          </p:cNvSpPr>
          <p:nvPr/>
        </p:nvSpPr>
        <p:spPr bwMode="auto">
          <a:xfrm>
            <a:off x="1820863" y="4538663"/>
            <a:ext cx="3446462"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Secondary electrons can be emitted by the target during sputter; they can:</a:t>
            </a:r>
            <a:endParaRPr lang="en-US" altLang="en-US" sz="1600"/>
          </a:p>
        </p:txBody>
      </p:sp>
      <p:sp>
        <p:nvSpPr>
          <p:cNvPr id="313358" name="Oval 14">
            <a:extLst>
              <a:ext uri="{FF2B5EF4-FFF2-40B4-BE49-F238E27FC236}">
                <a16:creationId xmlns:a16="http://schemas.microsoft.com/office/drawing/2014/main" id="{04213A62-CCEF-E507-DEFB-C26ACCF9BE94}"/>
              </a:ext>
            </a:extLst>
          </p:cNvPr>
          <p:cNvSpPr>
            <a:spLocks noChangeArrowheads="1"/>
          </p:cNvSpPr>
          <p:nvPr/>
        </p:nvSpPr>
        <p:spPr bwMode="auto">
          <a:xfrm rot="20054587">
            <a:off x="9328150" y="2138363"/>
            <a:ext cx="573088" cy="1028700"/>
          </a:xfrm>
          <a:prstGeom prst="ellipse">
            <a:avLst/>
          </a:prstGeom>
          <a:noFill/>
          <a:ln w="12700" algn="ctr">
            <a:solidFill>
              <a:srgbClr val="FF7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13359" name="Text Box 15">
            <a:extLst>
              <a:ext uri="{FF2B5EF4-FFF2-40B4-BE49-F238E27FC236}">
                <a16:creationId xmlns:a16="http://schemas.microsoft.com/office/drawing/2014/main" id="{D35316B0-D1DE-2B87-4AD7-7A45953C0A60}"/>
              </a:ext>
            </a:extLst>
          </p:cNvPr>
          <p:cNvSpPr txBox="1">
            <a:spLocks noChangeArrowheads="1"/>
          </p:cNvSpPr>
          <p:nvPr/>
        </p:nvSpPr>
        <p:spPr bwMode="auto">
          <a:xfrm>
            <a:off x="2332038" y="5283201"/>
            <a:ext cx="3446462"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FF7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Ionize impurity that travel to the wafer surface</a:t>
            </a:r>
            <a:endParaRPr lang="en-US" altLang="en-US" sz="1600"/>
          </a:p>
        </p:txBody>
      </p:sp>
      <p:sp>
        <p:nvSpPr>
          <p:cNvPr id="313360" name="Oval 16">
            <a:extLst>
              <a:ext uri="{FF2B5EF4-FFF2-40B4-BE49-F238E27FC236}">
                <a16:creationId xmlns:a16="http://schemas.microsoft.com/office/drawing/2014/main" id="{EDDC9E0A-A7C0-5503-6263-545E6FB16D52}"/>
              </a:ext>
            </a:extLst>
          </p:cNvPr>
          <p:cNvSpPr>
            <a:spLocks noChangeArrowheads="1"/>
          </p:cNvSpPr>
          <p:nvPr/>
        </p:nvSpPr>
        <p:spPr bwMode="auto">
          <a:xfrm>
            <a:off x="8594725" y="2286000"/>
            <a:ext cx="374650" cy="1828800"/>
          </a:xfrm>
          <a:prstGeom prst="ellipse">
            <a:avLst/>
          </a:prstGeom>
          <a:noFill/>
          <a:ln w="12700" algn="ctr">
            <a:solidFill>
              <a:srgbClr val="FF7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13361" name="Text Box 17">
            <a:extLst>
              <a:ext uri="{FF2B5EF4-FFF2-40B4-BE49-F238E27FC236}">
                <a16:creationId xmlns:a16="http://schemas.microsoft.com/office/drawing/2014/main" id="{9503ACB0-8B5A-0506-82CB-C6690CC6D7D1}"/>
              </a:ext>
            </a:extLst>
          </p:cNvPr>
          <p:cNvSpPr txBox="1">
            <a:spLocks noChangeArrowheads="1"/>
          </p:cNvSpPr>
          <p:nvPr/>
        </p:nvSpPr>
        <p:spPr bwMode="auto">
          <a:xfrm>
            <a:off x="2339976" y="5778500"/>
            <a:ext cx="344646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FF7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Ionize Ar and sustain plasma</a:t>
            </a:r>
            <a:endParaRPr lang="en-US" altLang="en-US" sz="1600"/>
          </a:p>
        </p:txBody>
      </p:sp>
      <p:sp>
        <p:nvSpPr>
          <p:cNvPr id="313362" name="Oval 18">
            <a:extLst>
              <a:ext uri="{FF2B5EF4-FFF2-40B4-BE49-F238E27FC236}">
                <a16:creationId xmlns:a16="http://schemas.microsoft.com/office/drawing/2014/main" id="{0F624C49-0A37-7E75-3BFD-FC7F661A58F4}"/>
              </a:ext>
            </a:extLst>
          </p:cNvPr>
          <p:cNvSpPr>
            <a:spLocks noChangeArrowheads="1"/>
          </p:cNvSpPr>
          <p:nvPr/>
        </p:nvSpPr>
        <p:spPr bwMode="auto">
          <a:xfrm>
            <a:off x="8904288" y="2662238"/>
            <a:ext cx="1420812" cy="2057400"/>
          </a:xfrm>
          <a:prstGeom prst="ellipse">
            <a:avLst/>
          </a:prstGeom>
          <a:noFill/>
          <a:ln w="12700" algn="ctr">
            <a:solidFill>
              <a:srgbClr val="FF7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33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335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133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3352"/>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313350"/>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1335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3354"/>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313352"/>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1335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3356"/>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313354"/>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133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3358"/>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313356"/>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31335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336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1336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3362"/>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3133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9" grpId="0"/>
      <p:bldP spid="313350" grpId="0" animBg="1"/>
      <p:bldP spid="313350" grpId="1" animBg="1"/>
      <p:bldP spid="313351" grpId="0"/>
      <p:bldP spid="313352" grpId="0" animBg="1"/>
      <p:bldP spid="313352" grpId="1" animBg="1"/>
      <p:bldP spid="313353" grpId="0"/>
      <p:bldP spid="313354" grpId="0" animBg="1"/>
      <p:bldP spid="313354" grpId="1" animBg="1"/>
      <p:bldP spid="313355" grpId="0"/>
      <p:bldP spid="313356" grpId="0" animBg="1"/>
      <p:bldP spid="313356" grpId="1" animBg="1"/>
      <p:bldP spid="313357" grpId="0"/>
      <p:bldP spid="313358" grpId="0" animBg="1"/>
      <p:bldP spid="313359" grpId="0"/>
      <p:bldP spid="313360" grpId="0" animBg="1"/>
      <p:bldP spid="313360" grpId="1" animBg="1"/>
      <p:bldP spid="313361" grpId="0"/>
      <p:bldP spid="31336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a:extLst>
              <a:ext uri="{FF2B5EF4-FFF2-40B4-BE49-F238E27FC236}">
                <a16:creationId xmlns:a16="http://schemas.microsoft.com/office/drawing/2014/main" id="{FB9F80E1-7A98-6632-91D9-87EB76430F14}"/>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DCEE0A19-BA8B-4FA2-A73B-9699CBED749D}" type="slidenum">
              <a:rPr lang="en-US" altLang="en-US"/>
              <a:pPr>
                <a:lnSpc>
                  <a:spcPct val="100000"/>
                </a:lnSpc>
                <a:spcBef>
                  <a:spcPct val="0"/>
                </a:spcBef>
                <a:buClr>
                  <a:srgbClr val="F68933"/>
                </a:buClr>
                <a:buFontTx/>
                <a:buNone/>
              </a:pPr>
              <a:t>12</a:t>
            </a:fld>
            <a:endParaRPr lang="en-US" altLang="en-US"/>
          </a:p>
        </p:txBody>
      </p:sp>
      <p:sp>
        <p:nvSpPr>
          <p:cNvPr id="27651" name="Rectangle 2">
            <a:extLst>
              <a:ext uri="{FF2B5EF4-FFF2-40B4-BE49-F238E27FC236}">
                <a16:creationId xmlns:a16="http://schemas.microsoft.com/office/drawing/2014/main" id="{E66D139C-0733-6D38-79D3-6D7AA88058FD}"/>
              </a:ext>
            </a:extLst>
          </p:cNvPr>
          <p:cNvSpPr>
            <a:spLocks noGrp="1" noChangeArrowheads="1"/>
          </p:cNvSpPr>
          <p:nvPr>
            <p:ph type="title"/>
          </p:nvPr>
        </p:nvSpPr>
        <p:spPr/>
        <p:txBody>
          <a:bodyPr/>
          <a:lstStyle/>
          <a:p>
            <a:pPr eaLnBrk="1" hangingPunct="1"/>
            <a:r>
              <a:rPr lang="en-GB" altLang="en-US"/>
              <a:t>Sputtering yield</a:t>
            </a:r>
            <a:endParaRPr lang="en-US" altLang="en-US"/>
          </a:p>
        </p:txBody>
      </p:sp>
      <p:sp>
        <p:nvSpPr>
          <p:cNvPr id="27652" name="Rectangle 3">
            <a:extLst>
              <a:ext uri="{FF2B5EF4-FFF2-40B4-BE49-F238E27FC236}">
                <a16:creationId xmlns:a16="http://schemas.microsoft.com/office/drawing/2014/main" id="{64099A33-FD02-0ED1-52CE-77C45D517E97}"/>
              </a:ext>
            </a:extLst>
          </p:cNvPr>
          <p:cNvSpPr>
            <a:spLocks noGrp="1" noChangeArrowheads="1"/>
          </p:cNvSpPr>
          <p:nvPr>
            <p:ph type="body" idx="1"/>
          </p:nvPr>
        </p:nvSpPr>
        <p:spPr>
          <a:xfrm>
            <a:off x="1879600" y="1238250"/>
            <a:ext cx="8402638" cy="4114800"/>
          </a:xfrm>
        </p:spPr>
        <p:txBody>
          <a:bodyPr/>
          <a:lstStyle/>
          <a:p>
            <a:pPr eaLnBrk="1" hangingPunct="1"/>
            <a:r>
              <a:rPr lang="en-GB" altLang="en-US"/>
              <a:t>Deposition rate depends on sputtering yield Y and arrival angle distribution.</a:t>
            </a:r>
          </a:p>
          <a:p>
            <a:pPr eaLnBrk="1" hangingPunct="1"/>
            <a:endParaRPr lang="en-US" altLang="en-US"/>
          </a:p>
        </p:txBody>
      </p:sp>
      <p:sp>
        <p:nvSpPr>
          <p:cNvPr id="27653" name="Text Box 4">
            <a:extLst>
              <a:ext uri="{FF2B5EF4-FFF2-40B4-BE49-F238E27FC236}">
                <a16:creationId xmlns:a16="http://schemas.microsoft.com/office/drawing/2014/main" id="{DDC2DFFA-DF2C-2F54-65DA-60AB0627FB07}"/>
              </a:ext>
            </a:extLst>
          </p:cNvPr>
          <p:cNvSpPr txBox="1">
            <a:spLocks noChangeArrowheads="1"/>
          </p:cNvSpPr>
          <p:nvPr/>
        </p:nvSpPr>
        <p:spPr bwMode="auto">
          <a:xfrm>
            <a:off x="2193926" y="2049463"/>
            <a:ext cx="7445375" cy="444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Y = n. of sputtered atoms/n. incident ions ranges between 0.1 and 3 for different materials. Depends on:</a:t>
            </a:r>
          </a:p>
          <a:p>
            <a:pPr lvl="1" eaLnBrk="1" hangingPunct="1">
              <a:spcBef>
                <a:spcPct val="50000"/>
              </a:spcBef>
              <a:buFont typeface="Times" panose="02020603050405020304" pitchFamily="18" charset="0"/>
              <a:buChar char="•"/>
            </a:pPr>
            <a:r>
              <a:rPr lang="en-GB" altLang="en-US"/>
              <a:t> Material being sputtered</a:t>
            </a:r>
          </a:p>
          <a:p>
            <a:pPr lvl="1" eaLnBrk="1" hangingPunct="1">
              <a:spcBef>
                <a:spcPct val="50000"/>
              </a:spcBef>
              <a:buFont typeface="Times" panose="02020603050405020304" pitchFamily="18" charset="0"/>
              <a:buChar char="•"/>
            </a:pPr>
            <a:r>
              <a:rPr lang="en-GB" altLang="en-US"/>
              <a:t> Ion energy</a:t>
            </a:r>
          </a:p>
          <a:p>
            <a:pPr lvl="1" eaLnBrk="1" hangingPunct="1">
              <a:spcBef>
                <a:spcPct val="50000"/>
              </a:spcBef>
              <a:buFont typeface="Times" panose="02020603050405020304" pitchFamily="18" charset="0"/>
              <a:buChar char="•"/>
            </a:pPr>
            <a:r>
              <a:rPr lang="en-GB" altLang="en-US"/>
              <a:t> Ion arrival angle</a:t>
            </a:r>
          </a:p>
          <a:p>
            <a:pPr eaLnBrk="1" hangingPunct="1">
              <a:spcBef>
                <a:spcPct val="50000"/>
              </a:spcBef>
              <a:buFont typeface="Times" panose="02020603050405020304" pitchFamily="18" charset="0"/>
              <a:buChar char="•"/>
            </a:pPr>
            <a:r>
              <a:rPr lang="en-GB" altLang="en-US"/>
              <a:t>Alloy are easily deposited even if the source materials have very different Ys. Sputter happens mostly at the target surface:</a:t>
            </a:r>
          </a:p>
          <a:p>
            <a:pPr lvl="1" eaLnBrk="1" hangingPunct="1">
              <a:spcBef>
                <a:spcPct val="50000"/>
              </a:spcBef>
              <a:buFont typeface="Times" panose="02020603050405020304" pitchFamily="18" charset="0"/>
              <a:buChar char="•"/>
            </a:pPr>
            <a:r>
              <a:rPr lang="en-GB" altLang="en-US"/>
              <a:t> At the very beginning: higher Y material is sputtered</a:t>
            </a:r>
          </a:p>
          <a:p>
            <a:pPr lvl="1" eaLnBrk="1" hangingPunct="1">
              <a:spcBef>
                <a:spcPct val="50000"/>
              </a:spcBef>
              <a:buFont typeface="Times" panose="02020603050405020304" pitchFamily="18" charset="0"/>
              <a:buChar char="•"/>
            </a:pPr>
            <a:r>
              <a:rPr lang="en-GB" altLang="en-US"/>
              <a:t> More low Y material atoms are available at the surface after some time</a:t>
            </a:r>
          </a:p>
          <a:p>
            <a:pPr lvl="1" eaLnBrk="1" hangingPunct="1">
              <a:spcBef>
                <a:spcPct val="50000"/>
              </a:spcBef>
              <a:buFont typeface="Times" panose="02020603050405020304" pitchFamily="18" charset="0"/>
              <a:buChar char="•"/>
            </a:pPr>
            <a:r>
              <a:rPr lang="en-GB" altLang="en-US"/>
              <a:t> At steady state the elements leave the surface at the same ratio as bulk material composition</a:t>
            </a:r>
            <a:r>
              <a:rPr lang="en-GB" altLang="en-US">
                <a:sym typeface="Wingdings" panose="05000000000000000000" pitchFamily="2" charset="2"/>
              </a:rPr>
              <a:t> different Y are compensated by different surface concentrations</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a:extLst>
              <a:ext uri="{FF2B5EF4-FFF2-40B4-BE49-F238E27FC236}">
                <a16:creationId xmlns:a16="http://schemas.microsoft.com/office/drawing/2014/main" id="{1F725007-EF97-9067-F45E-ABB4E9C1855C}"/>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C5BB0705-1687-4687-93BC-2AF4864BEDAE}" type="slidenum">
              <a:rPr lang="en-US" altLang="en-US"/>
              <a:pPr>
                <a:lnSpc>
                  <a:spcPct val="100000"/>
                </a:lnSpc>
                <a:spcBef>
                  <a:spcPct val="0"/>
                </a:spcBef>
                <a:buClr>
                  <a:srgbClr val="F68933"/>
                </a:buClr>
                <a:buFontTx/>
                <a:buNone/>
              </a:pPr>
              <a:t>13</a:t>
            </a:fld>
            <a:endParaRPr lang="en-US" altLang="en-US"/>
          </a:p>
        </p:txBody>
      </p:sp>
      <p:sp>
        <p:nvSpPr>
          <p:cNvPr id="28675" name="Rectangle 2">
            <a:extLst>
              <a:ext uri="{FF2B5EF4-FFF2-40B4-BE49-F238E27FC236}">
                <a16:creationId xmlns:a16="http://schemas.microsoft.com/office/drawing/2014/main" id="{4F65F86A-E26E-89FA-A5D0-F405DEC32FE6}"/>
              </a:ext>
            </a:extLst>
          </p:cNvPr>
          <p:cNvSpPr>
            <a:spLocks noGrp="1" noChangeArrowheads="1"/>
          </p:cNvSpPr>
          <p:nvPr>
            <p:ph type="title"/>
          </p:nvPr>
        </p:nvSpPr>
        <p:spPr/>
        <p:txBody>
          <a:bodyPr/>
          <a:lstStyle/>
          <a:p>
            <a:pPr eaLnBrk="1" hangingPunct="1"/>
            <a:r>
              <a:rPr lang="en-GB" altLang="en-US"/>
              <a:t>Arrival angle distribution</a:t>
            </a:r>
            <a:endParaRPr lang="en-US" altLang="en-US"/>
          </a:p>
        </p:txBody>
      </p:sp>
      <p:graphicFrame>
        <p:nvGraphicFramePr>
          <p:cNvPr id="28676" name="Object 4">
            <a:extLst>
              <a:ext uri="{FF2B5EF4-FFF2-40B4-BE49-F238E27FC236}">
                <a16:creationId xmlns:a16="http://schemas.microsoft.com/office/drawing/2014/main" id="{4AB4B66D-F789-D1A9-BFDC-7AC44DF993F3}"/>
              </a:ext>
            </a:extLst>
          </p:cNvPr>
          <p:cNvGraphicFramePr>
            <a:graphicFrameLocks noChangeAspect="1"/>
          </p:cNvGraphicFramePr>
          <p:nvPr/>
        </p:nvGraphicFramePr>
        <p:xfrm>
          <a:off x="1524000" y="4368801"/>
          <a:ext cx="4876800" cy="1698625"/>
        </p:xfrm>
        <a:graphic>
          <a:graphicData uri="http://schemas.openxmlformats.org/presentationml/2006/ole">
            <mc:AlternateContent xmlns:mc="http://schemas.openxmlformats.org/markup-compatibility/2006">
              <mc:Choice xmlns:v="urn:schemas-microsoft-com:vml" Requires="v">
                <p:oleObj name="Document" r:id="rId2" imgW="5346192" imgH="1862328" progId="Word.Document.8">
                  <p:embed/>
                </p:oleObj>
              </mc:Choice>
              <mc:Fallback>
                <p:oleObj name="Document" r:id="rId2" imgW="5346192" imgH="1862328" progId="Word.Document.8">
                  <p:embed/>
                  <p:pic>
                    <p:nvPicPr>
                      <p:cNvPr id="28676" name="Object 4">
                        <a:extLst>
                          <a:ext uri="{FF2B5EF4-FFF2-40B4-BE49-F238E27FC236}">
                            <a16:creationId xmlns:a16="http://schemas.microsoft.com/office/drawing/2014/main" id="{4AB4B66D-F789-D1A9-BFDC-7AC44DF99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368801"/>
                        <a:ext cx="4876800" cy="169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7" name="Object 5">
            <a:extLst>
              <a:ext uri="{FF2B5EF4-FFF2-40B4-BE49-F238E27FC236}">
                <a16:creationId xmlns:a16="http://schemas.microsoft.com/office/drawing/2014/main" id="{72B87A9E-F6DD-52CF-9F17-E7838EA11562}"/>
              </a:ext>
            </a:extLst>
          </p:cNvPr>
          <p:cNvGraphicFramePr>
            <a:graphicFrameLocks noChangeAspect="1"/>
          </p:cNvGraphicFramePr>
          <p:nvPr/>
        </p:nvGraphicFramePr>
        <p:xfrm>
          <a:off x="1524000" y="1536700"/>
          <a:ext cx="4603750" cy="1892300"/>
        </p:xfrm>
        <a:graphic>
          <a:graphicData uri="http://schemas.openxmlformats.org/presentationml/2006/ole">
            <mc:AlternateContent xmlns:mc="http://schemas.openxmlformats.org/markup-compatibility/2006">
              <mc:Choice xmlns:v="urn:schemas-microsoft-com:vml" Requires="v">
                <p:oleObj name="Document" r:id="rId4" imgW="5803392" imgH="2151888" progId="Word.Document.8">
                  <p:embed/>
                </p:oleObj>
              </mc:Choice>
              <mc:Fallback>
                <p:oleObj name="Document" r:id="rId4" imgW="5803392" imgH="2151888" progId="Word.Document.8">
                  <p:embed/>
                  <p:pic>
                    <p:nvPicPr>
                      <p:cNvPr id="28677" name="Object 5">
                        <a:extLst>
                          <a:ext uri="{FF2B5EF4-FFF2-40B4-BE49-F238E27FC236}">
                            <a16:creationId xmlns:a16="http://schemas.microsoft.com/office/drawing/2014/main" id="{72B87A9E-F6DD-52CF-9F17-E7838EA115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536700"/>
                        <a:ext cx="4603750" cy="189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8" name="Text Box 6">
            <a:extLst>
              <a:ext uri="{FF2B5EF4-FFF2-40B4-BE49-F238E27FC236}">
                <a16:creationId xmlns:a16="http://schemas.microsoft.com/office/drawing/2014/main" id="{9B363FE2-2F58-F151-C941-3CB5C2255D02}"/>
              </a:ext>
            </a:extLst>
          </p:cNvPr>
          <p:cNvSpPr txBox="1">
            <a:spLocks noChangeArrowheads="1"/>
          </p:cNvSpPr>
          <p:nvPr/>
        </p:nvSpPr>
        <p:spPr bwMode="auto">
          <a:xfrm>
            <a:off x="6378576" y="4672014"/>
            <a:ext cx="4194175"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2000" noProof="1"/>
              <a:t>Sputtering targets are generally large and provide a wide range of arrival angles in contrast to a point source.</a:t>
            </a:r>
            <a:endParaRPr lang="en-US" altLang="en-US" sz="2000"/>
          </a:p>
        </p:txBody>
      </p:sp>
      <p:sp>
        <p:nvSpPr>
          <p:cNvPr id="28679" name="Text Box 7">
            <a:extLst>
              <a:ext uri="{FF2B5EF4-FFF2-40B4-BE49-F238E27FC236}">
                <a16:creationId xmlns:a16="http://schemas.microsoft.com/office/drawing/2014/main" id="{6114B829-AADB-72F0-8538-8F33AD4544DC}"/>
              </a:ext>
            </a:extLst>
          </p:cNvPr>
          <p:cNvSpPr txBox="1">
            <a:spLocks noChangeArrowheads="1"/>
          </p:cNvSpPr>
          <p:nvPr/>
        </p:nvSpPr>
        <p:spPr bwMode="auto">
          <a:xfrm>
            <a:off x="6127750" y="1216025"/>
            <a:ext cx="4440238"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2000" noProof="1"/>
              <a:t>Arrival angle distribution generally</a:t>
            </a:r>
            <a:r>
              <a:rPr lang="en-GB" altLang="en-US" sz="2000"/>
              <a:t> </a:t>
            </a:r>
            <a:r>
              <a:rPr lang="en-GB" altLang="en-US" sz="2000" noProof="1"/>
              <a:t>described by  </a:t>
            </a:r>
            <a:r>
              <a:rPr lang="en-GB" altLang="en-US" sz="2000"/>
              <a:t>cos</a:t>
            </a:r>
            <a:r>
              <a:rPr lang="en-GB" altLang="en-US" sz="2000" baseline="30000"/>
              <a:t>n</a:t>
            </a:r>
            <a:r>
              <a:rPr lang="en-GB" altLang="en-US" sz="2000">
                <a:latin typeface="Symbol" panose="05050102010706020507" pitchFamily="18" charset="2"/>
              </a:rPr>
              <a:t>q</a:t>
            </a:r>
            <a:r>
              <a:rPr lang="en-GB" altLang="en-US" sz="2000" noProof="1"/>
              <a:t>   distribution (the normal component of flux striking the surface detrmines the deposition or growth rate). </a:t>
            </a:r>
          </a:p>
          <a:p>
            <a:pPr eaLnBrk="1" hangingPunct="1"/>
            <a:r>
              <a:rPr lang="en-US" altLang="en-US" sz="2000"/>
              <a:t> Size and type of source, system geometry and collisions in gas phase important in arrival angle distribution.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1C5AA07A-78AC-86A5-5718-43451658D1D9}"/>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0C8A4026-2FAA-46F0-A6C5-200C57F46A73}" type="slidenum">
              <a:rPr lang="en-US" altLang="en-US"/>
              <a:pPr>
                <a:lnSpc>
                  <a:spcPct val="100000"/>
                </a:lnSpc>
                <a:spcBef>
                  <a:spcPct val="0"/>
                </a:spcBef>
                <a:buClr>
                  <a:srgbClr val="F68933"/>
                </a:buClr>
                <a:buFontTx/>
                <a:buNone/>
              </a:pPr>
              <a:t>14</a:t>
            </a:fld>
            <a:endParaRPr lang="en-US" altLang="en-US"/>
          </a:p>
        </p:txBody>
      </p:sp>
      <p:sp>
        <p:nvSpPr>
          <p:cNvPr id="29699" name="Rectangle 2">
            <a:extLst>
              <a:ext uri="{FF2B5EF4-FFF2-40B4-BE49-F238E27FC236}">
                <a16:creationId xmlns:a16="http://schemas.microsoft.com/office/drawing/2014/main" id="{187D72B4-3BC3-EBFB-C369-B8C551A96BF5}"/>
              </a:ext>
            </a:extLst>
          </p:cNvPr>
          <p:cNvSpPr>
            <a:spLocks noGrp="1" noChangeArrowheads="1"/>
          </p:cNvSpPr>
          <p:nvPr>
            <p:ph type="title"/>
          </p:nvPr>
        </p:nvSpPr>
        <p:spPr/>
        <p:txBody>
          <a:bodyPr/>
          <a:lstStyle/>
          <a:p>
            <a:pPr eaLnBrk="1" hangingPunct="1"/>
            <a:r>
              <a:rPr lang="en-GB" altLang="en-US"/>
              <a:t>RF Sputter deposition</a:t>
            </a:r>
            <a:endParaRPr lang="en-US" altLang="en-US"/>
          </a:p>
        </p:txBody>
      </p:sp>
      <p:graphicFrame>
        <p:nvGraphicFramePr>
          <p:cNvPr id="29700" name="Object 4">
            <a:extLst>
              <a:ext uri="{FF2B5EF4-FFF2-40B4-BE49-F238E27FC236}">
                <a16:creationId xmlns:a16="http://schemas.microsoft.com/office/drawing/2014/main" id="{10C2B2BF-D34F-32E1-4DEE-093D34FAF47C}"/>
              </a:ext>
            </a:extLst>
          </p:cNvPr>
          <p:cNvGraphicFramePr>
            <a:graphicFrameLocks noChangeAspect="1"/>
          </p:cNvGraphicFramePr>
          <p:nvPr/>
        </p:nvGraphicFramePr>
        <p:xfrm>
          <a:off x="1719263" y="1023938"/>
          <a:ext cx="4724400" cy="2805112"/>
        </p:xfrm>
        <a:graphic>
          <a:graphicData uri="http://schemas.openxmlformats.org/presentationml/2006/ole">
            <mc:AlternateContent xmlns:mc="http://schemas.openxmlformats.org/markup-compatibility/2006">
              <mc:Choice xmlns:v="urn:schemas-microsoft-com:vml" Requires="v">
                <p:oleObj name="Document" r:id="rId2" imgW="5321808" imgH="3160776" progId="Word.Document.8">
                  <p:embed/>
                </p:oleObj>
              </mc:Choice>
              <mc:Fallback>
                <p:oleObj name="Document" r:id="rId2" imgW="5321808" imgH="3160776" progId="Word.Document.8">
                  <p:embed/>
                  <p:pic>
                    <p:nvPicPr>
                      <p:cNvPr id="29700" name="Object 4">
                        <a:extLst>
                          <a:ext uri="{FF2B5EF4-FFF2-40B4-BE49-F238E27FC236}">
                            <a16:creationId xmlns:a16="http://schemas.microsoft.com/office/drawing/2014/main" id="{10C2B2BF-D34F-32E1-4DEE-093D34FAF4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9263" y="1023938"/>
                        <a:ext cx="4724400" cy="280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1" name="Object 5">
            <a:extLst>
              <a:ext uri="{FF2B5EF4-FFF2-40B4-BE49-F238E27FC236}">
                <a16:creationId xmlns:a16="http://schemas.microsoft.com/office/drawing/2014/main" id="{06A9597F-CBEB-904B-005C-51D1BE6BC140}"/>
              </a:ext>
            </a:extLst>
          </p:cNvPr>
          <p:cNvGraphicFramePr>
            <a:graphicFrameLocks noChangeAspect="1"/>
          </p:cNvGraphicFramePr>
          <p:nvPr/>
        </p:nvGraphicFramePr>
        <p:xfrm>
          <a:off x="1766888" y="3919538"/>
          <a:ext cx="3810000" cy="2678112"/>
        </p:xfrm>
        <a:graphic>
          <a:graphicData uri="http://schemas.openxmlformats.org/presentationml/2006/ole">
            <mc:AlternateContent xmlns:mc="http://schemas.openxmlformats.org/markup-compatibility/2006">
              <mc:Choice xmlns:v="urn:schemas-microsoft-com:vml" Requires="v">
                <p:oleObj name="Document" r:id="rId4" imgW="3468624" imgH="2438400" progId="Word.Document.8">
                  <p:embed/>
                </p:oleObj>
              </mc:Choice>
              <mc:Fallback>
                <p:oleObj name="Document" r:id="rId4" imgW="3468624" imgH="2438400" progId="Word.Document.8">
                  <p:embed/>
                  <p:pic>
                    <p:nvPicPr>
                      <p:cNvPr id="29701" name="Object 5">
                        <a:extLst>
                          <a:ext uri="{FF2B5EF4-FFF2-40B4-BE49-F238E27FC236}">
                            <a16:creationId xmlns:a16="http://schemas.microsoft.com/office/drawing/2014/main" id="{06A9597F-CBEB-904B-005C-51D1BE6BC1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6888" y="3919538"/>
                        <a:ext cx="3810000" cy="2678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2" name="Text Box 6">
            <a:extLst>
              <a:ext uri="{FF2B5EF4-FFF2-40B4-BE49-F238E27FC236}">
                <a16:creationId xmlns:a16="http://schemas.microsoft.com/office/drawing/2014/main" id="{2474FC5F-92FC-5312-FF7C-381C2861DA3B}"/>
              </a:ext>
            </a:extLst>
          </p:cNvPr>
          <p:cNvSpPr txBox="1">
            <a:spLocks noChangeArrowheads="1"/>
          </p:cNvSpPr>
          <p:nvPr/>
        </p:nvSpPr>
        <p:spPr bwMode="auto">
          <a:xfrm>
            <a:off x="6127750" y="1873251"/>
            <a:ext cx="4540250" cy="428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In DC sputter target must be conductive </a:t>
            </a:r>
            <a:r>
              <a:rPr lang="en-GB" altLang="en-US">
                <a:sym typeface="Wingdings" panose="05000000000000000000" pitchFamily="2" charset="2"/>
              </a:rPr>
              <a:t> RF sputter is used for dielectric deposition</a:t>
            </a:r>
            <a:endParaRPr lang="en-US" altLang="en-US"/>
          </a:p>
          <a:p>
            <a:pPr eaLnBrk="1" hangingPunct="1">
              <a:spcBef>
                <a:spcPct val="50000"/>
              </a:spcBef>
              <a:buFont typeface="Times" panose="02020603050405020304" pitchFamily="18" charset="0"/>
              <a:buChar char="•"/>
            </a:pPr>
            <a:r>
              <a:rPr lang="en-GB" altLang="en-US"/>
              <a:t>Sheath and plasma potential formation are similar to the DC case </a:t>
            </a:r>
            <a:r>
              <a:rPr lang="en-GB" altLang="en-US">
                <a:sym typeface="Wingdings" panose="05000000000000000000" pitchFamily="2" charset="2"/>
              </a:rPr>
              <a:t> </a:t>
            </a:r>
          </a:p>
          <a:p>
            <a:pPr lvl="1" eaLnBrk="1" hangingPunct="1">
              <a:spcBef>
                <a:spcPct val="50000"/>
              </a:spcBef>
              <a:buFont typeface="Times" panose="02020603050405020304" pitchFamily="18" charset="0"/>
              <a:buChar char="•"/>
            </a:pPr>
            <a:r>
              <a:rPr lang="en-GB" altLang="en-US">
                <a:sym typeface="Wingdings" panose="05000000000000000000" pitchFamily="2" charset="2"/>
              </a:rPr>
              <a:t>in the first RF cycles electrons (more mobile than ion s) are collected at electrodes and a negative charge builds up</a:t>
            </a:r>
          </a:p>
          <a:p>
            <a:pPr lvl="1" eaLnBrk="1" hangingPunct="1">
              <a:spcBef>
                <a:spcPct val="50000"/>
              </a:spcBef>
              <a:buFont typeface="Times" panose="02020603050405020304" pitchFamily="18" charset="0"/>
              <a:buChar char="•"/>
            </a:pPr>
            <a:r>
              <a:rPr lang="en-GB" altLang="en-US">
                <a:sym typeface="Wingdings" panose="05000000000000000000" pitchFamily="2" charset="2"/>
              </a:rPr>
              <a:t>Sheaths are formed and guarantee a self-biasing steady state at electrodes </a:t>
            </a:r>
            <a:r>
              <a:rPr lang="en-GB" altLang="en-US" b="1">
                <a:solidFill>
                  <a:srgbClr val="F0522C"/>
                </a:solidFill>
                <a:sym typeface="Wingdings" panose="05000000000000000000" pitchFamily="2" charset="2"/>
              </a:rPr>
              <a:t>continuous sputtering</a:t>
            </a:r>
          </a:p>
          <a:p>
            <a:pPr lvl="1" eaLnBrk="1" hangingPunct="1">
              <a:spcBef>
                <a:spcPct val="50000"/>
              </a:spcBef>
              <a:buFont typeface="Times" panose="02020603050405020304" pitchFamily="18" charset="0"/>
              <a:buChar char="•"/>
            </a:pPr>
            <a:r>
              <a:rPr lang="en-GB" altLang="en-US">
                <a:solidFill>
                  <a:schemeClr val="tx1"/>
                </a:solidFill>
                <a:sym typeface="Wingdings" panose="05000000000000000000" pitchFamily="2" charset="2"/>
              </a:rPr>
              <a:t>Plasma potential builds up to ensure that net DC current is 0</a:t>
            </a:r>
            <a:endParaRPr lang="en-US" altLang="en-US">
              <a:solidFill>
                <a:schemeClr val="tx1"/>
              </a:solidFill>
              <a:sym typeface="Wingdings" panose="05000000000000000000" pitchFamily="2" charset="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B58500BC-9626-0650-DC1F-B01A669D6FA6}"/>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52D1A6F5-38E1-4FF6-9779-90CB491753F3}" type="slidenum">
              <a:rPr lang="en-US" altLang="en-US"/>
              <a:pPr>
                <a:lnSpc>
                  <a:spcPct val="100000"/>
                </a:lnSpc>
                <a:spcBef>
                  <a:spcPct val="0"/>
                </a:spcBef>
                <a:buClr>
                  <a:srgbClr val="F68933"/>
                </a:buClr>
                <a:buFontTx/>
                <a:buNone/>
              </a:pPr>
              <a:t>15</a:t>
            </a:fld>
            <a:endParaRPr lang="en-US" altLang="en-US"/>
          </a:p>
        </p:txBody>
      </p:sp>
      <p:sp>
        <p:nvSpPr>
          <p:cNvPr id="30723" name="Rectangle 2">
            <a:extLst>
              <a:ext uri="{FF2B5EF4-FFF2-40B4-BE49-F238E27FC236}">
                <a16:creationId xmlns:a16="http://schemas.microsoft.com/office/drawing/2014/main" id="{B4DAE4F7-FB66-8176-60EF-11E5F76E58AA}"/>
              </a:ext>
            </a:extLst>
          </p:cNvPr>
          <p:cNvSpPr>
            <a:spLocks noGrp="1" noChangeArrowheads="1"/>
          </p:cNvSpPr>
          <p:nvPr>
            <p:ph type="title"/>
          </p:nvPr>
        </p:nvSpPr>
        <p:spPr/>
        <p:txBody>
          <a:bodyPr/>
          <a:lstStyle/>
          <a:p>
            <a:pPr eaLnBrk="1" hangingPunct="1"/>
            <a:r>
              <a:rPr lang="en-GB" altLang="en-US"/>
              <a:t>RF Sputter deposition</a:t>
            </a:r>
            <a:endParaRPr lang="en-US" altLang="en-US"/>
          </a:p>
        </p:txBody>
      </p:sp>
      <p:graphicFrame>
        <p:nvGraphicFramePr>
          <p:cNvPr id="30724" name="Object 3">
            <a:extLst>
              <a:ext uri="{FF2B5EF4-FFF2-40B4-BE49-F238E27FC236}">
                <a16:creationId xmlns:a16="http://schemas.microsoft.com/office/drawing/2014/main" id="{313EA82E-4669-269F-C32B-1CCBF7719478}"/>
              </a:ext>
            </a:extLst>
          </p:cNvPr>
          <p:cNvGraphicFramePr>
            <a:graphicFrameLocks noChangeAspect="1"/>
          </p:cNvGraphicFramePr>
          <p:nvPr/>
        </p:nvGraphicFramePr>
        <p:xfrm>
          <a:off x="1719263" y="1023938"/>
          <a:ext cx="4724400" cy="2805112"/>
        </p:xfrm>
        <a:graphic>
          <a:graphicData uri="http://schemas.openxmlformats.org/presentationml/2006/ole">
            <mc:AlternateContent xmlns:mc="http://schemas.openxmlformats.org/markup-compatibility/2006">
              <mc:Choice xmlns:v="urn:schemas-microsoft-com:vml" Requires="v">
                <p:oleObj name="Document" r:id="rId2" imgW="5321808" imgH="3160776" progId="Word.Document.8">
                  <p:embed/>
                </p:oleObj>
              </mc:Choice>
              <mc:Fallback>
                <p:oleObj name="Document" r:id="rId2" imgW="5321808" imgH="3160776" progId="Word.Document.8">
                  <p:embed/>
                  <p:pic>
                    <p:nvPicPr>
                      <p:cNvPr id="30724" name="Object 3">
                        <a:extLst>
                          <a:ext uri="{FF2B5EF4-FFF2-40B4-BE49-F238E27FC236}">
                            <a16:creationId xmlns:a16="http://schemas.microsoft.com/office/drawing/2014/main" id="{313EA82E-4669-269F-C32B-1CCBF7719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9263" y="1023938"/>
                        <a:ext cx="4724400" cy="280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5" name="Object 4">
            <a:extLst>
              <a:ext uri="{FF2B5EF4-FFF2-40B4-BE49-F238E27FC236}">
                <a16:creationId xmlns:a16="http://schemas.microsoft.com/office/drawing/2014/main" id="{8655C354-EFF2-03A5-B4D4-8507B2A9FCF7}"/>
              </a:ext>
            </a:extLst>
          </p:cNvPr>
          <p:cNvGraphicFramePr>
            <a:graphicFrameLocks noChangeAspect="1"/>
          </p:cNvGraphicFramePr>
          <p:nvPr/>
        </p:nvGraphicFramePr>
        <p:xfrm>
          <a:off x="1766888" y="3919538"/>
          <a:ext cx="3810000" cy="2678112"/>
        </p:xfrm>
        <a:graphic>
          <a:graphicData uri="http://schemas.openxmlformats.org/presentationml/2006/ole">
            <mc:AlternateContent xmlns:mc="http://schemas.openxmlformats.org/markup-compatibility/2006">
              <mc:Choice xmlns:v="urn:schemas-microsoft-com:vml" Requires="v">
                <p:oleObj name="Document" r:id="rId4" imgW="3468624" imgH="2438400" progId="Word.Document.8">
                  <p:embed/>
                </p:oleObj>
              </mc:Choice>
              <mc:Fallback>
                <p:oleObj name="Document" r:id="rId4" imgW="3468624" imgH="2438400" progId="Word.Document.8">
                  <p:embed/>
                  <p:pic>
                    <p:nvPicPr>
                      <p:cNvPr id="30725" name="Object 4">
                        <a:extLst>
                          <a:ext uri="{FF2B5EF4-FFF2-40B4-BE49-F238E27FC236}">
                            <a16:creationId xmlns:a16="http://schemas.microsoft.com/office/drawing/2014/main" id="{8655C354-EFF2-03A5-B4D4-8507B2A9FC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6888" y="3919538"/>
                        <a:ext cx="3810000" cy="2678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6" name="Text Box 6">
            <a:extLst>
              <a:ext uri="{FF2B5EF4-FFF2-40B4-BE49-F238E27FC236}">
                <a16:creationId xmlns:a16="http://schemas.microsoft.com/office/drawing/2014/main" id="{02022989-1C25-D0CB-4BEB-093177B0F621}"/>
              </a:ext>
            </a:extLst>
          </p:cNvPr>
          <p:cNvSpPr txBox="1">
            <a:spLocks noChangeArrowheads="1"/>
          </p:cNvSpPr>
          <p:nvPr/>
        </p:nvSpPr>
        <p:spPr bwMode="auto">
          <a:xfrm>
            <a:off x="6537326" y="1373188"/>
            <a:ext cx="3852863" cy="534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If electrodes area are the same, sheaths and potential drops are symmetrical. The wafer is puttered too !</a:t>
            </a:r>
          </a:p>
          <a:p>
            <a:pPr eaLnBrk="1" hangingPunct="1">
              <a:spcBef>
                <a:spcPct val="50000"/>
              </a:spcBef>
              <a:buFont typeface="Times" panose="02020603050405020304" pitchFamily="18" charset="0"/>
              <a:buChar char="•"/>
            </a:pPr>
            <a:endParaRPr lang="en-GB" altLang="en-US"/>
          </a:p>
          <a:p>
            <a:pPr eaLnBrk="1" hangingPunct="1">
              <a:spcBef>
                <a:spcPct val="50000"/>
              </a:spcBef>
              <a:buFont typeface="Times" panose="02020603050405020304" pitchFamily="18" charset="0"/>
              <a:buChar char="•"/>
            </a:pPr>
            <a:r>
              <a:rPr lang="en-GB" altLang="en-US"/>
              <a:t>It can be shown that if the electrodes areas are different, the voltage drop ratio is:</a:t>
            </a:r>
            <a:endParaRPr lang="en-US" altLang="en-US"/>
          </a:p>
          <a:p>
            <a:pPr eaLnBrk="1" hangingPunct="1">
              <a:spcBef>
                <a:spcPct val="50000"/>
              </a:spcBef>
              <a:buFont typeface="Times" panose="02020603050405020304" pitchFamily="18" charset="0"/>
              <a:buChar char="•"/>
            </a:pPr>
            <a:endParaRPr lang="en-GB" altLang="en-US"/>
          </a:p>
          <a:p>
            <a:pPr eaLnBrk="1" hangingPunct="1">
              <a:spcBef>
                <a:spcPct val="50000"/>
              </a:spcBef>
              <a:buFont typeface="Times" panose="02020603050405020304" pitchFamily="18" charset="0"/>
              <a:buChar char="•"/>
            </a:pPr>
            <a:endParaRPr lang="en-GB" altLang="en-US"/>
          </a:p>
          <a:p>
            <a:pPr eaLnBrk="1" hangingPunct="1">
              <a:spcBef>
                <a:spcPct val="50000"/>
              </a:spcBef>
            </a:pPr>
            <a:r>
              <a:rPr lang="en-GB" altLang="en-US"/>
              <a:t>With m=4 from theory, 1-2 experimentally.</a:t>
            </a:r>
          </a:p>
          <a:p>
            <a:pPr eaLnBrk="1" hangingPunct="1">
              <a:spcBef>
                <a:spcPct val="50000"/>
              </a:spcBef>
              <a:buFont typeface="Times" panose="02020603050405020304" pitchFamily="18" charset="0"/>
              <a:buChar char="•"/>
            </a:pPr>
            <a:r>
              <a:rPr lang="en-GB" altLang="en-US"/>
              <a:t>Sputter at wafer side can be significantly reduced ( the wafer holder is often connected to the chamber wall to increase the electrode area)</a:t>
            </a:r>
            <a:endParaRPr lang="en-US" altLang="en-US"/>
          </a:p>
        </p:txBody>
      </p:sp>
      <p:graphicFrame>
        <p:nvGraphicFramePr>
          <p:cNvPr id="30727" name="Object 7">
            <a:extLst>
              <a:ext uri="{FF2B5EF4-FFF2-40B4-BE49-F238E27FC236}">
                <a16:creationId xmlns:a16="http://schemas.microsoft.com/office/drawing/2014/main" id="{8761E308-0EE7-05A5-595B-ACE305C00855}"/>
              </a:ext>
            </a:extLst>
          </p:cNvPr>
          <p:cNvGraphicFramePr>
            <a:graphicFrameLocks noChangeAspect="1"/>
          </p:cNvGraphicFramePr>
          <p:nvPr/>
        </p:nvGraphicFramePr>
        <p:xfrm>
          <a:off x="7608888" y="3894139"/>
          <a:ext cx="1039812" cy="693737"/>
        </p:xfrm>
        <a:graphic>
          <a:graphicData uri="http://schemas.openxmlformats.org/presentationml/2006/ole">
            <mc:AlternateContent xmlns:mc="http://schemas.openxmlformats.org/markup-compatibility/2006">
              <mc:Choice xmlns:v="urn:schemas-microsoft-com:vml" Requires="v">
                <p:oleObj name="Equation" r:id="rId6" imgW="761669" imgH="507780" progId="Equation.DSMT4">
                  <p:embed/>
                </p:oleObj>
              </mc:Choice>
              <mc:Fallback>
                <p:oleObj name="Equation" r:id="rId6" imgW="761669" imgH="507780" progId="Equation.DSMT4">
                  <p:embed/>
                  <p:pic>
                    <p:nvPicPr>
                      <p:cNvPr id="30727" name="Object 7">
                        <a:extLst>
                          <a:ext uri="{FF2B5EF4-FFF2-40B4-BE49-F238E27FC236}">
                            <a16:creationId xmlns:a16="http://schemas.microsoft.com/office/drawing/2014/main" id="{8761E308-0EE7-05A5-595B-ACE305C008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08888" y="3894139"/>
                        <a:ext cx="1039812" cy="693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A352AA59-FA21-B49E-FB06-76F3AD183294}"/>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34EE302D-17AC-4306-89DC-B0150E71DDB5}" type="slidenum">
              <a:rPr lang="en-US" altLang="en-US"/>
              <a:pPr>
                <a:lnSpc>
                  <a:spcPct val="100000"/>
                </a:lnSpc>
                <a:spcBef>
                  <a:spcPct val="0"/>
                </a:spcBef>
                <a:buClr>
                  <a:srgbClr val="F68933"/>
                </a:buClr>
                <a:buFontTx/>
                <a:buNone/>
              </a:pPr>
              <a:t>16</a:t>
            </a:fld>
            <a:endParaRPr lang="en-US" altLang="en-US"/>
          </a:p>
        </p:txBody>
      </p:sp>
      <p:sp>
        <p:nvSpPr>
          <p:cNvPr id="31747" name="Rectangle 2">
            <a:extLst>
              <a:ext uri="{FF2B5EF4-FFF2-40B4-BE49-F238E27FC236}">
                <a16:creationId xmlns:a16="http://schemas.microsoft.com/office/drawing/2014/main" id="{C542400B-89A4-1881-41B8-86BF9858A008}"/>
              </a:ext>
            </a:extLst>
          </p:cNvPr>
          <p:cNvSpPr>
            <a:spLocks noGrp="1" noChangeArrowheads="1"/>
          </p:cNvSpPr>
          <p:nvPr>
            <p:ph type="title"/>
          </p:nvPr>
        </p:nvSpPr>
        <p:spPr/>
        <p:txBody>
          <a:bodyPr/>
          <a:lstStyle/>
          <a:p>
            <a:pPr eaLnBrk="1" hangingPunct="1"/>
            <a:r>
              <a:rPr lang="en-GB" altLang="en-US"/>
              <a:t>Other sputtering processes</a:t>
            </a:r>
            <a:endParaRPr lang="en-US" altLang="en-US"/>
          </a:p>
        </p:txBody>
      </p:sp>
      <p:sp>
        <p:nvSpPr>
          <p:cNvPr id="31748" name="Rectangle 3">
            <a:extLst>
              <a:ext uri="{FF2B5EF4-FFF2-40B4-BE49-F238E27FC236}">
                <a16:creationId xmlns:a16="http://schemas.microsoft.com/office/drawing/2014/main" id="{A794595F-0843-5D2C-E8F7-65586D6AC5D2}"/>
              </a:ext>
            </a:extLst>
          </p:cNvPr>
          <p:cNvSpPr>
            <a:spLocks noGrp="1" noChangeArrowheads="1"/>
          </p:cNvSpPr>
          <p:nvPr>
            <p:ph type="body" idx="1"/>
          </p:nvPr>
        </p:nvSpPr>
        <p:spPr>
          <a:xfrm>
            <a:off x="1925639" y="1131889"/>
            <a:ext cx="8402637" cy="5076825"/>
          </a:xfrm>
        </p:spPr>
        <p:txBody>
          <a:bodyPr/>
          <a:lstStyle/>
          <a:p>
            <a:pPr eaLnBrk="1" hangingPunct="1">
              <a:lnSpc>
                <a:spcPct val="85000"/>
              </a:lnSpc>
            </a:pPr>
            <a:r>
              <a:rPr lang="en-GB" altLang="en-US"/>
              <a:t>Reactive sputter deposition</a:t>
            </a:r>
          </a:p>
          <a:p>
            <a:pPr lvl="1" eaLnBrk="1" hangingPunct="1">
              <a:lnSpc>
                <a:spcPct val="85000"/>
              </a:lnSpc>
            </a:pPr>
            <a:r>
              <a:rPr lang="en-GB" altLang="en-US"/>
              <a:t>A reactive gas is added in the plasma, and it concurs to the layer deposition. Es. TiN is deposited using a Ti target and an Ar/N</a:t>
            </a:r>
            <a:r>
              <a:rPr lang="en-GB" altLang="en-US" baseline="-25000"/>
              <a:t>2</a:t>
            </a:r>
            <a:r>
              <a:rPr lang="en-GB" altLang="en-US"/>
              <a:t> plasma.</a:t>
            </a:r>
          </a:p>
          <a:p>
            <a:pPr eaLnBrk="1" hangingPunct="1">
              <a:lnSpc>
                <a:spcPct val="85000"/>
              </a:lnSpc>
            </a:pPr>
            <a:r>
              <a:rPr lang="en-GB" altLang="en-US"/>
              <a:t>Bias sputtering</a:t>
            </a:r>
          </a:p>
          <a:p>
            <a:pPr lvl="1" eaLnBrk="1" hangingPunct="1">
              <a:lnSpc>
                <a:spcPct val="85000"/>
              </a:lnSpc>
            </a:pPr>
            <a:r>
              <a:rPr lang="en-GB" altLang="en-US"/>
              <a:t>The wafer side can be opportunely biased in order to perform some sputter etch for surface cleaning, or deposition and sputtering at the same time.</a:t>
            </a:r>
          </a:p>
          <a:p>
            <a:pPr eaLnBrk="1" hangingPunct="1">
              <a:lnSpc>
                <a:spcPct val="85000"/>
              </a:lnSpc>
            </a:pPr>
            <a:r>
              <a:rPr lang="en-GB" altLang="en-US"/>
              <a:t>Magnetron sputtering</a:t>
            </a:r>
          </a:p>
          <a:p>
            <a:pPr lvl="1" eaLnBrk="1" hangingPunct="1">
              <a:lnSpc>
                <a:spcPct val="85000"/>
              </a:lnSpc>
            </a:pPr>
            <a:r>
              <a:rPr lang="en-GB" altLang="en-US"/>
              <a:t>Magnets are added on the chamber side, to improve ionization in the plasma ( electrons collide with Ar ions with a spiral motion)</a:t>
            </a:r>
          </a:p>
          <a:p>
            <a:pPr eaLnBrk="1" hangingPunct="1">
              <a:lnSpc>
                <a:spcPct val="85000"/>
              </a:lnSpc>
            </a:pPr>
            <a:r>
              <a:rPr lang="en-GB" altLang="en-US"/>
              <a:t>Collimated sputtering</a:t>
            </a:r>
          </a:p>
          <a:p>
            <a:pPr lvl="1" eaLnBrk="1" hangingPunct="1">
              <a:lnSpc>
                <a:spcPct val="85000"/>
              </a:lnSpc>
            </a:pPr>
            <a:r>
              <a:rPr lang="en-GB" altLang="en-US"/>
              <a:t>Increases gap filling performances, by allowing narrow arrival angle distribution. Usually, plates with circular or hexagonal holes are placed between the wafer and the target</a:t>
            </a: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id="{201491FE-ED42-86C0-6311-BC0FDC101EB4}"/>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06744B96-08ED-4414-A182-CDDBB717617A}" type="slidenum">
              <a:rPr lang="en-US" altLang="en-US"/>
              <a:pPr>
                <a:lnSpc>
                  <a:spcPct val="100000"/>
                </a:lnSpc>
                <a:spcBef>
                  <a:spcPct val="0"/>
                </a:spcBef>
                <a:buClr>
                  <a:srgbClr val="F68933"/>
                </a:buClr>
                <a:buFontTx/>
                <a:buNone/>
              </a:pPr>
              <a:t>17</a:t>
            </a:fld>
            <a:endParaRPr lang="en-US" altLang="en-US"/>
          </a:p>
        </p:txBody>
      </p:sp>
      <p:sp>
        <p:nvSpPr>
          <p:cNvPr id="32771" name="Rectangle 2">
            <a:extLst>
              <a:ext uri="{FF2B5EF4-FFF2-40B4-BE49-F238E27FC236}">
                <a16:creationId xmlns:a16="http://schemas.microsoft.com/office/drawing/2014/main" id="{F2576C01-CFBF-9C65-FE8F-A1EAFAF46584}"/>
              </a:ext>
            </a:extLst>
          </p:cNvPr>
          <p:cNvSpPr>
            <a:spLocks noGrp="1" noChangeArrowheads="1"/>
          </p:cNvSpPr>
          <p:nvPr>
            <p:ph type="title"/>
          </p:nvPr>
        </p:nvSpPr>
        <p:spPr/>
        <p:txBody>
          <a:bodyPr/>
          <a:lstStyle/>
          <a:p>
            <a:pPr eaLnBrk="1" hangingPunct="1"/>
            <a:r>
              <a:rPr lang="en-GB" altLang="en-US"/>
              <a:t>Ionized sputtering</a:t>
            </a:r>
            <a:endParaRPr lang="en-US" altLang="en-US"/>
          </a:p>
        </p:txBody>
      </p:sp>
      <p:graphicFrame>
        <p:nvGraphicFramePr>
          <p:cNvPr id="32772" name="Object 4">
            <a:extLst>
              <a:ext uri="{FF2B5EF4-FFF2-40B4-BE49-F238E27FC236}">
                <a16:creationId xmlns:a16="http://schemas.microsoft.com/office/drawing/2014/main" id="{6A47108D-6CF4-4971-A35E-24F1D6718A56}"/>
              </a:ext>
            </a:extLst>
          </p:cNvPr>
          <p:cNvGraphicFramePr>
            <a:graphicFrameLocks noChangeAspect="1"/>
          </p:cNvGraphicFramePr>
          <p:nvPr/>
        </p:nvGraphicFramePr>
        <p:xfrm>
          <a:off x="2593975" y="968376"/>
          <a:ext cx="4203700" cy="2855913"/>
        </p:xfrm>
        <a:graphic>
          <a:graphicData uri="http://schemas.openxmlformats.org/presentationml/2006/ole">
            <mc:AlternateContent xmlns:mc="http://schemas.openxmlformats.org/markup-compatibility/2006">
              <mc:Choice xmlns:v="urn:schemas-microsoft-com:vml" Requires="v">
                <p:oleObj name="Document" r:id="rId2" imgW="4203192" imgH="2855976" progId="Word.Document.8">
                  <p:embed/>
                </p:oleObj>
              </mc:Choice>
              <mc:Fallback>
                <p:oleObj name="Document" r:id="rId2" imgW="4203192" imgH="2855976" progId="Word.Document.8">
                  <p:embed/>
                  <p:pic>
                    <p:nvPicPr>
                      <p:cNvPr id="32772" name="Object 4">
                        <a:extLst>
                          <a:ext uri="{FF2B5EF4-FFF2-40B4-BE49-F238E27FC236}">
                            <a16:creationId xmlns:a16="http://schemas.microsoft.com/office/drawing/2014/main" id="{6A47108D-6CF4-4971-A35E-24F1D6718A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3975" y="968376"/>
                        <a:ext cx="4203700" cy="285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3" name="Text Box 5">
            <a:extLst>
              <a:ext uri="{FF2B5EF4-FFF2-40B4-BE49-F238E27FC236}">
                <a16:creationId xmlns:a16="http://schemas.microsoft.com/office/drawing/2014/main" id="{4675DC2C-C50A-1DEC-8491-FC964303077E}"/>
              </a:ext>
            </a:extLst>
          </p:cNvPr>
          <p:cNvSpPr txBox="1">
            <a:spLocks noChangeArrowheads="1"/>
          </p:cNvSpPr>
          <p:nvPr/>
        </p:nvSpPr>
        <p:spPr bwMode="auto">
          <a:xfrm>
            <a:off x="7137400" y="1447800"/>
            <a:ext cx="304165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476250" indent="-2476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733425" indent="-14287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047750" indent="-2000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1333500" indent="-1714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1790700" indent="-17145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247900" indent="-17145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2705100" indent="-17145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162300" indent="-17145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lnSpc>
                <a:spcPct val="85000"/>
              </a:lnSpc>
              <a:buFont typeface="Times" panose="02020603050405020304" pitchFamily="18" charset="0"/>
              <a:buChar char="•"/>
            </a:pPr>
            <a:r>
              <a:rPr lang="en-US" altLang="en-US" sz="2000"/>
              <a:t> In some systems the depositing atoms themselves are ionized. </a:t>
            </a:r>
          </a:p>
          <a:p>
            <a:pPr eaLnBrk="1" hangingPunct="1">
              <a:lnSpc>
                <a:spcPct val="85000"/>
              </a:lnSpc>
              <a:buFont typeface="Times" panose="02020603050405020304" pitchFamily="18" charset="0"/>
              <a:buChar char="•"/>
            </a:pPr>
            <a:r>
              <a:rPr lang="en-US" altLang="en-US" sz="2000"/>
              <a:t>   An RF coil around the plasma induces collisions in the plasma creating the ions. </a:t>
            </a:r>
          </a:p>
        </p:txBody>
      </p:sp>
      <p:sp>
        <p:nvSpPr>
          <p:cNvPr id="32774" name="Text Box 6">
            <a:extLst>
              <a:ext uri="{FF2B5EF4-FFF2-40B4-BE49-F238E27FC236}">
                <a16:creationId xmlns:a16="http://schemas.microsoft.com/office/drawing/2014/main" id="{20536451-74A4-7DC1-8FCC-2B1A68B7EB8C}"/>
              </a:ext>
            </a:extLst>
          </p:cNvPr>
          <p:cNvSpPr txBox="1">
            <a:spLocks noChangeArrowheads="1"/>
          </p:cNvSpPr>
          <p:nvPr/>
        </p:nvSpPr>
        <p:spPr bwMode="auto">
          <a:xfrm>
            <a:off x="7102475" y="4267201"/>
            <a:ext cx="370205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476250" indent="-2476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733425" indent="-14287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047750" indent="-2000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1333500" indent="-1714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1790700" indent="-17145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247900" indent="-17145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2705100" indent="-17145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162300" indent="-17145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lnSpc>
                <a:spcPct val="85000"/>
              </a:lnSpc>
              <a:buFont typeface="Times" panose="02020603050405020304" pitchFamily="18" charset="0"/>
              <a:buChar char="•"/>
            </a:pPr>
            <a:r>
              <a:rPr lang="en-US" altLang="en-US" sz="2000"/>
              <a:t>This provides a narrow distribution of arrival angles which may be useful when filling  or coating the bottom of deep contact hole.</a:t>
            </a:r>
          </a:p>
        </p:txBody>
      </p:sp>
      <p:pic>
        <p:nvPicPr>
          <p:cNvPr id="32775" name="Picture 7">
            <a:extLst>
              <a:ext uri="{FF2B5EF4-FFF2-40B4-BE49-F238E27FC236}">
                <a16:creationId xmlns:a16="http://schemas.microsoft.com/office/drawing/2014/main" id="{845C0E57-602B-7353-F2E1-DC500672F7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9100" y="3657600"/>
            <a:ext cx="5214938" cy="210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a:extLst>
              <a:ext uri="{FF2B5EF4-FFF2-40B4-BE49-F238E27FC236}">
                <a16:creationId xmlns:a16="http://schemas.microsoft.com/office/drawing/2014/main" id="{0DCEFFDA-15D0-B69A-9365-A7CC646C06C9}"/>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603BEF55-6679-4F0D-B6EA-EA3EA334C30D}" type="slidenum">
              <a:rPr lang="en-US" altLang="en-US"/>
              <a:pPr>
                <a:lnSpc>
                  <a:spcPct val="100000"/>
                </a:lnSpc>
                <a:spcBef>
                  <a:spcPct val="0"/>
                </a:spcBef>
                <a:buClr>
                  <a:srgbClr val="F68933"/>
                </a:buClr>
                <a:buFontTx/>
                <a:buNone/>
              </a:pPr>
              <a:t>18</a:t>
            </a:fld>
            <a:endParaRPr lang="en-US" altLang="en-US"/>
          </a:p>
        </p:txBody>
      </p:sp>
      <p:sp>
        <p:nvSpPr>
          <p:cNvPr id="33795" name="Rectangle 2">
            <a:extLst>
              <a:ext uri="{FF2B5EF4-FFF2-40B4-BE49-F238E27FC236}">
                <a16:creationId xmlns:a16="http://schemas.microsoft.com/office/drawing/2014/main" id="{F8BD4ECC-8916-0959-8BBC-C67C45B3E676}"/>
              </a:ext>
            </a:extLst>
          </p:cNvPr>
          <p:cNvSpPr>
            <a:spLocks noGrp="1" noChangeArrowheads="1"/>
          </p:cNvSpPr>
          <p:nvPr>
            <p:ph type="title"/>
          </p:nvPr>
        </p:nvSpPr>
        <p:spPr/>
        <p:txBody>
          <a:bodyPr/>
          <a:lstStyle/>
          <a:p>
            <a:pPr eaLnBrk="1" hangingPunct="1"/>
            <a:r>
              <a:rPr lang="en-GB" altLang="en-US"/>
              <a:t>Modelling CVD and PVD deposition</a:t>
            </a:r>
            <a:endParaRPr lang="en-US" altLang="en-US"/>
          </a:p>
        </p:txBody>
      </p:sp>
      <p:graphicFrame>
        <p:nvGraphicFramePr>
          <p:cNvPr id="33796" name="Object 4">
            <a:extLst>
              <a:ext uri="{FF2B5EF4-FFF2-40B4-BE49-F238E27FC236}">
                <a16:creationId xmlns:a16="http://schemas.microsoft.com/office/drawing/2014/main" id="{DC1F66E4-8C40-128F-F118-F4B6B183DE64}"/>
              </a:ext>
            </a:extLst>
          </p:cNvPr>
          <p:cNvGraphicFramePr>
            <a:graphicFrameLocks noChangeAspect="1"/>
          </p:cNvGraphicFramePr>
          <p:nvPr/>
        </p:nvGraphicFramePr>
        <p:xfrm>
          <a:off x="1524001" y="1182688"/>
          <a:ext cx="4303713" cy="2722562"/>
        </p:xfrm>
        <a:graphic>
          <a:graphicData uri="http://schemas.openxmlformats.org/presentationml/2006/ole">
            <mc:AlternateContent xmlns:mc="http://schemas.openxmlformats.org/markup-compatibility/2006">
              <mc:Choice xmlns:v="urn:schemas-microsoft-com:vml" Requires="v">
                <p:oleObj name="Document" r:id="rId2" imgW="5562600" imgH="3517392" progId="Word.Document.8">
                  <p:embed/>
                </p:oleObj>
              </mc:Choice>
              <mc:Fallback>
                <p:oleObj name="Document" r:id="rId2" imgW="5562600" imgH="3517392" progId="Word.Document.8">
                  <p:embed/>
                  <p:pic>
                    <p:nvPicPr>
                      <p:cNvPr id="33796" name="Object 4">
                        <a:extLst>
                          <a:ext uri="{FF2B5EF4-FFF2-40B4-BE49-F238E27FC236}">
                            <a16:creationId xmlns:a16="http://schemas.microsoft.com/office/drawing/2014/main" id="{DC1F66E4-8C40-128F-F118-F4B6B183DE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1182688"/>
                        <a:ext cx="4303713" cy="2722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7" name="Text Box 5">
            <a:extLst>
              <a:ext uri="{FF2B5EF4-FFF2-40B4-BE49-F238E27FC236}">
                <a16:creationId xmlns:a16="http://schemas.microsoft.com/office/drawing/2014/main" id="{136D3900-09A2-E3C3-3CE0-7ABF1B7F8736}"/>
              </a:ext>
            </a:extLst>
          </p:cNvPr>
          <p:cNvSpPr txBox="1">
            <a:spLocks noChangeArrowheads="1"/>
          </p:cNvSpPr>
          <p:nvPr/>
        </p:nvSpPr>
        <p:spPr bwMode="auto">
          <a:xfrm>
            <a:off x="6127751" y="1363663"/>
            <a:ext cx="4270375" cy="193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To simulate the deposition in a computer program:</a:t>
            </a:r>
          </a:p>
          <a:p>
            <a:pPr eaLnBrk="1" hangingPunct="1">
              <a:spcBef>
                <a:spcPct val="50000"/>
              </a:spcBef>
              <a:buFont typeface="Times" panose="02020603050405020304" pitchFamily="18" charset="0"/>
              <a:buChar char="•"/>
            </a:pPr>
            <a:r>
              <a:rPr lang="en-GB" altLang="en-US"/>
              <a:t>Calculate reactants flow at each point on wafer</a:t>
            </a:r>
          </a:p>
          <a:p>
            <a:pPr eaLnBrk="1" hangingPunct="1">
              <a:spcBef>
                <a:spcPct val="50000"/>
              </a:spcBef>
              <a:buFont typeface="Times" panose="02020603050405020304" pitchFamily="18" charset="0"/>
              <a:buChar char="•"/>
            </a:pPr>
            <a:r>
              <a:rPr lang="en-GB" altLang="en-US"/>
              <a:t>Describe mathematically every process</a:t>
            </a:r>
            <a:endParaRPr lang="en-US" altLang="en-US"/>
          </a:p>
        </p:txBody>
      </p:sp>
      <p:graphicFrame>
        <p:nvGraphicFramePr>
          <p:cNvPr id="33798" name="Object 6">
            <a:extLst>
              <a:ext uri="{FF2B5EF4-FFF2-40B4-BE49-F238E27FC236}">
                <a16:creationId xmlns:a16="http://schemas.microsoft.com/office/drawing/2014/main" id="{3CC1A747-5663-1919-5A0A-6FC40E277C50}"/>
              </a:ext>
            </a:extLst>
          </p:cNvPr>
          <p:cNvGraphicFramePr>
            <a:graphicFrameLocks noChangeAspect="1"/>
          </p:cNvGraphicFramePr>
          <p:nvPr/>
        </p:nvGraphicFramePr>
        <p:xfrm>
          <a:off x="1879601" y="4530725"/>
          <a:ext cx="8112125" cy="463550"/>
        </p:xfrm>
        <a:graphic>
          <a:graphicData uri="http://schemas.openxmlformats.org/presentationml/2006/ole">
            <mc:AlternateContent xmlns:mc="http://schemas.openxmlformats.org/markup-compatibility/2006">
              <mc:Choice xmlns:v="urn:schemas-microsoft-com:vml" Requires="v">
                <p:oleObj name="Equation" r:id="rId4" imgW="4445000" imgH="254000" progId="Equation.3">
                  <p:embed/>
                </p:oleObj>
              </mc:Choice>
              <mc:Fallback>
                <p:oleObj name="Equation" r:id="rId4" imgW="4445000" imgH="254000" progId="Equation.3">
                  <p:embed/>
                  <p:pic>
                    <p:nvPicPr>
                      <p:cNvPr id="33798" name="Object 6">
                        <a:extLst>
                          <a:ext uri="{FF2B5EF4-FFF2-40B4-BE49-F238E27FC236}">
                            <a16:creationId xmlns:a16="http://schemas.microsoft.com/office/drawing/2014/main" id="{3CC1A747-5663-1919-5A0A-6FC40E277C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9601" y="4530725"/>
                        <a:ext cx="81121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07F1BB86-C364-111D-87B0-F7A580E89BE6}"/>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4FE7D9DD-35C9-4559-B2A8-3F775E0E2289}" type="slidenum">
              <a:rPr lang="en-US" altLang="en-US"/>
              <a:pPr>
                <a:lnSpc>
                  <a:spcPct val="100000"/>
                </a:lnSpc>
                <a:spcBef>
                  <a:spcPct val="0"/>
                </a:spcBef>
                <a:buClr>
                  <a:srgbClr val="F68933"/>
                </a:buClr>
                <a:buFontTx/>
                <a:buNone/>
              </a:pPr>
              <a:t>19</a:t>
            </a:fld>
            <a:endParaRPr lang="en-US" altLang="en-US"/>
          </a:p>
        </p:txBody>
      </p:sp>
      <p:sp>
        <p:nvSpPr>
          <p:cNvPr id="34819" name="Rectangle 2">
            <a:extLst>
              <a:ext uri="{FF2B5EF4-FFF2-40B4-BE49-F238E27FC236}">
                <a16:creationId xmlns:a16="http://schemas.microsoft.com/office/drawing/2014/main" id="{90391B99-A7B9-87C2-1B1E-B54ABE59C836}"/>
              </a:ext>
            </a:extLst>
          </p:cNvPr>
          <p:cNvSpPr>
            <a:spLocks noGrp="1" noChangeArrowheads="1"/>
          </p:cNvSpPr>
          <p:nvPr>
            <p:ph type="title"/>
          </p:nvPr>
        </p:nvSpPr>
        <p:spPr/>
        <p:txBody>
          <a:bodyPr/>
          <a:lstStyle/>
          <a:p>
            <a:pPr eaLnBrk="1" hangingPunct="1"/>
            <a:r>
              <a:rPr lang="en-GB" altLang="en-US"/>
              <a:t>Modelling CVD and PVD deposition</a:t>
            </a:r>
            <a:endParaRPr lang="en-US" altLang="en-US"/>
          </a:p>
        </p:txBody>
      </p:sp>
      <p:graphicFrame>
        <p:nvGraphicFramePr>
          <p:cNvPr id="34820" name="Object 5">
            <a:extLst>
              <a:ext uri="{FF2B5EF4-FFF2-40B4-BE49-F238E27FC236}">
                <a16:creationId xmlns:a16="http://schemas.microsoft.com/office/drawing/2014/main" id="{826DA4BD-772F-C831-1276-27076967D328}"/>
              </a:ext>
            </a:extLst>
          </p:cNvPr>
          <p:cNvGraphicFramePr>
            <a:graphicFrameLocks noChangeAspect="1"/>
          </p:cNvGraphicFramePr>
          <p:nvPr/>
        </p:nvGraphicFramePr>
        <p:xfrm>
          <a:off x="2071689" y="1368425"/>
          <a:ext cx="8112125" cy="463550"/>
        </p:xfrm>
        <a:graphic>
          <a:graphicData uri="http://schemas.openxmlformats.org/presentationml/2006/ole">
            <mc:AlternateContent xmlns:mc="http://schemas.openxmlformats.org/markup-compatibility/2006">
              <mc:Choice xmlns:v="urn:schemas-microsoft-com:vml" Requires="v">
                <p:oleObj name="Equation" r:id="rId2" imgW="4445000" imgH="254000" progId="Equation.3">
                  <p:embed/>
                </p:oleObj>
              </mc:Choice>
              <mc:Fallback>
                <p:oleObj name="Equation" r:id="rId2" imgW="4445000" imgH="254000" progId="Equation.3">
                  <p:embed/>
                  <p:pic>
                    <p:nvPicPr>
                      <p:cNvPr id="34820" name="Object 5">
                        <a:extLst>
                          <a:ext uri="{FF2B5EF4-FFF2-40B4-BE49-F238E27FC236}">
                            <a16:creationId xmlns:a16="http://schemas.microsoft.com/office/drawing/2014/main" id="{826DA4BD-772F-C831-1276-27076967D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9" y="1368425"/>
                        <a:ext cx="81121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1" name="Oval 6">
            <a:extLst>
              <a:ext uri="{FF2B5EF4-FFF2-40B4-BE49-F238E27FC236}">
                <a16:creationId xmlns:a16="http://schemas.microsoft.com/office/drawing/2014/main" id="{775689C3-6066-F1A1-7F57-21F266C7C9E7}"/>
              </a:ext>
            </a:extLst>
          </p:cNvPr>
          <p:cNvSpPr>
            <a:spLocks noChangeArrowheads="1"/>
          </p:cNvSpPr>
          <p:nvPr/>
        </p:nvSpPr>
        <p:spPr bwMode="auto">
          <a:xfrm>
            <a:off x="2784476" y="1169988"/>
            <a:ext cx="2606675" cy="900112"/>
          </a:xfrm>
          <a:prstGeom prst="ellipse">
            <a:avLst/>
          </a:prstGeom>
          <a:noFill/>
          <a:ln w="12700" algn="ctr">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graphicFrame>
        <p:nvGraphicFramePr>
          <p:cNvPr id="34822" name="Object 7">
            <a:extLst>
              <a:ext uri="{FF2B5EF4-FFF2-40B4-BE49-F238E27FC236}">
                <a16:creationId xmlns:a16="http://schemas.microsoft.com/office/drawing/2014/main" id="{B9DB8EB9-0C0C-183C-8A8D-5DF37DBBFB41}"/>
              </a:ext>
            </a:extLst>
          </p:cNvPr>
          <p:cNvGraphicFramePr>
            <a:graphicFrameLocks noChangeAspect="1"/>
          </p:cNvGraphicFramePr>
          <p:nvPr/>
        </p:nvGraphicFramePr>
        <p:xfrm>
          <a:off x="1524000" y="4546601"/>
          <a:ext cx="4210050" cy="1863725"/>
        </p:xfrm>
        <a:graphic>
          <a:graphicData uri="http://schemas.openxmlformats.org/presentationml/2006/ole">
            <mc:AlternateContent xmlns:mc="http://schemas.openxmlformats.org/markup-compatibility/2006">
              <mc:Choice xmlns:v="urn:schemas-microsoft-com:vml" Requires="v">
                <p:oleObj name="Document" r:id="rId4" imgW="4736592" imgH="2097024" progId="Word.Document.8">
                  <p:embed/>
                </p:oleObj>
              </mc:Choice>
              <mc:Fallback>
                <p:oleObj name="Document" r:id="rId4" imgW="4736592" imgH="2097024" progId="Word.Document.8">
                  <p:embed/>
                  <p:pic>
                    <p:nvPicPr>
                      <p:cNvPr id="34822" name="Object 7">
                        <a:extLst>
                          <a:ext uri="{FF2B5EF4-FFF2-40B4-BE49-F238E27FC236}">
                            <a16:creationId xmlns:a16="http://schemas.microsoft.com/office/drawing/2014/main" id="{B9DB8EB9-0C0C-183C-8A8D-5DF37DBBFB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546601"/>
                        <a:ext cx="4210050" cy="186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3" name="Object 8">
            <a:extLst>
              <a:ext uri="{FF2B5EF4-FFF2-40B4-BE49-F238E27FC236}">
                <a16:creationId xmlns:a16="http://schemas.microsoft.com/office/drawing/2014/main" id="{4B7626E7-F3F7-A7AE-DFB4-E18D8FD1C52F}"/>
              </a:ext>
            </a:extLst>
          </p:cNvPr>
          <p:cNvGraphicFramePr>
            <a:graphicFrameLocks noChangeAspect="1"/>
          </p:cNvGraphicFramePr>
          <p:nvPr/>
        </p:nvGraphicFramePr>
        <p:xfrm>
          <a:off x="6938964" y="4516438"/>
          <a:ext cx="2708275" cy="2144712"/>
        </p:xfrm>
        <a:graphic>
          <a:graphicData uri="http://schemas.openxmlformats.org/presentationml/2006/ole">
            <mc:AlternateContent xmlns:mc="http://schemas.openxmlformats.org/markup-compatibility/2006">
              <mc:Choice xmlns:v="urn:schemas-microsoft-com:vml" Requires="v">
                <p:oleObj name="Document" r:id="rId6" imgW="3874008" imgH="3066288" progId="Word.Document.8">
                  <p:embed/>
                </p:oleObj>
              </mc:Choice>
              <mc:Fallback>
                <p:oleObj name="Document" r:id="rId6" imgW="3874008" imgH="3066288" progId="Word.Document.8">
                  <p:embed/>
                  <p:pic>
                    <p:nvPicPr>
                      <p:cNvPr id="34823" name="Object 8">
                        <a:extLst>
                          <a:ext uri="{FF2B5EF4-FFF2-40B4-BE49-F238E27FC236}">
                            <a16:creationId xmlns:a16="http://schemas.microsoft.com/office/drawing/2014/main" id="{4B7626E7-F3F7-A7AE-DFB4-E18D8FD1C5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8964" y="4516438"/>
                        <a:ext cx="2708275" cy="214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4" name="Text Box 9">
            <a:extLst>
              <a:ext uri="{FF2B5EF4-FFF2-40B4-BE49-F238E27FC236}">
                <a16:creationId xmlns:a16="http://schemas.microsoft.com/office/drawing/2014/main" id="{2829BE8F-0B1C-BEEA-7A55-D2C5349939B0}"/>
              </a:ext>
            </a:extLst>
          </p:cNvPr>
          <p:cNvSpPr txBox="1">
            <a:spLocks noChangeArrowheads="1"/>
          </p:cNvSpPr>
          <p:nvPr/>
        </p:nvSpPr>
        <p:spPr bwMode="auto">
          <a:xfrm>
            <a:off x="1706563" y="2127251"/>
            <a:ext cx="4017962" cy="1320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 indent="-79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400"/>
              <a:t>Instead of calculating the trajectory of the species form the source through the reactor, we can simply take into account an angular distribution of the flux at wafer surface (we are interested in the component of the flux normal to the surface) :</a:t>
            </a:r>
            <a:endParaRPr lang="en-US" altLang="en-US" sz="1400"/>
          </a:p>
        </p:txBody>
      </p:sp>
      <p:graphicFrame>
        <p:nvGraphicFramePr>
          <p:cNvPr id="34825" name="Object 10">
            <a:extLst>
              <a:ext uri="{FF2B5EF4-FFF2-40B4-BE49-F238E27FC236}">
                <a16:creationId xmlns:a16="http://schemas.microsoft.com/office/drawing/2014/main" id="{8E108676-FEC4-9343-ABCB-1059FFA72B19}"/>
              </a:ext>
            </a:extLst>
          </p:cNvPr>
          <p:cNvGraphicFramePr>
            <a:graphicFrameLocks noChangeAspect="1"/>
          </p:cNvGraphicFramePr>
          <p:nvPr/>
        </p:nvGraphicFramePr>
        <p:xfrm>
          <a:off x="1982789" y="3429000"/>
          <a:ext cx="2522537" cy="515938"/>
        </p:xfrm>
        <a:graphic>
          <a:graphicData uri="http://schemas.openxmlformats.org/presentationml/2006/ole">
            <mc:AlternateContent xmlns:mc="http://schemas.openxmlformats.org/markup-compatibility/2006">
              <mc:Choice xmlns:v="urn:schemas-microsoft-com:vml" Requires="v">
                <p:oleObj name="Equation" r:id="rId8" imgW="1180588" imgH="241195" progId="Equation.3">
                  <p:embed/>
                </p:oleObj>
              </mc:Choice>
              <mc:Fallback>
                <p:oleObj name="Equation" r:id="rId8" imgW="1180588" imgH="241195" progId="Equation.3">
                  <p:embed/>
                  <p:pic>
                    <p:nvPicPr>
                      <p:cNvPr id="34825" name="Object 10">
                        <a:extLst>
                          <a:ext uri="{FF2B5EF4-FFF2-40B4-BE49-F238E27FC236}">
                            <a16:creationId xmlns:a16="http://schemas.microsoft.com/office/drawing/2014/main" id="{8E108676-FEC4-9343-ABCB-1059FFA72B1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2789" y="3429000"/>
                        <a:ext cx="2522537"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4826" name="Picture 12">
            <a:extLst>
              <a:ext uri="{FF2B5EF4-FFF2-40B4-BE49-F238E27FC236}">
                <a16:creationId xmlns:a16="http://schemas.microsoft.com/office/drawing/2014/main" id="{96A9B99D-1981-DC7D-329E-D70649EFB1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99226" y="2112963"/>
            <a:ext cx="3306763"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27" name="Text Box 13">
            <a:extLst>
              <a:ext uri="{FF2B5EF4-FFF2-40B4-BE49-F238E27FC236}">
                <a16:creationId xmlns:a16="http://schemas.microsoft.com/office/drawing/2014/main" id="{0FA5846D-0A2E-6927-D4C2-852A83DC0312}"/>
              </a:ext>
            </a:extLst>
          </p:cNvPr>
          <p:cNvSpPr txBox="1">
            <a:spLocks noChangeArrowheads="1"/>
          </p:cNvSpPr>
          <p:nvPr/>
        </p:nvSpPr>
        <p:spPr bwMode="auto">
          <a:xfrm>
            <a:off x="9407526" y="2605088"/>
            <a:ext cx="220663" cy="26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200" b="1"/>
              <a:t>n</a:t>
            </a:r>
            <a:endParaRPr lang="en-US" altLang="en-US" sz="120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C2186A6F-0D99-942A-646F-F2F24207459C}"/>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79463277-23A2-4735-9252-092E866BCBDA}" type="slidenum">
              <a:rPr lang="en-US" altLang="en-US"/>
              <a:pPr>
                <a:lnSpc>
                  <a:spcPct val="100000"/>
                </a:lnSpc>
                <a:spcBef>
                  <a:spcPct val="0"/>
                </a:spcBef>
                <a:buClr>
                  <a:srgbClr val="F68933"/>
                </a:buClr>
                <a:buFontTx/>
                <a:buNone/>
              </a:pPr>
              <a:t>20</a:t>
            </a:fld>
            <a:endParaRPr lang="en-US" altLang="en-US"/>
          </a:p>
        </p:txBody>
      </p:sp>
      <p:sp>
        <p:nvSpPr>
          <p:cNvPr id="35843" name="Rectangle 2">
            <a:extLst>
              <a:ext uri="{FF2B5EF4-FFF2-40B4-BE49-F238E27FC236}">
                <a16:creationId xmlns:a16="http://schemas.microsoft.com/office/drawing/2014/main" id="{A6F9F534-5E12-7338-EE2F-67C8BA5024B1}"/>
              </a:ext>
            </a:extLst>
          </p:cNvPr>
          <p:cNvSpPr>
            <a:spLocks noGrp="1" noChangeArrowheads="1"/>
          </p:cNvSpPr>
          <p:nvPr>
            <p:ph type="title"/>
          </p:nvPr>
        </p:nvSpPr>
        <p:spPr/>
        <p:txBody>
          <a:bodyPr/>
          <a:lstStyle/>
          <a:p>
            <a:pPr eaLnBrk="1" hangingPunct="1"/>
            <a:r>
              <a:rPr lang="en-GB" altLang="en-US"/>
              <a:t>Modelling CVD and PVD deposition</a:t>
            </a:r>
            <a:endParaRPr lang="en-US" altLang="en-US"/>
          </a:p>
        </p:txBody>
      </p:sp>
      <p:graphicFrame>
        <p:nvGraphicFramePr>
          <p:cNvPr id="35844" name="Object 3">
            <a:extLst>
              <a:ext uri="{FF2B5EF4-FFF2-40B4-BE49-F238E27FC236}">
                <a16:creationId xmlns:a16="http://schemas.microsoft.com/office/drawing/2014/main" id="{CBD17E83-9861-55E9-8599-3DB023C2F39A}"/>
              </a:ext>
            </a:extLst>
          </p:cNvPr>
          <p:cNvGraphicFramePr>
            <a:graphicFrameLocks noChangeAspect="1"/>
          </p:cNvGraphicFramePr>
          <p:nvPr/>
        </p:nvGraphicFramePr>
        <p:xfrm>
          <a:off x="2071689" y="1368425"/>
          <a:ext cx="8112125" cy="463550"/>
        </p:xfrm>
        <a:graphic>
          <a:graphicData uri="http://schemas.openxmlformats.org/presentationml/2006/ole">
            <mc:AlternateContent xmlns:mc="http://schemas.openxmlformats.org/markup-compatibility/2006">
              <mc:Choice xmlns:v="urn:schemas-microsoft-com:vml" Requires="v">
                <p:oleObj name="Equation" r:id="rId2" imgW="4445000" imgH="254000" progId="Equation.3">
                  <p:embed/>
                </p:oleObj>
              </mc:Choice>
              <mc:Fallback>
                <p:oleObj name="Equation" r:id="rId2" imgW="4445000" imgH="254000" progId="Equation.3">
                  <p:embed/>
                  <p:pic>
                    <p:nvPicPr>
                      <p:cNvPr id="35844" name="Object 3">
                        <a:extLst>
                          <a:ext uri="{FF2B5EF4-FFF2-40B4-BE49-F238E27FC236}">
                            <a16:creationId xmlns:a16="http://schemas.microsoft.com/office/drawing/2014/main" id="{CBD17E83-9861-55E9-8599-3DB023C2F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9" y="1368425"/>
                        <a:ext cx="81121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5" name="Oval 4">
            <a:extLst>
              <a:ext uri="{FF2B5EF4-FFF2-40B4-BE49-F238E27FC236}">
                <a16:creationId xmlns:a16="http://schemas.microsoft.com/office/drawing/2014/main" id="{5366D459-1902-79AA-9734-9C28E8609855}"/>
              </a:ext>
            </a:extLst>
          </p:cNvPr>
          <p:cNvSpPr>
            <a:spLocks noChangeArrowheads="1"/>
          </p:cNvSpPr>
          <p:nvPr/>
        </p:nvSpPr>
        <p:spPr bwMode="auto">
          <a:xfrm>
            <a:off x="6442075" y="1139826"/>
            <a:ext cx="717550" cy="900113"/>
          </a:xfrm>
          <a:prstGeom prst="ellipse">
            <a:avLst/>
          </a:prstGeom>
          <a:noFill/>
          <a:ln w="12700" algn="ctr">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5846" name="Oval 11">
            <a:extLst>
              <a:ext uri="{FF2B5EF4-FFF2-40B4-BE49-F238E27FC236}">
                <a16:creationId xmlns:a16="http://schemas.microsoft.com/office/drawing/2014/main" id="{428D01C9-3211-6BF7-5570-A1A1CF7C5A06}"/>
              </a:ext>
            </a:extLst>
          </p:cNvPr>
          <p:cNvSpPr>
            <a:spLocks noChangeArrowheads="1"/>
          </p:cNvSpPr>
          <p:nvPr/>
        </p:nvSpPr>
        <p:spPr bwMode="auto">
          <a:xfrm>
            <a:off x="9383714" y="1098551"/>
            <a:ext cx="896937" cy="900113"/>
          </a:xfrm>
          <a:prstGeom prst="ellipse">
            <a:avLst/>
          </a:prstGeom>
          <a:noFill/>
          <a:ln w="12700" algn="ctr">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graphicFrame>
        <p:nvGraphicFramePr>
          <p:cNvPr id="35847" name="Object 12">
            <a:extLst>
              <a:ext uri="{FF2B5EF4-FFF2-40B4-BE49-F238E27FC236}">
                <a16:creationId xmlns:a16="http://schemas.microsoft.com/office/drawing/2014/main" id="{ACC42E4B-791D-DF68-1891-E8F9F19680A8}"/>
              </a:ext>
            </a:extLst>
          </p:cNvPr>
          <p:cNvGraphicFramePr>
            <a:graphicFrameLocks noChangeAspect="1"/>
          </p:cNvGraphicFramePr>
          <p:nvPr/>
        </p:nvGraphicFramePr>
        <p:xfrm>
          <a:off x="3344863" y="2216150"/>
          <a:ext cx="5065712" cy="827088"/>
        </p:xfrm>
        <a:graphic>
          <a:graphicData uri="http://schemas.openxmlformats.org/presentationml/2006/ole">
            <mc:AlternateContent xmlns:mc="http://schemas.openxmlformats.org/markup-compatibility/2006">
              <mc:Choice xmlns:v="urn:schemas-microsoft-com:vml" Requires="v">
                <p:oleObj name="Equation" r:id="rId4" imgW="2565400" imgH="419100" progId="Equation.3">
                  <p:embed/>
                </p:oleObj>
              </mc:Choice>
              <mc:Fallback>
                <p:oleObj name="Equation" r:id="rId4" imgW="2565400" imgH="419100" progId="Equation.3">
                  <p:embed/>
                  <p:pic>
                    <p:nvPicPr>
                      <p:cNvPr id="35847" name="Object 12">
                        <a:extLst>
                          <a:ext uri="{FF2B5EF4-FFF2-40B4-BE49-F238E27FC236}">
                            <a16:creationId xmlns:a16="http://schemas.microsoft.com/office/drawing/2014/main" id="{ACC42E4B-791D-DF68-1891-E8F9F19680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4863" y="2216150"/>
                        <a:ext cx="5065712"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8" name="Text Box 13">
            <a:extLst>
              <a:ext uri="{FF2B5EF4-FFF2-40B4-BE49-F238E27FC236}">
                <a16:creationId xmlns:a16="http://schemas.microsoft.com/office/drawing/2014/main" id="{7C0BED61-AD5C-1173-95F6-1D4CB0C7A38E}"/>
              </a:ext>
            </a:extLst>
          </p:cNvPr>
          <p:cNvSpPr txBox="1">
            <a:spLocks noChangeArrowheads="1"/>
          </p:cNvSpPr>
          <p:nvPr/>
        </p:nvSpPr>
        <p:spPr bwMode="auto">
          <a:xfrm>
            <a:off x="1703388" y="3429000"/>
            <a:ext cx="3687762" cy="3016250"/>
          </a:xfrm>
          <a:prstGeom prst="rect">
            <a:avLst/>
          </a:prstGeom>
          <a:noFill/>
          <a:ln w="12700" algn="ctr">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Where:</a:t>
            </a:r>
          </a:p>
          <a:p>
            <a:pPr eaLnBrk="1" hangingPunct="1">
              <a:spcBef>
                <a:spcPct val="50000"/>
              </a:spcBef>
            </a:pPr>
            <a:r>
              <a:rPr lang="en-GB" altLang="en-US"/>
              <a:t>D</a:t>
            </a:r>
            <a:r>
              <a:rPr lang="en-GB" altLang="en-US" baseline="-25000"/>
              <a:t>S </a:t>
            </a:r>
            <a:r>
              <a:rPr lang="en-GB" altLang="en-US"/>
              <a:t>: surface diffusivity</a:t>
            </a:r>
          </a:p>
          <a:p>
            <a:pPr eaLnBrk="1" hangingPunct="1">
              <a:spcBef>
                <a:spcPct val="50000"/>
              </a:spcBef>
            </a:pPr>
            <a:r>
              <a:rPr lang="en-GB" altLang="en-US">
                <a:sym typeface="Symbol" panose="05050102010706020507" pitchFamily="18" charset="2"/>
              </a:rPr>
              <a:t></a:t>
            </a:r>
            <a:r>
              <a:rPr lang="en-GB" altLang="en-US" baseline="-25000">
                <a:sym typeface="Symbol" panose="05050102010706020507" pitchFamily="18" charset="2"/>
              </a:rPr>
              <a:t>s</a:t>
            </a:r>
            <a:r>
              <a:rPr lang="en-GB" altLang="en-US">
                <a:sym typeface="Symbol" panose="05050102010706020507" pitchFamily="18" charset="2"/>
              </a:rPr>
              <a:t>:    per area surface energy</a:t>
            </a:r>
          </a:p>
          <a:p>
            <a:pPr eaLnBrk="1" hangingPunct="1">
              <a:spcBef>
                <a:spcPct val="50000"/>
              </a:spcBef>
            </a:pPr>
            <a:r>
              <a:rPr lang="en-GB" altLang="en-US">
                <a:sym typeface="Symbol" panose="05050102010706020507" pitchFamily="18" charset="2"/>
              </a:rPr>
              <a:t>:   atomic or molecular volume</a:t>
            </a:r>
          </a:p>
          <a:p>
            <a:pPr eaLnBrk="1" hangingPunct="1">
              <a:spcBef>
                <a:spcPct val="50000"/>
              </a:spcBef>
            </a:pPr>
            <a:r>
              <a:rPr lang="en-GB" altLang="en-US">
                <a:sym typeface="Symbol" panose="05050102010706020507" pitchFamily="18" charset="2"/>
              </a:rPr>
              <a:t>:    number of atoms/molecules per unit area</a:t>
            </a:r>
          </a:p>
          <a:p>
            <a:pPr eaLnBrk="1" hangingPunct="1">
              <a:spcBef>
                <a:spcPct val="50000"/>
              </a:spcBef>
            </a:pPr>
            <a:r>
              <a:rPr lang="en-GB" altLang="en-US">
                <a:sym typeface="Symbol" panose="05050102010706020507" pitchFamily="18" charset="2"/>
              </a:rPr>
              <a:t>K:   curvature</a:t>
            </a:r>
          </a:p>
          <a:p>
            <a:pPr eaLnBrk="1" hangingPunct="1">
              <a:spcBef>
                <a:spcPct val="50000"/>
              </a:spcBef>
            </a:pPr>
            <a:r>
              <a:rPr lang="en-GB" altLang="en-US">
                <a:sym typeface="Symbol" panose="05050102010706020507" pitchFamily="18" charset="2"/>
              </a:rPr>
              <a:t>S:   unit length across surface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a:extLst>
              <a:ext uri="{FF2B5EF4-FFF2-40B4-BE49-F238E27FC236}">
                <a16:creationId xmlns:a16="http://schemas.microsoft.com/office/drawing/2014/main" id="{37C7EA06-A96A-9C3A-D7EB-B789F9FA91C8}"/>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BD24B2F1-158D-4A87-92BB-D9FB14230546}" type="slidenum">
              <a:rPr lang="en-US" altLang="en-US"/>
              <a:pPr>
                <a:lnSpc>
                  <a:spcPct val="100000"/>
                </a:lnSpc>
                <a:spcBef>
                  <a:spcPct val="0"/>
                </a:spcBef>
                <a:buClr>
                  <a:srgbClr val="F68933"/>
                </a:buClr>
                <a:buFontTx/>
                <a:buNone/>
              </a:pPr>
              <a:t>21</a:t>
            </a:fld>
            <a:endParaRPr lang="en-US" altLang="en-US"/>
          </a:p>
        </p:txBody>
      </p:sp>
      <p:sp>
        <p:nvSpPr>
          <p:cNvPr id="36867" name="Rectangle 2">
            <a:extLst>
              <a:ext uri="{FF2B5EF4-FFF2-40B4-BE49-F238E27FC236}">
                <a16:creationId xmlns:a16="http://schemas.microsoft.com/office/drawing/2014/main" id="{A3AF243D-0489-8269-6595-8BA6ADEED842}"/>
              </a:ext>
            </a:extLst>
          </p:cNvPr>
          <p:cNvSpPr>
            <a:spLocks noGrp="1" noChangeArrowheads="1"/>
          </p:cNvSpPr>
          <p:nvPr>
            <p:ph type="title"/>
          </p:nvPr>
        </p:nvSpPr>
        <p:spPr/>
        <p:txBody>
          <a:bodyPr/>
          <a:lstStyle/>
          <a:p>
            <a:pPr eaLnBrk="1" hangingPunct="1"/>
            <a:r>
              <a:rPr lang="en-GB" altLang="en-US"/>
              <a:t>Modelling CVD and PVD deposition</a:t>
            </a:r>
            <a:endParaRPr lang="en-US" altLang="en-US"/>
          </a:p>
        </p:txBody>
      </p:sp>
      <p:graphicFrame>
        <p:nvGraphicFramePr>
          <p:cNvPr id="36868" name="Object 3">
            <a:extLst>
              <a:ext uri="{FF2B5EF4-FFF2-40B4-BE49-F238E27FC236}">
                <a16:creationId xmlns:a16="http://schemas.microsoft.com/office/drawing/2014/main" id="{47B753F7-00F9-C269-A584-ECFA9C2357F0}"/>
              </a:ext>
            </a:extLst>
          </p:cNvPr>
          <p:cNvGraphicFramePr>
            <a:graphicFrameLocks noChangeAspect="1"/>
          </p:cNvGraphicFramePr>
          <p:nvPr/>
        </p:nvGraphicFramePr>
        <p:xfrm>
          <a:off x="2071689" y="1368425"/>
          <a:ext cx="8112125" cy="463550"/>
        </p:xfrm>
        <a:graphic>
          <a:graphicData uri="http://schemas.openxmlformats.org/presentationml/2006/ole">
            <mc:AlternateContent xmlns:mc="http://schemas.openxmlformats.org/markup-compatibility/2006">
              <mc:Choice xmlns:v="urn:schemas-microsoft-com:vml" Requires="v">
                <p:oleObj name="Equation" r:id="rId2" imgW="4445000" imgH="254000" progId="Equation.3">
                  <p:embed/>
                </p:oleObj>
              </mc:Choice>
              <mc:Fallback>
                <p:oleObj name="Equation" r:id="rId2" imgW="4445000" imgH="254000" progId="Equation.3">
                  <p:embed/>
                  <p:pic>
                    <p:nvPicPr>
                      <p:cNvPr id="36868" name="Object 3">
                        <a:extLst>
                          <a:ext uri="{FF2B5EF4-FFF2-40B4-BE49-F238E27FC236}">
                            <a16:creationId xmlns:a16="http://schemas.microsoft.com/office/drawing/2014/main" id="{47B753F7-00F9-C269-A584-ECFA9C2357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9" y="1368425"/>
                        <a:ext cx="81121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69" name="Oval 8">
            <a:extLst>
              <a:ext uri="{FF2B5EF4-FFF2-40B4-BE49-F238E27FC236}">
                <a16:creationId xmlns:a16="http://schemas.microsoft.com/office/drawing/2014/main" id="{F5CF0909-71AA-D49E-BDAD-D322B8D6F971}"/>
              </a:ext>
            </a:extLst>
          </p:cNvPr>
          <p:cNvSpPr>
            <a:spLocks noChangeArrowheads="1"/>
          </p:cNvSpPr>
          <p:nvPr/>
        </p:nvSpPr>
        <p:spPr bwMode="auto">
          <a:xfrm>
            <a:off x="5572125" y="1228726"/>
            <a:ext cx="763588" cy="720725"/>
          </a:xfrm>
          <a:prstGeom prst="ellipse">
            <a:avLst/>
          </a:prstGeom>
          <a:noFill/>
          <a:ln w="12700" algn="ctr">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6870" name="Oval 9">
            <a:extLst>
              <a:ext uri="{FF2B5EF4-FFF2-40B4-BE49-F238E27FC236}">
                <a16:creationId xmlns:a16="http://schemas.microsoft.com/office/drawing/2014/main" id="{FCE1FBFF-866B-F1D7-AC3E-13EEA4F6366B}"/>
              </a:ext>
            </a:extLst>
          </p:cNvPr>
          <p:cNvSpPr>
            <a:spLocks noChangeArrowheads="1"/>
          </p:cNvSpPr>
          <p:nvPr/>
        </p:nvSpPr>
        <p:spPr bwMode="auto">
          <a:xfrm>
            <a:off x="7329488" y="1228725"/>
            <a:ext cx="823912" cy="736600"/>
          </a:xfrm>
          <a:prstGeom prst="ellipse">
            <a:avLst/>
          </a:prstGeom>
          <a:noFill/>
          <a:ln w="12700" algn="ctr">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graphicFrame>
        <p:nvGraphicFramePr>
          <p:cNvPr id="36871" name="Object 11">
            <a:extLst>
              <a:ext uri="{FF2B5EF4-FFF2-40B4-BE49-F238E27FC236}">
                <a16:creationId xmlns:a16="http://schemas.microsoft.com/office/drawing/2014/main" id="{6FFA8EBB-D224-AE2D-6941-3BFBB44A1F07}"/>
              </a:ext>
            </a:extLst>
          </p:cNvPr>
          <p:cNvGraphicFramePr>
            <a:graphicFrameLocks noChangeAspect="1"/>
          </p:cNvGraphicFramePr>
          <p:nvPr/>
        </p:nvGraphicFramePr>
        <p:xfrm>
          <a:off x="2057401" y="2309814"/>
          <a:ext cx="2320925" cy="1119187"/>
        </p:xfrm>
        <a:graphic>
          <a:graphicData uri="http://schemas.openxmlformats.org/presentationml/2006/ole">
            <mc:AlternateContent xmlns:mc="http://schemas.openxmlformats.org/markup-compatibility/2006">
              <mc:Choice xmlns:v="urn:schemas-microsoft-com:vml" Requires="v">
                <p:oleObj name="Equation" r:id="rId4" imgW="1422400" imgH="685800" progId="Equation.3">
                  <p:embed/>
                </p:oleObj>
              </mc:Choice>
              <mc:Fallback>
                <p:oleObj name="Equation" r:id="rId4" imgW="1422400" imgH="685800" progId="Equation.3">
                  <p:embed/>
                  <p:pic>
                    <p:nvPicPr>
                      <p:cNvPr id="36871" name="Object 11">
                        <a:extLst>
                          <a:ext uri="{FF2B5EF4-FFF2-40B4-BE49-F238E27FC236}">
                            <a16:creationId xmlns:a16="http://schemas.microsoft.com/office/drawing/2014/main" id="{6FFA8EBB-D224-AE2D-6941-3BFBB44A1F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1" y="2309814"/>
                        <a:ext cx="2320925" cy="1119187"/>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13">
            <a:extLst>
              <a:ext uri="{FF2B5EF4-FFF2-40B4-BE49-F238E27FC236}">
                <a16:creationId xmlns:a16="http://schemas.microsoft.com/office/drawing/2014/main" id="{9CA683B4-B3EA-A71A-2B81-BDF284BF4B2C}"/>
              </a:ext>
            </a:extLst>
          </p:cNvPr>
          <p:cNvGraphicFramePr>
            <a:graphicFrameLocks noChangeAspect="1"/>
          </p:cNvGraphicFramePr>
          <p:nvPr/>
        </p:nvGraphicFramePr>
        <p:xfrm>
          <a:off x="6127751" y="2016126"/>
          <a:ext cx="3806825" cy="1427163"/>
        </p:xfrm>
        <a:graphic>
          <a:graphicData uri="http://schemas.openxmlformats.org/presentationml/2006/ole">
            <mc:AlternateContent xmlns:mc="http://schemas.openxmlformats.org/markup-compatibility/2006">
              <mc:Choice xmlns:v="urn:schemas-microsoft-com:vml" Requires="v">
                <p:oleObj name="Document" r:id="rId6" imgW="4002024" imgH="1499616" progId="Word.Document.8">
                  <p:embed/>
                </p:oleObj>
              </mc:Choice>
              <mc:Fallback>
                <p:oleObj name="Document" r:id="rId6" imgW="4002024" imgH="1499616" progId="Word.Document.8">
                  <p:embed/>
                  <p:pic>
                    <p:nvPicPr>
                      <p:cNvPr id="36872" name="Object 13">
                        <a:extLst>
                          <a:ext uri="{FF2B5EF4-FFF2-40B4-BE49-F238E27FC236}">
                            <a16:creationId xmlns:a16="http://schemas.microsoft.com/office/drawing/2014/main" id="{9CA683B4-B3EA-A71A-2B81-BDF284BF4B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27751" y="2016126"/>
                        <a:ext cx="3806825" cy="142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3" name="Text Box 14">
            <a:extLst>
              <a:ext uri="{FF2B5EF4-FFF2-40B4-BE49-F238E27FC236}">
                <a16:creationId xmlns:a16="http://schemas.microsoft.com/office/drawing/2014/main" id="{6B4D4D5A-DEC6-7582-D63D-CCE7239A6C40}"/>
              </a:ext>
            </a:extLst>
          </p:cNvPr>
          <p:cNvSpPr txBox="1">
            <a:spLocks noChangeArrowheads="1"/>
          </p:cNvSpPr>
          <p:nvPr/>
        </p:nvSpPr>
        <p:spPr bwMode="auto">
          <a:xfrm>
            <a:off x="6127751" y="3635376"/>
            <a:ext cx="3654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b="1">
                <a:solidFill>
                  <a:schemeClr val="tx1"/>
                </a:solidFill>
                <a:latin typeface="Palatino" pitchFamily="18" charset="0"/>
              </a:rPr>
              <a:t>High (S</a:t>
            </a:r>
            <a:r>
              <a:rPr lang="en-US" altLang="en-US" b="1" baseline="-25000">
                <a:solidFill>
                  <a:schemeClr val="tx1"/>
                </a:solidFill>
                <a:latin typeface="Palatino" pitchFamily="18" charset="0"/>
              </a:rPr>
              <a:t>c</a:t>
            </a:r>
            <a:r>
              <a:rPr lang="en-US" altLang="en-US" b="1">
                <a:solidFill>
                  <a:schemeClr val="tx1"/>
                </a:solidFill>
                <a:latin typeface="Palatino" pitchFamily="18" charset="0"/>
              </a:rPr>
              <a:t> = 1)	      Low (S</a:t>
            </a:r>
            <a:r>
              <a:rPr lang="en-US" altLang="en-US" b="1" baseline="-25000">
                <a:solidFill>
                  <a:schemeClr val="tx1"/>
                </a:solidFill>
                <a:latin typeface="Palatino" pitchFamily="18" charset="0"/>
              </a:rPr>
              <a:t>c</a:t>
            </a:r>
            <a:r>
              <a:rPr lang="en-US" altLang="en-US" b="1">
                <a:solidFill>
                  <a:schemeClr val="tx1"/>
                </a:solidFill>
                <a:latin typeface="Palatino" pitchFamily="18" charset="0"/>
              </a:rPr>
              <a:t> &lt; 1) </a:t>
            </a:r>
          </a:p>
        </p:txBody>
      </p:sp>
      <p:graphicFrame>
        <p:nvGraphicFramePr>
          <p:cNvPr id="36874" name="Object 15">
            <a:extLst>
              <a:ext uri="{FF2B5EF4-FFF2-40B4-BE49-F238E27FC236}">
                <a16:creationId xmlns:a16="http://schemas.microsoft.com/office/drawing/2014/main" id="{8E18DA89-7964-50F6-12BE-6672BC09C649}"/>
              </a:ext>
            </a:extLst>
          </p:cNvPr>
          <p:cNvGraphicFramePr>
            <a:graphicFrameLocks noChangeAspect="1"/>
          </p:cNvGraphicFramePr>
          <p:nvPr/>
        </p:nvGraphicFramePr>
        <p:xfrm>
          <a:off x="3176588" y="5067300"/>
          <a:ext cx="5383212" cy="520700"/>
        </p:xfrm>
        <a:graphic>
          <a:graphicData uri="http://schemas.openxmlformats.org/presentationml/2006/ole">
            <mc:AlternateContent xmlns:mc="http://schemas.openxmlformats.org/markup-compatibility/2006">
              <mc:Choice xmlns:v="urn:schemas-microsoft-com:vml" Requires="v">
                <p:oleObj name="Equation" r:id="rId8" imgW="2628900" imgH="254000" progId="Equation.3">
                  <p:embed/>
                </p:oleObj>
              </mc:Choice>
              <mc:Fallback>
                <p:oleObj name="Equation" r:id="rId8" imgW="2628900" imgH="254000" progId="Equation.3">
                  <p:embed/>
                  <p:pic>
                    <p:nvPicPr>
                      <p:cNvPr id="36874" name="Object 15">
                        <a:extLst>
                          <a:ext uri="{FF2B5EF4-FFF2-40B4-BE49-F238E27FC236}">
                            <a16:creationId xmlns:a16="http://schemas.microsoft.com/office/drawing/2014/main" id="{8E18DA89-7964-50F6-12BE-6672BC09C64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76588" y="5067300"/>
                        <a:ext cx="5383212"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5" name="Text Box 16">
            <a:extLst>
              <a:ext uri="{FF2B5EF4-FFF2-40B4-BE49-F238E27FC236}">
                <a16:creationId xmlns:a16="http://schemas.microsoft.com/office/drawing/2014/main" id="{488ED95D-B3F0-B5BE-EE98-7EAAEABBFC14}"/>
              </a:ext>
            </a:extLst>
          </p:cNvPr>
          <p:cNvSpPr txBox="1">
            <a:spLocks noChangeArrowheads="1"/>
          </p:cNvSpPr>
          <p:nvPr/>
        </p:nvSpPr>
        <p:spPr bwMode="auto">
          <a:xfrm>
            <a:off x="1990725" y="5564188"/>
            <a:ext cx="8274050" cy="881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The redeposition flow at a point i is calculated taking into account the emission flow form all the points k and the geometrical factor g</a:t>
            </a:r>
            <a:r>
              <a:rPr lang="en-GB" altLang="en-US" baseline="30000"/>
              <a:t>ik</a:t>
            </a:r>
            <a:r>
              <a:rPr lang="en-GB" altLang="en-US"/>
              <a:t> that accounts for distance and orientation between points.</a:t>
            </a:r>
            <a:endParaRPr lang="en-US" altLang="en-US"/>
          </a:p>
        </p:txBody>
      </p:sp>
      <p:sp>
        <p:nvSpPr>
          <p:cNvPr id="36876" name="Text Box 17">
            <a:extLst>
              <a:ext uri="{FF2B5EF4-FFF2-40B4-BE49-F238E27FC236}">
                <a16:creationId xmlns:a16="http://schemas.microsoft.com/office/drawing/2014/main" id="{EB09CC0A-2C72-CB0B-CF2D-F3A5FD7DA420}"/>
              </a:ext>
            </a:extLst>
          </p:cNvPr>
          <p:cNvSpPr txBox="1">
            <a:spLocks noChangeArrowheads="1"/>
          </p:cNvSpPr>
          <p:nvPr/>
        </p:nvSpPr>
        <p:spPr bwMode="auto">
          <a:xfrm>
            <a:off x="2947988" y="4211638"/>
            <a:ext cx="7239000" cy="297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400"/>
              <a:t>Emission flux is usually considered isotropic (cosine distribution) </a:t>
            </a:r>
            <a:endParaRPr lang="en-US" alt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6F9AA905-9C46-C8E8-F016-E2C84FA7A97A}"/>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8BC9051B-301A-4E34-9799-E5B3DEBE36D7}" type="slidenum">
              <a:rPr lang="en-US" altLang="en-US"/>
              <a:pPr>
                <a:lnSpc>
                  <a:spcPct val="100000"/>
                </a:lnSpc>
                <a:spcBef>
                  <a:spcPct val="0"/>
                </a:spcBef>
                <a:buClr>
                  <a:srgbClr val="F68933"/>
                </a:buClr>
                <a:buFontTx/>
                <a:buNone/>
              </a:pPr>
              <a:t>22</a:t>
            </a:fld>
            <a:endParaRPr lang="en-US" altLang="en-US"/>
          </a:p>
        </p:txBody>
      </p:sp>
      <p:sp>
        <p:nvSpPr>
          <p:cNvPr id="37891" name="Rectangle 15">
            <a:extLst>
              <a:ext uri="{FF2B5EF4-FFF2-40B4-BE49-F238E27FC236}">
                <a16:creationId xmlns:a16="http://schemas.microsoft.com/office/drawing/2014/main" id="{328449C3-A065-07A0-CF1C-058EC9A168E5}"/>
              </a:ext>
            </a:extLst>
          </p:cNvPr>
          <p:cNvSpPr>
            <a:spLocks noChangeArrowheads="1"/>
          </p:cNvSpPr>
          <p:nvPr/>
        </p:nvSpPr>
        <p:spPr bwMode="auto">
          <a:xfrm>
            <a:off x="1524001" y="3429001"/>
            <a:ext cx="4227513" cy="3001963"/>
          </a:xfrm>
          <a:prstGeom prst="rect">
            <a:avLst/>
          </a:prstGeom>
          <a:solidFill>
            <a:schemeClr val="bg1"/>
          </a:solidFill>
          <a:ln w="12700" algn="ctr">
            <a:solidFill>
              <a:srgbClr val="64646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7892" name="Rectangle 2">
            <a:extLst>
              <a:ext uri="{FF2B5EF4-FFF2-40B4-BE49-F238E27FC236}">
                <a16:creationId xmlns:a16="http://schemas.microsoft.com/office/drawing/2014/main" id="{63337609-454D-5A63-F9D7-A374943B6596}"/>
              </a:ext>
            </a:extLst>
          </p:cNvPr>
          <p:cNvSpPr>
            <a:spLocks noGrp="1" noChangeArrowheads="1"/>
          </p:cNvSpPr>
          <p:nvPr>
            <p:ph type="title"/>
          </p:nvPr>
        </p:nvSpPr>
        <p:spPr/>
        <p:txBody>
          <a:bodyPr/>
          <a:lstStyle/>
          <a:p>
            <a:pPr eaLnBrk="1" hangingPunct="1"/>
            <a:r>
              <a:rPr lang="en-GB" altLang="en-US"/>
              <a:t>Modelling CVD and PVD deposition</a:t>
            </a:r>
            <a:endParaRPr lang="en-US" altLang="en-US"/>
          </a:p>
        </p:txBody>
      </p:sp>
      <p:graphicFrame>
        <p:nvGraphicFramePr>
          <p:cNvPr id="37893" name="Object 3">
            <a:extLst>
              <a:ext uri="{FF2B5EF4-FFF2-40B4-BE49-F238E27FC236}">
                <a16:creationId xmlns:a16="http://schemas.microsoft.com/office/drawing/2014/main" id="{5A1F8DD3-42A0-D058-978B-DB57D4BECE93}"/>
              </a:ext>
            </a:extLst>
          </p:cNvPr>
          <p:cNvGraphicFramePr>
            <a:graphicFrameLocks noChangeAspect="1"/>
          </p:cNvGraphicFramePr>
          <p:nvPr/>
        </p:nvGraphicFramePr>
        <p:xfrm>
          <a:off x="2071689" y="1368425"/>
          <a:ext cx="8112125" cy="463550"/>
        </p:xfrm>
        <a:graphic>
          <a:graphicData uri="http://schemas.openxmlformats.org/presentationml/2006/ole">
            <mc:AlternateContent xmlns:mc="http://schemas.openxmlformats.org/markup-compatibility/2006">
              <mc:Choice xmlns:v="urn:schemas-microsoft-com:vml" Requires="v">
                <p:oleObj name="Equation" r:id="rId2" imgW="4445000" imgH="254000" progId="Equation.3">
                  <p:embed/>
                </p:oleObj>
              </mc:Choice>
              <mc:Fallback>
                <p:oleObj name="Equation" r:id="rId2" imgW="4445000" imgH="254000" progId="Equation.3">
                  <p:embed/>
                  <p:pic>
                    <p:nvPicPr>
                      <p:cNvPr id="37893" name="Object 3">
                        <a:extLst>
                          <a:ext uri="{FF2B5EF4-FFF2-40B4-BE49-F238E27FC236}">
                            <a16:creationId xmlns:a16="http://schemas.microsoft.com/office/drawing/2014/main" id="{5A1F8DD3-42A0-D058-978B-DB57D4BECE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9" y="1368425"/>
                        <a:ext cx="8112125"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4" name="Oval 12">
            <a:extLst>
              <a:ext uri="{FF2B5EF4-FFF2-40B4-BE49-F238E27FC236}">
                <a16:creationId xmlns:a16="http://schemas.microsoft.com/office/drawing/2014/main" id="{AFE6EB77-36FA-AE97-506D-EE72F5926D27}"/>
              </a:ext>
            </a:extLst>
          </p:cNvPr>
          <p:cNvSpPr>
            <a:spLocks noChangeArrowheads="1"/>
          </p:cNvSpPr>
          <p:nvPr/>
        </p:nvSpPr>
        <p:spPr bwMode="auto">
          <a:xfrm>
            <a:off x="5572125" y="1228726"/>
            <a:ext cx="763588" cy="720725"/>
          </a:xfrm>
          <a:prstGeom prst="ellipse">
            <a:avLst/>
          </a:prstGeom>
          <a:noFill/>
          <a:ln w="12700" algn="ctr">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7895" name="Oval 13">
            <a:extLst>
              <a:ext uri="{FF2B5EF4-FFF2-40B4-BE49-F238E27FC236}">
                <a16:creationId xmlns:a16="http://schemas.microsoft.com/office/drawing/2014/main" id="{6E22BA45-C899-CCDB-A774-0EAC434FF096}"/>
              </a:ext>
            </a:extLst>
          </p:cNvPr>
          <p:cNvSpPr>
            <a:spLocks noChangeArrowheads="1"/>
          </p:cNvSpPr>
          <p:nvPr/>
        </p:nvSpPr>
        <p:spPr bwMode="auto">
          <a:xfrm>
            <a:off x="8343901" y="1228725"/>
            <a:ext cx="823913" cy="736600"/>
          </a:xfrm>
          <a:prstGeom prst="ellipse">
            <a:avLst/>
          </a:prstGeom>
          <a:noFill/>
          <a:ln w="12700" algn="ctr">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grpSp>
        <p:nvGrpSpPr>
          <p:cNvPr id="37896" name="Group 17">
            <a:extLst>
              <a:ext uri="{FF2B5EF4-FFF2-40B4-BE49-F238E27FC236}">
                <a16:creationId xmlns:a16="http://schemas.microsoft.com/office/drawing/2014/main" id="{B2790117-FBA6-4416-E134-3B0D6A781FC1}"/>
              </a:ext>
            </a:extLst>
          </p:cNvPr>
          <p:cNvGrpSpPr>
            <a:grpSpLocks noChangeAspect="1"/>
          </p:cNvGrpSpPr>
          <p:nvPr/>
        </p:nvGrpSpPr>
        <p:grpSpPr bwMode="auto">
          <a:xfrm>
            <a:off x="-436563" y="2606675"/>
            <a:ext cx="7545388" cy="3797300"/>
            <a:chOff x="-1330" y="1642"/>
            <a:chExt cx="4845" cy="2392"/>
          </a:xfrm>
        </p:grpSpPr>
        <p:sp>
          <p:nvSpPr>
            <p:cNvPr id="37904" name="AutoShape 16">
              <a:extLst>
                <a:ext uri="{FF2B5EF4-FFF2-40B4-BE49-F238E27FC236}">
                  <a16:creationId xmlns:a16="http://schemas.microsoft.com/office/drawing/2014/main" id="{96E30541-1E35-D960-9F02-DE58DA5B7FC3}"/>
                </a:ext>
              </a:extLst>
            </p:cNvPr>
            <p:cNvSpPr>
              <a:spLocks noChangeAspect="1" noChangeArrowheads="1" noTextEdit="1"/>
            </p:cNvSpPr>
            <p:nvPr/>
          </p:nvSpPr>
          <p:spPr bwMode="auto">
            <a:xfrm>
              <a:off x="170" y="2437"/>
              <a:ext cx="2352" cy="1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7905" name="Rectangle 18">
              <a:extLst>
                <a:ext uri="{FF2B5EF4-FFF2-40B4-BE49-F238E27FC236}">
                  <a16:creationId xmlns:a16="http://schemas.microsoft.com/office/drawing/2014/main" id="{950BB186-D91F-F482-1663-0B7758C01005}"/>
                </a:ext>
              </a:extLst>
            </p:cNvPr>
            <p:cNvSpPr>
              <a:spLocks noChangeArrowheads="1"/>
            </p:cNvSpPr>
            <p:nvPr/>
          </p:nvSpPr>
          <p:spPr bwMode="auto">
            <a:xfrm>
              <a:off x="-1330" y="1642"/>
              <a:ext cx="4" cy="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 b="1">
                  <a:latin typeface="Times" panose="02020603050405020304" pitchFamily="18" charset="0"/>
                </a:rPr>
                <a:t>þ</a:t>
              </a:r>
              <a:endParaRPr lang="en-US" altLang="en-US"/>
            </a:p>
          </p:txBody>
        </p:sp>
        <p:sp>
          <p:nvSpPr>
            <p:cNvPr id="37906" name="Freeform 19">
              <a:extLst>
                <a:ext uri="{FF2B5EF4-FFF2-40B4-BE49-F238E27FC236}">
                  <a16:creationId xmlns:a16="http://schemas.microsoft.com/office/drawing/2014/main" id="{5C3059EF-4684-0BCD-1928-C089797F24D9}"/>
                </a:ext>
              </a:extLst>
            </p:cNvPr>
            <p:cNvSpPr>
              <a:spLocks/>
            </p:cNvSpPr>
            <p:nvPr/>
          </p:nvSpPr>
          <p:spPr bwMode="auto">
            <a:xfrm>
              <a:off x="466" y="2648"/>
              <a:ext cx="1766" cy="964"/>
            </a:xfrm>
            <a:custGeom>
              <a:avLst/>
              <a:gdLst>
                <a:gd name="T0" fmla="*/ 42 w 1766"/>
                <a:gd name="T1" fmla="*/ 718 h 964"/>
                <a:gd name="T2" fmla="*/ 126 w 1766"/>
                <a:gd name="T3" fmla="*/ 693 h 964"/>
                <a:gd name="T4" fmla="*/ 194 w 1766"/>
                <a:gd name="T5" fmla="*/ 668 h 964"/>
                <a:gd name="T6" fmla="*/ 263 w 1766"/>
                <a:gd name="T7" fmla="*/ 651 h 964"/>
                <a:gd name="T8" fmla="*/ 320 w 1766"/>
                <a:gd name="T9" fmla="*/ 626 h 964"/>
                <a:gd name="T10" fmla="*/ 380 w 1766"/>
                <a:gd name="T11" fmla="*/ 601 h 964"/>
                <a:gd name="T12" fmla="*/ 422 w 1766"/>
                <a:gd name="T13" fmla="*/ 584 h 964"/>
                <a:gd name="T14" fmla="*/ 457 w 1766"/>
                <a:gd name="T15" fmla="*/ 566 h 964"/>
                <a:gd name="T16" fmla="*/ 541 w 1766"/>
                <a:gd name="T17" fmla="*/ 516 h 964"/>
                <a:gd name="T18" fmla="*/ 651 w 1766"/>
                <a:gd name="T19" fmla="*/ 432 h 964"/>
                <a:gd name="T20" fmla="*/ 752 w 1766"/>
                <a:gd name="T21" fmla="*/ 348 h 964"/>
                <a:gd name="T22" fmla="*/ 854 w 1766"/>
                <a:gd name="T23" fmla="*/ 246 h 964"/>
                <a:gd name="T24" fmla="*/ 929 w 1766"/>
                <a:gd name="T25" fmla="*/ 169 h 964"/>
                <a:gd name="T26" fmla="*/ 971 w 1766"/>
                <a:gd name="T27" fmla="*/ 127 h 964"/>
                <a:gd name="T28" fmla="*/ 1006 w 1766"/>
                <a:gd name="T29" fmla="*/ 92 h 964"/>
                <a:gd name="T30" fmla="*/ 1040 w 1766"/>
                <a:gd name="T31" fmla="*/ 67 h 964"/>
                <a:gd name="T32" fmla="*/ 1083 w 1766"/>
                <a:gd name="T33" fmla="*/ 42 h 964"/>
                <a:gd name="T34" fmla="*/ 1132 w 1766"/>
                <a:gd name="T35" fmla="*/ 25 h 964"/>
                <a:gd name="T36" fmla="*/ 1192 w 1766"/>
                <a:gd name="T37" fmla="*/ 0 h 964"/>
                <a:gd name="T38" fmla="*/ 1252 w 1766"/>
                <a:gd name="T39" fmla="*/ 0 h 964"/>
                <a:gd name="T40" fmla="*/ 1301 w 1766"/>
                <a:gd name="T41" fmla="*/ 17 h 964"/>
                <a:gd name="T42" fmla="*/ 1344 w 1766"/>
                <a:gd name="T43" fmla="*/ 42 h 964"/>
                <a:gd name="T44" fmla="*/ 1396 w 1766"/>
                <a:gd name="T45" fmla="*/ 92 h 964"/>
                <a:gd name="T46" fmla="*/ 1445 w 1766"/>
                <a:gd name="T47" fmla="*/ 152 h 964"/>
                <a:gd name="T48" fmla="*/ 1480 w 1766"/>
                <a:gd name="T49" fmla="*/ 194 h 964"/>
                <a:gd name="T50" fmla="*/ 1495 w 1766"/>
                <a:gd name="T51" fmla="*/ 221 h 964"/>
                <a:gd name="T52" fmla="*/ 1513 w 1766"/>
                <a:gd name="T53" fmla="*/ 254 h 964"/>
                <a:gd name="T54" fmla="*/ 1530 w 1766"/>
                <a:gd name="T55" fmla="*/ 296 h 964"/>
                <a:gd name="T56" fmla="*/ 1555 w 1766"/>
                <a:gd name="T57" fmla="*/ 355 h 964"/>
                <a:gd name="T58" fmla="*/ 1572 w 1766"/>
                <a:gd name="T59" fmla="*/ 415 h 964"/>
                <a:gd name="T60" fmla="*/ 1597 w 1766"/>
                <a:gd name="T61" fmla="*/ 490 h 964"/>
                <a:gd name="T62" fmla="*/ 1632 w 1766"/>
                <a:gd name="T63" fmla="*/ 566 h 964"/>
                <a:gd name="T64" fmla="*/ 1766 w 1766"/>
                <a:gd name="T65" fmla="*/ 964 h 9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766" h="964">
                  <a:moveTo>
                    <a:pt x="0" y="735"/>
                  </a:moveTo>
                  <a:lnTo>
                    <a:pt x="42" y="718"/>
                  </a:lnTo>
                  <a:lnTo>
                    <a:pt x="84" y="710"/>
                  </a:lnTo>
                  <a:lnTo>
                    <a:pt x="126" y="693"/>
                  </a:lnTo>
                  <a:lnTo>
                    <a:pt x="161" y="685"/>
                  </a:lnTo>
                  <a:lnTo>
                    <a:pt x="194" y="668"/>
                  </a:lnTo>
                  <a:lnTo>
                    <a:pt x="228" y="659"/>
                  </a:lnTo>
                  <a:lnTo>
                    <a:pt x="263" y="651"/>
                  </a:lnTo>
                  <a:lnTo>
                    <a:pt x="295" y="634"/>
                  </a:lnTo>
                  <a:lnTo>
                    <a:pt x="320" y="626"/>
                  </a:lnTo>
                  <a:lnTo>
                    <a:pt x="355" y="616"/>
                  </a:lnTo>
                  <a:lnTo>
                    <a:pt x="380" y="601"/>
                  </a:lnTo>
                  <a:lnTo>
                    <a:pt x="397" y="591"/>
                  </a:lnTo>
                  <a:lnTo>
                    <a:pt x="422" y="584"/>
                  </a:lnTo>
                  <a:lnTo>
                    <a:pt x="439" y="574"/>
                  </a:lnTo>
                  <a:lnTo>
                    <a:pt x="457" y="566"/>
                  </a:lnTo>
                  <a:lnTo>
                    <a:pt x="474" y="549"/>
                  </a:lnTo>
                  <a:lnTo>
                    <a:pt x="541" y="516"/>
                  </a:lnTo>
                  <a:lnTo>
                    <a:pt x="591" y="474"/>
                  </a:lnTo>
                  <a:lnTo>
                    <a:pt x="651" y="432"/>
                  </a:lnTo>
                  <a:lnTo>
                    <a:pt x="702" y="390"/>
                  </a:lnTo>
                  <a:lnTo>
                    <a:pt x="752" y="348"/>
                  </a:lnTo>
                  <a:lnTo>
                    <a:pt x="802" y="296"/>
                  </a:lnTo>
                  <a:lnTo>
                    <a:pt x="854" y="246"/>
                  </a:lnTo>
                  <a:lnTo>
                    <a:pt x="904" y="194"/>
                  </a:lnTo>
                  <a:lnTo>
                    <a:pt x="929" y="169"/>
                  </a:lnTo>
                  <a:lnTo>
                    <a:pt x="946" y="144"/>
                  </a:lnTo>
                  <a:lnTo>
                    <a:pt x="971" y="127"/>
                  </a:lnTo>
                  <a:lnTo>
                    <a:pt x="988" y="110"/>
                  </a:lnTo>
                  <a:lnTo>
                    <a:pt x="1006" y="92"/>
                  </a:lnTo>
                  <a:lnTo>
                    <a:pt x="1023" y="77"/>
                  </a:lnTo>
                  <a:lnTo>
                    <a:pt x="1040" y="67"/>
                  </a:lnTo>
                  <a:lnTo>
                    <a:pt x="1056" y="60"/>
                  </a:lnTo>
                  <a:lnTo>
                    <a:pt x="1083" y="42"/>
                  </a:lnTo>
                  <a:lnTo>
                    <a:pt x="1108" y="35"/>
                  </a:lnTo>
                  <a:lnTo>
                    <a:pt x="1132" y="25"/>
                  </a:lnTo>
                  <a:lnTo>
                    <a:pt x="1167" y="8"/>
                  </a:lnTo>
                  <a:lnTo>
                    <a:pt x="1192" y="0"/>
                  </a:lnTo>
                  <a:lnTo>
                    <a:pt x="1217" y="0"/>
                  </a:lnTo>
                  <a:lnTo>
                    <a:pt x="1252" y="0"/>
                  </a:lnTo>
                  <a:lnTo>
                    <a:pt x="1276" y="8"/>
                  </a:lnTo>
                  <a:lnTo>
                    <a:pt x="1301" y="17"/>
                  </a:lnTo>
                  <a:lnTo>
                    <a:pt x="1326" y="25"/>
                  </a:lnTo>
                  <a:lnTo>
                    <a:pt x="1344" y="42"/>
                  </a:lnTo>
                  <a:lnTo>
                    <a:pt x="1369" y="67"/>
                  </a:lnTo>
                  <a:lnTo>
                    <a:pt x="1396" y="92"/>
                  </a:lnTo>
                  <a:lnTo>
                    <a:pt x="1420" y="119"/>
                  </a:lnTo>
                  <a:lnTo>
                    <a:pt x="1445" y="152"/>
                  </a:lnTo>
                  <a:lnTo>
                    <a:pt x="1470" y="186"/>
                  </a:lnTo>
                  <a:lnTo>
                    <a:pt x="1480" y="194"/>
                  </a:lnTo>
                  <a:lnTo>
                    <a:pt x="1488" y="204"/>
                  </a:lnTo>
                  <a:lnTo>
                    <a:pt x="1495" y="221"/>
                  </a:lnTo>
                  <a:lnTo>
                    <a:pt x="1505" y="236"/>
                  </a:lnTo>
                  <a:lnTo>
                    <a:pt x="1513" y="254"/>
                  </a:lnTo>
                  <a:lnTo>
                    <a:pt x="1522" y="278"/>
                  </a:lnTo>
                  <a:lnTo>
                    <a:pt x="1530" y="296"/>
                  </a:lnTo>
                  <a:lnTo>
                    <a:pt x="1538" y="330"/>
                  </a:lnTo>
                  <a:lnTo>
                    <a:pt x="1555" y="355"/>
                  </a:lnTo>
                  <a:lnTo>
                    <a:pt x="1564" y="380"/>
                  </a:lnTo>
                  <a:lnTo>
                    <a:pt x="1572" y="415"/>
                  </a:lnTo>
                  <a:lnTo>
                    <a:pt x="1589" y="447"/>
                  </a:lnTo>
                  <a:lnTo>
                    <a:pt x="1597" y="490"/>
                  </a:lnTo>
                  <a:lnTo>
                    <a:pt x="1614" y="524"/>
                  </a:lnTo>
                  <a:lnTo>
                    <a:pt x="1632" y="566"/>
                  </a:lnTo>
                  <a:lnTo>
                    <a:pt x="1649" y="609"/>
                  </a:lnTo>
                  <a:lnTo>
                    <a:pt x="1766" y="964"/>
                  </a:lnTo>
                  <a:lnTo>
                    <a:pt x="0" y="7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07" name="Freeform 20">
              <a:extLst>
                <a:ext uri="{FF2B5EF4-FFF2-40B4-BE49-F238E27FC236}">
                  <a16:creationId xmlns:a16="http://schemas.microsoft.com/office/drawing/2014/main" id="{E3B26BEF-E0B8-579C-FFE6-E9EFF73B3FC1}"/>
                </a:ext>
              </a:extLst>
            </p:cNvPr>
            <p:cNvSpPr>
              <a:spLocks/>
            </p:cNvSpPr>
            <p:nvPr/>
          </p:nvSpPr>
          <p:spPr bwMode="auto">
            <a:xfrm>
              <a:off x="466" y="2648"/>
              <a:ext cx="1766" cy="964"/>
            </a:xfrm>
            <a:custGeom>
              <a:avLst/>
              <a:gdLst>
                <a:gd name="T0" fmla="*/ 42 w 1766"/>
                <a:gd name="T1" fmla="*/ 718 h 964"/>
                <a:gd name="T2" fmla="*/ 126 w 1766"/>
                <a:gd name="T3" fmla="*/ 693 h 964"/>
                <a:gd name="T4" fmla="*/ 194 w 1766"/>
                <a:gd name="T5" fmla="*/ 668 h 964"/>
                <a:gd name="T6" fmla="*/ 263 w 1766"/>
                <a:gd name="T7" fmla="*/ 651 h 964"/>
                <a:gd name="T8" fmla="*/ 320 w 1766"/>
                <a:gd name="T9" fmla="*/ 626 h 964"/>
                <a:gd name="T10" fmla="*/ 380 w 1766"/>
                <a:gd name="T11" fmla="*/ 601 h 964"/>
                <a:gd name="T12" fmla="*/ 422 w 1766"/>
                <a:gd name="T13" fmla="*/ 584 h 964"/>
                <a:gd name="T14" fmla="*/ 457 w 1766"/>
                <a:gd name="T15" fmla="*/ 566 h 964"/>
                <a:gd name="T16" fmla="*/ 541 w 1766"/>
                <a:gd name="T17" fmla="*/ 516 h 964"/>
                <a:gd name="T18" fmla="*/ 651 w 1766"/>
                <a:gd name="T19" fmla="*/ 432 h 964"/>
                <a:gd name="T20" fmla="*/ 752 w 1766"/>
                <a:gd name="T21" fmla="*/ 348 h 964"/>
                <a:gd name="T22" fmla="*/ 854 w 1766"/>
                <a:gd name="T23" fmla="*/ 246 h 964"/>
                <a:gd name="T24" fmla="*/ 929 w 1766"/>
                <a:gd name="T25" fmla="*/ 169 h 964"/>
                <a:gd name="T26" fmla="*/ 971 w 1766"/>
                <a:gd name="T27" fmla="*/ 127 h 964"/>
                <a:gd name="T28" fmla="*/ 1006 w 1766"/>
                <a:gd name="T29" fmla="*/ 92 h 964"/>
                <a:gd name="T30" fmla="*/ 1040 w 1766"/>
                <a:gd name="T31" fmla="*/ 67 h 964"/>
                <a:gd name="T32" fmla="*/ 1083 w 1766"/>
                <a:gd name="T33" fmla="*/ 42 h 964"/>
                <a:gd name="T34" fmla="*/ 1132 w 1766"/>
                <a:gd name="T35" fmla="*/ 25 h 964"/>
                <a:gd name="T36" fmla="*/ 1192 w 1766"/>
                <a:gd name="T37" fmla="*/ 0 h 964"/>
                <a:gd name="T38" fmla="*/ 1252 w 1766"/>
                <a:gd name="T39" fmla="*/ 0 h 964"/>
                <a:gd name="T40" fmla="*/ 1301 w 1766"/>
                <a:gd name="T41" fmla="*/ 17 h 964"/>
                <a:gd name="T42" fmla="*/ 1344 w 1766"/>
                <a:gd name="T43" fmla="*/ 42 h 964"/>
                <a:gd name="T44" fmla="*/ 1396 w 1766"/>
                <a:gd name="T45" fmla="*/ 92 h 964"/>
                <a:gd name="T46" fmla="*/ 1445 w 1766"/>
                <a:gd name="T47" fmla="*/ 152 h 964"/>
                <a:gd name="T48" fmla="*/ 1480 w 1766"/>
                <a:gd name="T49" fmla="*/ 194 h 964"/>
                <a:gd name="T50" fmla="*/ 1495 w 1766"/>
                <a:gd name="T51" fmla="*/ 221 h 964"/>
                <a:gd name="T52" fmla="*/ 1513 w 1766"/>
                <a:gd name="T53" fmla="*/ 254 h 964"/>
                <a:gd name="T54" fmla="*/ 1530 w 1766"/>
                <a:gd name="T55" fmla="*/ 296 h 964"/>
                <a:gd name="T56" fmla="*/ 1555 w 1766"/>
                <a:gd name="T57" fmla="*/ 355 h 964"/>
                <a:gd name="T58" fmla="*/ 1572 w 1766"/>
                <a:gd name="T59" fmla="*/ 415 h 964"/>
                <a:gd name="T60" fmla="*/ 1597 w 1766"/>
                <a:gd name="T61" fmla="*/ 490 h 964"/>
                <a:gd name="T62" fmla="*/ 1632 w 1766"/>
                <a:gd name="T63" fmla="*/ 566 h 964"/>
                <a:gd name="T64" fmla="*/ 1766 w 1766"/>
                <a:gd name="T65" fmla="*/ 964 h 9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766" h="964">
                  <a:moveTo>
                    <a:pt x="0" y="735"/>
                  </a:moveTo>
                  <a:lnTo>
                    <a:pt x="42" y="718"/>
                  </a:lnTo>
                  <a:lnTo>
                    <a:pt x="84" y="710"/>
                  </a:lnTo>
                  <a:lnTo>
                    <a:pt x="126" y="693"/>
                  </a:lnTo>
                  <a:lnTo>
                    <a:pt x="161" y="685"/>
                  </a:lnTo>
                  <a:lnTo>
                    <a:pt x="194" y="668"/>
                  </a:lnTo>
                  <a:lnTo>
                    <a:pt x="228" y="659"/>
                  </a:lnTo>
                  <a:lnTo>
                    <a:pt x="263" y="651"/>
                  </a:lnTo>
                  <a:lnTo>
                    <a:pt x="295" y="634"/>
                  </a:lnTo>
                  <a:lnTo>
                    <a:pt x="320" y="626"/>
                  </a:lnTo>
                  <a:lnTo>
                    <a:pt x="355" y="616"/>
                  </a:lnTo>
                  <a:lnTo>
                    <a:pt x="380" y="601"/>
                  </a:lnTo>
                  <a:lnTo>
                    <a:pt x="397" y="591"/>
                  </a:lnTo>
                  <a:lnTo>
                    <a:pt x="422" y="584"/>
                  </a:lnTo>
                  <a:lnTo>
                    <a:pt x="439" y="574"/>
                  </a:lnTo>
                  <a:lnTo>
                    <a:pt x="457" y="566"/>
                  </a:lnTo>
                  <a:lnTo>
                    <a:pt x="474" y="549"/>
                  </a:lnTo>
                  <a:lnTo>
                    <a:pt x="541" y="516"/>
                  </a:lnTo>
                  <a:lnTo>
                    <a:pt x="591" y="474"/>
                  </a:lnTo>
                  <a:lnTo>
                    <a:pt x="651" y="432"/>
                  </a:lnTo>
                  <a:lnTo>
                    <a:pt x="702" y="390"/>
                  </a:lnTo>
                  <a:lnTo>
                    <a:pt x="752" y="348"/>
                  </a:lnTo>
                  <a:lnTo>
                    <a:pt x="802" y="296"/>
                  </a:lnTo>
                  <a:lnTo>
                    <a:pt x="854" y="246"/>
                  </a:lnTo>
                  <a:lnTo>
                    <a:pt x="904" y="194"/>
                  </a:lnTo>
                  <a:lnTo>
                    <a:pt x="929" y="169"/>
                  </a:lnTo>
                  <a:lnTo>
                    <a:pt x="946" y="144"/>
                  </a:lnTo>
                  <a:lnTo>
                    <a:pt x="971" y="127"/>
                  </a:lnTo>
                  <a:lnTo>
                    <a:pt x="988" y="110"/>
                  </a:lnTo>
                  <a:lnTo>
                    <a:pt x="1006" y="92"/>
                  </a:lnTo>
                  <a:lnTo>
                    <a:pt x="1023" y="77"/>
                  </a:lnTo>
                  <a:lnTo>
                    <a:pt x="1040" y="67"/>
                  </a:lnTo>
                  <a:lnTo>
                    <a:pt x="1056" y="60"/>
                  </a:lnTo>
                  <a:lnTo>
                    <a:pt x="1083" y="42"/>
                  </a:lnTo>
                  <a:lnTo>
                    <a:pt x="1108" y="35"/>
                  </a:lnTo>
                  <a:lnTo>
                    <a:pt x="1132" y="25"/>
                  </a:lnTo>
                  <a:lnTo>
                    <a:pt x="1167" y="8"/>
                  </a:lnTo>
                  <a:lnTo>
                    <a:pt x="1192" y="0"/>
                  </a:lnTo>
                  <a:lnTo>
                    <a:pt x="1217" y="0"/>
                  </a:lnTo>
                  <a:lnTo>
                    <a:pt x="1252" y="0"/>
                  </a:lnTo>
                  <a:lnTo>
                    <a:pt x="1276" y="8"/>
                  </a:lnTo>
                  <a:lnTo>
                    <a:pt x="1301" y="17"/>
                  </a:lnTo>
                  <a:lnTo>
                    <a:pt x="1326" y="25"/>
                  </a:lnTo>
                  <a:lnTo>
                    <a:pt x="1344" y="42"/>
                  </a:lnTo>
                  <a:lnTo>
                    <a:pt x="1369" y="67"/>
                  </a:lnTo>
                  <a:lnTo>
                    <a:pt x="1396" y="92"/>
                  </a:lnTo>
                  <a:lnTo>
                    <a:pt x="1420" y="119"/>
                  </a:lnTo>
                  <a:lnTo>
                    <a:pt x="1445" y="152"/>
                  </a:lnTo>
                  <a:lnTo>
                    <a:pt x="1470" y="186"/>
                  </a:lnTo>
                  <a:lnTo>
                    <a:pt x="1480" y="194"/>
                  </a:lnTo>
                  <a:lnTo>
                    <a:pt x="1488" y="204"/>
                  </a:lnTo>
                  <a:lnTo>
                    <a:pt x="1495" y="221"/>
                  </a:lnTo>
                  <a:lnTo>
                    <a:pt x="1505" y="236"/>
                  </a:lnTo>
                  <a:lnTo>
                    <a:pt x="1513" y="254"/>
                  </a:lnTo>
                  <a:lnTo>
                    <a:pt x="1522" y="278"/>
                  </a:lnTo>
                  <a:lnTo>
                    <a:pt x="1530" y="296"/>
                  </a:lnTo>
                  <a:lnTo>
                    <a:pt x="1538" y="330"/>
                  </a:lnTo>
                  <a:lnTo>
                    <a:pt x="1555" y="355"/>
                  </a:lnTo>
                  <a:lnTo>
                    <a:pt x="1564" y="380"/>
                  </a:lnTo>
                  <a:lnTo>
                    <a:pt x="1572" y="415"/>
                  </a:lnTo>
                  <a:lnTo>
                    <a:pt x="1589" y="447"/>
                  </a:lnTo>
                  <a:lnTo>
                    <a:pt x="1597" y="490"/>
                  </a:lnTo>
                  <a:lnTo>
                    <a:pt x="1614" y="524"/>
                  </a:lnTo>
                  <a:lnTo>
                    <a:pt x="1632" y="566"/>
                  </a:lnTo>
                  <a:lnTo>
                    <a:pt x="1649" y="609"/>
                  </a:lnTo>
                  <a:lnTo>
                    <a:pt x="1766" y="964"/>
                  </a:lnTo>
                  <a:lnTo>
                    <a:pt x="0" y="7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08" name="Freeform 21">
              <a:extLst>
                <a:ext uri="{FF2B5EF4-FFF2-40B4-BE49-F238E27FC236}">
                  <a16:creationId xmlns:a16="http://schemas.microsoft.com/office/drawing/2014/main" id="{BF238E47-66B2-6B18-041B-7BB9780D40C3}"/>
                </a:ext>
              </a:extLst>
            </p:cNvPr>
            <p:cNvSpPr>
              <a:spLocks/>
            </p:cNvSpPr>
            <p:nvPr/>
          </p:nvSpPr>
          <p:spPr bwMode="auto">
            <a:xfrm>
              <a:off x="473" y="2656"/>
              <a:ext cx="1767" cy="963"/>
            </a:xfrm>
            <a:custGeom>
              <a:avLst/>
              <a:gdLst>
                <a:gd name="T0" fmla="*/ 43 w 1767"/>
                <a:gd name="T1" fmla="*/ 718 h 963"/>
                <a:gd name="T2" fmla="*/ 127 w 1767"/>
                <a:gd name="T3" fmla="*/ 693 h 963"/>
                <a:gd name="T4" fmla="*/ 194 w 1767"/>
                <a:gd name="T5" fmla="*/ 668 h 963"/>
                <a:gd name="T6" fmla="*/ 263 w 1767"/>
                <a:gd name="T7" fmla="*/ 651 h 963"/>
                <a:gd name="T8" fmla="*/ 321 w 1767"/>
                <a:gd name="T9" fmla="*/ 626 h 963"/>
                <a:gd name="T10" fmla="*/ 381 w 1767"/>
                <a:gd name="T11" fmla="*/ 601 h 963"/>
                <a:gd name="T12" fmla="*/ 423 w 1767"/>
                <a:gd name="T13" fmla="*/ 583 h 963"/>
                <a:gd name="T14" fmla="*/ 457 w 1767"/>
                <a:gd name="T15" fmla="*/ 566 h 963"/>
                <a:gd name="T16" fmla="*/ 542 w 1767"/>
                <a:gd name="T17" fmla="*/ 516 h 963"/>
                <a:gd name="T18" fmla="*/ 651 w 1767"/>
                <a:gd name="T19" fmla="*/ 432 h 963"/>
                <a:gd name="T20" fmla="*/ 753 w 1767"/>
                <a:gd name="T21" fmla="*/ 347 h 963"/>
                <a:gd name="T22" fmla="*/ 855 w 1767"/>
                <a:gd name="T23" fmla="*/ 246 h 963"/>
                <a:gd name="T24" fmla="*/ 930 w 1767"/>
                <a:gd name="T25" fmla="*/ 169 h 963"/>
                <a:gd name="T26" fmla="*/ 972 w 1767"/>
                <a:gd name="T27" fmla="*/ 127 h 963"/>
                <a:gd name="T28" fmla="*/ 1006 w 1767"/>
                <a:gd name="T29" fmla="*/ 92 h 963"/>
                <a:gd name="T30" fmla="*/ 1041 w 1767"/>
                <a:gd name="T31" fmla="*/ 67 h 963"/>
                <a:gd name="T32" fmla="*/ 1083 w 1767"/>
                <a:gd name="T33" fmla="*/ 42 h 963"/>
                <a:gd name="T34" fmla="*/ 1133 w 1767"/>
                <a:gd name="T35" fmla="*/ 25 h 963"/>
                <a:gd name="T36" fmla="*/ 1193 w 1767"/>
                <a:gd name="T37" fmla="*/ 0 h 963"/>
                <a:gd name="T38" fmla="*/ 1252 w 1767"/>
                <a:gd name="T39" fmla="*/ 0 h 963"/>
                <a:gd name="T40" fmla="*/ 1302 w 1767"/>
                <a:gd name="T41" fmla="*/ 17 h 963"/>
                <a:gd name="T42" fmla="*/ 1344 w 1767"/>
                <a:gd name="T43" fmla="*/ 42 h 963"/>
                <a:gd name="T44" fmla="*/ 1396 w 1767"/>
                <a:gd name="T45" fmla="*/ 92 h 963"/>
                <a:gd name="T46" fmla="*/ 1446 w 1767"/>
                <a:gd name="T47" fmla="*/ 151 h 963"/>
                <a:gd name="T48" fmla="*/ 1481 w 1767"/>
                <a:gd name="T49" fmla="*/ 194 h 963"/>
                <a:gd name="T50" fmla="*/ 1496 w 1767"/>
                <a:gd name="T51" fmla="*/ 221 h 963"/>
                <a:gd name="T52" fmla="*/ 1513 w 1767"/>
                <a:gd name="T53" fmla="*/ 253 h 963"/>
                <a:gd name="T54" fmla="*/ 1531 w 1767"/>
                <a:gd name="T55" fmla="*/ 295 h 963"/>
                <a:gd name="T56" fmla="*/ 1556 w 1767"/>
                <a:gd name="T57" fmla="*/ 355 h 963"/>
                <a:gd name="T58" fmla="*/ 1573 w 1767"/>
                <a:gd name="T59" fmla="*/ 414 h 963"/>
                <a:gd name="T60" fmla="*/ 1598 w 1767"/>
                <a:gd name="T61" fmla="*/ 489 h 963"/>
                <a:gd name="T62" fmla="*/ 1632 w 1767"/>
                <a:gd name="T63" fmla="*/ 566 h 963"/>
                <a:gd name="T64" fmla="*/ 1767 w 1767"/>
                <a:gd name="T65" fmla="*/ 963 h 96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767" h="963">
                  <a:moveTo>
                    <a:pt x="0" y="735"/>
                  </a:moveTo>
                  <a:lnTo>
                    <a:pt x="43" y="718"/>
                  </a:lnTo>
                  <a:lnTo>
                    <a:pt x="85" y="710"/>
                  </a:lnTo>
                  <a:lnTo>
                    <a:pt x="127" y="693"/>
                  </a:lnTo>
                  <a:lnTo>
                    <a:pt x="162" y="685"/>
                  </a:lnTo>
                  <a:lnTo>
                    <a:pt x="194" y="668"/>
                  </a:lnTo>
                  <a:lnTo>
                    <a:pt x="229" y="658"/>
                  </a:lnTo>
                  <a:lnTo>
                    <a:pt x="263" y="651"/>
                  </a:lnTo>
                  <a:lnTo>
                    <a:pt x="296" y="633"/>
                  </a:lnTo>
                  <a:lnTo>
                    <a:pt x="321" y="626"/>
                  </a:lnTo>
                  <a:lnTo>
                    <a:pt x="356" y="616"/>
                  </a:lnTo>
                  <a:lnTo>
                    <a:pt x="381" y="601"/>
                  </a:lnTo>
                  <a:lnTo>
                    <a:pt x="398" y="591"/>
                  </a:lnTo>
                  <a:lnTo>
                    <a:pt x="423" y="583"/>
                  </a:lnTo>
                  <a:lnTo>
                    <a:pt x="440" y="574"/>
                  </a:lnTo>
                  <a:lnTo>
                    <a:pt x="457" y="566"/>
                  </a:lnTo>
                  <a:lnTo>
                    <a:pt x="475" y="549"/>
                  </a:lnTo>
                  <a:lnTo>
                    <a:pt x="542" y="516"/>
                  </a:lnTo>
                  <a:lnTo>
                    <a:pt x="592" y="474"/>
                  </a:lnTo>
                  <a:lnTo>
                    <a:pt x="651" y="432"/>
                  </a:lnTo>
                  <a:lnTo>
                    <a:pt x="703" y="389"/>
                  </a:lnTo>
                  <a:lnTo>
                    <a:pt x="753" y="347"/>
                  </a:lnTo>
                  <a:lnTo>
                    <a:pt x="803" y="295"/>
                  </a:lnTo>
                  <a:lnTo>
                    <a:pt x="855" y="246"/>
                  </a:lnTo>
                  <a:lnTo>
                    <a:pt x="905" y="194"/>
                  </a:lnTo>
                  <a:lnTo>
                    <a:pt x="930" y="169"/>
                  </a:lnTo>
                  <a:lnTo>
                    <a:pt x="947" y="144"/>
                  </a:lnTo>
                  <a:lnTo>
                    <a:pt x="972" y="127"/>
                  </a:lnTo>
                  <a:lnTo>
                    <a:pt x="989" y="109"/>
                  </a:lnTo>
                  <a:lnTo>
                    <a:pt x="1006" y="92"/>
                  </a:lnTo>
                  <a:lnTo>
                    <a:pt x="1024" y="77"/>
                  </a:lnTo>
                  <a:lnTo>
                    <a:pt x="1041" y="67"/>
                  </a:lnTo>
                  <a:lnTo>
                    <a:pt x="1056" y="59"/>
                  </a:lnTo>
                  <a:lnTo>
                    <a:pt x="1083" y="42"/>
                  </a:lnTo>
                  <a:lnTo>
                    <a:pt x="1108" y="34"/>
                  </a:lnTo>
                  <a:lnTo>
                    <a:pt x="1133" y="25"/>
                  </a:lnTo>
                  <a:lnTo>
                    <a:pt x="1168" y="7"/>
                  </a:lnTo>
                  <a:lnTo>
                    <a:pt x="1193" y="0"/>
                  </a:lnTo>
                  <a:lnTo>
                    <a:pt x="1218" y="0"/>
                  </a:lnTo>
                  <a:lnTo>
                    <a:pt x="1252" y="0"/>
                  </a:lnTo>
                  <a:lnTo>
                    <a:pt x="1277" y="7"/>
                  </a:lnTo>
                  <a:lnTo>
                    <a:pt x="1302" y="17"/>
                  </a:lnTo>
                  <a:lnTo>
                    <a:pt x="1327" y="25"/>
                  </a:lnTo>
                  <a:lnTo>
                    <a:pt x="1344" y="42"/>
                  </a:lnTo>
                  <a:lnTo>
                    <a:pt x="1369" y="67"/>
                  </a:lnTo>
                  <a:lnTo>
                    <a:pt x="1396" y="92"/>
                  </a:lnTo>
                  <a:lnTo>
                    <a:pt x="1421" y="119"/>
                  </a:lnTo>
                  <a:lnTo>
                    <a:pt x="1446" y="151"/>
                  </a:lnTo>
                  <a:lnTo>
                    <a:pt x="1471" y="186"/>
                  </a:lnTo>
                  <a:lnTo>
                    <a:pt x="1481" y="194"/>
                  </a:lnTo>
                  <a:lnTo>
                    <a:pt x="1488" y="203"/>
                  </a:lnTo>
                  <a:lnTo>
                    <a:pt x="1496" y="221"/>
                  </a:lnTo>
                  <a:lnTo>
                    <a:pt x="1506" y="236"/>
                  </a:lnTo>
                  <a:lnTo>
                    <a:pt x="1513" y="253"/>
                  </a:lnTo>
                  <a:lnTo>
                    <a:pt x="1523" y="278"/>
                  </a:lnTo>
                  <a:lnTo>
                    <a:pt x="1531" y="295"/>
                  </a:lnTo>
                  <a:lnTo>
                    <a:pt x="1538" y="330"/>
                  </a:lnTo>
                  <a:lnTo>
                    <a:pt x="1556" y="355"/>
                  </a:lnTo>
                  <a:lnTo>
                    <a:pt x="1565" y="380"/>
                  </a:lnTo>
                  <a:lnTo>
                    <a:pt x="1573" y="414"/>
                  </a:lnTo>
                  <a:lnTo>
                    <a:pt x="1590" y="447"/>
                  </a:lnTo>
                  <a:lnTo>
                    <a:pt x="1598" y="489"/>
                  </a:lnTo>
                  <a:lnTo>
                    <a:pt x="1615" y="524"/>
                  </a:lnTo>
                  <a:lnTo>
                    <a:pt x="1632" y="566"/>
                  </a:lnTo>
                  <a:lnTo>
                    <a:pt x="1650" y="608"/>
                  </a:lnTo>
                  <a:lnTo>
                    <a:pt x="1767" y="963"/>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09" name="Rectangle 22">
              <a:extLst>
                <a:ext uri="{FF2B5EF4-FFF2-40B4-BE49-F238E27FC236}">
                  <a16:creationId xmlns:a16="http://schemas.microsoft.com/office/drawing/2014/main" id="{93915B6D-512D-8CF9-3004-3D4DD272E3DA}"/>
                </a:ext>
              </a:extLst>
            </p:cNvPr>
            <p:cNvSpPr>
              <a:spLocks noChangeArrowheads="1"/>
            </p:cNvSpPr>
            <p:nvPr/>
          </p:nvSpPr>
          <p:spPr bwMode="auto">
            <a:xfrm>
              <a:off x="1044" y="3909"/>
              <a:ext cx="65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300" b="1">
                  <a:latin typeface="Times" panose="02020603050405020304" pitchFamily="18" charset="0"/>
                </a:rPr>
                <a:t>Incident angle</a:t>
              </a:r>
              <a:endParaRPr lang="en-US" altLang="en-US"/>
            </a:p>
          </p:txBody>
        </p:sp>
        <p:sp>
          <p:nvSpPr>
            <p:cNvPr id="37910" name="Rectangle 23">
              <a:extLst>
                <a:ext uri="{FF2B5EF4-FFF2-40B4-BE49-F238E27FC236}">
                  <a16:creationId xmlns:a16="http://schemas.microsoft.com/office/drawing/2014/main" id="{F1C9ADCF-E3AC-0DFC-C0A2-4B321B7E2A49}"/>
                </a:ext>
              </a:extLst>
            </p:cNvPr>
            <p:cNvSpPr>
              <a:spLocks noChangeArrowheads="1"/>
            </p:cNvSpPr>
            <p:nvPr/>
          </p:nvSpPr>
          <p:spPr bwMode="auto">
            <a:xfrm rot="-5400000">
              <a:off x="-526" y="2991"/>
              <a:ext cx="1387"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300" b="1">
                  <a:latin typeface="Times" panose="02020603050405020304" pitchFamily="18" charset="0"/>
                </a:rPr>
                <a:t>Normalized Sputtering yield, Y</a:t>
              </a:r>
              <a:endParaRPr lang="en-US" altLang="en-US"/>
            </a:p>
          </p:txBody>
        </p:sp>
        <p:grpSp>
          <p:nvGrpSpPr>
            <p:cNvPr id="37911" name="Group 36">
              <a:extLst>
                <a:ext uri="{FF2B5EF4-FFF2-40B4-BE49-F238E27FC236}">
                  <a16:creationId xmlns:a16="http://schemas.microsoft.com/office/drawing/2014/main" id="{3ED4428E-81B1-0B18-A403-5525618E5D91}"/>
                </a:ext>
              </a:extLst>
            </p:cNvPr>
            <p:cNvGrpSpPr>
              <a:grpSpLocks/>
            </p:cNvGrpSpPr>
            <p:nvPr/>
          </p:nvGrpSpPr>
          <p:grpSpPr bwMode="auto">
            <a:xfrm>
              <a:off x="470" y="2652"/>
              <a:ext cx="24" cy="913"/>
              <a:chOff x="470" y="2652"/>
              <a:chExt cx="24" cy="913"/>
            </a:xfrm>
          </p:grpSpPr>
          <p:sp>
            <p:nvSpPr>
              <p:cNvPr id="37979" name="Line 24">
                <a:extLst>
                  <a:ext uri="{FF2B5EF4-FFF2-40B4-BE49-F238E27FC236}">
                    <a16:creationId xmlns:a16="http://schemas.microsoft.com/office/drawing/2014/main" id="{7420C24E-ED4B-F6AC-A20A-6EF8B45640FB}"/>
                  </a:ext>
                </a:extLst>
              </p:cNvPr>
              <p:cNvSpPr>
                <a:spLocks noChangeShapeType="1"/>
              </p:cNvSpPr>
              <p:nvPr/>
            </p:nvSpPr>
            <p:spPr bwMode="auto">
              <a:xfrm flipH="1">
                <a:off x="470" y="3564"/>
                <a:ext cx="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0" name="Line 25">
                <a:extLst>
                  <a:ext uri="{FF2B5EF4-FFF2-40B4-BE49-F238E27FC236}">
                    <a16:creationId xmlns:a16="http://schemas.microsoft.com/office/drawing/2014/main" id="{04083799-B891-CD8E-55E7-335C02A1992D}"/>
                  </a:ext>
                </a:extLst>
              </p:cNvPr>
              <p:cNvSpPr>
                <a:spLocks noChangeShapeType="1"/>
              </p:cNvSpPr>
              <p:nvPr/>
            </p:nvSpPr>
            <p:spPr bwMode="auto">
              <a:xfrm>
                <a:off x="479" y="3564"/>
                <a:ext cx="1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1" name="Line 26">
                <a:extLst>
                  <a:ext uri="{FF2B5EF4-FFF2-40B4-BE49-F238E27FC236}">
                    <a16:creationId xmlns:a16="http://schemas.microsoft.com/office/drawing/2014/main" id="{C282F36D-DC43-EA2D-7649-EDAF4AD0EAE6}"/>
                  </a:ext>
                </a:extLst>
              </p:cNvPr>
              <p:cNvSpPr>
                <a:spLocks noChangeShapeType="1"/>
              </p:cNvSpPr>
              <p:nvPr/>
            </p:nvSpPr>
            <p:spPr bwMode="auto">
              <a:xfrm flipH="1">
                <a:off x="470" y="3379"/>
                <a:ext cx="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2" name="Line 27">
                <a:extLst>
                  <a:ext uri="{FF2B5EF4-FFF2-40B4-BE49-F238E27FC236}">
                    <a16:creationId xmlns:a16="http://schemas.microsoft.com/office/drawing/2014/main" id="{C274894A-F8F3-843A-719D-8D64992B17EE}"/>
                  </a:ext>
                </a:extLst>
              </p:cNvPr>
              <p:cNvSpPr>
                <a:spLocks noChangeShapeType="1"/>
              </p:cNvSpPr>
              <p:nvPr/>
            </p:nvSpPr>
            <p:spPr bwMode="auto">
              <a:xfrm>
                <a:off x="479" y="3379"/>
                <a:ext cx="1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3" name="Line 28">
                <a:extLst>
                  <a:ext uri="{FF2B5EF4-FFF2-40B4-BE49-F238E27FC236}">
                    <a16:creationId xmlns:a16="http://schemas.microsoft.com/office/drawing/2014/main" id="{8A2853E0-6114-7422-52A0-F7A4431D1BF1}"/>
                  </a:ext>
                </a:extLst>
              </p:cNvPr>
              <p:cNvSpPr>
                <a:spLocks noChangeShapeType="1"/>
              </p:cNvSpPr>
              <p:nvPr/>
            </p:nvSpPr>
            <p:spPr bwMode="auto">
              <a:xfrm flipH="1">
                <a:off x="470" y="3201"/>
                <a:ext cx="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4" name="Line 29">
                <a:extLst>
                  <a:ext uri="{FF2B5EF4-FFF2-40B4-BE49-F238E27FC236}">
                    <a16:creationId xmlns:a16="http://schemas.microsoft.com/office/drawing/2014/main" id="{8BD8151F-A887-32C0-8FD6-61BAE232C540}"/>
                  </a:ext>
                </a:extLst>
              </p:cNvPr>
              <p:cNvSpPr>
                <a:spLocks noChangeShapeType="1"/>
              </p:cNvSpPr>
              <p:nvPr/>
            </p:nvSpPr>
            <p:spPr bwMode="auto">
              <a:xfrm>
                <a:off x="479" y="3201"/>
                <a:ext cx="1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5" name="Line 30">
                <a:extLst>
                  <a:ext uri="{FF2B5EF4-FFF2-40B4-BE49-F238E27FC236}">
                    <a16:creationId xmlns:a16="http://schemas.microsoft.com/office/drawing/2014/main" id="{B2DE2D68-02D7-CED0-297B-FB17B9AFC3E5}"/>
                  </a:ext>
                </a:extLst>
              </p:cNvPr>
              <p:cNvSpPr>
                <a:spLocks noChangeShapeType="1"/>
              </p:cNvSpPr>
              <p:nvPr/>
            </p:nvSpPr>
            <p:spPr bwMode="auto">
              <a:xfrm flipH="1">
                <a:off x="470" y="3015"/>
                <a:ext cx="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6" name="Line 31">
                <a:extLst>
                  <a:ext uri="{FF2B5EF4-FFF2-40B4-BE49-F238E27FC236}">
                    <a16:creationId xmlns:a16="http://schemas.microsoft.com/office/drawing/2014/main" id="{24FC6B73-7B41-51D0-490D-9B8617BF8675}"/>
                  </a:ext>
                </a:extLst>
              </p:cNvPr>
              <p:cNvSpPr>
                <a:spLocks noChangeShapeType="1"/>
              </p:cNvSpPr>
              <p:nvPr/>
            </p:nvSpPr>
            <p:spPr bwMode="auto">
              <a:xfrm>
                <a:off x="479" y="3015"/>
                <a:ext cx="1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7" name="Line 32">
                <a:extLst>
                  <a:ext uri="{FF2B5EF4-FFF2-40B4-BE49-F238E27FC236}">
                    <a16:creationId xmlns:a16="http://schemas.microsoft.com/office/drawing/2014/main" id="{AAD0A389-119F-91DC-8EAC-F23A1C793BF7}"/>
                  </a:ext>
                </a:extLst>
              </p:cNvPr>
              <p:cNvSpPr>
                <a:spLocks noChangeShapeType="1"/>
              </p:cNvSpPr>
              <p:nvPr/>
            </p:nvSpPr>
            <p:spPr bwMode="auto">
              <a:xfrm flipH="1">
                <a:off x="470" y="2838"/>
                <a:ext cx="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8" name="Line 33">
                <a:extLst>
                  <a:ext uri="{FF2B5EF4-FFF2-40B4-BE49-F238E27FC236}">
                    <a16:creationId xmlns:a16="http://schemas.microsoft.com/office/drawing/2014/main" id="{93183106-D9CE-86DE-B767-209FDC955DE6}"/>
                  </a:ext>
                </a:extLst>
              </p:cNvPr>
              <p:cNvSpPr>
                <a:spLocks noChangeShapeType="1"/>
              </p:cNvSpPr>
              <p:nvPr/>
            </p:nvSpPr>
            <p:spPr bwMode="auto">
              <a:xfrm>
                <a:off x="479" y="2838"/>
                <a:ext cx="1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9" name="Line 34">
                <a:extLst>
                  <a:ext uri="{FF2B5EF4-FFF2-40B4-BE49-F238E27FC236}">
                    <a16:creationId xmlns:a16="http://schemas.microsoft.com/office/drawing/2014/main" id="{09818D1F-FE49-8C4B-4A14-7226FFDB63AE}"/>
                  </a:ext>
                </a:extLst>
              </p:cNvPr>
              <p:cNvSpPr>
                <a:spLocks noChangeShapeType="1"/>
              </p:cNvSpPr>
              <p:nvPr/>
            </p:nvSpPr>
            <p:spPr bwMode="auto">
              <a:xfrm flipH="1">
                <a:off x="470" y="2652"/>
                <a:ext cx="9"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90" name="Line 35">
                <a:extLst>
                  <a:ext uri="{FF2B5EF4-FFF2-40B4-BE49-F238E27FC236}">
                    <a16:creationId xmlns:a16="http://schemas.microsoft.com/office/drawing/2014/main" id="{E5EB7DE2-25C3-CD45-61C1-E9939C69CA43}"/>
                  </a:ext>
                </a:extLst>
              </p:cNvPr>
              <p:cNvSpPr>
                <a:spLocks noChangeShapeType="1"/>
              </p:cNvSpPr>
              <p:nvPr/>
            </p:nvSpPr>
            <p:spPr bwMode="auto">
              <a:xfrm>
                <a:off x="479" y="2652"/>
                <a:ext cx="1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12" name="Group 47">
              <a:extLst>
                <a:ext uri="{FF2B5EF4-FFF2-40B4-BE49-F238E27FC236}">
                  <a16:creationId xmlns:a16="http://schemas.microsoft.com/office/drawing/2014/main" id="{8876193A-FE84-2A54-E11A-6BF040145182}"/>
                </a:ext>
              </a:extLst>
            </p:cNvPr>
            <p:cNvGrpSpPr>
              <a:grpSpLocks/>
            </p:cNvGrpSpPr>
            <p:nvPr/>
          </p:nvGrpSpPr>
          <p:grpSpPr bwMode="auto">
            <a:xfrm>
              <a:off x="470" y="3725"/>
              <a:ext cx="1794" cy="25"/>
              <a:chOff x="470" y="3725"/>
              <a:chExt cx="1794" cy="25"/>
            </a:xfrm>
          </p:grpSpPr>
          <p:sp>
            <p:nvSpPr>
              <p:cNvPr id="37969" name="Line 37">
                <a:extLst>
                  <a:ext uri="{FF2B5EF4-FFF2-40B4-BE49-F238E27FC236}">
                    <a16:creationId xmlns:a16="http://schemas.microsoft.com/office/drawing/2014/main" id="{FADA1D50-F081-9623-48F9-6B3438704F27}"/>
                  </a:ext>
                </a:extLst>
              </p:cNvPr>
              <p:cNvSpPr>
                <a:spLocks noChangeShapeType="1"/>
              </p:cNvSpPr>
              <p:nvPr/>
            </p:nvSpPr>
            <p:spPr bwMode="auto">
              <a:xfrm flipV="1">
                <a:off x="470"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0" name="Line 38">
                <a:extLst>
                  <a:ext uri="{FF2B5EF4-FFF2-40B4-BE49-F238E27FC236}">
                    <a16:creationId xmlns:a16="http://schemas.microsoft.com/office/drawing/2014/main" id="{0EEF9F5A-4B27-B8A9-BB0D-D967BD15A684}"/>
                  </a:ext>
                </a:extLst>
              </p:cNvPr>
              <p:cNvSpPr>
                <a:spLocks noChangeShapeType="1"/>
              </p:cNvSpPr>
              <p:nvPr/>
            </p:nvSpPr>
            <p:spPr bwMode="auto">
              <a:xfrm flipV="1">
                <a:off x="673"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1" name="Line 39">
                <a:extLst>
                  <a:ext uri="{FF2B5EF4-FFF2-40B4-BE49-F238E27FC236}">
                    <a16:creationId xmlns:a16="http://schemas.microsoft.com/office/drawing/2014/main" id="{674DAAA3-B065-A951-F283-5A17B66D8700}"/>
                  </a:ext>
                </a:extLst>
              </p:cNvPr>
              <p:cNvSpPr>
                <a:spLocks noChangeShapeType="1"/>
              </p:cNvSpPr>
              <p:nvPr/>
            </p:nvSpPr>
            <p:spPr bwMode="auto">
              <a:xfrm flipV="1">
                <a:off x="867"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2" name="Line 40">
                <a:extLst>
                  <a:ext uri="{FF2B5EF4-FFF2-40B4-BE49-F238E27FC236}">
                    <a16:creationId xmlns:a16="http://schemas.microsoft.com/office/drawing/2014/main" id="{8FD95256-0532-46BA-7C0C-3E1FA57C5510}"/>
                  </a:ext>
                </a:extLst>
              </p:cNvPr>
              <p:cNvSpPr>
                <a:spLocks noChangeShapeType="1"/>
              </p:cNvSpPr>
              <p:nvPr/>
            </p:nvSpPr>
            <p:spPr bwMode="auto">
              <a:xfrm flipV="1">
                <a:off x="1061"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3" name="Line 41">
                <a:extLst>
                  <a:ext uri="{FF2B5EF4-FFF2-40B4-BE49-F238E27FC236}">
                    <a16:creationId xmlns:a16="http://schemas.microsoft.com/office/drawing/2014/main" id="{F2030415-5123-C71D-FC5E-521D868D4390}"/>
                  </a:ext>
                </a:extLst>
              </p:cNvPr>
              <p:cNvSpPr>
                <a:spLocks noChangeShapeType="1"/>
              </p:cNvSpPr>
              <p:nvPr/>
            </p:nvSpPr>
            <p:spPr bwMode="auto">
              <a:xfrm flipV="1">
                <a:off x="1264"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4" name="Line 42">
                <a:extLst>
                  <a:ext uri="{FF2B5EF4-FFF2-40B4-BE49-F238E27FC236}">
                    <a16:creationId xmlns:a16="http://schemas.microsoft.com/office/drawing/2014/main" id="{303114E5-E98E-FC77-8966-60EB942F6595}"/>
                  </a:ext>
                </a:extLst>
              </p:cNvPr>
              <p:cNvSpPr>
                <a:spLocks noChangeShapeType="1"/>
              </p:cNvSpPr>
              <p:nvPr/>
            </p:nvSpPr>
            <p:spPr bwMode="auto">
              <a:xfrm flipV="1">
                <a:off x="1468"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5" name="Line 43">
                <a:extLst>
                  <a:ext uri="{FF2B5EF4-FFF2-40B4-BE49-F238E27FC236}">
                    <a16:creationId xmlns:a16="http://schemas.microsoft.com/office/drawing/2014/main" id="{3AB382AC-17DE-9B41-B383-7EB8947C37DD}"/>
                  </a:ext>
                </a:extLst>
              </p:cNvPr>
              <p:cNvSpPr>
                <a:spLocks noChangeShapeType="1"/>
              </p:cNvSpPr>
              <p:nvPr/>
            </p:nvSpPr>
            <p:spPr bwMode="auto">
              <a:xfrm flipV="1">
                <a:off x="1662"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6" name="Line 44">
                <a:extLst>
                  <a:ext uri="{FF2B5EF4-FFF2-40B4-BE49-F238E27FC236}">
                    <a16:creationId xmlns:a16="http://schemas.microsoft.com/office/drawing/2014/main" id="{41AF6A65-5E41-866D-35E1-0BC125BA22EB}"/>
                  </a:ext>
                </a:extLst>
              </p:cNvPr>
              <p:cNvSpPr>
                <a:spLocks noChangeShapeType="1"/>
              </p:cNvSpPr>
              <p:nvPr/>
            </p:nvSpPr>
            <p:spPr bwMode="auto">
              <a:xfrm flipV="1">
                <a:off x="1865"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7" name="Line 45">
                <a:extLst>
                  <a:ext uri="{FF2B5EF4-FFF2-40B4-BE49-F238E27FC236}">
                    <a16:creationId xmlns:a16="http://schemas.microsoft.com/office/drawing/2014/main" id="{5BC63609-2D02-D19D-A308-F310E220BAA3}"/>
                  </a:ext>
                </a:extLst>
              </p:cNvPr>
              <p:cNvSpPr>
                <a:spLocks noChangeShapeType="1"/>
              </p:cNvSpPr>
              <p:nvPr/>
            </p:nvSpPr>
            <p:spPr bwMode="auto">
              <a:xfrm flipV="1">
                <a:off x="2059"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8" name="Line 46">
                <a:extLst>
                  <a:ext uri="{FF2B5EF4-FFF2-40B4-BE49-F238E27FC236}">
                    <a16:creationId xmlns:a16="http://schemas.microsoft.com/office/drawing/2014/main" id="{7D7A6705-1F6A-0FC3-F9C9-D914B447DE3D}"/>
                  </a:ext>
                </a:extLst>
              </p:cNvPr>
              <p:cNvSpPr>
                <a:spLocks noChangeShapeType="1"/>
              </p:cNvSpPr>
              <p:nvPr/>
            </p:nvSpPr>
            <p:spPr bwMode="auto">
              <a:xfrm flipV="1">
                <a:off x="2263" y="3725"/>
                <a:ext cx="1"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13" name="Group 52">
              <a:extLst>
                <a:ext uri="{FF2B5EF4-FFF2-40B4-BE49-F238E27FC236}">
                  <a16:creationId xmlns:a16="http://schemas.microsoft.com/office/drawing/2014/main" id="{B268305B-802F-93AD-A6EA-619326983EF1}"/>
                </a:ext>
              </a:extLst>
            </p:cNvPr>
            <p:cNvGrpSpPr>
              <a:grpSpLocks/>
            </p:cNvGrpSpPr>
            <p:nvPr/>
          </p:nvGrpSpPr>
          <p:grpSpPr bwMode="auto">
            <a:xfrm>
              <a:off x="470" y="2483"/>
              <a:ext cx="1794" cy="1268"/>
              <a:chOff x="470" y="2483"/>
              <a:chExt cx="1794" cy="1268"/>
            </a:xfrm>
          </p:grpSpPr>
          <p:sp>
            <p:nvSpPr>
              <p:cNvPr id="37965" name="Line 48">
                <a:extLst>
                  <a:ext uri="{FF2B5EF4-FFF2-40B4-BE49-F238E27FC236}">
                    <a16:creationId xmlns:a16="http://schemas.microsoft.com/office/drawing/2014/main" id="{60561015-01DC-ADBD-B44F-462F4E902433}"/>
                  </a:ext>
                </a:extLst>
              </p:cNvPr>
              <p:cNvSpPr>
                <a:spLocks noChangeShapeType="1"/>
              </p:cNvSpPr>
              <p:nvPr/>
            </p:nvSpPr>
            <p:spPr bwMode="auto">
              <a:xfrm flipV="1">
                <a:off x="470" y="2483"/>
                <a:ext cx="1" cy="12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6" name="Line 49">
                <a:extLst>
                  <a:ext uri="{FF2B5EF4-FFF2-40B4-BE49-F238E27FC236}">
                    <a16:creationId xmlns:a16="http://schemas.microsoft.com/office/drawing/2014/main" id="{9918BEFF-6EDD-A79B-BCC4-8819243502A6}"/>
                  </a:ext>
                </a:extLst>
              </p:cNvPr>
              <p:cNvSpPr>
                <a:spLocks noChangeShapeType="1"/>
              </p:cNvSpPr>
              <p:nvPr/>
            </p:nvSpPr>
            <p:spPr bwMode="auto">
              <a:xfrm flipV="1">
                <a:off x="2263" y="2483"/>
                <a:ext cx="1" cy="12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7" name="Line 50">
                <a:extLst>
                  <a:ext uri="{FF2B5EF4-FFF2-40B4-BE49-F238E27FC236}">
                    <a16:creationId xmlns:a16="http://schemas.microsoft.com/office/drawing/2014/main" id="{FAB8EFF7-959D-109B-DA1F-A4CF187EDE3D}"/>
                  </a:ext>
                </a:extLst>
              </p:cNvPr>
              <p:cNvSpPr>
                <a:spLocks noChangeShapeType="1"/>
              </p:cNvSpPr>
              <p:nvPr/>
            </p:nvSpPr>
            <p:spPr bwMode="auto">
              <a:xfrm>
                <a:off x="470" y="3750"/>
                <a:ext cx="1793"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8" name="Line 51">
                <a:extLst>
                  <a:ext uri="{FF2B5EF4-FFF2-40B4-BE49-F238E27FC236}">
                    <a16:creationId xmlns:a16="http://schemas.microsoft.com/office/drawing/2014/main" id="{08F9BAA9-A55D-9A74-E51C-DF52E8E1830E}"/>
                  </a:ext>
                </a:extLst>
              </p:cNvPr>
              <p:cNvSpPr>
                <a:spLocks noChangeShapeType="1"/>
              </p:cNvSpPr>
              <p:nvPr/>
            </p:nvSpPr>
            <p:spPr bwMode="auto">
              <a:xfrm>
                <a:off x="470" y="2483"/>
                <a:ext cx="1793"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14" name="Line 53">
              <a:extLst>
                <a:ext uri="{FF2B5EF4-FFF2-40B4-BE49-F238E27FC236}">
                  <a16:creationId xmlns:a16="http://schemas.microsoft.com/office/drawing/2014/main" id="{AD9400DB-BCA8-3D03-E3B8-BF66F5235E0B}"/>
                </a:ext>
              </a:extLst>
            </p:cNvPr>
            <p:cNvSpPr>
              <a:spLocks noChangeShapeType="1"/>
            </p:cNvSpPr>
            <p:nvPr/>
          </p:nvSpPr>
          <p:spPr bwMode="auto">
            <a:xfrm>
              <a:off x="470" y="3750"/>
              <a:ext cx="1"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5" name="Line 54">
              <a:extLst>
                <a:ext uri="{FF2B5EF4-FFF2-40B4-BE49-F238E27FC236}">
                  <a16:creationId xmlns:a16="http://schemas.microsoft.com/office/drawing/2014/main" id="{3B886935-8134-A711-1E33-3FBAEB3543BC}"/>
                </a:ext>
              </a:extLst>
            </p:cNvPr>
            <p:cNvSpPr>
              <a:spLocks noChangeShapeType="1"/>
            </p:cNvSpPr>
            <p:nvPr/>
          </p:nvSpPr>
          <p:spPr bwMode="auto">
            <a:xfrm>
              <a:off x="2263" y="2483"/>
              <a:ext cx="1"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16" name="Group 59">
              <a:extLst>
                <a:ext uri="{FF2B5EF4-FFF2-40B4-BE49-F238E27FC236}">
                  <a16:creationId xmlns:a16="http://schemas.microsoft.com/office/drawing/2014/main" id="{515C671C-AB03-AEB8-5794-808A09990B22}"/>
                </a:ext>
              </a:extLst>
            </p:cNvPr>
            <p:cNvGrpSpPr>
              <a:grpSpLocks/>
            </p:cNvGrpSpPr>
            <p:nvPr/>
          </p:nvGrpSpPr>
          <p:grpSpPr bwMode="auto">
            <a:xfrm>
              <a:off x="366" y="2602"/>
              <a:ext cx="58" cy="1182"/>
              <a:chOff x="366" y="2602"/>
              <a:chExt cx="58" cy="1182"/>
            </a:xfrm>
          </p:grpSpPr>
          <p:sp>
            <p:nvSpPr>
              <p:cNvPr id="37961" name="Rectangle 55">
                <a:extLst>
                  <a:ext uri="{FF2B5EF4-FFF2-40B4-BE49-F238E27FC236}">
                    <a16:creationId xmlns:a16="http://schemas.microsoft.com/office/drawing/2014/main" id="{3379BCBE-B8BD-854A-87EC-CA9AD21942B3}"/>
                  </a:ext>
                </a:extLst>
              </p:cNvPr>
              <p:cNvSpPr>
                <a:spLocks noChangeArrowheads="1"/>
              </p:cNvSpPr>
              <p:nvPr/>
            </p:nvSpPr>
            <p:spPr bwMode="auto">
              <a:xfrm>
                <a:off x="379" y="3692"/>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62" name="Rectangle 56">
                <a:extLst>
                  <a:ext uri="{FF2B5EF4-FFF2-40B4-BE49-F238E27FC236}">
                    <a16:creationId xmlns:a16="http://schemas.microsoft.com/office/drawing/2014/main" id="{67C30460-28AD-FEA8-6F9A-5ED4C9897403}"/>
                  </a:ext>
                </a:extLst>
              </p:cNvPr>
              <p:cNvSpPr>
                <a:spLocks noChangeArrowheads="1"/>
              </p:cNvSpPr>
              <p:nvPr/>
            </p:nvSpPr>
            <p:spPr bwMode="auto">
              <a:xfrm>
                <a:off x="366" y="3320"/>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1</a:t>
                </a:r>
                <a:endParaRPr lang="en-US" altLang="en-US"/>
              </a:p>
            </p:txBody>
          </p:sp>
          <p:sp>
            <p:nvSpPr>
              <p:cNvPr id="37963" name="Rectangle 57">
                <a:extLst>
                  <a:ext uri="{FF2B5EF4-FFF2-40B4-BE49-F238E27FC236}">
                    <a16:creationId xmlns:a16="http://schemas.microsoft.com/office/drawing/2014/main" id="{4B213AC5-BE44-E9A5-091B-4C7C44BFA0A7}"/>
                  </a:ext>
                </a:extLst>
              </p:cNvPr>
              <p:cNvSpPr>
                <a:spLocks noChangeArrowheads="1"/>
              </p:cNvSpPr>
              <p:nvPr/>
            </p:nvSpPr>
            <p:spPr bwMode="auto">
              <a:xfrm>
                <a:off x="372" y="295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2</a:t>
                </a:r>
                <a:endParaRPr lang="en-US" altLang="en-US"/>
              </a:p>
            </p:txBody>
          </p:sp>
          <p:sp>
            <p:nvSpPr>
              <p:cNvPr id="37964" name="Rectangle 58">
                <a:extLst>
                  <a:ext uri="{FF2B5EF4-FFF2-40B4-BE49-F238E27FC236}">
                    <a16:creationId xmlns:a16="http://schemas.microsoft.com/office/drawing/2014/main" id="{32E9FADB-F8EE-A96B-5554-24B65B43C728}"/>
                  </a:ext>
                </a:extLst>
              </p:cNvPr>
              <p:cNvSpPr>
                <a:spLocks noChangeArrowheads="1"/>
              </p:cNvSpPr>
              <p:nvPr/>
            </p:nvSpPr>
            <p:spPr bwMode="auto">
              <a:xfrm>
                <a:off x="372" y="2602"/>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3</a:t>
                </a:r>
                <a:endParaRPr lang="en-US" altLang="en-US"/>
              </a:p>
            </p:txBody>
          </p:sp>
        </p:grpSp>
        <p:grpSp>
          <p:nvGrpSpPr>
            <p:cNvPr id="37917" name="Group 79">
              <a:extLst>
                <a:ext uri="{FF2B5EF4-FFF2-40B4-BE49-F238E27FC236}">
                  <a16:creationId xmlns:a16="http://schemas.microsoft.com/office/drawing/2014/main" id="{7FE8972A-A3A6-4703-81C0-07A32187FA36}"/>
                </a:ext>
              </a:extLst>
            </p:cNvPr>
            <p:cNvGrpSpPr>
              <a:grpSpLocks/>
            </p:cNvGrpSpPr>
            <p:nvPr/>
          </p:nvGrpSpPr>
          <p:grpSpPr bwMode="auto">
            <a:xfrm>
              <a:off x="435" y="3777"/>
              <a:ext cx="1856" cy="92"/>
              <a:chOff x="435" y="3777"/>
              <a:chExt cx="1856" cy="92"/>
            </a:xfrm>
          </p:grpSpPr>
          <p:sp>
            <p:nvSpPr>
              <p:cNvPr id="37942" name="Rectangle 60">
                <a:extLst>
                  <a:ext uri="{FF2B5EF4-FFF2-40B4-BE49-F238E27FC236}">
                    <a16:creationId xmlns:a16="http://schemas.microsoft.com/office/drawing/2014/main" id="{A95D8416-EE6C-C0AE-7822-6F1E53513C65}"/>
                  </a:ext>
                </a:extLst>
              </p:cNvPr>
              <p:cNvSpPr>
                <a:spLocks noChangeArrowheads="1"/>
              </p:cNvSpPr>
              <p:nvPr/>
            </p:nvSpPr>
            <p:spPr bwMode="auto">
              <a:xfrm>
                <a:off x="435"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43" name="Rectangle 61">
                <a:extLst>
                  <a:ext uri="{FF2B5EF4-FFF2-40B4-BE49-F238E27FC236}">
                    <a16:creationId xmlns:a16="http://schemas.microsoft.com/office/drawing/2014/main" id="{F2949DD6-65BC-F52D-1497-9DFEE8895779}"/>
                  </a:ext>
                </a:extLst>
              </p:cNvPr>
              <p:cNvSpPr>
                <a:spLocks noChangeArrowheads="1"/>
              </p:cNvSpPr>
              <p:nvPr/>
            </p:nvSpPr>
            <p:spPr bwMode="auto">
              <a:xfrm>
                <a:off x="612"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1</a:t>
                </a:r>
                <a:endParaRPr lang="en-US" altLang="en-US"/>
              </a:p>
            </p:txBody>
          </p:sp>
          <p:sp>
            <p:nvSpPr>
              <p:cNvPr id="37944" name="Rectangle 62">
                <a:extLst>
                  <a:ext uri="{FF2B5EF4-FFF2-40B4-BE49-F238E27FC236}">
                    <a16:creationId xmlns:a16="http://schemas.microsoft.com/office/drawing/2014/main" id="{E1C3C5C1-361F-84A5-414A-CD2D493E89BE}"/>
                  </a:ext>
                </a:extLst>
              </p:cNvPr>
              <p:cNvSpPr>
                <a:spLocks noChangeArrowheads="1"/>
              </p:cNvSpPr>
              <p:nvPr/>
            </p:nvSpPr>
            <p:spPr bwMode="auto">
              <a:xfrm>
                <a:off x="656"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45" name="Rectangle 63">
                <a:extLst>
                  <a:ext uri="{FF2B5EF4-FFF2-40B4-BE49-F238E27FC236}">
                    <a16:creationId xmlns:a16="http://schemas.microsoft.com/office/drawing/2014/main" id="{989089A2-86D8-6BD8-07B6-A63ADB721741}"/>
                  </a:ext>
                </a:extLst>
              </p:cNvPr>
              <p:cNvSpPr>
                <a:spLocks noChangeArrowheads="1"/>
              </p:cNvSpPr>
              <p:nvPr/>
            </p:nvSpPr>
            <p:spPr bwMode="auto">
              <a:xfrm>
                <a:off x="806"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2</a:t>
                </a:r>
                <a:endParaRPr lang="en-US" altLang="en-US"/>
              </a:p>
            </p:txBody>
          </p:sp>
          <p:sp>
            <p:nvSpPr>
              <p:cNvPr id="37946" name="Rectangle 64">
                <a:extLst>
                  <a:ext uri="{FF2B5EF4-FFF2-40B4-BE49-F238E27FC236}">
                    <a16:creationId xmlns:a16="http://schemas.microsoft.com/office/drawing/2014/main" id="{E2023845-0BFE-F600-6D2D-A1E728A0BA63}"/>
                  </a:ext>
                </a:extLst>
              </p:cNvPr>
              <p:cNvSpPr>
                <a:spLocks noChangeArrowheads="1"/>
              </p:cNvSpPr>
              <p:nvPr/>
            </p:nvSpPr>
            <p:spPr bwMode="auto">
              <a:xfrm>
                <a:off x="852"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47" name="Rectangle 65">
                <a:extLst>
                  <a:ext uri="{FF2B5EF4-FFF2-40B4-BE49-F238E27FC236}">
                    <a16:creationId xmlns:a16="http://schemas.microsoft.com/office/drawing/2014/main" id="{6649768A-30B8-2E03-C547-E4474A93D650}"/>
                  </a:ext>
                </a:extLst>
              </p:cNvPr>
              <p:cNvSpPr>
                <a:spLocks noChangeArrowheads="1"/>
              </p:cNvSpPr>
              <p:nvPr/>
            </p:nvSpPr>
            <p:spPr bwMode="auto">
              <a:xfrm>
                <a:off x="1009"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3</a:t>
                </a:r>
                <a:endParaRPr lang="en-US" altLang="en-US"/>
              </a:p>
            </p:txBody>
          </p:sp>
          <p:sp>
            <p:nvSpPr>
              <p:cNvPr id="37948" name="Rectangle 66">
                <a:extLst>
                  <a:ext uri="{FF2B5EF4-FFF2-40B4-BE49-F238E27FC236}">
                    <a16:creationId xmlns:a16="http://schemas.microsoft.com/office/drawing/2014/main" id="{7CDA5A78-7FB6-09EE-4079-C62C76C64C62}"/>
                  </a:ext>
                </a:extLst>
              </p:cNvPr>
              <p:cNvSpPr>
                <a:spLocks noChangeArrowheads="1"/>
              </p:cNvSpPr>
              <p:nvPr/>
            </p:nvSpPr>
            <p:spPr bwMode="auto">
              <a:xfrm>
                <a:off x="1053"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49" name="Rectangle 67">
                <a:extLst>
                  <a:ext uri="{FF2B5EF4-FFF2-40B4-BE49-F238E27FC236}">
                    <a16:creationId xmlns:a16="http://schemas.microsoft.com/office/drawing/2014/main" id="{44DDA5E7-46F8-0D40-6CA9-CA53E0F2A5BD}"/>
                  </a:ext>
                </a:extLst>
              </p:cNvPr>
              <p:cNvSpPr>
                <a:spLocks noChangeArrowheads="1"/>
              </p:cNvSpPr>
              <p:nvPr/>
            </p:nvSpPr>
            <p:spPr bwMode="auto">
              <a:xfrm>
                <a:off x="1203"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4</a:t>
                </a:r>
                <a:endParaRPr lang="en-US" altLang="en-US"/>
              </a:p>
            </p:txBody>
          </p:sp>
          <p:sp>
            <p:nvSpPr>
              <p:cNvPr id="37950" name="Rectangle 68">
                <a:extLst>
                  <a:ext uri="{FF2B5EF4-FFF2-40B4-BE49-F238E27FC236}">
                    <a16:creationId xmlns:a16="http://schemas.microsoft.com/office/drawing/2014/main" id="{BBDA8308-F0F6-72EB-9A80-AC9145C7F713}"/>
                  </a:ext>
                </a:extLst>
              </p:cNvPr>
              <p:cNvSpPr>
                <a:spLocks noChangeArrowheads="1"/>
              </p:cNvSpPr>
              <p:nvPr/>
            </p:nvSpPr>
            <p:spPr bwMode="auto">
              <a:xfrm>
                <a:off x="1249"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51" name="Rectangle 69">
                <a:extLst>
                  <a:ext uri="{FF2B5EF4-FFF2-40B4-BE49-F238E27FC236}">
                    <a16:creationId xmlns:a16="http://schemas.microsoft.com/office/drawing/2014/main" id="{D8B1F927-539A-7B9C-DEE3-6A04C839B141}"/>
                  </a:ext>
                </a:extLst>
              </p:cNvPr>
              <p:cNvSpPr>
                <a:spLocks noChangeArrowheads="1"/>
              </p:cNvSpPr>
              <p:nvPr/>
            </p:nvSpPr>
            <p:spPr bwMode="auto">
              <a:xfrm>
                <a:off x="1406"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5</a:t>
                </a:r>
                <a:endParaRPr lang="en-US" altLang="en-US"/>
              </a:p>
            </p:txBody>
          </p:sp>
          <p:sp>
            <p:nvSpPr>
              <p:cNvPr id="37952" name="Rectangle 70">
                <a:extLst>
                  <a:ext uri="{FF2B5EF4-FFF2-40B4-BE49-F238E27FC236}">
                    <a16:creationId xmlns:a16="http://schemas.microsoft.com/office/drawing/2014/main" id="{08078260-61EB-2199-2C08-76011D0E70D1}"/>
                  </a:ext>
                </a:extLst>
              </p:cNvPr>
              <p:cNvSpPr>
                <a:spLocks noChangeArrowheads="1"/>
              </p:cNvSpPr>
              <p:nvPr/>
            </p:nvSpPr>
            <p:spPr bwMode="auto">
              <a:xfrm>
                <a:off x="1451"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53" name="Rectangle 71">
                <a:extLst>
                  <a:ext uri="{FF2B5EF4-FFF2-40B4-BE49-F238E27FC236}">
                    <a16:creationId xmlns:a16="http://schemas.microsoft.com/office/drawing/2014/main" id="{ECD353C1-04F7-0AAF-D79E-9D983F001C1D}"/>
                  </a:ext>
                </a:extLst>
              </p:cNvPr>
              <p:cNvSpPr>
                <a:spLocks noChangeArrowheads="1"/>
              </p:cNvSpPr>
              <p:nvPr/>
            </p:nvSpPr>
            <p:spPr bwMode="auto">
              <a:xfrm>
                <a:off x="1600"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6</a:t>
                </a:r>
                <a:endParaRPr lang="en-US" altLang="en-US"/>
              </a:p>
            </p:txBody>
          </p:sp>
          <p:sp>
            <p:nvSpPr>
              <p:cNvPr id="37954" name="Rectangle 72">
                <a:extLst>
                  <a:ext uri="{FF2B5EF4-FFF2-40B4-BE49-F238E27FC236}">
                    <a16:creationId xmlns:a16="http://schemas.microsoft.com/office/drawing/2014/main" id="{F3A2DCB7-758C-29A1-1341-11B456A8A31C}"/>
                  </a:ext>
                </a:extLst>
              </p:cNvPr>
              <p:cNvSpPr>
                <a:spLocks noChangeArrowheads="1"/>
              </p:cNvSpPr>
              <p:nvPr/>
            </p:nvSpPr>
            <p:spPr bwMode="auto">
              <a:xfrm>
                <a:off x="1646"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55" name="Rectangle 73">
                <a:extLst>
                  <a:ext uri="{FF2B5EF4-FFF2-40B4-BE49-F238E27FC236}">
                    <a16:creationId xmlns:a16="http://schemas.microsoft.com/office/drawing/2014/main" id="{3D1A731A-47FF-4454-CB1D-09E346C9155C}"/>
                  </a:ext>
                </a:extLst>
              </p:cNvPr>
              <p:cNvSpPr>
                <a:spLocks noChangeArrowheads="1"/>
              </p:cNvSpPr>
              <p:nvPr/>
            </p:nvSpPr>
            <p:spPr bwMode="auto">
              <a:xfrm>
                <a:off x="1804"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7</a:t>
                </a:r>
                <a:endParaRPr lang="en-US" altLang="en-US"/>
              </a:p>
            </p:txBody>
          </p:sp>
          <p:sp>
            <p:nvSpPr>
              <p:cNvPr id="37956" name="Rectangle 74">
                <a:extLst>
                  <a:ext uri="{FF2B5EF4-FFF2-40B4-BE49-F238E27FC236}">
                    <a16:creationId xmlns:a16="http://schemas.microsoft.com/office/drawing/2014/main" id="{57B598BB-8851-8696-8AE1-344950D39EBF}"/>
                  </a:ext>
                </a:extLst>
              </p:cNvPr>
              <p:cNvSpPr>
                <a:spLocks noChangeArrowheads="1"/>
              </p:cNvSpPr>
              <p:nvPr/>
            </p:nvSpPr>
            <p:spPr bwMode="auto">
              <a:xfrm>
                <a:off x="1848"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57" name="Rectangle 75">
                <a:extLst>
                  <a:ext uri="{FF2B5EF4-FFF2-40B4-BE49-F238E27FC236}">
                    <a16:creationId xmlns:a16="http://schemas.microsoft.com/office/drawing/2014/main" id="{38E0D4BA-8770-E3B8-516B-10D81DF04FD9}"/>
                  </a:ext>
                </a:extLst>
              </p:cNvPr>
              <p:cNvSpPr>
                <a:spLocks noChangeArrowheads="1"/>
              </p:cNvSpPr>
              <p:nvPr/>
            </p:nvSpPr>
            <p:spPr bwMode="auto">
              <a:xfrm>
                <a:off x="1998"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8</a:t>
                </a:r>
                <a:endParaRPr lang="en-US" altLang="en-US"/>
              </a:p>
            </p:txBody>
          </p:sp>
          <p:sp>
            <p:nvSpPr>
              <p:cNvPr id="37958" name="Rectangle 76">
                <a:extLst>
                  <a:ext uri="{FF2B5EF4-FFF2-40B4-BE49-F238E27FC236}">
                    <a16:creationId xmlns:a16="http://schemas.microsoft.com/office/drawing/2014/main" id="{86355ED0-DB1D-0800-A479-79970E5CC74C}"/>
                  </a:ext>
                </a:extLst>
              </p:cNvPr>
              <p:cNvSpPr>
                <a:spLocks noChangeArrowheads="1"/>
              </p:cNvSpPr>
              <p:nvPr/>
            </p:nvSpPr>
            <p:spPr bwMode="auto">
              <a:xfrm>
                <a:off x="2044"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59" name="Rectangle 77">
                <a:extLst>
                  <a:ext uri="{FF2B5EF4-FFF2-40B4-BE49-F238E27FC236}">
                    <a16:creationId xmlns:a16="http://schemas.microsoft.com/office/drawing/2014/main" id="{A5E4D857-0E0D-2727-74A0-41843CAC0DDA}"/>
                  </a:ext>
                </a:extLst>
              </p:cNvPr>
              <p:cNvSpPr>
                <a:spLocks noChangeArrowheads="1"/>
              </p:cNvSpPr>
              <p:nvPr/>
            </p:nvSpPr>
            <p:spPr bwMode="auto">
              <a:xfrm>
                <a:off x="2201"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9</a:t>
                </a:r>
                <a:endParaRPr lang="en-US" altLang="en-US"/>
              </a:p>
            </p:txBody>
          </p:sp>
          <p:sp>
            <p:nvSpPr>
              <p:cNvPr id="37960" name="Rectangle 78">
                <a:extLst>
                  <a:ext uri="{FF2B5EF4-FFF2-40B4-BE49-F238E27FC236}">
                    <a16:creationId xmlns:a16="http://schemas.microsoft.com/office/drawing/2014/main" id="{E2F6AC55-C3D9-4CAF-33E3-130D5AC826BA}"/>
                  </a:ext>
                </a:extLst>
              </p:cNvPr>
              <p:cNvSpPr>
                <a:spLocks noChangeArrowheads="1"/>
              </p:cNvSpPr>
              <p:nvPr/>
            </p:nvSpPr>
            <p:spPr bwMode="auto">
              <a:xfrm>
                <a:off x="2246" y="3777"/>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grpSp>
        <p:grpSp>
          <p:nvGrpSpPr>
            <p:cNvPr id="37918" name="Group 92">
              <a:extLst>
                <a:ext uri="{FF2B5EF4-FFF2-40B4-BE49-F238E27FC236}">
                  <a16:creationId xmlns:a16="http://schemas.microsoft.com/office/drawing/2014/main" id="{25F52F53-E8B7-8118-2E28-755FA4E5B328}"/>
                </a:ext>
              </a:extLst>
            </p:cNvPr>
            <p:cNvGrpSpPr>
              <a:grpSpLocks/>
            </p:cNvGrpSpPr>
            <p:nvPr/>
          </p:nvGrpSpPr>
          <p:grpSpPr bwMode="auto">
            <a:xfrm>
              <a:off x="2228" y="2652"/>
              <a:ext cx="25" cy="913"/>
              <a:chOff x="2228" y="2652"/>
              <a:chExt cx="25" cy="913"/>
            </a:xfrm>
          </p:grpSpPr>
          <p:sp>
            <p:nvSpPr>
              <p:cNvPr id="37930" name="Line 80">
                <a:extLst>
                  <a:ext uri="{FF2B5EF4-FFF2-40B4-BE49-F238E27FC236}">
                    <a16:creationId xmlns:a16="http://schemas.microsoft.com/office/drawing/2014/main" id="{7EA7485F-6C21-BF40-61C8-D19F46FE6846}"/>
                  </a:ext>
                </a:extLst>
              </p:cNvPr>
              <p:cNvSpPr>
                <a:spLocks noChangeShapeType="1"/>
              </p:cNvSpPr>
              <p:nvPr/>
            </p:nvSpPr>
            <p:spPr bwMode="auto">
              <a:xfrm flipH="1">
                <a:off x="2228" y="3564"/>
                <a:ext cx="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1" name="Line 81">
                <a:extLst>
                  <a:ext uri="{FF2B5EF4-FFF2-40B4-BE49-F238E27FC236}">
                    <a16:creationId xmlns:a16="http://schemas.microsoft.com/office/drawing/2014/main" id="{DFE48611-ECBA-E64A-581B-6C0062D59859}"/>
                  </a:ext>
                </a:extLst>
              </p:cNvPr>
              <p:cNvSpPr>
                <a:spLocks noChangeShapeType="1"/>
              </p:cNvSpPr>
              <p:nvPr/>
            </p:nvSpPr>
            <p:spPr bwMode="auto">
              <a:xfrm>
                <a:off x="2236" y="3564"/>
                <a:ext cx="1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2" name="Line 82">
                <a:extLst>
                  <a:ext uri="{FF2B5EF4-FFF2-40B4-BE49-F238E27FC236}">
                    <a16:creationId xmlns:a16="http://schemas.microsoft.com/office/drawing/2014/main" id="{A3F71B08-3C2B-7046-0C66-46940AD694A2}"/>
                  </a:ext>
                </a:extLst>
              </p:cNvPr>
              <p:cNvSpPr>
                <a:spLocks noChangeShapeType="1"/>
              </p:cNvSpPr>
              <p:nvPr/>
            </p:nvSpPr>
            <p:spPr bwMode="auto">
              <a:xfrm flipH="1">
                <a:off x="2228" y="3379"/>
                <a:ext cx="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3" name="Line 83">
                <a:extLst>
                  <a:ext uri="{FF2B5EF4-FFF2-40B4-BE49-F238E27FC236}">
                    <a16:creationId xmlns:a16="http://schemas.microsoft.com/office/drawing/2014/main" id="{855CAB40-FEA3-1703-8892-B6BA2515C173}"/>
                  </a:ext>
                </a:extLst>
              </p:cNvPr>
              <p:cNvSpPr>
                <a:spLocks noChangeShapeType="1"/>
              </p:cNvSpPr>
              <p:nvPr/>
            </p:nvSpPr>
            <p:spPr bwMode="auto">
              <a:xfrm>
                <a:off x="2236" y="3379"/>
                <a:ext cx="1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4" name="Line 84">
                <a:extLst>
                  <a:ext uri="{FF2B5EF4-FFF2-40B4-BE49-F238E27FC236}">
                    <a16:creationId xmlns:a16="http://schemas.microsoft.com/office/drawing/2014/main" id="{B98897B5-40C2-91BF-ED1D-C5DF817F618C}"/>
                  </a:ext>
                </a:extLst>
              </p:cNvPr>
              <p:cNvSpPr>
                <a:spLocks noChangeShapeType="1"/>
              </p:cNvSpPr>
              <p:nvPr/>
            </p:nvSpPr>
            <p:spPr bwMode="auto">
              <a:xfrm flipH="1">
                <a:off x="2228" y="3201"/>
                <a:ext cx="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5" name="Line 85">
                <a:extLst>
                  <a:ext uri="{FF2B5EF4-FFF2-40B4-BE49-F238E27FC236}">
                    <a16:creationId xmlns:a16="http://schemas.microsoft.com/office/drawing/2014/main" id="{B7DCC031-6D13-E2DA-6912-A6E18817F423}"/>
                  </a:ext>
                </a:extLst>
              </p:cNvPr>
              <p:cNvSpPr>
                <a:spLocks noChangeShapeType="1"/>
              </p:cNvSpPr>
              <p:nvPr/>
            </p:nvSpPr>
            <p:spPr bwMode="auto">
              <a:xfrm>
                <a:off x="2236" y="3201"/>
                <a:ext cx="1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6" name="Line 86">
                <a:extLst>
                  <a:ext uri="{FF2B5EF4-FFF2-40B4-BE49-F238E27FC236}">
                    <a16:creationId xmlns:a16="http://schemas.microsoft.com/office/drawing/2014/main" id="{31C4138B-41D9-DA1F-CC13-FCA85BE5B3A1}"/>
                  </a:ext>
                </a:extLst>
              </p:cNvPr>
              <p:cNvSpPr>
                <a:spLocks noChangeShapeType="1"/>
              </p:cNvSpPr>
              <p:nvPr/>
            </p:nvSpPr>
            <p:spPr bwMode="auto">
              <a:xfrm flipH="1">
                <a:off x="2228" y="3015"/>
                <a:ext cx="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7" name="Line 87">
                <a:extLst>
                  <a:ext uri="{FF2B5EF4-FFF2-40B4-BE49-F238E27FC236}">
                    <a16:creationId xmlns:a16="http://schemas.microsoft.com/office/drawing/2014/main" id="{1C1C1952-8946-D4DA-8D7D-132131CF47CD}"/>
                  </a:ext>
                </a:extLst>
              </p:cNvPr>
              <p:cNvSpPr>
                <a:spLocks noChangeShapeType="1"/>
              </p:cNvSpPr>
              <p:nvPr/>
            </p:nvSpPr>
            <p:spPr bwMode="auto">
              <a:xfrm>
                <a:off x="2236" y="3015"/>
                <a:ext cx="1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8" name="Line 88">
                <a:extLst>
                  <a:ext uri="{FF2B5EF4-FFF2-40B4-BE49-F238E27FC236}">
                    <a16:creationId xmlns:a16="http://schemas.microsoft.com/office/drawing/2014/main" id="{860D6DAF-8936-F0C8-AE3B-09CAF1407309}"/>
                  </a:ext>
                </a:extLst>
              </p:cNvPr>
              <p:cNvSpPr>
                <a:spLocks noChangeShapeType="1"/>
              </p:cNvSpPr>
              <p:nvPr/>
            </p:nvSpPr>
            <p:spPr bwMode="auto">
              <a:xfrm flipH="1">
                <a:off x="2228" y="2838"/>
                <a:ext cx="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9" name="Line 89">
                <a:extLst>
                  <a:ext uri="{FF2B5EF4-FFF2-40B4-BE49-F238E27FC236}">
                    <a16:creationId xmlns:a16="http://schemas.microsoft.com/office/drawing/2014/main" id="{30EF97D3-26BB-CFDE-CD73-19DB65405CE9}"/>
                  </a:ext>
                </a:extLst>
              </p:cNvPr>
              <p:cNvSpPr>
                <a:spLocks noChangeShapeType="1"/>
              </p:cNvSpPr>
              <p:nvPr/>
            </p:nvSpPr>
            <p:spPr bwMode="auto">
              <a:xfrm>
                <a:off x="2236" y="2838"/>
                <a:ext cx="1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0" name="Line 90">
                <a:extLst>
                  <a:ext uri="{FF2B5EF4-FFF2-40B4-BE49-F238E27FC236}">
                    <a16:creationId xmlns:a16="http://schemas.microsoft.com/office/drawing/2014/main" id="{1E2E9A65-4862-6910-DAF6-A3FBC8407C92}"/>
                  </a:ext>
                </a:extLst>
              </p:cNvPr>
              <p:cNvSpPr>
                <a:spLocks noChangeShapeType="1"/>
              </p:cNvSpPr>
              <p:nvPr/>
            </p:nvSpPr>
            <p:spPr bwMode="auto">
              <a:xfrm flipH="1">
                <a:off x="2228" y="2652"/>
                <a:ext cx="8"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1" name="Line 91">
                <a:extLst>
                  <a:ext uri="{FF2B5EF4-FFF2-40B4-BE49-F238E27FC236}">
                    <a16:creationId xmlns:a16="http://schemas.microsoft.com/office/drawing/2014/main" id="{BCF332B2-92ED-BB74-E9D0-C74229C8F65B}"/>
                  </a:ext>
                </a:extLst>
              </p:cNvPr>
              <p:cNvSpPr>
                <a:spLocks noChangeShapeType="1"/>
              </p:cNvSpPr>
              <p:nvPr/>
            </p:nvSpPr>
            <p:spPr bwMode="auto">
              <a:xfrm>
                <a:off x="2236" y="2652"/>
                <a:ext cx="1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19" name="Rectangle 93">
              <a:extLst>
                <a:ext uri="{FF2B5EF4-FFF2-40B4-BE49-F238E27FC236}">
                  <a16:creationId xmlns:a16="http://schemas.microsoft.com/office/drawing/2014/main" id="{7E82E05B-A221-04BB-865F-5FB0CF165F94}"/>
                </a:ext>
              </a:extLst>
            </p:cNvPr>
            <p:cNvSpPr>
              <a:spLocks noChangeArrowheads="1"/>
            </p:cNvSpPr>
            <p:nvPr/>
          </p:nvSpPr>
          <p:spPr bwMode="auto">
            <a:xfrm rot="5400000">
              <a:off x="3432" y="2557"/>
              <a:ext cx="166"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7920" name="Freeform 94">
              <a:extLst>
                <a:ext uri="{FF2B5EF4-FFF2-40B4-BE49-F238E27FC236}">
                  <a16:creationId xmlns:a16="http://schemas.microsoft.com/office/drawing/2014/main" id="{A6ACF0DE-4AA6-49FC-F860-97BA539C5645}"/>
                </a:ext>
              </a:extLst>
            </p:cNvPr>
            <p:cNvSpPr>
              <a:spLocks/>
            </p:cNvSpPr>
            <p:nvPr/>
          </p:nvSpPr>
          <p:spPr bwMode="auto">
            <a:xfrm>
              <a:off x="1032" y="2823"/>
              <a:ext cx="102" cy="71"/>
            </a:xfrm>
            <a:custGeom>
              <a:avLst/>
              <a:gdLst>
                <a:gd name="T0" fmla="*/ 94 w 53"/>
                <a:gd name="T1" fmla="*/ 71 h 37"/>
                <a:gd name="T2" fmla="*/ 102 w 53"/>
                <a:gd name="T3" fmla="*/ 36 h 37"/>
                <a:gd name="T4" fmla="*/ 94 w 53"/>
                <a:gd name="T5" fmla="*/ 0 h 37"/>
                <a:gd name="T6" fmla="*/ 0 w 53"/>
                <a:gd name="T7" fmla="*/ 36 h 37"/>
                <a:gd name="T8" fmla="*/ 94 w 53"/>
                <a:gd name="T9" fmla="*/ 7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37">
                  <a:moveTo>
                    <a:pt x="49" y="37"/>
                  </a:moveTo>
                  <a:cubicBezTo>
                    <a:pt x="51" y="31"/>
                    <a:pt x="53" y="25"/>
                    <a:pt x="53" y="19"/>
                  </a:cubicBezTo>
                  <a:cubicBezTo>
                    <a:pt x="53" y="12"/>
                    <a:pt x="51" y="6"/>
                    <a:pt x="49" y="0"/>
                  </a:cubicBezTo>
                  <a:lnTo>
                    <a:pt x="0" y="19"/>
                  </a:lnTo>
                  <a:lnTo>
                    <a:pt x="49" y="37"/>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21" name="Line 95">
              <a:extLst>
                <a:ext uri="{FF2B5EF4-FFF2-40B4-BE49-F238E27FC236}">
                  <a16:creationId xmlns:a16="http://schemas.microsoft.com/office/drawing/2014/main" id="{3882FF55-0B53-CDB1-1EF8-CFE7076CDE4E}"/>
                </a:ext>
              </a:extLst>
            </p:cNvPr>
            <p:cNvSpPr>
              <a:spLocks noChangeShapeType="1"/>
            </p:cNvSpPr>
            <p:nvPr/>
          </p:nvSpPr>
          <p:spPr bwMode="auto">
            <a:xfrm>
              <a:off x="1130" y="2863"/>
              <a:ext cx="194" cy="1"/>
            </a:xfrm>
            <a:prstGeom prst="line">
              <a:avLst/>
            </a:prstGeom>
            <a:noFill/>
            <a:ln w="127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37922" name="Freeform 96">
              <a:extLst>
                <a:ext uri="{FF2B5EF4-FFF2-40B4-BE49-F238E27FC236}">
                  <a16:creationId xmlns:a16="http://schemas.microsoft.com/office/drawing/2014/main" id="{F165628F-5ED4-4ED5-2AFA-2930C22DC821}"/>
                </a:ext>
              </a:extLst>
            </p:cNvPr>
            <p:cNvSpPr>
              <a:spLocks/>
            </p:cNvSpPr>
            <p:nvPr/>
          </p:nvSpPr>
          <p:spPr bwMode="auto">
            <a:xfrm>
              <a:off x="1892" y="3178"/>
              <a:ext cx="104" cy="71"/>
            </a:xfrm>
            <a:custGeom>
              <a:avLst/>
              <a:gdLst>
                <a:gd name="T0" fmla="*/ 8 w 54"/>
                <a:gd name="T1" fmla="*/ 0 h 37"/>
                <a:gd name="T2" fmla="*/ 2 w 54"/>
                <a:gd name="T3" fmla="*/ 35 h 37"/>
                <a:gd name="T4" fmla="*/ 8 w 54"/>
                <a:gd name="T5" fmla="*/ 71 h 37"/>
                <a:gd name="T6" fmla="*/ 104 w 54"/>
                <a:gd name="T7" fmla="*/ 36 h 37"/>
                <a:gd name="T8" fmla="*/ 8 w 54"/>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37">
                  <a:moveTo>
                    <a:pt x="4" y="0"/>
                  </a:moveTo>
                  <a:cubicBezTo>
                    <a:pt x="2" y="6"/>
                    <a:pt x="1" y="12"/>
                    <a:pt x="1" y="18"/>
                  </a:cubicBezTo>
                  <a:cubicBezTo>
                    <a:pt x="0" y="25"/>
                    <a:pt x="2" y="31"/>
                    <a:pt x="4" y="37"/>
                  </a:cubicBezTo>
                  <a:lnTo>
                    <a:pt x="54" y="19"/>
                  </a:lnTo>
                  <a:lnTo>
                    <a:pt x="4"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23" name="Line 97">
              <a:extLst>
                <a:ext uri="{FF2B5EF4-FFF2-40B4-BE49-F238E27FC236}">
                  <a16:creationId xmlns:a16="http://schemas.microsoft.com/office/drawing/2014/main" id="{E288FEE0-7232-E21D-9A4D-9BDF6A633FDC}"/>
                </a:ext>
              </a:extLst>
            </p:cNvPr>
            <p:cNvSpPr>
              <a:spLocks noChangeShapeType="1"/>
            </p:cNvSpPr>
            <p:nvPr/>
          </p:nvSpPr>
          <p:spPr bwMode="auto">
            <a:xfrm>
              <a:off x="1754" y="3218"/>
              <a:ext cx="144" cy="1"/>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24" name="Freeform 98">
              <a:extLst>
                <a:ext uri="{FF2B5EF4-FFF2-40B4-BE49-F238E27FC236}">
                  <a16:creationId xmlns:a16="http://schemas.microsoft.com/office/drawing/2014/main" id="{E96A2249-822C-2868-D738-613EFF227231}"/>
                </a:ext>
              </a:extLst>
            </p:cNvPr>
            <p:cNvSpPr>
              <a:spLocks/>
            </p:cNvSpPr>
            <p:nvPr/>
          </p:nvSpPr>
          <p:spPr bwMode="auto">
            <a:xfrm>
              <a:off x="483" y="3088"/>
              <a:ext cx="1774" cy="658"/>
            </a:xfrm>
            <a:custGeom>
              <a:avLst/>
              <a:gdLst>
                <a:gd name="T0" fmla="*/ 0 w 1774"/>
                <a:gd name="T1" fmla="*/ 303 h 658"/>
                <a:gd name="T2" fmla="*/ 50 w 1774"/>
                <a:gd name="T3" fmla="*/ 295 h 658"/>
                <a:gd name="T4" fmla="*/ 100 w 1774"/>
                <a:gd name="T5" fmla="*/ 278 h 658"/>
                <a:gd name="T6" fmla="*/ 142 w 1774"/>
                <a:gd name="T7" fmla="*/ 268 h 658"/>
                <a:gd name="T8" fmla="*/ 194 w 1774"/>
                <a:gd name="T9" fmla="*/ 261 h 658"/>
                <a:gd name="T10" fmla="*/ 236 w 1774"/>
                <a:gd name="T11" fmla="*/ 253 h 658"/>
                <a:gd name="T12" fmla="*/ 269 w 1774"/>
                <a:gd name="T13" fmla="*/ 243 h 658"/>
                <a:gd name="T14" fmla="*/ 311 w 1774"/>
                <a:gd name="T15" fmla="*/ 236 h 658"/>
                <a:gd name="T16" fmla="*/ 346 w 1774"/>
                <a:gd name="T17" fmla="*/ 226 h 658"/>
                <a:gd name="T18" fmla="*/ 380 w 1774"/>
                <a:gd name="T19" fmla="*/ 219 h 658"/>
                <a:gd name="T20" fmla="*/ 405 w 1774"/>
                <a:gd name="T21" fmla="*/ 211 h 658"/>
                <a:gd name="T22" fmla="*/ 430 w 1774"/>
                <a:gd name="T23" fmla="*/ 201 h 658"/>
                <a:gd name="T24" fmla="*/ 455 w 1774"/>
                <a:gd name="T25" fmla="*/ 194 h 658"/>
                <a:gd name="T26" fmla="*/ 480 w 1774"/>
                <a:gd name="T27" fmla="*/ 194 h 658"/>
                <a:gd name="T28" fmla="*/ 497 w 1774"/>
                <a:gd name="T29" fmla="*/ 184 h 658"/>
                <a:gd name="T30" fmla="*/ 522 w 1774"/>
                <a:gd name="T31" fmla="*/ 176 h 658"/>
                <a:gd name="T32" fmla="*/ 532 w 1774"/>
                <a:gd name="T33" fmla="*/ 169 h 658"/>
                <a:gd name="T34" fmla="*/ 641 w 1774"/>
                <a:gd name="T35" fmla="*/ 126 h 658"/>
                <a:gd name="T36" fmla="*/ 751 w 1774"/>
                <a:gd name="T37" fmla="*/ 84 h 658"/>
                <a:gd name="T38" fmla="*/ 778 w 1774"/>
                <a:gd name="T39" fmla="*/ 75 h 658"/>
                <a:gd name="T40" fmla="*/ 803 w 1774"/>
                <a:gd name="T41" fmla="*/ 57 h 658"/>
                <a:gd name="T42" fmla="*/ 827 w 1774"/>
                <a:gd name="T43" fmla="*/ 50 h 658"/>
                <a:gd name="T44" fmla="*/ 845 w 1774"/>
                <a:gd name="T45" fmla="*/ 42 h 658"/>
                <a:gd name="T46" fmla="*/ 870 w 1774"/>
                <a:gd name="T47" fmla="*/ 32 h 658"/>
                <a:gd name="T48" fmla="*/ 887 w 1774"/>
                <a:gd name="T49" fmla="*/ 32 h 658"/>
                <a:gd name="T50" fmla="*/ 904 w 1774"/>
                <a:gd name="T51" fmla="*/ 25 h 658"/>
                <a:gd name="T52" fmla="*/ 920 w 1774"/>
                <a:gd name="T53" fmla="*/ 15 h 658"/>
                <a:gd name="T54" fmla="*/ 954 w 1774"/>
                <a:gd name="T55" fmla="*/ 7 h 658"/>
                <a:gd name="T56" fmla="*/ 989 w 1774"/>
                <a:gd name="T57" fmla="*/ 7 h 658"/>
                <a:gd name="T58" fmla="*/ 1021 w 1774"/>
                <a:gd name="T59" fmla="*/ 0 h 658"/>
                <a:gd name="T60" fmla="*/ 1056 w 1774"/>
                <a:gd name="T61" fmla="*/ 7 h 658"/>
                <a:gd name="T62" fmla="*/ 1081 w 1774"/>
                <a:gd name="T63" fmla="*/ 7 h 658"/>
                <a:gd name="T64" fmla="*/ 1098 w 1774"/>
                <a:gd name="T65" fmla="*/ 15 h 658"/>
                <a:gd name="T66" fmla="*/ 1115 w 1774"/>
                <a:gd name="T67" fmla="*/ 25 h 658"/>
                <a:gd name="T68" fmla="*/ 1131 w 1774"/>
                <a:gd name="T69" fmla="*/ 32 h 658"/>
                <a:gd name="T70" fmla="*/ 1140 w 1774"/>
                <a:gd name="T71" fmla="*/ 42 h 658"/>
                <a:gd name="T72" fmla="*/ 1158 w 1774"/>
                <a:gd name="T73" fmla="*/ 50 h 658"/>
                <a:gd name="T74" fmla="*/ 1175 w 1774"/>
                <a:gd name="T75" fmla="*/ 67 h 658"/>
                <a:gd name="T76" fmla="*/ 1190 w 1774"/>
                <a:gd name="T77" fmla="*/ 84 h 658"/>
                <a:gd name="T78" fmla="*/ 1200 w 1774"/>
                <a:gd name="T79" fmla="*/ 100 h 658"/>
                <a:gd name="T80" fmla="*/ 1217 w 1774"/>
                <a:gd name="T81" fmla="*/ 117 h 658"/>
                <a:gd name="T82" fmla="*/ 1233 w 1774"/>
                <a:gd name="T83" fmla="*/ 134 h 658"/>
                <a:gd name="T84" fmla="*/ 1250 w 1774"/>
                <a:gd name="T85" fmla="*/ 159 h 658"/>
                <a:gd name="T86" fmla="*/ 1267 w 1774"/>
                <a:gd name="T87" fmla="*/ 176 h 658"/>
                <a:gd name="T88" fmla="*/ 1284 w 1774"/>
                <a:gd name="T89" fmla="*/ 201 h 658"/>
                <a:gd name="T90" fmla="*/ 1302 w 1774"/>
                <a:gd name="T91" fmla="*/ 226 h 658"/>
                <a:gd name="T92" fmla="*/ 1327 w 1774"/>
                <a:gd name="T93" fmla="*/ 253 h 658"/>
                <a:gd name="T94" fmla="*/ 1359 w 1774"/>
                <a:gd name="T95" fmla="*/ 311 h 658"/>
                <a:gd name="T96" fmla="*/ 1402 w 1774"/>
                <a:gd name="T97" fmla="*/ 362 h 658"/>
                <a:gd name="T98" fmla="*/ 1444 w 1774"/>
                <a:gd name="T99" fmla="*/ 412 h 658"/>
                <a:gd name="T100" fmla="*/ 1486 w 1774"/>
                <a:gd name="T101" fmla="*/ 455 h 658"/>
                <a:gd name="T102" fmla="*/ 1513 w 1774"/>
                <a:gd name="T103" fmla="*/ 480 h 658"/>
                <a:gd name="T104" fmla="*/ 1528 w 1774"/>
                <a:gd name="T105" fmla="*/ 506 h 658"/>
                <a:gd name="T106" fmla="*/ 1555 w 1774"/>
                <a:gd name="T107" fmla="*/ 522 h 658"/>
                <a:gd name="T108" fmla="*/ 1580 w 1774"/>
                <a:gd name="T109" fmla="*/ 539 h 658"/>
                <a:gd name="T110" fmla="*/ 1597 w 1774"/>
                <a:gd name="T111" fmla="*/ 556 h 658"/>
                <a:gd name="T112" fmla="*/ 1622 w 1774"/>
                <a:gd name="T113" fmla="*/ 574 h 658"/>
                <a:gd name="T114" fmla="*/ 1647 w 1774"/>
                <a:gd name="T115" fmla="*/ 591 h 658"/>
                <a:gd name="T116" fmla="*/ 1672 w 1774"/>
                <a:gd name="T117" fmla="*/ 608 h 658"/>
                <a:gd name="T118" fmla="*/ 1774 w 1774"/>
                <a:gd name="T119" fmla="*/ 658 h 6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774" h="658">
                  <a:moveTo>
                    <a:pt x="0" y="303"/>
                  </a:moveTo>
                  <a:lnTo>
                    <a:pt x="50" y="295"/>
                  </a:lnTo>
                  <a:lnTo>
                    <a:pt x="100" y="278"/>
                  </a:lnTo>
                  <a:lnTo>
                    <a:pt x="142" y="268"/>
                  </a:lnTo>
                  <a:lnTo>
                    <a:pt x="194" y="261"/>
                  </a:lnTo>
                  <a:lnTo>
                    <a:pt x="236" y="253"/>
                  </a:lnTo>
                  <a:lnTo>
                    <a:pt x="269" y="243"/>
                  </a:lnTo>
                  <a:lnTo>
                    <a:pt x="311" y="236"/>
                  </a:lnTo>
                  <a:lnTo>
                    <a:pt x="346" y="226"/>
                  </a:lnTo>
                  <a:lnTo>
                    <a:pt x="380" y="219"/>
                  </a:lnTo>
                  <a:lnTo>
                    <a:pt x="405" y="211"/>
                  </a:lnTo>
                  <a:lnTo>
                    <a:pt x="430" y="201"/>
                  </a:lnTo>
                  <a:lnTo>
                    <a:pt x="455" y="194"/>
                  </a:lnTo>
                  <a:lnTo>
                    <a:pt x="480" y="194"/>
                  </a:lnTo>
                  <a:lnTo>
                    <a:pt x="497" y="184"/>
                  </a:lnTo>
                  <a:lnTo>
                    <a:pt x="522" y="176"/>
                  </a:lnTo>
                  <a:lnTo>
                    <a:pt x="532" y="169"/>
                  </a:lnTo>
                  <a:lnTo>
                    <a:pt x="641" y="126"/>
                  </a:lnTo>
                  <a:lnTo>
                    <a:pt x="751" y="84"/>
                  </a:lnTo>
                  <a:lnTo>
                    <a:pt x="778" y="75"/>
                  </a:lnTo>
                  <a:lnTo>
                    <a:pt x="803" y="57"/>
                  </a:lnTo>
                  <a:lnTo>
                    <a:pt x="827" y="50"/>
                  </a:lnTo>
                  <a:lnTo>
                    <a:pt x="845" y="42"/>
                  </a:lnTo>
                  <a:lnTo>
                    <a:pt x="870" y="32"/>
                  </a:lnTo>
                  <a:lnTo>
                    <a:pt x="887" y="32"/>
                  </a:lnTo>
                  <a:lnTo>
                    <a:pt x="904" y="25"/>
                  </a:lnTo>
                  <a:lnTo>
                    <a:pt x="920" y="15"/>
                  </a:lnTo>
                  <a:lnTo>
                    <a:pt x="954" y="7"/>
                  </a:lnTo>
                  <a:lnTo>
                    <a:pt x="989" y="7"/>
                  </a:lnTo>
                  <a:lnTo>
                    <a:pt x="1021" y="0"/>
                  </a:lnTo>
                  <a:lnTo>
                    <a:pt x="1056" y="7"/>
                  </a:lnTo>
                  <a:lnTo>
                    <a:pt x="1081" y="7"/>
                  </a:lnTo>
                  <a:lnTo>
                    <a:pt x="1098" y="15"/>
                  </a:lnTo>
                  <a:lnTo>
                    <a:pt x="1115" y="25"/>
                  </a:lnTo>
                  <a:lnTo>
                    <a:pt x="1131" y="32"/>
                  </a:lnTo>
                  <a:lnTo>
                    <a:pt x="1140" y="42"/>
                  </a:lnTo>
                  <a:lnTo>
                    <a:pt x="1158" y="50"/>
                  </a:lnTo>
                  <a:lnTo>
                    <a:pt x="1175" y="67"/>
                  </a:lnTo>
                  <a:lnTo>
                    <a:pt x="1190" y="84"/>
                  </a:lnTo>
                  <a:lnTo>
                    <a:pt x="1200" y="100"/>
                  </a:lnTo>
                  <a:lnTo>
                    <a:pt x="1217" y="117"/>
                  </a:lnTo>
                  <a:lnTo>
                    <a:pt x="1233" y="134"/>
                  </a:lnTo>
                  <a:lnTo>
                    <a:pt x="1250" y="159"/>
                  </a:lnTo>
                  <a:lnTo>
                    <a:pt x="1267" y="176"/>
                  </a:lnTo>
                  <a:lnTo>
                    <a:pt x="1284" y="201"/>
                  </a:lnTo>
                  <a:lnTo>
                    <a:pt x="1302" y="226"/>
                  </a:lnTo>
                  <a:lnTo>
                    <a:pt x="1327" y="253"/>
                  </a:lnTo>
                  <a:lnTo>
                    <a:pt x="1359" y="311"/>
                  </a:lnTo>
                  <a:lnTo>
                    <a:pt x="1402" y="362"/>
                  </a:lnTo>
                  <a:lnTo>
                    <a:pt x="1444" y="412"/>
                  </a:lnTo>
                  <a:lnTo>
                    <a:pt x="1486" y="455"/>
                  </a:lnTo>
                  <a:lnTo>
                    <a:pt x="1513" y="480"/>
                  </a:lnTo>
                  <a:lnTo>
                    <a:pt x="1528" y="506"/>
                  </a:lnTo>
                  <a:lnTo>
                    <a:pt x="1555" y="522"/>
                  </a:lnTo>
                  <a:lnTo>
                    <a:pt x="1580" y="539"/>
                  </a:lnTo>
                  <a:lnTo>
                    <a:pt x="1597" y="556"/>
                  </a:lnTo>
                  <a:lnTo>
                    <a:pt x="1622" y="574"/>
                  </a:lnTo>
                  <a:lnTo>
                    <a:pt x="1647" y="591"/>
                  </a:lnTo>
                  <a:lnTo>
                    <a:pt x="1672" y="608"/>
                  </a:lnTo>
                  <a:lnTo>
                    <a:pt x="1774" y="658"/>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37925" name="Group 103">
              <a:extLst>
                <a:ext uri="{FF2B5EF4-FFF2-40B4-BE49-F238E27FC236}">
                  <a16:creationId xmlns:a16="http://schemas.microsoft.com/office/drawing/2014/main" id="{A52DEF49-34CB-8AE5-A305-2C5D1B8B8A36}"/>
                </a:ext>
              </a:extLst>
            </p:cNvPr>
            <p:cNvGrpSpPr>
              <a:grpSpLocks/>
            </p:cNvGrpSpPr>
            <p:nvPr/>
          </p:nvGrpSpPr>
          <p:grpSpPr bwMode="auto">
            <a:xfrm>
              <a:off x="2294" y="2602"/>
              <a:ext cx="58" cy="1182"/>
              <a:chOff x="2294" y="2602"/>
              <a:chExt cx="58" cy="1182"/>
            </a:xfrm>
          </p:grpSpPr>
          <p:sp>
            <p:nvSpPr>
              <p:cNvPr id="37926" name="Rectangle 99">
                <a:extLst>
                  <a:ext uri="{FF2B5EF4-FFF2-40B4-BE49-F238E27FC236}">
                    <a16:creationId xmlns:a16="http://schemas.microsoft.com/office/drawing/2014/main" id="{577F45DE-A15A-FDB5-354A-5FB20334F646}"/>
                  </a:ext>
                </a:extLst>
              </p:cNvPr>
              <p:cNvSpPr>
                <a:spLocks noChangeArrowheads="1"/>
              </p:cNvSpPr>
              <p:nvPr/>
            </p:nvSpPr>
            <p:spPr bwMode="auto">
              <a:xfrm>
                <a:off x="2307" y="3692"/>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0</a:t>
                </a:r>
                <a:endParaRPr lang="en-US" altLang="en-US"/>
              </a:p>
            </p:txBody>
          </p:sp>
          <p:sp>
            <p:nvSpPr>
              <p:cNvPr id="37927" name="Rectangle 100">
                <a:extLst>
                  <a:ext uri="{FF2B5EF4-FFF2-40B4-BE49-F238E27FC236}">
                    <a16:creationId xmlns:a16="http://schemas.microsoft.com/office/drawing/2014/main" id="{9E92AD69-C7F7-21FB-FD7B-815C2B592D12}"/>
                  </a:ext>
                </a:extLst>
              </p:cNvPr>
              <p:cNvSpPr>
                <a:spLocks noChangeArrowheads="1"/>
              </p:cNvSpPr>
              <p:nvPr/>
            </p:nvSpPr>
            <p:spPr bwMode="auto">
              <a:xfrm>
                <a:off x="2294" y="3320"/>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1</a:t>
                </a:r>
                <a:endParaRPr lang="en-US" altLang="en-US"/>
              </a:p>
            </p:txBody>
          </p:sp>
          <p:sp>
            <p:nvSpPr>
              <p:cNvPr id="37928" name="Rectangle 101">
                <a:extLst>
                  <a:ext uri="{FF2B5EF4-FFF2-40B4-BE49-F238E27FC236}">
                    <a16:creationId xmlns:a16="http://schemas.microsoft.com/office/drawing/2014/main" id="{A2A17166-E02A-E5FD-9582-9BDDC0466F96}"/>
                  </a:ext>
                </a:extLst>
              </p:cNvPr>
              <p:cNvSpPr>
                <a:spLocks noChangeArrowheads="1"/>
              </p:cNvSpPr>
              <p:nvPr/>
            </p:nvSpPr>
            <p:spPr bwMode="auto">
              <a:xfrm>
                <a:off x="2297" y="2965"/>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2</a:t>
                </a:r>
                <a:endParaRPr lang="en-US" altLang="en-US"/>
              </a:p>
            </p:txBody>
          </p:sp>
          <p:sp>
            <p:nvSpPr>
              <p:cNvPr id="37929" name="Rectangle 102">
                <a:extLst>
                  <a:ext uri="{FF2B5EF4-FFF2-40B4-BE49-F238E27FC236}">
                    <a16:creationId xmlns:a16="http://schemas.microsoft.com/office/drawing/2014/main" id="{7D781ED7-5F88-6EAB-4DF8-DA96EC3422C9}"/>
                  </a:ext>
                </a:extLst>
              </p:cNvPr>
              <p:cNvSpPr>
                <a:spLocks noChangeArrowheads="1"/>
              </p:cNvSpPr>
              <p:nvPr/>
            </p:nvSpPr>
            <p:spPr bwMode="auto">
              <a:xfrm>
                <a:off x="2297" y="2602"/>
                <a:ext cx="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b="1">
                    <a:latin typeface="Helvetica" panose="020B0604020202020204" pitchFamily="34" charset="0"/>
                  </a:rPr>
                  <a:t>3</a:t>
                </a:r>
                <a:endParaRPr lang="en-US" altLang="en-US"/>
              </a:p>
            </p:txBody>
          </p:sp>
        </p:grpSp>
      </p:grpSp>
      <p:sp>
        <p:nvSpPr>
          <p:cNvPr id="37897" name="Rectangle 104">
            <a:extLst>
              <a:ext uri="{FF2B5EF4-FFF2-40B4-BE49-F238E27FC236}">
                <a16:creationId xmlns:a16="http://schemas.microsoft.com/office/drawing/2014/main" id="{32AD0525-079E-D942-359F-B29151C3500D}"/>
              </a:ext>
            </a:extLst>
          </p:cNvPr>
          <p:cNvSpPr>
            <a:spLocks noChangeArrowheads="1"/>
          </p:cNvSpPr>
          <p:nvPr/>
        </p:nvSpPr>
        <p:spPr bwMode="auto">
          <a:xfrm rot="5400000">
            <a:off x="4372792" y="4811974"/>
            <a:ext cx="2260555" cy="26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200" b="1"/>
              <a:t>Normalized sputter etch rate</a:t>
            </a:r>
          </a:p>
        </p:txBody>
      </p:sp>
      <p:graphicFrame>
        <p:nvGraphicFramePr>
          <p:cNvPr id="37898" name="Object 105">
            <a:extLst>
              <a:ext uri="{FF2B5EF4-FFF2-40B4-BE49-F238E27FC236}">
                <a16:creationId xmlns:a16="http://schemas.microsoft.com/office/drawing/2014/main" id="{68FB3BD9-AFF5-6E14-90E2-88CCE47F3180}"/>
              </a:ext>
            </a:extLst>
          </p:cNvPr>
          <p:cNvGraphicFramePr>
            <a:graphicFrameLocks noChangeAspect="1"/>
          </p:cNvGraphicFramePr>
          <p:nvPr/>
        </p:nvGraphicFramePr>
        <p:xfrm>
          <a:off x="1995489" y="2185988"/>
          <a:ext cx="2414587" cy="627062"/>
        </p:xfrm>
        <a:graphic>
          <a:graphicData uri="http://schemas.openxmlformats.org/presentationml/2006/ole">
            <mc:AlternateContent xmlns:mc="http://schemas.openxmlformats.org/markup-compatibility/2006">
              <mc:Choice xmlns:v="urn:schemas-microsoft-com:vml" Requires="v">
                <p:oleObj name="Equation" r:id="rId4" imgW="977476" imgH="253890" progId="Equation.3">
                  <p:embed/>
                </p:oleObj>
              </mc:Choice>
              <mc:Fallback>
                <p:oleObj name="Equation" r:id="rId4" imgW="977476" imgH="253890" progId="Equation.3">
                  <p:embed/>
                  <p:pic>
                    <p:nvPicPr>
                      <p:cNvPr id="37898" name="Object 105">
                        <a:extLst>
                          <a:ext uri="{FF2B5EF4-FFF2-40B4-BE49-F238E27FC236}">
                            <a16:creationId xmlns:a16="http://schemas.microsoft.com/office/drawing/2014/main" id="{68FB3BD9-AFF5-6E14-90E2-88CCE47F31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5489" y="2185988"/>
                        <a:ext cx="2414587" cy="627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9" name="Text Box 106">
            <a:extLst>
              <a:ext uri="{FF2B5EF4-FFF2-40B4-BE49-F238E27FC236}">
                <a16:creationId xmlns:a16="http://schemas.microsoft.com/office/drawing/2014/main" id="{DBAFF090-8024-CAB1-43C6-97B32022CE0C}"/>
              </a:ext>
            </a:extLst>
          </p:cNvPr>
          <p:cNvSpPr txBox="1">
            <a:spLocks noChangeArrowheads="1"/>
          </p:cNvSpPr>
          <p:nvPr/>
        </p:nvSpPr>
        <p:spPr bwMode="auto">
          <a:xfrm>
            <a:off x="4630739" y="2108200"/>
            <a:ext cx="5811837" cy="90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Note that the sputtering yield Y has an angular dependence.</a:t>
            </a:r>
          </a:p>
          <a:p>
            <a:pPr eaLnBrk="1" hangingPunct="1">
              <a:spcBef>
                <a:spcPct val="50000"/>
              </a:spcBef>
            </a:pPr>
            <a:r>
              <a:rPr lang="en-GB" altLang="en-US" sz="1600"/>
              <a:t>Emission of sputtered ions is usually modelled as cos</a:t>
            </a:r>
            <a:r>
              <a:rPr lang="en-GB" altLang="en-US" sz="1600" baseline="30000"/>
              <a:t>n</a:t>
            </a:r>
            <a:r>
              <a:rPr lang="en-GB" altLang="en-US" sz="1600"/>
              <a:t>(</a:t>
            </a:r>
            <a:r>
              <a:rPr lang="el-GR" altLang="en-US" sz="1600">
                <a:cs typeface="Arial" panose="020B0604020202020204" pitchFamily="34" charset="0"/>
              </a:rPr>
              <a:t>θ</a:t>
            </a:r>
            <a:r>
              <a:rPr lang="en-GB" altLang="en-US" sz="1600">
                <a:cs typeface="Arial" panose="020B0604020202020204" pitchFamily="34" charset="0"/>
              </a:rPr>
              <a:t>), with n&lt;1 for energetic ions and n&gt;1 for low energy sputtering</a:t>
            </a:r>
            <a:endParaRPr lang="el-GR" altLang="en-US" sz="1600">
              <a:cs typeface="Arial" panose="020B0604020202020204" pitchFamily="34" charset="0"/>
            </a:endParaRPr>
          </a:p>
        </p:txBody>
      </p:sp>
      <p:graphicFrame>
        <p:nvGraphicFramePr>
          <p:cNvPr id="37900" name="Object 107">
            <a:extLst>
              <a:ext uri="{FF2B5EF4-FFF2-40B4-BE49-F238E27FC236}">
                <a16:creationId xmlns:a16="http://schemas.microsoft.com/office/drawing/2014/main" id="{718D9782-804B-71FC-4B82-CB9009D468F2}"/>
              </a:ext>
            </a:extLst>
          </p:cNvPr>
          <p:cNvGraphicFramePr>
            <a:graphicFrameLocks noChangeAspect="1"/>
          </p:cNvGraphicFramePr>
          <p:nvPr/>
        </p:nvGraphicFramePr>
        <p:xfrm>
          <a:off x="6127751" y="3884613"/>
          <a:ext cx="4316413" cy="520700"/>
        </p:xfrm>
        <a:graphic>
          <a:graphicData uri="http://schemas.openxmlformats.org/presentationml/2006/ole">
            <mc:AlternateContent xmlns:mc="http://schemas.openxmlformats.org/markup-compatibility/2006">
              <mc:Choice xmlns:v="urn:schemas-microsoft-com:vml" Requires="v">
                <p:oleObj name="Equation" r:id="rId6" imgW="2108200" imgH="254000" progId="Equation.DSMT4">
                  <p:embed/>
                </p:oleObj>
              </mc:Choice>
              <mc:Fallback>
                <p:oleObj name="Equation" r:id="rId6" imgW="2108200" imgH="254000" progId="Equation.DSMT4">
                  <p:embed/>
                  <p:pic>
                    <p:nvPicPr>
                      <p:cNvPr id="37900" name="Object 107">
                        <a:extLst>
                          <a:ext uri="{FF2B5EF4-FFF2-40B4-BE49-F238E27FC236}">
                            <a16:creationId xmlns:a16="http://schemas.microsoft.com/office/drawing/2014/main" id="{718D9782-804B-71FC-4B82-CB9009D468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27751" y="3884613"/>
                        <a:ext cx="4316413"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1" name="Text Box 108">
            <a:extLst>
              <a:ext uri="{FF2B5EF4-FFF2-40B4-BE49-F238E27FC236}">
                <a16:creationId xmlns:a16="http://schemas.microsoft.com/office/drawing/2014/main" id="{D3E20883-8DCE-275E-B700-899A9298AC1E}"/>
              </a:ext>
            </a:extLst>
          </p:cNvPr>
          <p:cNvSpPr txBox="1">
            <a:spLocks noChangeArrowheads="1"/>
          </p:cNvSpPr>
          <p:nvPr/>
        </p:nvSpPr>
        <p:spPr bwMode="auto">
          <a:xfrm>
            <a:off x="6270626" y="3429001"/>
            <a:ext cx="4397375"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Sputtered atoms can be redeposited:</a:t>
            </a:r>
            <a:endParaRPr lang="en-US" altLang="en-US"/>
          </a:p>
        </p:txBody>
      </p:sp>
      <p:sp>
        <p:nvSpPr>
          <p:cNvPr id="37902" name="Text Box 109">
            <a:extLst>
              <a:ext uri="{FF2B5EF4-FFF2-40B4-BE49-F238E27FC236}">
                <a16:creationId xmlns:a16="http://schemas.microsoft.com/office/drawing/2014/main" id="{3B70C205-C86F-2510-A4E3-110E1661AA14}"/>
              </a:ext>
            </a:extLst>
          </p:cNvPr>
          <p:cNvSpPr txBox="1">
            <a:spLocks noChangeArrowheads="1"/>
          </p:cNvSpPr>
          <p:nvPr/>
        </p:nvSpPr>
        <p:spPr bwMode="auto">
          <a:xfrm>
            <a:off x="6270626" y="4556126"/>
            <a:ext cx="439737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Impinging ions can enhance deposition rate instead of sputtering:</a:t>
            </a:r>
            <a:endParaRPr lang="en-US" altLang="en-US"/>
          </a:p>
        </p:txBody>
      </p:sp>
      <p:graphicFrame>
        <p:nvGraphicFramePr>
          <p:cNvPr id="37903" name="Object 110">
            <a:extLst>
              <a:ext uri="{FF2B5EF4-FFF2-40B4-BE49-F238E27FC236}">
                <a16:creationId xmlns:a16="http://schemas.microsoft.com/office/drawing/2014/main" id="{FC11258F-A290-0087-EA3E-81CEFC27EDB6}"/>
              </a:ext>
            </a:extLst>
          </p:cNvPr>
          <p:cNvGraphicFramePr>
            <a:graphicFrameLocks noChangeAspect="1"/>
          </p:cNvGraphicFramePr>
          <p:nvPr/>
        </p:nvGraphicFramePr>
        <p:xfrm>
          <a:off x="6334125" y="5383213"/>
          <a:ext cx="2947988" cy="595312"/>
        </p:xfrm>
        <a:graphic>
          <a:graphicData uri="http://schemas.openxmlformats.org/presentationml/2006/ole">
            <mc:AlternateContent xmlns:mc="http://schemas.openxmlformats.org/markup-compatibility/2006">
              <mc:Choice xmlns:v="urn:schemas-microsoft-com:vml" Requires="v">
                <p:oleObj name="Equation" r:id="rId8" imgW="1193800" imgH="241300" progId="Equation.DSMT4">
                  <p:embed/>
                </p:oleObj>
              </mc:Choice>
              <mc:Fallback>
                <p:oleObj name="Equation" r:id="rId8" imgW="1193800" imgH="241300" progId="Equation.DSMT4">
                  <p:embed/>
                  <p:pic>
                    <p:nvPicPr>
                      <p:cNvPr id="37903" name="Object 110">
                        <a:extLst>
                          <a:ext uri="{FF2B5EF4-FFF2-40B4-BE49-F238E27FC236}">
                            <a16:creationId xmlns:a16="http://schemas.microsoft.com/office/drawing/2014/main" id="{FC11258F-A290-0087-EA3E-81CEFC27ED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34125" y="5383213"/>
                        <a:ext cx="2947988"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877DB73E-78CF-1699-3D71-08CCA173BE45}"/>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36BA5A06-21A2-4792-8D36-1065165B2548}" type="slidenum">
              <a:rPr lang="en-US" altLang="en-US"/>
              <a:pPr>
                <a:lnSpc>
                  <a:spcPct val="100000"/>
                </a:lnSpc>
                <a:spcBef>
                  <a:spcPct val="0"/>
                </a:spcBef>
                <a:buClr>
                  <a:srgbClr val="F68933"/>
                </a:buClr>
                <a:buFontTx/>
                <a:buNone/>
              </a:pPr>
              <a:t>23</a:t>
            </a:fld>
            <a:endParaRPr lang="en-US" altLang="en-US"/>
          </a:p>
        </p:txBody>
      </p:sp>
      <p:sp>
        <p:nvSpPr>
          <p:cNvPr id="38915" name="Rectangle 2">
            <a:extLst>
              <a:ext uri="{FF2B5EF4-FFF2-40B4-BE49-F238E27FC236}">
                <a16:creationId xmlns:a16="http://schemas.microsoft.com/office/drawing/2014/main" id="{47851F4B-0B64-44BB-E744-D4300EB018C1}"/>
              </a:ext>
            </a:extLst>
          </p:cNvPr>
          <p:cNvSpPr>
            <a:spLocks noGrp="1" noChangeArrowheads="1"/>
          </p:cNvSpPr>
          <p:nvPr>
            <p:ph type="title"/>
          </p:nvPr>
        </p:nvSpPr>
        <p:spPr/>
        <p:txBody>
          <a:bodyPr/>
          <a:lstStyle/>
          <a:p>
            <a:pPr eaLnBrk="1" hangingPunct="1"/>
            <a:r>
              <a:rPr lang="en-GB" altLang="en-US"/>
              <a:t>LPCVD modelling</a:t>
            </a:r>
            <a:endParaRPr lang="en-US" altLang="en-US"/>
          </a:p>
        </p:txBody>
      </p:sp>
      <p:graphicFrame>
        <p:nvGraphicFramePr>
          <p:cNvPr id="38916" name="Object 4">
            <a:extLst>
              <a:ext uri="{FF2B5EF4-FFF2-40B4-BE49-F238E27FC236}">
                <a16:creationId xmlns:a16="http://schemas.microsoft.com/office/drawing/2014/main" id="{E8D80D8E-0F53-3367-A260-A79FE6024F2C}"/>
              </a:ext>
            </a:extLst>
          </p:cNvPr>
          <p:cNvGraphicFramePr>
            <a:graphicFrameLocks noChangeAspect="1"/>
          </p:cNvGraphicFramePr>
          <p:nvPr/>
        </p:nvGraphicFramePr>
        <p:xfrm>
          <a:off x="4859339" y="1312864"/>
          <a:ext cx="3290887" cy="2503487"/>
        </p:xfrm>
        <a:graphic>
          <a:graphicData uri="http://schemas.openxmlformats.org/presentationml/2006/ole">
            <mc:AlternateContent xmlns:mc="http://schemas.openxmlformats.org/markup-compatibility/2006">
              <mc:Choice xmlns:v="urn:schemas-microsoft-com:vml" Requires="v">
                <p:oleObj name="Equation" r:id="rId2" imgW="3771900" imgH="2870200" progId="Equation.DSMT4">
                  <p:embed/>
                </p:oleObj>
              </mc:Choice>
              <mc:Fallback>
                <p:oleObj name="Equation" r:id="rId2" imgW="3771900" imgH="2870200" progId="Equation.DSMT4">
                  <p:embed/>
                  <p:pic>
                    <p:nvPicPr>
                      <p:cNvPr id="38916" name="Object 4">
                        <a:extLst>
                          <a:ext uri="{FF2B5EF4-FFF2-40B4-BE49-F238E27FC236}">
                            <a16:creationId xmlns:a16="http://schemas.microsoft.com/office/drawing/2014/main" id="{E8D80D8E-0F53-3367-A260-A79FE6024F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9" y="1312864"/>
                        <a:ext cx="3290887" cy="2503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8917" name="Picture 5">
            <a:extLst>
              <a:ext uri="{FF2B5EF4-FFF2-40B4-BE49-F238E27FC236}">
                <a16:creationId xmlns:a16="http://schemas.microsoft.com/office/drawing/2014/main" id="{B51D8251-9288-F01B-E1E9-662B30996E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111251"/>
            <a:ext cx="2763838" cy="340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8918" name="Object 6">
            <a:extLst>
              <a:ext uri="{FF2B5EF4-FFF2-40B4-BE49-F238E27FC236}">
                <a16:creationId xmlns:a16="http://schemas.microsoft.com/office/drawing/2014/main" id="{DD438425-E399-0FAE-1258-2F4138018B40}"/>
              </a:ext>
            </a:extLst>
          </p:cNvPr>
          <p:cNvGraphicFramePr>
            <a:graphicFrameLocks noChangeAspect="1"/>
          </p:cNvGraphicFramePr>
          <p:nvPr/>
        </p:nvGraphicFramePr>
        <p:xfrm>
          <a:off x="3322639" y="4606925"/>
          <a:ext cx="6751637" cy="1728788"/>
        </p:xfrm>
        <a:graphic>
          <a:graphicData uri="http://schemas.openxmlformats.org/presentationml/2006/ole">
            <mc:AlternateContent xmlns:mc="http://schemas.openxmlformats.org/markup-compatibility/2006">
              <mc:Choice xmlns:v="urn:schemas-microsoft-com:vml" Requires="v">
                <p:oleObj name="Equation" r:id="rId5" imgW="4762500" imgH="1219200" progId="Equation.DSMT4">
                  <p:embed/>
                </p:oleObj>
              </mc:Choice>
              <mc:Fallback>
                <p:oleObj name="Equation" r:id="rId5" imgW="4762500" imgH="1219200" progId="Equation.DSMT4">
                  <p:embed/>
                  <p:pic>
                    <p:nvPicPr>
                      <p:cNvPr id="38918" name="Object 6">
                        <a:extLst>
                          <a:ext uri="{FF2B5EF4-FFF2-40B4-BE49-F238E27FC236}">
                            <a16:creationId xmlns:a16="http://schemas.microsoft.com/office/drawing/2014/main" id="{DD438425-E399-0FAE-1258-2F4138018B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2639" y="4606925"/>
                        <a:ext cx="6751637" cy="172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a:extLst>
              <a:ext uri="{FF2B5EF4-FFF2-40B4-BE49-F238E27FC236}">
                <a16:creationId xmlns:a16="http://schemas.microsoft.com/office/drawing/2014/main" id="{C1F15C16-FE21-E061-5A33-B4E09FCB9174}"/>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728D40FE-C17B-44C6-A66F-D29F4BD13CEB}" type="slidenum">
              <a:rPr lang="en-US" altLang="en-US"/>
              <a:pPr>
                <a:lnSpc>
                  <a:spcPct val="100000"/>
                </a:lnSpc>
                <a:spcBef>
                  <a:spcPct val="0"/>
                </a:spcBef>
                <a:buClr>
                  <a:srgbClr val="F68933"/>
                </a:buClr>
                <a:buFontTx/>
                <a:buNone/>
              </a:pPr>
              <a:t>24</a:t>
            </a:fld>
            <a:endParaRPr lang="en-US" altLang="en-US"/>
          </a:p>
        </p:txBody>
      </p:sp>
      <p:sp>
        <p:nvSpPr>
          <p:cNvPr id="39939" name="Rectangle 2">
            <a:extLst>
              <a:ext uri="{FF2B5EF4-FFF2-40B4-BE49-F238E27FC236}">
                <a16:creationId xmlns:a16="http://schemas.microsoft.com/office/drawing/2014/main" id="{B5E52274-2D24-0459-E4A9-8BF6089916FC}"/>
              </a:ext>
            </a:extLst>
          </p:cNvPr>
          <p:cNvSpPr>
            <a:spLocks noGrp="1" noChangeArrowheads="1"/>
          </p:cNvSpPr>
          <p:nvPr>
            <p:ph type="title"/>
          </p:nvPr>
        </p:nvSpPr>
        <p:spPr/>
        <p:txBody>
          <a:bodyPr/>
          <a:lstStyle/>
          <a:p>
            <a:pPr eaLnBrk="1" hangingPunct="1"/>
            <a:r>
              <a:rPr lang="en-GB" altLang="en-US"/>
              <a:t>PECVD modelling</a:t>
            </a:r>
            <a:endParaRPr lang="en-US" altLang="en-US"/>
          </a:p>
        </p:txBody>
      </p:sp>
      <p:pic>
        <p:nvPicPr>
          <p:cNvPr id="39940" name="Picture 6">
            <a:extLst>
              <a:ext uri="{FF2B5EF4-FFF2-40B4-BE49-F238E27FC236}">
                <a16:creationId xmlns:a16="http://schemas.microsoft.com/office/drawing/2014/main" id="{03B12567-982F-38C1-016B-1DA1637E60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877889"/>
            <a:ext cx="2419350" cy="467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1" name="Picture 8">
            <a:extLst>
              <a:ext uri="{FF2B5EF4-FFF2-40B4-BE49-F238E27FC236}">
                <a16:creationId xmlns:a16="http://schemas.microsoft.com/office/drawing/2014/main" id="{4FDAD472-B5A3-5B73-DF4A-2EE4F57535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7188" y="1343026"/>
            <a:ext cx="3295650" cy="299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9942" name="Object 9">
            <a:extLst>
              <a:ext uri="{FF2B5EF4-FFF2-40B4-BE49-F238E27FC236}">
                <a16:creationId xmlns:a16="http://schemas.microsoft.com/office/drawing/2014/main" id="{F4EF902A-AAB4-F005-ED6D-9BECE08B018A}"/>
              </a:ext>
            </a:extLst>
          </p:cNvPr>
          <p:cNvGraphicFramePr>
            <a:graphicFrameLocks noChangeAspect="1"/>
          </p:cNvGraphicFramePr>
          <p:nvPr/>
        </p:nvGraphicFramePr>
        <p:xfrm>
          <a:off x="5486400" y="4559300"/>
          <a:ext cx="2997200" cy="871538"/>
        </p:xfrm>
        <a:graphic>
          <a:graphicData uri="http://schemas.openxmlformats.org/presentationml/2006/ole">
            <mc:AlternateContent xmlns:mc="http://schemas.openxmlformats.org/markup-compatibility/2006">
              <mc:Choice xmlns:v="urn:schemas-microsoft-com:vml" Requires="v">
                <p:oleObj name="Equation" r:id="rId4" imgW="1396394" imgH="406224" progId="Equation.DSMT4">
                  <p:embed/>
                </p:oleObj>
              </mc:Choice>
              <mc:Fallback>
                <p:oleObj name="Equation" r:id="rId4" imgW="1396394" imgH="406224" progId="Equation.DSMT4">
                  <p:embed/>
                  <p:pic>
                    <p:nvPicPr>
                      <p:cNvPr id="39942" name="Object 9">
                        <a:extLst>
                          <a:ext uri="{FF2B5EF4-FFF2-40B4-BE49-F238E27FC236}">
                            <a16:creationId xmlns:a16="http://schemas.microsoft.com/office/drawing/2014/main" id="{F4EF902A-AAB4-F005-ED6D-9BECE08B01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4559300"/>
                        <a:ext cx="2997200"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43" name="Text Box 10">
            <a:extLst>
              <a:ext uri="{FF2B5EF4-FFF2-40B4-BE49-F238E27FC236}">
                <a16:creationId xmlns:a16="http://schemas.microsoft.com/office/drawing/2014/main" id="{4663D24E-BC1F-5A2D-8A0E-99A7497BBCC6}"/>
              </a:ext>
            </a:extLst>
          </p:cNvPr>
          <p:cNvSpPr txBox="1">
            <a:spLocks noChangeArrowheads="1"/>
          </p:cNvSpPr>
          <p:nvPr/>
        </p:nvSpPr>
        <p:spPr bwMode="auto">
          <a:xfrm>
            <a:off x="4597401" y="5651501"/>
            <a:ext cx="5307013"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Where K</a:t>
            </a:r>
            <a:r>
              <a:rPr lang="en-GB" altLang="en-US" baseline="-25000"/>
              <a:t>D</a:t>
            </a:r>
            <a:r>
              <a:rPr lang="en-GB" altLang="en-US"/>
              <a:t> is a specific rate constant for non-ion-enhanced deposition component</a:t>
            </a:r>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a:extLst>
              <a:ext uri="{FF2B5EF4-FFF2-40B4-BE49-F238E27FC236}">
                <a16:creationId xmlns:a16="http://schemas.microsoft.com/office/drawing/2014/main" id="{B2B7400A-6FFA-84B6-85E9-F686C3534F32}"/>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B76EAF3A-5E6F-48BC-81BC-BBC49311AA6A}" type="slidenum">
              <a:rPr lang="en-US" altLang="en-US"/>
              <a:pPr>
                <a:lnSpc>
                  <a:spcPct val="100000"/>
                </a:lnSpc>
                <a:spcBef>
                  <a:spcPct val="0"/>
                </a:spcBef>
                <a:buClr>
                  <a:srgbClr val="F68933"/>
                </a:buClr>
                <a:buFontTx/>
                <a:buNone/>
              </a:pPr>
              <a:t>25</a:t>
            </a:fld>
            <a:endParaRPr lang="en-US" altLang="en-US"/>
          </a:p>
        </p:txBody>
      </p:sp>
      <p:sp>
        <p:nvSpPr>
          <p:cNvPr id="40963" name="Rectangle 2">
            <a:extLst>
              <a:ext uri="{FF2B5EF4-FFF2-40B4-BE49-F238E27FC236}">
                <a16:creationId xmlns:a16="http://schemas.microsoft.com/office/drawing/2014/main" id="{36C960D6-AFB3-D85E-DE3C-039156941BF3}"/>
              </a:ext>
            </a:extLst>
          </p:cNvPr>
          <p:cNvSpPr>
            <a:spLocks noGrp="1" noChangeArrowheads="1"/>
          </p:cNvSpPr>
          <p:nvPr>
            <p:ph type="title"/>
          </p:nvPr>
        </p:nvSpPr>
        <p:spPr/>
        <p:txBody>
          <a:bodyPr/>
          <a:lstStyle/>
          <a:p>
            <a:pPr eaLnBrk="1" hangingPunct="1"/>
            <a:r>
              <a:rPr lang="en-GB" altLang="en-US"/>
              <a:t>PVD modelling</a:t>
            </a:r>
            <a:endParaRPr lang="en-US" altLang="en-US"/>
          </a:p>
        </p:txBody>
      </p:sp>
      <p:pic>
        <p:nvPicPr>
          <p:cNvPr id="40964" name="Picture 7">
            <a:extLst>
              <a:ext uri="{FF2B5EF4-FFF2-40B4-BE49-F238E27FC236}">
                <a16:creationId xmlns:a16="http://schemas.microsoft.com/office/drawing/2014/main" id="{4D78D6DE-8730-837F-CA6D-68E5AD6025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550" y="955676"/>
            <a:ext cx="2305050" cy="42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65" name="Text Box 8">
            <a:extLst>
              <a:ext uri="{FF2B5EF4-FFF2-40B4-BE49-F238E27FC236}">
                <a16:creationId xmlns:a16="http://schemas.microsoft.com/office/drawing/2014/main" id="{C988E3BF-9462-95E3-87A0-05E2D88B86F5}"/>
              </a:ext>
            </a:extLst>
          </p:cNvPr>
          <p:cNvSpPr txBox="1">
            <a:spLocks noChangeArrowheads="1"/>
          </p:cNvSpPr>
          <p:nvPr/>
        </p:nvSpPr>
        <p:spPr bwMode="auto">
          <a:xfrm>
            <a:off x="4775201" y="1470025"/>
            <a:ext cx="5394325" cy="881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Ions don’t play a significant role, so modelling is the same as in LPCVD systems (with different flux distribution and S</a:t>
            </a:r>
            <a:r>
              <a:rPr lang="en-GB" altLang="en-US" baseline="-25000"/>
              <a:t>C)</a:t>
            </a:r>
            <a:endParaRPr lang="en-US" altLang="en-US"/>
          </a:p>
        </p:txBody>
      </p:sp>
      <p:graphicFrame>
        <p:nvGraphicFramePr>
          <p:cNvPr id="40966" name="Object 9">
            <a:extLst>
              <a:ext uri="{FF2B5EF4-FFF2-40B4-BE49-F238E27FC236}">
                <a16:creationId xmlns:a16="http://schemas.microsoft.com/office/drawing/2014/main" id="{CEA03AD4-DC18-67FC-17C5-BAE31D8C5C39}"/>
              </a:ext>
            </a:extLst>
          </p:cNvPr>
          <p:cNvGraphicFramePr>
            <a:graphicFrameLocks noChangeAspect="1"/>
          </p:cNvGraphicFramePr>
          <p:nvPr/>
        </p:nvGraphicFramePr>
        <p:xfrm>
          <a:off x="6127751" y="2527300"/>
          <a:ext cx="1774825" cy="901700"/>
        </p:xfrm>
        <a:graphic>
          <a:graphicData uri="http://schemas.openxmlformats.org/presentationml/2006/ole">
            <mc:AlternateContent xmlns:mc="http://schemas.openxmlformats.org/markup-compatibility/2006">
              <mc:Choice xmlns:v="urn:schemas-microsoft-com:vml" Requires="v">
                <p:oleObj name="Equation" r:id="rId3" imgW="799753" imgH="406224" progId="Equation.DSMT4">
                  <p:embed/>
                </p:oleObj>
              </mc:Choice>
              <mc:Fallback>
                <p:oleObj name="Equation" r:id="rId3" imgW="799753" imgH="406224" progId="Equation.DSMT4">
                  <p:embed/>
                  <p:pic>
                    <p:nvPicPr>
                      <p:cNvPr id="40966" name="Object 9">
                        <a:extLst>
                          <a:ext uri="{FF2B5EF4-FFF2-40B4-BE49-F238E27FC236}">
                            <a16:creationId xmlns:a16="http://schemas.microsoft.com/office/drawing/2014/main" id="{CEA03AD4-DC18-67FC-17C5-BAE31D8C5C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1" y="2527300"/>
                        <a:ext cx="1774825"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7" name="Text Box 10">
            <a:extLst>
              <a:ext uri="{FF2B5EF4-FFF2-40B4-BE49-F238E27FC236}">
                <a16:creationId xmlns:a16="http://schemas.microsoft.com/office/drawing/2014/main" id="{712D46FC-F15F-F984-1D22-785F21936A1F}"/>
              </a:ext>
            </a:extLst>
          </p:cNvPr>
          <p:cNvSpPr txBox="1">
            <a:spLocks noChangeArrowheads="1"/>
          </p:cNvSpPr>
          <p:nvPr/>
        </p:nvSpPr>
        <p:spPr bwMode="auto">
          <a:xfrm>
            <a:off x="4806951" y="3614739"/>
            <a:ext cx="53943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If high T are used, surface diffusion must be taken into account</a:t>
            </a:r>
            <a:endParaRPr lang="en-US" altLang="en-US"/>
          </a:p>
        </p:txBody>
      </p:sp>
      <p:graphicFrame>
        <p:nvGraphicFramePr>
          <p:cNvPr id="40968" name="Object 12">
            <a:extLst>
              <a:ext uri="{FF2B5EF4-FFF2-40B4-BE49-F238E27FC236}">
                <a16:creationId xmlns:a16="http://schemas.microsoft.com/office/drawing/2014/main" id="{72DB1782-B009-2009-7A39-329A3C76DF98}"/>
              </a:ext>
            </a:extLst>
          </p:cNvPr>
          <p:cNvGraphicFramePr>
            <a:graphicFrameLocks noChangeAspect="1"/>
          </p:cNvGraphicFramePr>
          <p:nvPr/>
        </p:nvGraphicFramePr>
        <p:xfrm>
          <a:off x="6153151" y="4991101"/>
          <a:ext cx="2462213" cy="809625"/>
        </p:xfrm>
        <a:graphic>
          <a:graphicData uri="http://schemas.openxmlformats.org/presentationml/2006/ole">
            <mc:AlternateContent xmlns:mc="http://schemas.openxmlformats.org/markup-compatibility/2006">
              <mc:Choice xmlns:v="urn:schemas-microsoft-com:vml" Requires="v">
                <p:oleObj name="Equation" r:id="rId5" imgW="1816100" imgH="596900" progId="Equation.DSMT4">
                  <p:embed/>
                </p:oleObj>
              </mc:Choice>
              <mc:Fallback>
                <p:oleObj name="Equation" r:id="rId5" imgW="1816100" imgH="596900" progId="Equation.DSMT4">
                  <p:embed/>
                  <p:pic>
                    <p:nvPicPr>
                      <p:cNvPr id="40968" name="Object 12">
                        <a:extLst>
                          <a:ext uri="{FF2B5EF4-FFF2-40B4-BE49-F238E27FC236}">
                            <a16:creationId xmlns:a16="http://schemas.microsoft.com/office/drawing/2014/main" id="{72DB1782-B009-2009-7A39-329A3C76DF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3151" y="4991101"/>
                        <a:ext cx="2462213"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963E1CB2-1960-4F30-A6A5-38749D9D4EFF}"/>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5926DCA5-BFDC-4792-AC26-8CFEA55130DA}" type="slidenum">
              <a:rPr lang="en-US" altLang="en-US"/>
              <a:pPr>
                <a:lnSpc>
                  <a:spcPct val="100000"/>
                </a:lnSpc>
                <a:spcBef>
                  <a:spcPct val="0"/>
                </a:spcBef>
                <a:buClr>
                  <a:srgbClr val="F68933"/>
                </a:buClr>
                <a:buFontTx/>
                <a:buNone/>
              </a:pPr>
              <a:t>26</a:t>
            </a:fld>
            <a:endParaRPr lang="en-US" altLang="en-US"/>
          </a:p>
        </p:txBody>
      </p:sp>
      <p:sp>
        <p:nvSpPr>
          <p:cNvPr id="41987" name="Rectangle 2">
            <a:extLst>
              <a:ext uri="{FF2B5EF4-FFF2-40B4-BE49-F238E27FC236}">
                <a16:creationId xmlns:a16="http://schemas.microsoft.com/office/drawing/2014/main" id="{12AA32FF-9828-A9FE-8F5A-E78F123FC409}"/>
              </a:ext>
            </a:extLst>
          </p:cNvPr>
          <p:cNvSpPr>
            <a:spLocks noGrp="1" noChangeArrowheads="1"/>
          </p:cNvSpPr>
          <p:nvPr>
            <p:ph type="title"/>
          </p:nvPr>
        </p:nvSpPr>
        <p:spPr/>
        <p:txBody>
          <a:bodyPr/>
          <a:lstStyle/>
          <a:p>
            <a:pPr eaLnBrk="1" hangingPunct="1"/>
            <a:r>
              <a:rPr lang="en-GB" altLang="en-US"/>
              <a:t>Ionized-PVD modelling</a:t>
            </a:r>
            <a:endParaRPr lang="en-US" altLang="en-US"/>
          </a:p>
        </p:txBody>
      </p:sp>
      <p:pic>
        <p:nvPicPr>
          <p:cNvPr id="41988" name="Picture 8">
            <a:extLst>
              <a:ext uri="{FF2B5EF4-FFF2-40B4-BE49-F238E27FC236}">
                <a16:creationId xmlns:a16="http://schemas.microsoft.com/office/drawing/2014/main" id="{4C0EA2FD-9F69-2CC8-DE45-6E673BC17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788" y="1384300"/>
            <a:ext cx="2616200" cy="408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1989" name="Object 9">
            <a:extLst>
              <a:ext uri="{FF2B5EF4-FFF2-40B4-BE49-F238E27FC236}">
                <a16:creationId xmlns:a16="http://schemas.microsoft.com/office/drawing/2014/main" id="{4114E511-CE52-EAA3-3177-AB6BBFD1AFB4}"/>
              </a:ext>
            </a:extLst>
          </p:cNvPr>
          <p:cNvGraphicFramePr>
            <a:graphicFrameLocks noChangeAspect="1"/>
          </p:cNvGraphicFramePr>
          <p:nvPr/>
        </p:nvGraphicFramePr>
        <p:xfrm>
          <a:off x="4502150" y="1589089"/>
          <a:ext cx="3168650" cy="2433637"/>
        </p:xfrm>
        <a:graphic>
          <a:graphicData uri="http://schemas.openxmlformats.org/presentationml/2006/ole">
            <mc:AlternateContent xmlns:mc="http://schemas.openxmlformats.org/markup-compatibility/2006">
              <mc:Choice xmlns:v="urn:schemas-microsoft-com:vml" Requires="v">
                <p:oleObj name="Equation" r:id="rId3" imgW="3606800" imgH="3276600" progId="Equation.3">
                  <p:embed/>
                </p:oleObj>
              </mc:Choice>
              <mc:Fallback>
                <p:oleObj name="Equation" r:id="rId3" imgW="3606800" imgH="3276600" progId="Equation.3">
                  <p:embed/>
                  <p:pic>
                    <p:nvPicPr>
                      <p:cNvPr id="41989" name="Object 9">
                        <a:extLst>
                          <a:ext uri="{FF2B5EF4-FFF2-40B4-BE49-F238E27FC236}">
                            <a16:creationId xmlns:a16="http://schemas.microsoft.com/office/drawing/2014/main" id="{4114E511-CE52-EAA3-3177-AB6BBFD1AF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2150" y="1589089"/>
                        <a:ext cx="3168650" cy="243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0" name="Object 10">
            <a:extLst>
              <a:ext uri="{FF2B5EF4-FFF2-40B4-BE49-F238E27FC236}">
                <a16:creationId xmlns:a16="http://schemas.microsoft.com/office/drawing/2014/main" id="{9E9A5CC2-EF44-C666-2B22-5BEA7AE0E3D0}"/>
              </a:ext>
            </a:extLst>
          </p:cNvPr>
          <p:cNvGraphicFramePr>
            <a:graphicFrameLocks noChangeAspect="1"/>
          </p:cNvGraphicFramePr>
          <p:nvPr/>
        </p:nvGraphicFramePr>
        <p:xfrm>
          <a:off x="4872039" y="4622800"/>
          <a:ext cx="4143375" cy="757238"/>
        </p:xfrm>
        <a:graphic>
          <a:graphicData uri="http://schemas.openxmlformats.org/presentationml/2006/ole">
            <mc:AlternateContent xmlns:mc="http://schemas.openxmlformats.org/markup-compatibility/2006">
              <mc:Choice xmlns:v="urn:schemas-microsoft-com:vml" Requires="v">
                <p:oleObj name="Equation" r:id="rId5" imgW="2501900" imgH="457200" progId="Equation.DSMT4">
                  <p:embed/>
                </p:oleObj>
              </mc:Choice>
              <mc:Fallback>
                <p:oleObj name="Equation" r:id="rId5" imgW="2501900" imgH="457200" progId="Equation.DSMT4">
                  <p:embed/>
                  <p:pic>
                    <p:nvPicPr>
                      <p:cNvPr id="41990" name="Object 10">
                        <a:extLst>
                          <a:ext uri="{FF2B5EF4-FFF2-40B4-BE49-F238E27FC236}">
                            <a16:creationId xmlns:a16="http://schemas.microsoft.com/office/drawing/2014/main" id="{9E9A5CC2-EF44-C666-2B22-5BEA7AE0E3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2039" y="4622800"/>
                        <a:ext cx="4143375"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8A546CF8-39FD-5C7F-BA96-4ABC3454206F}"/>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9A65EA16-A3BD-4D66-A643-B4208F184EBB}" type="slidenum">
              <a:rPr lang="en-US" altLang="en-US"/>
              <a:pPr>
                <a:lnSpc>
                  <a:spcPct val="100000"/>
                </a:lnSpc>
                <a:spcBef>
                  <a:spcPct val="0"/>
                </a:spcBef>
                <a:buClr>
                  <a:srgbClr val="F68933"/>
                </a:buClr>
                <a:buFontTx/>
                <a:buNone/>
              </a:pPr>
              <a:t>27</a:t>
            </a:fld>
            <a:endParaRPr lang="en-US" altLang="en-US"/>
          </a:p>
        </p:txBody>
      </p:sp>
      <p:sp>
        <p:nvSpPr>
          <p:cNvPr id="43011" name="Rectangle 2">
            <a:extLst>
              <a:ext uri="{FF2B5EF4-FFF2-40B4-BE49-F238E27FC236}">
                <a16:creationId xmlns:a16="http://schemas.microsoft.com/office/drawing/2014/main" id="{DE924282-95AD-CFE6-6B12-634F13B25D5A}"/>
              </a:ext>
            </a:extLst>
          </p:cNvPr>
          <p:cNvSpPr>
            <a:spLocks noGrp="1" noChangeArrowheads="1"/>
          </p:cNvSpPr>
          <p:nvPr>
            <p:ph type="title"/>
          </p:nvPr>
        </p:nvSpPr>
        <p:spPr/>
        <p:txBody>
          <a:bodyPr/>
          <a:lstStyle/>
          <a:p>
            <a:pPr eaLnBrk="1" hangingPunct="1"/>
            <a:r>
              <a:rPr lang="en-GB" altLang="en-US" sz="2400"/>
              <a:t>Thin film deposition: deposited materials and methods</a:t>
            </a:r>
            <a:endParaRPr lang="en-US" altLang="en-US" sz="2400"/>
          </a:p>
        </p:txBody>
      </p:sp>
      <p:graphicFrame>
        <p:nvGraphicFramePr>
          <p:cNvPr id="43012" name="Object 5">
            <a:extLst>
              <a:ext uri="{FF2B5EF4-FFF2-40B4-BE49-F238E27FC236}">
                <a16:creationId xmlns:a16="http://schemas.microsoft.com/office/drawing/2014/main" id="{1376C2AA-7F4D-4342-674D-BBD742212689}"/>
              </a:ext>
            </a:extLst>
          </p:cNvPr>
          <p:cNvGraphicFramePr>
            <a:graphicFrameLocks noChangeAspect="1"/>
          </p:cNvGraphicFramePr>
          <p:nvPr/>
        </p:nvGraphicFramePr>
        <p:xfrm>
          <a:off x="3065464" y="1449388"/>
          <a:ext cx="6122987" cy="4005262"/>
        </p:xfrm>
        <a:graphic>
          <a:graphicData uri="http://schemas.openxmlformats.org/presentationml/2006/ole">
            <mc:AlternateContent xmlns:mc="http://schemas.openxmlformats.org/markup-compatibility/2006">
              <mc:Choice xmlns:v="urn:schemas-microsoft-com:vml" Requires="v">
                <p:oleObj name="Document" r:id="rId2" imgW="5645282" imgH="3685200" progId="Word.Document.8">
                  <p:embed/>
                </p:oleObj>
              </mc:Choice>
              <mc:Fallback>
                <p:oleObj name="Document" r:id="rId2" imgW="5645282" imgH="3685200" progId="Word.Document.8">
                  <p:embed/>
                  <p:pic>
                    <p:nvPicPr>
                      <p:cNvPr id="43012" name="Object 5">
                        <a:extLst>
                          <a:ext uri="{FF2B5EF4-FFF2-40B4-BE49-F238E27FC236}">
                            <a16:creationId xmlns:a16="http://schemas.microsoft.com/office/drawing/2014/main" id="{1376C2AA-7F4D-4342-674D-BBD742212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5464" y="1449388"/>
                        <a:ext cx="6122987" cy="4005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BA894995-BA0B-446B-8331-43C19462407D}"/>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0FA42FAF-D8FA-4551-998F-AF7DAE4D594B}" type="slidenum">
              <a:rPr lang="en-US" altLang="en-US"/>
              <a:pPr>
                <a:lnSpc>
                  <a:spcPct val="100000"/>
                </a:lnSpc>
                <a:spcBef>
                  <a:spcPct val="0"/>
                </a:spcBef>
                <a:buClr>
                  <a:srgbClr val="F68933"/>
                </a:buClr>
                <a:buFontTx/>
                <a:buNone/>
              </a:pPr>
              <a:t>28</a:t>
            </a:fld>
            <a:endParaRPr lang="en-US" altLang="en-US"/>
          </a:p>
        </p:txBody>
      </p:sp>
      <p:sp>
        <p:nvSpPr>
          <p:cNvPr id="44035" name="Rectangle 2">
            <a:extLst>
              <a:ext uri="{FF2B5EF4-FFF2-40B4-BE49-F238E27FC236}">
                <a16:creationId xmlns:a16="http://schemas.microsoft.com/office/drawing/2014/main" id="{C0EC1608-6CEE-F4CB-4BD3-60AE91CB1281}"/>
              </a:ext>
            </a:extLst>
          </p:cNvPr>
          <p:cNvSpPr>
            <a:spLocks noGrp="1" noChangeArrowheads="1"/>
          </p:cNvSpPr>
          <p:nvPr>
            <p:ph type="title"/>
          </p:nvPr>
        </p:nvSpPr>
        <p:spPr/>
        <p:txBody>
          <a:bodyPr/>
          <a:lstStyle/>
          <a:p>
            <a:pPr eaLnBrk="1" hangingPunct="1"/>
            <a:r>
              <a:rPr lang="en-GB" altLang="en-US"/>
              <a:t>Bibliography for this lesson</a:t>
            </a:r>
            <a:endParaRPr lang="en-US" altLang="en-US"/>
          </a:p>
        </p:txBody>
      </p:sp>
      <p:sp>
        <p:nvSpPr>
          <p:cNvPr id="44036" name="Rectangle 5">
            <a:extLst>
              <a:ext uri="{FF2B5EF4-FFF2-40B4-BE49-F238E27FC236}">
                <a16:creationId xmlns:a16="http://schemas.microsoft.com/office/drawing/2014/main" id="{AC3785E5-A551-EBBC-6E61-2C6BBA5E2E44}"/>
              </a:ext>
            </a:extLst>
          </p:cNvPr>
          <p:cNvSpPr>
            <a:spLocks noGrp="1" noChangeArrowheads="1"/>
          </p:cNvSpPr>
          <p:nvPr>
            <p:ph type="body" idx="1"/>
          </p:nvPr>
        </p:nvSpPr>
        <p:spPr>
          <a:noFill/>
        </p:spPr>
        <p:txBody>
          <a:bodyPr/>
          <a:lstStyle/>
          <a:p>
            <a:pPr eaLnBrk="1" hangingPunct="1"/>
            <a:r>
              <a:rPr lang="en-GB" altLang="en-US"/>
              <a:t>J.D. Plummer, “Silicon VLSI technology. Fundamentals, practice and modeling” , Prentice Hall 2000</a:t>
            </a:r>
          </a:p>
          <a:p>
            <a:pPr eaLnBrk="1" hangingPunct="1"/>
            <a:r>
              <a:rPr lang="en-GB" altLang="en-US"/>
              <a:t>S.A. Campbell, “The science and engineering of microelectronic fabrication”, Oxford University Press 2001</a:t>
            </a:r>
          </a:p>
          <a:p>
            <a:pPr eaLnBrk="1" hangingPunct="1"/>
            <a:r>
              <a:rPr lang="en-GB" altLang="en-US"/>
              <a:t>M. Alonso, E.J. Finn, “Elementi di Fisica per l’Universit</a:t>
            </a:r>
            <a:r>
              <a:rPr lang="en-US" altLang="en-US">
                <a:cs typeface="Arial" panose="020B0604020202020204" pitchFamily="34" charset="0"/>
              </a:rPr>
              <a:t>á”, Masson/Addison Wesley 1993</a:t>
            </a:r>
          </a:p>
          <a:p>
            <a:pPr eaLnBrk="1" hangingPunct="1"/>
            <a:r>
              <a:rPr lang="en-GB" altLang="en-US"/>
              <a:t>M.A. Lieberman, A.J. Lichtenberg, “Principles of plasma discharges and materials processing”, Wiley-Interscience 2005</a:t>
            </a:r>
            <a:endParaRPr lang="en-US" altLang="en-US"/>
          </a:p>
        </p:txBody>
      </p:sp>
    </p:spTree>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C210B64C-2D98-49DF-A0BE-639DCBC582D6}">
  <ds:schemaRefs>
    <ds:schemaRef ds:uri="f6b577cd-6e64-4f00-a024-38a5e216943f"/>
    <ds:schemaRef ds:uri="http://schemas.microsoft.com/office/infopath/2007/PartnerControls"/>
    <ds:schemaRef ds:uri="http://purl.org/dc/elements/1.1/"/>
    <ds:schemaRef ds:uri="http://schemas.microsoft.com/office/2006/metadata/properties"/>
    <ds:schemaRef ds:uri="http://purl.org/dc/terms/"/>
    <ds:schemaRef ds:uri="373dee95-3004-4e58-b400-fc9a330598fa"/>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blank</Template>
  <TotalTime>63</TotalTime>
  <Words>1768</Words>
  <Application>Microsoft Office PowerPoint</Application>
  <PresentationFormat>Widescreen</PresentationFormat>
  <Paragraphs>235</Paragraphs>
  <Slides>28</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28</vt:i4>
      </vt:variant>
    </vt:vector>
  </HeadingPairs>
  <TitlesOfParts>
    <vt:vector size="39" baseType="lpstr">
      <vt:lpstr>Arial</vt:lpstr>
      <vt:lpstr>Calibri</vt:lpstr>
      <vt:lpstr>Helvetica</vt:lpstr>
      <vt:lpstr>Palatino</vt:lpstr>
      <vt:lpstr>Symbol</vt:lpstr>
      <vt:lpstr>Times</vt:lpstr>
      <vt:lpstr>Verdana</vt:lpstr>
      <vt:lpstr>Wingdings</vt:lpstr>
      <vt:lpstr>Micron</vt:lpstr>
      <vt:lpstr>Document</vt:lpstr>
      <vt:lpstr>Equation</vt:lpstr>
      <vt:lpstr>PVD processes and deposition modelling</vt:lpstr>
      <vt:lpstr>Evaporation</vt:lpstr>
      <vt:lpstr>Deposition rate: point source approximation</vt:lpstr>
      <vt:lpstr>Deposition rate: small surface source</vt:lpstr>
      <vt:lpstr>Deposition rate uniformity</vt:lpstr>
      <vt:lpstr>Evaporation rate</vt:lpstr>
      <vt:lpstr>Evaporation: pros and cons</vt:lpstr>
      <vt:lpstr>MBE: Molecular Beam Epitaxy</vt:lpstr>
      <vt:lpstr>Sputter deposition</vt:lpstr>
      <vt:lpstr>DC sputter deposition</vt:lpstr>
      <vt:lpstr>DC sputter deposition</vt:lpstr>
      <vt:lpstr>Sputtering yield</vt:lpstr>
      <vt:lpstr>Arrival angle distribution</vt:lpstr>
      <vt:lpstr>RF Sputter deposition</vt:lpstr>
      <vt:lpstr>RF Sputter deposition</vt:lpstr>
      <vt:lpstr>Other sputtering processes</vt:lpstr>
      <vt:lpstr>Ionized sputtering</vt:lpstr>
      <vt:lpstr>Modelling CVD and PVD deposition</vt:lpstr>
      <vt:lpstr>Modelling CVD and PVD deposition</vt:lpstr>
      <vt:lpstr>Modelling CVD and PVD deposition</vt:lpstr>
      <vt:lpstr>Modelling CVD and PVD deposition</vt:lpstr>
      <vt:lpstr>Modelling CVD and PVD deposition</vt:lpstr>
      <vt:lpstr>LPCVD modelling</vt:lpstr>
      <vt:lpstr>PECVD modelling</vt:lpstr>
      <vt:lpstr>PVD modelling</vt:lpstr>
      <vt:lpstr>Ionized-PVD modelling</vt:lpstr>
      <vt:lpstr>Thin film deposition: deposited materials and methods</vt:lpstr>
      <vt:lpstr>Bibliography for this lesson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4</cp:revision>
  <dcterms:created xsi:type="dcterms:W3CDTF">2025-02-14T08:32:36Z</dcterms:created>
  <dcterms:modified xsi:type="dcterms:W3CDTF">2025-02-14T09:42:27Z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0x010100BE1454C6C4DF484BB7E354F0133B2527</vt:lpwstr>
  </property>
  <property fmtid="{D5CDD505-2E9C-101B-9397-08002B2CF9AE}" pid="3" name="MediaServiceImageTags">
    <vt:lpwstr/>
  </property>
  <property fmtid="{D5CDD505-2E9C-101B-9397-08002B2CF9AE}" pid="4" name="MSIP_Label_8e19d756-792e-42a1-bcad-4cb9051ddd2d_Enabled">
    <vt:lpwstr>true</vt:lpwstr>
  </property>
  <property fmtid="{D5CDD505-2E9C-101B-9397-08002B2CF9AE}" pid="5" name="MSIP_Label_8e19d756-792e-42a1-bcad-4cb9051ddd2d_SetDate">
    <vt:lpwstr>2025-01-07T15:51:17Z</vt:lpwstr>
  </property>
  <property fmtid="{D5CDD505-2E9C-101B-9397-08002B2CF9AE}" pid="6" name="MSIP_Label_8e19d756-792e-42a1-bcad-4cb9051ddd2d_Method">
    <vt:lpwstr>Standard</vt:lpwstr>
  </property>
  <property fmtid="{D5CDD505-2E9C-101B-9397-08002B2CF9AE}" pid="7" name="MSIP_Label_8e19d756-792e-42a1-bcad-4cb9051ddd2d_Name">
    <vt:lpwstr>Confidential</vt:lpwstr>
  </property>
  <property fmtid="{D5CDD505-2E9C-101B-9397-08002B2CF9AE}" pid="8" name="MSIP_Label_8e19d756-792e-42a1-bcad-4cb9051ddd2d_SiteId">
    <vt:lpwstr>41eb501a-f671-4ce0-a5bf-b64168c3705f</vt:lpwstr>
  </property>
  <property fmtid="{D5CDD505-2E9C-101B-9397-08002B2CF9AE}" pid="9" name="MSIP_Label_8e19d756-792e-42a1-bcad-4cb9051ddd2d_ActionId">
    <vt:lpwstr>f41914a7-38f9-4a23-8387-8a0d10a90b2a</vt:lpwstr>
  </property>
  <property fmtid="{D5CDD505-2E9C-101B-9397-08002B2CF9AE}" pid="10" name="MSIP_Label_8e19d756-792e-42a1-bcad-4cb9051ddd2d_ContentBits">
    <vt:lpwstr>2</vt:lpwstr>
  </property>
  <property fmtid="{D5CDD505-2E9C-101B-9397-08002B2CF9AE}" pid="11" name="MSIP_Label_6fdea275-d6f3-438f-b8d8-013cab2023d3_Enabled">
    <vt:lpwstr>true</vt:lpwstr>
  </property>
  <property fmtid="{D5CDD505-2E9C-101B-9397-08002B2CF9AE}" pid="12" name="MSIP_Label_6fdea275-d6f3-438f-b8d8-013cab2023d3_SetDate">
    <vt:lpwstr>2025-02-14T09:36:18Z</vt:lpwstr>
  </property>
  <property fmtid="{D5CDD505-2E9C-101B-9397-08002B2CF9AE}" pid="13" name="MSIP_Label_6fdea275-d6f3-438f-b8d8-013cab2023d3_Method">
    <vt:lpwstr>Privileged</vt:lpwstr>
  </property>
  <property fmtid="{D5CDD505-2E9C-101B-9397-08002B2CF9AE}" pid="14" name="MSIP_Label_6fdea275-d6f3-438f-b8d8-013cab2023d3_Name">
    <vt:lpwstr>Public</vt:lpwstr>
  </property>
  <property fmtid="{D5CDD505-2E9C-101B-9397-08002B2CF9AE}" pid="15" name="MSIP_Label_6fdea275-d6f3-438f-b8d8-013cab2023d3_SiteId">
    <vt:lpwstr>f38a5ecd-2813-4862-b11b-ac1d563c806f</vt:lpwstr>
  </property>
  <property fmtid="{D5CDD505-2E9C-101B-9397-08002B2CF9AE}" pid="16" name="MSIP_Label_6fdea275-d6f3-438f-b8d8-013cab2023d3_ActionId">
    <vt:lpwstr>5d76563d-5019-43e5-a5d1-52ad9552008a</vt:lpwstr>
  </property>
  <property fmtid="{D5CDD505-2E9C-101B-9397-08002B2CF9AE}" pid="17" name="MSIP_Label_6fdea275-d6f3-438f-b8d8-013cab2023d3_ContentBits">
    <vt:lpwstr>0</vt:lpwstr>
  </property>
</Properties>
</file>