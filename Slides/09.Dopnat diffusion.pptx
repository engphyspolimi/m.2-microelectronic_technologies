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handoutMasterIdLst>
    <p:handoutMasterId r:id="rId32"/>
  </p:handoutMasterIdLst>
  <p:sldIdLst>
    <p:sldId id="310" r:id="rId5"/>
    <p:sldId id="348" r:id="rId6"/>
    <p:sldId id="351" r:id="rId7"/>
    <p:sldId id="311" r:id="rId8"/>
    <p:sldId id="352" r:id="rId9"/>
    <p:sldId id="349" r:id="rId10"/>
    <p:sldId id="313" r:id="rId11"/>
    <p:sldId id="314" r:id="rId12"/>
    <p:sldId id="316" r:id="rId13"/>
    <p:sldId id="317" r:id="rId14"/>
    <p:sldId id="318" r:id="rId15"/>
    <p:sldId id="319" r:id="rId16"/>
    <p:sldId id="321" r:id="rId17"/>
    <p:sldId id="354" r:id="rId18"/>
    <p:sldId id="315" r:id="rId19"/>
    <p:sldId id="320" r:id="rId20"/>
    <p:sldId id="322" r:id="rId21"/>
    <p:sldId id="323" r:id="rId22"/>
    <p:sldId id="324" r:id="rId23"/>
    <p:sldId id="326" r:id="rId24"/>
    <p:sldId id="355" r:id="rId25"/>
    <p:sldId id="357" r:id="rId26"/>
    <p:sldId id="325" r:id="rId27"/>
    <p:sldId id="358" r:id="rId28"/>
    <p:sldId id="359" r:id="rId29"/>
    <p:sldId id="35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A202B2-2A23-4A5A-A3EE-E5D196554BCF}" v="1" dt="2025-02-14T09:47:27.507"/>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94A202B2-2A23-4A5A-A3EE-E5D196554BCF}"/>
    <pc:docChg chg="addSld delSld modSld">
      <pc:chgData name="Marcello Mariani" userId="1e342699-93ad-4e2e-93b0-0f6a2c00c4b8" providerId="ADAL" clId="{94A202B2-2A23-4A5A-A3EE-E5D196554BCF}" dt="2025-02-14T09:47:27.482" v="1"/>
      <pc:docMkLst>
        <pc:docMk/>
      </pc:docMkLst>
      <pc:sldChg chg="add del">
        <pc:chgData name="Marcello Mariani" userId="1e342699-93ad-4e2e-93b0-0f6a2c00c4b8" providerId="ADAL" clId="{94A202B2-2A23-4A5A-A3EE-E5D196554BCF}" dt="2025-02-14T09:47:27.482" v="1"/>
        <pc:sldMkLst>
          <pc:docMk/>
          <pc:sldMk cId="0" sldId="310"/>
        </pc:sldMkLst>
      </pc:sldChg>
      <pc:sldChg chg="add del">
        <pc:chgData name="Marcello Mariani" userId="1e342699-93ad-4e2e-93b0-0f6a2c00c4b8" providerId="ADAL" clId="{94A202B2-2A23-4A5A-A3EE-E5D196554BCF}" dt="2025-02-14T09:47:27.482" v="1"/>
        <pc:sldMkLst>
          <pc:docMk/>
          <pc:sldMk cId="0" sldId="311"/>
        </pc:sldMkLst>
      </pc:sldChg>
      <pc:sldChg chg="del">
        <pc:chgData name="Marcello Mariani" userId="1e342699-93ad-4e2e-93b0-0f6a2c00c4b8" providerId="ADAL" clId="{94A202B2-2A23-4A5A-A3EE-E5D196554BCF}" dt="2025-02-14T09:47:25.892" v="0" actId="47"/>
        <pc:sldMkLst>
          <pc:docMk/>
          <pc:sldMk cId="0" sldId="312"/>
        </pc:sldMkLst>
      </pc:sldChg>
      <pc:sldChg chg="add del">
        <pc:chgData name="Marcello Mariani" userId="1e342699-93ad-4e2e-93b0-0f6a2c00c4b8" providerId="ADAL" clId="{94A202B2-2A23-4A5A-A3EE-E5D196554BCF}" dt="2025-02-14T09:47:27.482" v="1"/>
        <pc:sldMkLst>
          <pc:docMk/>
          <pc:sldMk cId="0" sldId="313"/>
        </pc:sldMkLst>
      </pc:sldChg>
      <pc:sldChg chg="add">
        <pc:chgData name="Marcello Mariani" userId="1e342699-93ad-4e2e-93b0-0f6a2c00c4b8" providerId="ADAL" clId="{94A202B2-2A23-4A5A-A3EE-E5D196554BCF}" dt="2025-02-14T09:47:27.482" v="1"/>
        <pc:sldMkLst>
          <pc:docMk/>
          <pc:sldMk cId="0" sldId="314"/>
        </pc:sldMkLst>
      </pc:sldChg>
      <pc:sldChg chg="add">
        <pc:chgData name="Marcello Mariani" userId="1e342699-93ad-4e2e-93b0-0f6a2c00c4b8" providerId="ADAL" clId="{94A202B2-2A23-4A5A-A3EE-E5D196554BCF}" dt="2025-02-14T09:47:27.482" v="1"/>
        <pc:sldMkLst>
          <pc:docMk/>
          <pc:sldMk cId="0" sldId="315"/>
        </pc:sldMkLst>
      </pc:sldChg>
      <pc:sldChg chg="add del">
        <pc:chgData name="Marcello Mariani" userId="1e342699-93ad-4e2e-93b0-0f6a2c00c4b8" providerId="ADAL" clId="{94A202B2-2A23-4A5A-A3EE-E5D196554BCF}" dt="2025-02-14T09:47:27.482" v="1"/>
        <pc:sldMkLst>
          <pc:docMk/>
          <pc:sldMk cId="0" sldId="316"/>
        </pc:sldMkLst>
      </pc:sldChg>
      <pc:sldChg chg="add">
        <pc:chgData name="Marcello Mariani" userId="1e342699-93ad-4e2e-93b0-0f6a2c00c4b8" providerId="ADAL" clId="{94A202B2-2A23-4A5A-A3EE-E5D196554BCF}" dt="2025-02-14T09:47:27.482" v="1"/>
        <pc:sldMkLst>
          <pc:docMk/>
          <pc:sldMk cId="0" sldId="317"/>
        </pc:sldMkLst>
      </pc:sldChg>
      <pc:sldChg chg="add del">
        <pc:chgData name="Marcello Mariani" userId="1e342699-93ad-4e2e-93b0-0f6a2c00c4b8" providerId="ADAL" clId="{94A202B2-2A23-4A5A-A3EE-E5D196554BCF}" dt="2025-02-14T09:47:27.482" v="1"/>
        <pc:sldMkLst>
          <pc:docMk/>
          <pc:sldMk cId="0" sldId="318"/>
        </pc:sldMkLst>
      </pc:sldChg>
      <pc:sldChg chg="add del">
        <pc:chgData name="Marcello Mariani" userId="1e342699-93ad-4e2e-93b0-0f6a2c00c4b8" providerId="ADAL" clId="{94A202B2-2A23-4A5A-A3EE-E5D196554BCF}" dt="2025-02-14T09:47:27.482" v="1"/>
        <pc:sldMkLst>
          <pc:docMk/>
          <pc:sldMk cId="0" sldId="319"/>
        </pc:sldMkLst>
      </pc:sldChg>
      <pc:sldChg chg="add del">
        <pc:chgData name="Marcello Mariani" userId="1e342699-93ad-4e2e-93b0-0f6a2c00c4b8" providerId="ADAL" clId="{94A202B2-2A23-4A5A-A3EE-E5D196554BCF}" dt="2025-02-14T09:47:27.482" v="1"/>
        <pc:sldMkLst>
          <pc:docMk/>
          <pc:sldMk cId="0" sldId="320"/>
        </pc:sldMkLst>
      </pc:sldChg>
      <pc:sldChg chg="add del">
        <pc:chgData name="Marcello Mariani" userId="1e342699-93ad-4e2e-93b0-0f6a2c00c4b8" providerId="ADAL" clId="{94A202B2-2A23-4A5A-A3EE-E5D196554BCF}" dt="2025-02-14T09:47:27.482" v="1"/>
        <pc:sldMkLst>
          <pc:docMk/>
          <pc:sldMk cId="0" sldId="321"/>
        </pc:sldMkLst>
      </pc:sldChg>
      <pc:sldChg chg="add del">
        <pc:chgData name="Marcello Mariani" userId="1e342699-93ad-4e2e-93b0-0f6a2c00c4b8" providerId="ADAL" clId="{94A202B2-2A23-4A5A-A3EE-E5D196554BCF}" dt="2025-02-14T09:47:27.482" v="1"/>
        <pc:sldMkLst>
          <pc:docMk/>
          <pc:sldMk cId="0" sldId="322"/>
        </pc:sldMkLst>
      </pc:sldChg>
      <pc:sldChg chg="add del">
        <pc:chgData name="Marcello Mariani" userId="1e342699-93ad-4e2e-93b0-0f6a2c00c4b8" providerId="ADAL" clId="{94A202B2-2A23-4A5A-A3EE-E5D196554BCF}" dt="2025-02-14T09:47:27.482" v="1"/>
        <pc:sldMkLst>
          <pc:docMk/>
          <pc:sldMk cId="0" sldId="323"/>
        </pc:sldMkLst>
      </pc:sldChg>
      <pc:sldChg chg="add del">
        <pc:chgData name="Marcello Mariani" userId="1e342699-93ad-4e2e-93b0-0f6a2c00c4b8" providerId="ADAL" clId="{94A202B2-2A23-4A5A-A3EE-E5D196554BCF}" dt="2025-02-14T09:47:27.482" v="1"/>
        <pc:sldMkLst>
          <pc:docMk/>
          <pc:sldMk cId="0" sldId="324"/>
        </pc:sldMkLst>
      </pc:sldChg>
      <pc:sldChg chg="add del">
        <pc:chgData name="Marcello Mariani" userId="1e342699-93ad-4e2e-93b0-0f6a2c00c4b8" providerId="ADAL" clId="{94A202B2-2A23-4A5A-A3EE-E5D196554BCF}" dt="2025-02-14T09:47:27.482" v="1"/>
        <pc:sldMkLst>
          <pc:docMk/>
          <pc:sldMk cId="0" sldId="325"/>
        </pc:sldMkLst>
      </pc:sldChg>
      <pc:sldChg chg="add del">
        <pc:chgData name="Marcello Mariani" userId="1e342699-93ad-4e2e-93b0-0f6a2c00c4b8" providerId="ADAL" clId="{94A202B2-2A23-4A5A-A3EE-E5D196554BCF}" dt="2025-02-14T09:47:27.482" v="1"/>
        <pc:sldMkLst>
          <pc:docMk/>
          <pc:sldMk cId="0" sldId="326"/>
        </pc:sldMkLst>
      </pc:sldChg>
      <pc:sldChg chg="del">
        <pc:chgData name="Marcello Mariani" userId="1e342699-93ad-4e2e-93b0-0f6a2c00c4b8" providerId="ADAL" clId="{94A202B2-2A23-4A5A-A3EE-E5D196554BCF}" dt="2025-02-14T09:47:25.892" v="0" actId="47"/>
        <pc:sldMkLst>
          <pc:docMk/>
          <pc:sldMk cId="0" sldId="327"/>
        </pc:sldMkLst>
      </pc:sldChg>
      <pc:sldChg chg="del">
        <pc:chgData name="Marcello Mariani" userId="1e342699-93ad-4e2e-93b0-0f6a2c00c4b8" providerId="ADAL" clId="{94A202B2-2A23-4A5A-A3EE-E5D196554BCF}" dt="2025-02-14T09:47:25.892" v="0" actId="47"/>
        <pc:sldMkLst>
          <pc:docMk/>
          <pc:sldMk cId="0" sldId="328"/>
        </pc:sldMkLst>
      </pc:sldChg>
      <pc:sldChg chg="del">
        <pc:chgData name="Marcello Mariani" userId="1e342699-93ad-4e2e-93b0-0f6a2c00c4b8" providerId="ADAL" clId="{94A202B2-2A23-4A5A-A3EE-E5D196554BCF}" dt="2025-02-14T09:47:25.892" v="0" actId="47"/>
        <pc:sldMkLst>
          <pc:docMk/>
          <pc:sldMk cId="0" sldId="329"/>
        </pc:sldMkLst>
      </pc:sldChg>
      <pc:sldChg chg="del">
        <pc:chgData name="Marcello Mariani" userId="1e342699-93ad-4e2e-93b0-0f6a2c00c4b8" providerId="ADAL" clId="{94A202B2-2A23-4A5A-A3EE-E5D196554BCF}" dt="2025-02-14T09:47:25.892" v="0" actId="47"/>
        <pc:sldMkLst>
          <pc:docMk/>
          <pc:sldMk cId="0" sldId="330"/>
        </pc:sldMkLst>
      </pc:sldChg>
      <pc:sldChg chg="del">
        <pc:chgData name="Marcello Mariani" userId="1e342699-93ad-4e2e-93b0-0f6a2c00c4b8" providerId="ADAL" clId="{94A202B2-2A23-4A5A-A3EE-E5D196554BCF}" dt="2025-02-14T09:47:25.892" v="0" actId="47"/>
        <pc:sldMkLst>
          <pc:docMk/>
          <pc:sldMk cId="0" sldId="331"/>
        </pc:sldMkLst>
      </pc:sldChg>
      <pc:sldChg chg="del">
        <pc:chgData name="Marcello Mariani" userId="1e342699-93ad-4e2e-93b0-0f6a2c00c4b8" providerId="ADAL" clId="{94A202B2-2A23-4A5A-A3EE-E5D196554BCF}" dt="2025-02-14T09:47:25.892" v="0" actId="47"/>
        <pc:sldMkLst>
          <pc:docMk/>
          <pc:sldMk cId="0" sldId="332"/>
        </pc:sldMkLst>
      </pc:sldChg>
      <pc:sldChg chg="del">
        <pc:chgData name="Marcello Mariani" userId="1e342699-93ad-4e2e-93b0-0f6a2c00c4b8" providerId="ADAL" clId="{94A202B2-2A23-4A5A-A3EE-E5D196554BCF}" dt="2025-02-14T09:47:25.892" v="0" actId="47"/>
        <pc:sldMkLst>
          <pc:docMk/>
          <pc:sldMk cId="0" sldId="333"/>
        </pc:sldMkLst>
      </pc:sldChg>
      <pc:sldChg chg="del">
        <pc:chgData name="Marcello Mariani" userId="1e342699-93ad-4e2e-93b0-0f6a2c00c4b8" providerId="ADAL" clId="{94A202B2-2A23-4A5A-A3EE-E5D196554BCF}" dt="2025-02-14T09:47:25.892" v="0" actId="47"/>
        <pc:sldMkLst>
          <pc:docMk/>
          <pc:sldMk cId="0" sldId="337"/>
        </pc:sldMkLst>
      </pc:sldChg>
      <pc:sldChg chg="add">
        <pc:chgData name="Marcello Mariani" userId="1e342699-93ad-4e2e-93b0-0f6a2c00c4b8" providerId="ADAL" clId="{94A202B2-2A23-4A5A-A3EE-E5D196554BCF}" dt="2025-02-14T09:47:27.482" v="1"/>
        <pc:sldMkLst>
          <pc:docMk/>
          <pc:sldMk cId="0" sldId="348"/>
        </pc:sldMkLst>
      </pc:sldChg>
      <pc:sldChg chg="add">
        <pc:chgData name="Marcello Mariani" userId="1e342699-93ad-4e2e-93b0-0f6a2c00c4b8" providerId="ADAL" clId="{94A202B2-2A23-4A5A-A3EE-E5D196554BCF}" dt="2025-02-14T09:47:27.482" v="1"/>
        <pc:sldMkLst>
          <pc:docMk/>
          <pc:sldMk cId="0" sldId="349"/>
        </pc:sldMkLst>
      </pc:sldChg>
      <pc:sldChg chg="add">
        <pc:chgData name="Marcello Mariani" userId="1e342699-93ad-4e2e-93b0-0f6a2c00c4b8" providerId="ADAL" clId="{94A202B2-2A23-4A5A-A3EE-E5D196554BCF}" dt="2025-02-14T09:47:27.482" v="1"/>
        <pc:sldMkLst>
          <pc:docMk/>
          <pc:sldMk cId="0" sldId="351"/>
        </pc:sldMkLst>
      </pc:sldChg>
      <pc:sldChg chg="add">
        <pc:chgData name="Marcello Mariani" userId="1e342699-93ad-4e2e-93b0-0f6a2c00c4b8" providerId="ADAL" clId="{94A202B2-2A23-4A5A-A3EE-E5D196554BCF}" dt="2025-02-14T09:47:27.482" v="1"/>
        <pc:sldMkLst>
          <pc:docMk/>
          <pc:sldMk cId="0" sldId="352"/>
        </pc:sldMkLst>
      </pc:sldChg>
      <pc:sldChg chg="add">
        <pc:chgData name="Marcello Mariani" userId="1e342699-93ad-4e2e-93b0-0f6a2c00c4b8" providerId="ADAL" clId="{94A202B2-2A23-4A5A-A3EE-E5D196554BCF}" dt="2025-02-14T09:47:27.482" v="1"/>
        <pc:sldMkLst>
          <pc:docMk/>
          <pc:sldMk cId="0" sldId="353"/>
        </pc:sldMkLst>
      </pc:sldChg>
      <pc:sldChg chg="add">
        <pc:chgData name="Marcello Mariani" userId="1e342699-93ad-4e2e-93b0-0f6a2c00c4b8" providerId="ADAL" clId="{94A202B2-2A23-4A5A-A3EE-E5D196554BCF}" dt="2025-02-14T09:47:27.482" v="1"/>
        <pc:sldMkLst>
          <pc:docMk/>
          <pc:sldMk cId="0" sldId="354"/>
        </pc:sldMkLst>
      </pc:sldChg>
      <pc:sldChg chg="add">
        <pc:chgData name="Marcello Mariani" userId="1e342699-93ad-4e2e-93b0-0f6a2c00c4b8" providerId="ADAL" clId="{94A202B2-2A23-4A5A-A3EE-E5D196554BCF}" dt="2025-02-14T09:47:27.482" v="1"/>
        <pc:sldMkLst>
          <pc:docMk/>
          <pc:sldMk cId="0" sldId="355"/>
        </pc:sldMkLst>
      </pc:sldChg>
      <pc:sldChg chg="add">
        <pc:chgData name="Marcello Mariani" userId="1e342699-93ad-4e2e-93b0-0f6a2c00c4b8" providerId="ADAL" clId="{94A202B2-2A23-4A5A-A3EE-E5D196554BCF}" dt="2025-02-14T09:47:27.482" v="1"/>
        <pc:sldMkLst>
          <pc:docMk/>
          <pc:sldMk cId="0" sldId="357"/>
        </pc:sldMkLst>
      </pc:sldChg>
      <pc:sldChg chg="add">
        <pc:chgData name="Marcello Mariani" userId="1e342699-93ad-4e2e-93b0-0f6a2c00c4b8" providerId="ADAL" clId="{94A202B2-2A23-4A5A-A3EE-E5D196554BCF}" dt="2025-02-14T09:47:27.482" v="1"/>
        <pc:sldMkLst>
          <pc:docMk/>
          <pc:sldMk cId="1191807900" sldId="358"/>
        </pc:sldMkLst>
      </pc:sldChg>
      <pc:sldChg chg="add">
        <pc:chgData name="Marcello Mariani" userId="1e342699-93ad-4e2e-93b0-0f6a2c00c4b8" providerId="ADAL" clId="{94A202B2-2A23-4A5A-A3EE-E5D196554BCF}" dt="2025-02-14T09:47:27.482" v="1"/>
        <pc:sldMkLst>
          <pc:docMk/>
          <pc:sldMk cId="311188212" sldId="359"/>
        </pc:sldMkLst>
      </pc:sldChg>
      <pc:sldChg chg="del">
        <pc:chgData name="Marcello Mariani" userId="1e342699-93ad-4e2e-93b0-0f6a2c00c4b8" providerId="ADAL" clId="{94A202B2-2A23-4A5A-A3EE-E5D196554BCF}" dt="2025-02-14T09:47:25.892" v="0" actId="47"/>
        <pc:sldMkLst>
          <pc:docMk/>
          <pc:sldMk cId="0" sldId="381"/>
        </pc:sldMkLst>
      </pc:sldChg>
      <pc:sldChg chg="del">
        <pc:chgData name="Marcello Mariani" userId="1e342699-93ad-4e2e-93b0-0f6a2c00c4b8" providerId="ADAL" clId="{94A202B2-2A23-4A5A-A3EE-E5D196554BCF}" dt="2025-02-14T09:47:25.892" v="0" actId="47"/>
        <pc:sldMkLst>
          <pc:docMk/>
          <pc:sldMk cId="0" sldId="382"/>
        </pc:sldMkLst>
      </pc:sldChg>
      <pc:sldChg chg="del">
        <pc:chgData name="Marcello Mariani" userId="1e342699-93ad-4e2e-93b0-0f6a2c00c4b8" providerId="ADAL" clId="{94A202B2-2A23-4A5A-A3EE-E5D196554BCF}" dt="2025-02-14T09:47:25.892" v="0" actId="47"/>
        <pc:sldMkLst>
          <pc:docMk/>
          <pc:sldMk cId="0" sldId="383"/>
        </pc:sldMkLst>
      </pc:sldChg>
      <pc:sldChg chg="del">
        <pc:chgData name="Marcello Mariani" userId="1e342699-93ad-4e2e-93b0-0f6a2c00c4b8" providerId="ADAL" clId="{94A202B2-2A23-4A5A-A3EE-E5D196554BCF}" dt="2025-02-14T09:47:25.892" v="0" actId="47"/>
        <pc:sldMkLst>
          <pc:docMk/>
          <pc:sldMk cId="0" sldId="384"/>
        </pc:sldMkLst>
      </pc:sldChg>
      <pc:sldChg chg="del">
        <pc:chgData name="Marcello Mariani" userId="1e342699-93ad-4e2e-93b0-0f6a2c00c4b8" providerId="ADAL" clId="{94A202B2-2A23-4A5A-A3EE-E5D196554BCF}" dt="2025-02-14T09:47:25.892" v="0" actId="47"/>
        <pc:sldMkLst>
          <pc:docMk/>
          <pc:sldMk cId="0" sldId="385"/>
        </pc:sldMkLst>
      </pc:sldChg>
      <pc:sldChg chg="del">
        <pc:chgData name="Marcello Mariani" userId="1e342699-93ad-4e2e-93b0-0f6a2c00c4b8" providerId="ADAL" clId="{94A202B2-2A23-4A5A-A3EE-E5D196554BCF}" dt="2025-02-14T09:47:25.892" v="0" actId="47"/>
        <pc:sldMkLst>
          <pc:docMk/>
          <pc:sldMk cId="0" sldId="386"/>
        </pc:sldMkLst>
      </pc:sldChg>
      <pc:sldChg chg="del">
        <pc:chgData name="Marcello Mariani" userId="1e342699-93ad-4e2e-93b0-0f6a2c00c4b8" providerId="ADAL" clId="{94A202B2-2A23-4A5A-A3EE-E5D196554BCF}" dt="2025-02-14T09:47:25.892" v="0" actId="47"/>
        <pc:sldMkLst>
          <pc:docMk/>
          <pc:sldMk cId="0" sldId="387"/>
        </pc:sldMkLst>
      </pc:sldChg>
      <pc:sldChg chg="del">
        <pc:chgData name="Marcello Mariani" userId="1e342699-93ad-4e2e-93b0-0f6a2c00c4b8" providerId="ADAL" clId="{94A202B2-2A23-4A5A-A3EE-E5D196554BCF}" dt="2025-02-14T09:47:25.892" v="0" actId="47"/>
        <pc:sldMkLst>
          <pc:docMk/>
          <pc:sldMk cId="0" sldId="388"/>
        </pc:sldMkLst>
      </pc:sldChg>
      <pc:sldChg chg="del">
        <pc:chgData name="Marcello Mariani" userId="1e342699-93ad-4e2e-93b0-0f6a2c00c4b8" providerId="ADAL" clId="{94A202B2-2A23-4A5A-A3EE-E5D196554BCF}" dt="2025-02-14T09:47:25.892" v="0" actId="47"/>
        <pc:sldMkLst>
          <pc:docMk/>
          <pc:sldMk cId="0" sldId="389"/>
        </pc:sldMkLst>
      </pc:sldChg>
      <pc:sldChg chg="del">
        <pc:chgData name="Marcello Mariani" userId="1e342699-93ad-4e2e-93b0-0f6a2c00c4b8" providerId="ADAL" clId="{94A202B2-2A23-4A5A-A3EE-E5D196554BCF}" dt="2025-02-14T09:47:25.892" v="0" actId="47"/>
        <pc:sldMkLst>
          <pc:docMk/>
          <pc:sldMk cId="0" sldId="390"/>
        </pc:sldMkLst>
      </pc:sldChg>
      <pc:sldChg chg="del">
        <pc:chgData name="Marcello Mariani" userId="1e342699-93ad-4e2e-93b0-0f6a2c00c4b8" providerId="ADAL" clId="{94A202B2-2A23-4A5A-A3EE-E5D196554BCF}" dt="2025-02-14T09:47:25.892" v="0" actId="47"/>
        <pc:sldMkLst>
          <pc:docMk/>
          <pc:sldMk cId="0" sldId="396"/>
        </pc:sldMkLst>
      </pc:sldChg>
      <pc:sldChg chg="del">
        <pc:chgData name="Marcello Mariani" userId="1e342699-93ad-4e2e-93b0-0f6a2c00c4b8" providerId="ADAL" clId="{94A202B2-2A23-4A5A-A3EE-E5D196554BCF}" dt="2025-02-14T09:47:25.892" v="0" actId="47"/>
        <pc:sldMkLst>
          <pc:docMk/>
          <pc:sldMk cId="0" sldId="397"/>
        </pc:sldMkLst>
      </pc:sldChg>
      <pc:sldMasterChg chg="delSldLayout">
        <pc:chgData name="Marcello Mariani" userId="1e342699-93ad-4e2e-93b0-0f6a2c00c4b8" providerId="ADAL" clId="{94A202B2-2A23-4A5A-A3EE-E5D196554BCF}" dt="2025-02-14T09:47:25.892" v="0" actId="47"/>
        <pc:sldMasterMkLst>
          <pc:docMk/>
          <pc:sldMasterMk cId="1404919433" sldId="2147483648"/>
        </pc:sldMasterMkLst>
        <pc:sldLayoutChg chg="del">
          <pc:chgData name="Marcello Mariani" userId="1e342699-93ad-4e2e-93b0-0f6a2c00c4b8" providerId="ADAL" clId="{94A202B2-2A23-4A5A-A3EE-E5D196554BCF}" dt="2025-02-14T09:47:25.892" v="0" actId="47"/>
          <pc:sldLayoutMkLst>
            <pc:docMk/>
            <pc:sldMasterMk cId="1404919433" sldId="2147483648"/>
            <pc:sldLayoutMk cId="443375792"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AF04B0-F3DD-A1D5-DBCF-8669028BF062}"/>
              </a:ext>
            </a:extLst>
          </p:cNvPr>
          <p:cNvSpPr>
            <a:spLocks noGrp="1" noChangeArrowheads="1"/>
          </p:cNvSpPr>
          <p:nvPr>
            <p:ph type="sldNum" sz="quarter" idx="5"/>
          </p:nvPr>
        </p:nvSpPr>
        <p:spPr>
          <a:ln/>
        </p:spPr>
        <p:txBody>
          <a:bodyPr/>
          <a:lstStyle/>
          <a:p>
            <a:fld id="{2AAAD8DE-E6A0-4A72-BFF7-FBE825399410}" type="slidenum">
              <a:rPr lang="en-US" altLang="en-US"/>
              <a:pPr/>
              <a:t>1</a:t>
            </a:fld>
            <a:endParaRPr lang="en-US" altLang="en-US"/>
          </a:p>
        </p:txBody>
      </p:sp>
      <p:sp>
        <p:nvSpPr>
          <p:cNvPr id="234498" name="Rectangle 2">
            <a:extLst>
              <a:ext uri="{FF2B5EF4-FFF2-40B4-BE49-F238E27FC236}">
                <a16:creationId xmlns:a16="http://schemas.microsoft.com/office/drawing/2014/main" id="{1B058215-6E75-48D8-C59A-8ACE12B533F9}"/>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B0C992C6-89F6-BF5F-6A71-A5F05C668F4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91A9391-C277-AC2C-D803-19C4323AB2D8}"/>
              </a:ext>
            </a:extLst>
          </p:cNvPr>
          <p:cNvSpPr>
            <a:spLocks noGrp="1" noChangeArrowheads="1"/>
          </p:cNvSpPr>
          <p:nvPr>
            <p:ph type="sldNum" sz="quarter" idx="5"/>
          </p:nvPr>
        </p:nvSpPr>
        <p:spPr>
          <a:ln/>
        </p:spPr>
        <p:txBody>
          <a:bodyPr/>
          <a:lstStyle/>
          <a:p>
            <a:fld id="{9DFF9271-9413-4F18-9A3F-AB7A7A52A66A}" type="slidenum">
              <a:rPr lang="en-US" altLang="en-US"/>
              <a:pPr/>
              <a:t>4</a:t>
            </a:fld>
            <a:endParaRPr lang="en-US" altLang="en-US"/>
          </a:p>
        </p:txBody>
      </p:sp>
      <p:sp>
        <p:nvSpPr>
          <p:cNvPr id="268290" name="Rectangle 2">
            <a:extLst>
              <a:ext uri="{FF2B5EF4-FFF2-40B4-BE49-F238E27FC236}">
                <a16:creationId xmlns:a16="http://schemas.microsoft.com/office/drawing/2014/main" id="{B945E2DD-84CC-37BF-8E72-57ECBA8D8170}"/>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50843CBF-C2F7-0F3E-76F2-896CF9CD562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9419DB9-BA68-CB6E-D93E-CE26B58AC9D5}"/>
              </a:ext>
            </a:extLst>
          </p:cNvPr>
          <p:cNvSpPr>
            <a:spLocks noGrp="1" noChangeArrowheads="1"/>
          </p:cNvSpPr>
          <p:nvPr>
            <p:ph type="sldNum" sz="quarter" idx="5"/>
          </p:nvPr>
        </p:nvSpPr>
        <p:spPr>
          <a:ln/>
        </p:spPr>
        <p:txBody>
          <a:bodyPr/>
          <a:lstStyle/>
          <a:p>
            <a:fld id="{FC4CA144-C2E3-4A18-937E-6D3DC7277CFA}" type="slidenum">
              <a:rPr lang="en-US" altLang="en-US"/>
              <a:pPr/>
              <a:t>7</a:t>
            </a:fld>
            <a:endParaRPr lang="en-US" altLang="en-US"/>
          </a:p>
        </p:txBody>
      </p:sp>
      <p:sp>
        <p:nvSpPr>
          <p:cNvPr id="249858" name="Rectangle 2">
            <a:extLst>
              <a:ext uri="{FF2B5EF4-FFF2-40B4-BE49-F238E27FC236}">
                <a16:creationId xmlns:a16="http://schemas.microsoft.com/office/drawing/2014/main" id="{D32078EB-0B08-673F-8A7C-F3B6F48F03FF}"/>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1A817F43-E56B-5828-2C90-F82B1D8F57AD}"/>
              </a:ext>
            </a:extLst>
          </p:cNvPr>
          <p:cNvSpPr>
            <a:spLocks noGrp="1" noChangeArrowheads="1"/>
          </p:cNvSpPr>
          <p:nvPr>
            <p:ph type="body" idx="1"/>
          </p:nvPr>
        </p:nvSpPr>
        <p:spPr/>
        <p:txBody>
          <a:bodyPr/>
          <a:lstStyle/>
          <a:p>
            <a:r>
              <a:rPr lang="en-GB" altLang="en-US"/>
              <a:t>Derivare la formula 2. con i flussi nel cubo</a:t>
            </a:r>
          </a:p>
          <a:p>
            <a:r>
              <a:rPr lang="en-GB" altLang="en-US"/>
              <a:t>“what goes in and does not go out stays there “</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58CC17-E88B-7A48-52F2-3E3869140E8A}"/>
              </a:ext>
            </a:extLst>
          </p:cNvPr>
          <p:cNvSpPr>
            <a:spLocks noGrp="1" noChangeArrowheads="1"/>
          </p:cNvSpPr>
          <p:nvPr>
            <p:ph type="sldNum" sz="quarter" idx="5"/>
          </p:nvPr>
        </p:nvSpPr>
        <p:spPr>
          <a:ln/>
        </p:spPr>
        <p:txBody>
          <a:bodyPr/>
          <a:lstStyle/>
          <a:p>
            <a:fld id="{12B3F696-6FB8-46AF-8A42-13D89B7D190F}" type="slidenum">
              <a:rPr lang="en-US" altLang="en-US"/>
              <a:pPr/>
              <a:t>8</a:t>
            </a:fld>
            <a:endParaRPr lang="en-US" altLang="en-US"/>
          </a:p>
        </p:txBody>
      </p:sp>
      <p:sp>
        <p:nvSpPr>
          <p:cNvPr id="264194" name="Rectangle 2">
            <a:extLst>
              <a:ext uri="{FF2B5EF4-FFF2-40B4-BE49-F238E27FC236}">
                <a16:creationId xmlns:a16="http://schemas.microsoft.com/office/drawing/2014/main" id="{68DB2E05-A7C2-65B2-B215-6EF458EB0C73}"/>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36ACF40D-E1C4-0EC9-1995-ECD8124C2B1B}"/>
              </a:ext>
            </a:extLst>
          </p:cNvPr>
          <p:cNvSpPr>
            <a:spLocks noGrp="1" noChangeArrowheads="1"/>
          </p:cNvSpPr>
          <p:nvPr>
            <p:ph type="body" idx="1"/>
          </p:nvPr>
        </p:nvSpPr>
        <p:spPr/>
        <p:txBody>
          <a:bodyPr/>
          <a:lstStyle/>
          <a:p>
            <a:r>
              <a:rPr lang="en-GB" altLang="en-US"/>
              <a:t>Richiamare ossidazione del silicio ( flusso ossidanti attraverso l’ossido)</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2A06CC-1407-2A3A-409F-9C0DFF38D3D1}"/>
              </a:ext>
            </a:extLst>
          </p:cNvPr>
          <p:cNvSpPr>
            <a:spLocks noGrp="1" noChangeArrowheads="1"/>
          </p:cNvSpPr>
          <p:nvPr>
            <p:ph type="sldNum" sz="quarter" idx="5"/>
          </p:nvPr>
        </p:nvSpPr>
        <p:spPr>
          <a:ln/>
        </p:spPr>
        <p:txBody>
          <a:bodyPr/>
          <a:lstStyle/>
          <a:p>
            <a:fld id="{B92FD340-654B-4CD9-BB7B-AECD9C6B7B2F}" type="slidenum">
              <a:rPr lang="en-US" altLang="en-US"/>
              <a:pPr/>
              <a:t>9</a:t>
            </a:fld>
            <a:endParaRPr lang="en-US" altLang="en-US"/>
          </a:p>
        </p:txBody>
      </p:sp>
      <p:sp>
        <p:nvSpPr>
          <p:cNvPr id="263170" name="Rectangle 2">
            <a:extLst>
              <a:ext uri="{FF2B5EF4-FFF2-40B4-BE49-F238E27FC236}">
                <a16:creationId xmlns:a16="http://schemas.microsoft.com/office/drawing/2014/main" id="{2B09EFAF-2865-34BE-1D37-864E3AE5A73A}"/>
              </a:ext>
            </a:extLst>
          </p:cNvPr>
          <p:cNvSpPr>
            <a:spLocks noGrp="1" noRot="1" noChangeAspect="1" noChangeArrowheads="1" noTextEdit="1"/>
          </p:cNvSpPr>
          <p:nvPr>
            <p:ph type="sldImg"/>
          </p:nvPr>
        </p:nvSpPr>
        <p:spPr>
          <a:ln/>
        </p:spPr>
      </p:sp>
      <p:sp>
        <p:nvSpPr>
          <p:cNvPr id="263171" name="Rectangle 3">
            <a:extLst>
              <a:ext uri="{FF2B5EF4-FFF2-40B4-BE49-F238E27FC236}">
                <a16:creationId xmlns:a16="http://schemas.microsoft.com/office/drawing/2014/main" id="{5A1296BF-7487-733A-25F2-F83B2AF6B4F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5F5309-B9E7-5DBF-D3FC-BBBEE6956C43}"/>
              </a:ext>
            </a:extLst>
          </p:cNvPr>
          <p:cNvSpPr>
            <a:spLocks noGrp="1" noChangeArrowheads="1"/>
          </p:cNvSpPr>
          <p:nvPr>
            <p:ph type="sldNum" sz="quarter" idx="5"/>
          </p:nvPr>
        </p:nvSpPr>
        <p:spPr>
          <a:ln/>
        </p:spPr>
        <p:txBody>
          <a:bodyPr/>
          <a:lstStyle/>
          <a:p>
            <a:fld id="{3C7F4EB3-9B8E-4762-A8C4-830C305EA4E7}" type="slidenum">
              <a:rPr lang="en-US" altLang="en-US"/>
              <a:pPr/>
              <a:t>10</a:t>
            </a:fld>
            <a:endParaRPr lang="en-US" altLang="en-US"/>
          </a:p>
        </p:txBody>
      </p:sp>
      <p:sp>
        <p:nvSpPr>
          <p:cNvPr id="262146" name="Rectangle 2">
            <a:extLst>
              <a:ext uri="{FF2B5EF4-FFF2-40B4-BE49-F238E27FC236}">
                <a16:creationId xmlns:a16="http://schemas.microsoft.com/office/drawing/2014/main" id="{AC954236-B596-947B-38E1-5B80A9CE8814}"/>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CFD34516-72D6-D8DC-D56D-4785A40EE2D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977948-D4A8-450E-A313-D6CCCEF5B6F4}"/>
              </a:ext>
            </a:extLst>
          </p:cNvPr>
          <p:cNvSpPr>
            <a:spLocks noGrp="1" noChangeArrowheads="1"/>
          </p:cNvSpPr>
          <p:nvPr>
            <p:ph type="sldNum" sz="quarter" idx="5"/>
          </p:nvPr>
        </p:nvSpPr>
        <p:spPr>
          <a:ln/>
        </p:spPr>
        <p:txBody>
          <a:bodyPr/>
          <a:lstStyle/>
          <a:p>
            <a:fld id="{10F934B5-E398-41A8-BEB9-9CF600D04F94}" type="slidenum">
              <a:rPr lang="en-US" altLang="en-US"/>
              <a:pPr/>
              <a:t>11</a:t>
            </a:fld>
            <a:endParaRPr lang="en-US" altLang="en-US"/>
          </a:p>
        </p:txBody>
      </p:sp>
      <p:sp>
        <p:nvSpPr>
          <p:cNvPr id="261122" name="Rectangle 2">
            <a:extLst>
              <a:ext uri="{FF2B5EF4-FFF2-40B4-BE49-F238E27FC236}">
                <a16:creationId xmlns:a16="http://schemas.microsoft.com/office/drawing/2014/main" id="{2AF67AA4-BCA5-8C0A-2325-F52BD7A819A5}"/>
              </a:ext>
            </a:extLst>
          </p:cNvPr>
          <p:cNvSpPr>
            <a:spLocks noGrp="1" noRot="1" noChangeAspect="1" noChangeArrowheads="1" noTextEdit="1"/>
          </p:cNvSpPr>
          <p:nvPr>
            <p:ph type="sldImg"/>
          </p:nvPr>
        </p:nvSpPr>
        <p:spPr>
          <a:ln/>
        </p:spPr>
      </p:sp>
      <p:sp>
        <p:nvSpPr>
          <p:cNvPr id="261123" name="Rectangle 3">
            <a:extLst>
              <a:ext uri="{FF2B5EF4-FFF2-40B4-BE49-F238E27FC236}">
                <a16:creationId xmlns:a16="http://schemas.microsoft.com/office/drawing/2014/main" id="{CCB79934-172F-7F74-0120-F37BB929AC7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A23FFA4-A7B7-44F9-739E-F01F1BB95F05}"/>
              </a:ext>
            </a:extLst>
          </p:cNvPr>
          <p:cNvSpPr>
            <a:spLocks noGrp="1" noChangeArrowheads="1"/>
          </p:cNvSpPr>
          <p:nvPr>
            <p:ph type="sldNum" sz="quarter" idx="5"/>
          </p:nvPr>
        </p:nvSpPr>
        <p:spPr>
          <a:ln/>
        </p:spPr>
        <p:txBody>
          <a:bodyPr/>
          <a:lstStyle/>
          <a:p>
            <a:fld id="{D8C2EBD8-8D3B-4392-88F4-64B3BB52353A}" type="slidenum">
              <a:rPr lang="en-US" altLang="en-US"/>
              <a:pPr/>
              <a:t>12</a:t>
            </a:fld>
            <a:endParaRPr lang="en-US" altLang="en-US"/>
          </a:p>
        </p:txBody>
      </p:sp>
      <p:sp>
        <p:nvSpPr>
          <p:cNvPr id="260098" name="Rectangle 2">
            <a:extLst>
              <a:ext uri="{FF2B5EF4-FFF2-40B4-BE49-F238E27FC236}">
                <a16:creationId xmlns:a16="http://schemas.microsoft.com/office/drawing/2014/main" id="{296E02D8-5B9A-39E8-F318-2C69CBB01331}"/>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FC51DD4A-F972-F88B-10BC-934B4D3DAF5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F20DB5-0ACE-2B0E-7A82-623463901901}"/>
              </a:ext>
            </a:extLst>
          </p:cNvPr>
          <p:cNvSpPr>
            <a:spLocks noGrp="1" noChangeArrowheads="1"/>
          </p:cNvSpPr>
          <p:nvPr>
            <p:ph type="sldNum" sz="quarter" idx="5"/>
          </p:nvPr>
        </p:nvSpPr>
        <p:spPr>
          <a:ln/>
        </p:spPr>
        <p:txBody>
          <a:bodyPr/>
          <a:lstStyle/>
          <a:p>
            <a:fld id="{672F3A65-CDF6-41DA-95AC-09D7D7C3FC47}" type="slidenum">
              <a:rPr lang="en-US" altLang="en-US"/>
              <a:pPr/>
              <a:t>13</a:t>
            </a:fld>
            <a:endParaRPr lang="en-US" altLang="en-US"/>
          </a:p>
        </p:txBody>
      </p:sp>
      <p:sp>
        <p:nvSpPr>
          <p:cNvPr id="259074" name="Rectangle 2">
            <a:extLst>
              <a:ext uri="{FF2B5EF4-FFF2-40B4-BE49-F238E27FC236}">
                <a16:creationId xmlns:a16="http://schemas.microsoft.com/office/drawing/2014/main" id="{1BC2E97D-B18D-5E84-F407-41A0D7DA2CE4}"/>
              </a:ext>
            </a:extLst>
          </p:cNvPr>
          <p:cNvSpPr>
            <a:spLocks noGrp="1" noRot="1" noChangeAspect="1" noChangeArrowheads="1" noTextEdit="1"/>
          </p:cNvSpPr>
          <p:nvPr>
            <p:ph type="sldImg"/>
          </p:nvPr>
        </p:nvSpPr>
        <p:spPr>
          <a:ln/>
        </p:spPr>
      </p:sp>
      <p:sp>
        <p:nvSpPr>
          <p:cNvPr id="259075" name="Rectangle 3">
            <a:extLst>
              <a:ext uri="{FF2B5EF4-FFF2-40B4-BE49-F238E27FC236}">
                <a16:creationId xmlns:a16="http://schemas.microsoft.com/office/drawing/2014/main" id="{4C0C66D9-4F23-6428-DC11-05DC03E4C035}"/>
              </a:ext>
            </a:extLst>
          </p:cNvPr>
          <p:cNvSpPr>
            <a:spLocks noGrp="1" noChangeArrowheads="1"/>
          </p:cNvSpPr>
          <p:nvPr>
            <p:ph type="body" idx="1"/>
          </p:nvPr>
        </p:nvSpPr>
        <p:spPr/>
        <p:txBody>
          <a:bodyPr/>
          <a:lstStyle/>
          <a:p>
            <a:r>
              <a:rPr lang="en-GB" altLang="en-US"/>
              <a:t>Sottolineare che valgono nel caso intrinseco ( Na&lt;&lt;Ni), ma che ad alte temperature ni e’ elevato.</a:t>
            </a:r>
          </a:p>
          <a:p>
            <a:r>
              <a:rPr lang="en-GB" altLang="en-US"/>
              <a:t>A 1000 C ni=7.14E18 cm-3</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A4C3AD-E693-9EC4-94B5-0B0219CCB03B}"/>
              </a:ext>
            </a:extLst>
          </p:cNvPr>
          <p:cNvSpPr>
            <a:spLocks noGrp="1" noChangeArrowheads="1"/>
          </p:cNvSpPr>
          <p:nvPr>
            <p:ph type="sldNum" sz="quarter" idx="5"/>
          </p:nvPr>
        </p:nvSpPr>
        <p:spPr>
          <a:ln/>
        </p:spPr>
        <p:txBody>
          <a:bodyPr/>
          <a:lstStyle/>
          <a:p>
            <a:fld id="{7C334D10-13EF-4CC3-B79C-F8610A6A1F84}" type="slidenum">
              <a:rPr lang="en-US" altLang="en-US"/>
              <a:pPr/>
              <a:t>14</a:t>
            </a:fld>
            <a:endParaRPr lang="en-US" altLang="en-US"/>
          </a:p>
        </p:txBody>
      </p:sp>
      <p:sp>
        <p:nvSpPr>
          <p:cNvPr id="343042" name="Rectangle 2">
            <a:extLst>
              <a:ext uri="{FF2B5EF4-FFF2-40B4-BE49-F238E27FC236}">
                <a16:creationId xmlns:a16="http://schemas.microsoft.com/office/drawing/2014/main" id="{E33D6538-CDEE-6A7C-EFB8-FCF76AC07E66}"/>
              </a:ext>
            </a:extLst>
          </p:cNvPr>
          <p:cNvSpPr>
            <a:spLocks noGrp="1" noRot="1" noChangeAspect="1" noChangeArrowheads="1" noTextEdit="1"/>
          </p:cNvSpPr>
          <p:nvPr>
            <p:ph type="sldImg"/>
          </p:nvPr>
        </p:nvSpPr>
        <p:spPr>
          <a:ln/>
        </p:spPr>
      </p:sp>
      <p:sp>
        <p:nvSpPr>
          <p:cNvPr id="343043" name="Rectangle 3">
            <a:extLst>
              <a:ext uri="{FF2B5EF4-FFF2-40B4-BE49-F238E27FC236}">
                <a16:creationId xmlns:a16="http://schemas.microsoft.com/office/drawing/2014/main" id="{A5356DAD-E64D-400F-A595-4B01198AB5F6}"/>
              </a:ext>
            </a:extLst>
          </p:cNvPr>
          <p:cNvSpPr>
            <a:spLocks noGrp="1" noChangeArrowheads="1"/>
          </p:cNvSpPr>
          <p:nvPr>
            <p:ph type="body" idx="1"/>
          </p:nvPr>
        </p:nvSpPr>
        <p:spPr/>
        <p:txBody>
          <a:bodyPr/>
          <a:lstStyle/>
          <a:p>
            <a:r>
              <a:rPr lang="en-GB" altLang="en-US"/>
              <a:t>Far notare che il rempo necessario a tem[peratura T2 per diffondere un profilo quanto lo si farebbe diffondere per un tempo t1 a temperatura T1 e’ ; t2=t1 x D1/D2</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90619E-5642-D530-4554-9CE67DE74A16}"/>
              </a:ext>
            </a:extLst>
          </p:cNvPr>
          <p:cNvSpPr>
            <a:spLocks noGrp="1" noChangeArrowheads="1"/>
          </p:cNvSpPr>
          <p:nvPr>
            <p:ph type="sldNum" sz="quarter" idx="5"/>
          </p:nvPr>
        </p:nvSpPr>
        <p:spPr>
          <a:ln/>
        </p:spPr>
        <p:txBody>
          <a:bodyPr/>
          <a:lstStyle/>
          <a:p>
            <a:fld id="{E6C60FF4-BE11-43DB-BAD1-FBF3F2ABF177}" type="slidenum">
              <a:rPr lang="en-US" altLang="en-US"/>
              <a:pPr/>
              <a:t>15</a:t>
            </a:fld>
            <a:endParaRPr lang="en-US" altLang="en-US"/>
          </a:p>
        </p:txBody>
      </p:sp>
      <p:sp>
        <p:nvSpPr>
          <p:cNvPr id="265218" name="Rectangle 2">
            <a:extLst>
              <a:ext uri="{FF2B5EF4-FFF2-40B4-BE49-F238E27FC236}">
                <a16:creationId xmlns:a16="http://schemas.microsoft.com/office/drawing/2014/main" id="{73663D31-9DE8-AFFA-1750-60AFCCD48A33}"/>
              </a:ext>
            </a:extLst>
          </p:cNvPr>
          <p:cNvSpPr>
            <a:spLocks noGrp="1" noRot="1" noChangeAspect="1" noChangeArrowheads="1" noTextEdit="1"/>
          </p:cNvSpPr>
          <p:nvPr>
            <p:ph type="sldImg"/>
          </p:nvPr>
        </p:nvSpPr>
        <p:spPr>
          <a:ln/>
        </p:spPr>
      </p:sp>
      <p:sp>
        <p:nvSpPr>
          <p:cNvPr id="265219" name="Rectangle 3">
            <a:extLst>
              <a:ext uri="{FF2B5EF4-FFF2-40B4-BE49-F238E27FC236}">
                <a16:creationId xmlns:a16="http://schemas.microsoft.com/office/drawing/2014/main" id="{52D089FF-69D4-1DE5-8BBD-3AE7A264703A}"/>
              </a:ext>
            </a:extLst>
          </p:cNvPr>
          <p:cNvSpPr>
            <a:spLocks noGrp="1" noChangeArrowheads="1"/>
          </p:cNvSpPr>
          <p:nvPr>
            <p:ph type="body" idx="1"/>
          </p:nvPr>
        </p:nvSpPr>
        <p:spPr/>
        <p:txBody>
          <a:bodyPr/>
          <a:lstStyle/>
          <a:p>
            <a:r>
              <a:rPr lang="en-GB" altLang="en-US"/>
              <a:t>Sottolineare che al max h=2, ma che l’impatto del campo elettrico puo’ essere maggiore.</a:t>
            </a:r>
          </a:p>
          <a:p>
            <a:r>
              <a:rPr lang="en-GB" altLang="en-US"/>
              <a:t>Es: impianto As in presenza di piccola concentrazionei di B. L’As genera il campo elettrico, che sposta il B.</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563AEE-2185-0DBC-9BA2-5081F2865D8A}"/>
              </a:ext>
            </a:extLst>
          </p:cNvPr>
          <p:cNvSpPr>
            <a:spLocks noGrp="1" noChangeArrowheads="1"/>
          </p:cNvSpPr>
          <p:nvPr>
            <p:ph type="sldNum" sz="quarter" idx="5"/>
          </p:nvPr>
        </p:nvSpPr>
        <p:spPr>
          <a:ln/>
        </p:spPr>
        <p:txBody>
          <a:bodyPr/>
          <a:lstStyle/>
          <a:p>
            <a:fld id="{70E7215A-EB78-4FC6-AF79-76F2A674C74A}" type="slidenum">
              <a:rPr lang="en-US" altLang="en-US"/>
              <a:pPr/>
              <a:t>16</a:t>
            </a:fld>
            <a:endParaRPr lang="en-US" altLang="en-US"/>
          </a:p>
        </p:txBody>
      </p:sp>
      <p:sp>
        <p:nvSpPr>
          <p:cNvPr id="266242" name="Rectangle 2">
            <a:extLst>
              <a:ext uri="{FF2B5EF4-FFF2-40B4-BE49-F238E27FC236}">
                <a16:creationId xmlns:a16="http://schemas.microsoft.com/office/drawing/2014/main" id="{A7F09469-0653-7529-6748-8B859B8B3BF8}"/>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AA23B960-8040-256D-58BD-95977E607AC9}"/>
              </a:ext>
            </a:extLst>
          </p:cNvPr>
          <p:cNvSpPr>
            <a:spLocks noGrp="1" noChangeArrowheads="1"/>
          </p:cNvSpPr>
          <p:nvPr>
            <p:ph type="body" idx="1"/>
          </p:nvPr>
        </p:nvSpPr>
        <p:spPr/>
        <p:txBody>
          <a:bodyPr/>
          <a:lstStyle/>
          <a:p>
            <a:r>
              <a:rPr lang="en-GB" altLang="en-US"/>
              <a:t>Spiegare che la forma di D puo’ essere spiegata per interazione con difetti di punto carichi. Si tratta in di una somma pesata sulla probabilita’ dello stato carico del difetto.</a:t>
            </a:r>
          </a:p>
          <a:p>
            <a:endParaRPr lang="en-GB" altLang="en-US"/>
          </a:p>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DD2825F-2702-2303-162D-5F7AA7F7C4A9}"/>
              </a:ext>
            </a:extLst>
          </p:cNvPr>
          <p:cNvSpPr>
            <a:spLocks noGrp="1" noChangeArrowheads="1"/>
          </p:cNvSpPr>
          <p:nvPr>
            <p:ph type="sldNum" sz="quarter" idx="5"/>
          </p:nvPr>
        </p:nvSpPr>
        <p:spPr>
          <a:ln/>
        </p:spPr>
        <p:txBody>
          <a:bodyPr/>
          <a:lstStyle/>
          <a:p>
            <a:fld id="{E6FD6D17-B142-4615-A211-148ACDC5AC16}" type="slidenum">
              <a:rPr lang="en-US" altLang="en-US"/>
              <a:pPr/>
              <a:t>17</a:t>
            </a:fld>
            <a:endParaRPr lang="en-US" altLang="en-US"/>
          </a:p>
        </p:txBody>
      </p:sp>
      <p:sp>
        <p:nvSpPr>
          <p:cNvPr id="270338" name="Rectangle 2">
            <a:extLst>
              <a:ext uri="{FF2B5EF4-FFF2-40B4-BE49-F238E27FC236}">
                <a16:creationId xmlns:a16="http://schemas.microsoft.com/office/drawing/2014/main" id="{DADDD2B4-05FE-F085-A965-3B7FBA9C1AC8}"/>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D1E126B2-0CD6-1343-650B-98F931F58D9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DACBDB1-C87E-34AC-A7FE-0B44A50667EF}"/>
              </a:ext>
            </a:extLst>
          </p:cNvPr>
          <p:cNvSpPr>
            <a:spLocks noGrp="1" noChangeArrowheads="1"/>
          </p:cNvSpPr>
          <p:nvPr>
            <p:ph type="sldNum" sz="quarter" idx="5"/>
          </p:nvPr>
        </p:nvSpPr>
        <p:spPr>
          <a:ln/>
        </p:spPr>
        <p:txBody>
          <a:bodyPr/>
          <a:lstStyle/>
          <a:p>
            <a:fld id="{DBCFCE19-5ADA-4AC3-9CBA-AD0F525E716A}" type="slidenum">
              <a:rPr lang="en-US" altLang="en-US"/>
              <a:pPr/>
              <a:t>18</a:t>
            </a:fld>
            <a:endParaRPr lang="en-US" altLang="en-US"/>
          </a:p>
        </p:txBody>
      </p:sp>
      <p:sp>
        <p:nvSpPr>
          <p:cNvPr id="307202" name="Rectangle 2">
            <a:extLst>
              <a:ext uri="{FF2B5EF4-FFF2-40B4-BE49-F238E27FC236}">
                <a16:creationId xmlns:a16="http://schemas.microsoft.com/office/drawing/2014/main" id="{56E27D08-EEA9-A69C-F4F0-075B1E5977CE}"/>
              </a:ext>
            </a:extLst>
          </p:cNvPr>
          <p:cNvSpPr>
            <a:spLocks noGrp="1" noRot="1" noChangeAspect="1" noChangeArrowheads="1" noTextEdit="1"/>
          </p:cNvSpPr>
          <p:nvPr>
            <p:ph type="sldImg"/>
          </p:nvPr>
        </p:nvSpPr>
        <p:spPr>
          <a:ln/>
        </p:spPr>
      </p:sp>
      <p:sp>
        <p:nvSpPr>
          <p:cNvPr id="307203" name="Rectangle 3">
            <a:extLst>
              <a:ext uri="{FF2B5EF4-FFF2-40B4-BE49-F238E27FC236}">
                <a16:creationId xmlns:a16="http://schemas.microsoft.com/office/drawing/2014/main" id="{067B77C4-6D2F-68F6-1BEA-B63000AEF61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98F0266-F931-650F-8673-6B3CE679943E}"/>
              </a:ext>
            </a:extLst>
          </p:cNvPr>
          <p:cNvSpPr>
            <a:spLocks noGrp="1" noChangeArrowheads="1"/>
          </p:cNvSpPr>
          <p:nvPr>
            <p:ph type="sldNum" sz="quarter" idx="5"/>
          </p:nvPr>
        </p:nvSpPr>
        <p:spPr>
          <a:ln/>
        </p:spPr>
        <p:txBody>
          <a:bodyPr/>
          <a:lstStyle/>
          <a:p>
            <a:fld id="{F54AD620-1EC0-4308-AA30-453BAB30CBC9}" type="slidenum">
              <a:rPr lang="en-US" altLang="en-US"/>
              <a:pPr/>
              <a:t>19</a:t>
            </a:fld>
            <a:endParaRPr lang="en-US" altLang="en-US"/>
          </a:p>
        </p:txBody>
      </p:sp>
      <p:sp>
        <p:nvSpPr>
          <p:cNvPr id="274434" name="Rectangle 2">
            <a:extLst>
              <a:ext uri="{FF2B5EF4-FFF2-40B4-BE49-F238E27FC236}">
                <a16:creationId xmlns:a16="http://schemas.microsoft.com/office/drawing/2014/main" id="{01C1BEAA-F980-82EE-45A7-E789E07FB3BF}"/>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BFD81A9D-6D14-5A9C-5F2A-F14AFE24F443}"/>
              </a:ext>
            </a:extLst>
          </p:cNvPr>
          <p:cNvSpPr>
            <a:spLocks noGrp="1" noChangeArrowheads="1"/>
          </p:cNvSpPr>
          <p:nvPr>
            <p:ph type="body" idx="1"/>
          </p:nvPr>
        </p:nvSpPr>
        <p:spPr/>
        <p:txBody>
          <a:bodyPr/>
          <a:lstStyle/>
          <a:p>
            <a:r>
              <a:rPr lang="en-GB" altLang="en-US"/>
              <a:t>Accennare al fatto che Sb e’ un atomo grosso, ed e’ meno facile che sia scalzato da un interstiziale…</a:t>
            </a: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E4F62D1-C1E1-494C-BEE3-4A57E013F371}"/>
              </a:ext>
            </a:extLst>
          </p:cNvPr>
          <p:cNvSpPr>
            <a:spLocks noGrp="1" noChangeArrowheads="1"/>
          </p:cNvSpPr>
          <p:nvPr>
            <p:ph type="sldNum" sz="quarter" idx="5"/>
          </p:nvPr>
        </p:nvSpPr>
        <p:spPr>
          <a:ln/>
        </p:spPr>
        <p:txBody>
          <a:bodyPr/>
          <a:lstStyle/>
          <a:p>
            <a:fld id="{8C311EEB-917E-4679-9E8D-47A3BA4A9E0F}" type="slidenum">
              <a:rPr lang="en-US" altLang="en-US"/>
              <a:pPr/>
              <a:t>20</a:t>
            </a:fld>
            <a:endParaRPr lang="en-US" altLang="en-US"/>
          </a:p>
        </p:txBody>
      </p:sp>
      <p:sp>
        <p:nvSpPr>
          <p:cNvPr id="276482" name="Rectangle 2">
            <a:extLst>
              <a:ext uri="{FF2B5EF4-FFF2-40B4-BE49-F238E27FC236}">
                <a16:creationId xmlns:a16="http://schemas.microsoft.com/office/drawing/2014/main" id="{C2AA3A24-DE8C-88D3-68D9-AA934D3C43D5}"/>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BC156EA9-75DA-5F9A-6968-B795BB5DF5A3}"/>
              </a:ext>
            </a:extLst>
          </p:cNvPr>
          <p:cNvSpPr>
            <a:spLocks noGrp="1" noChangeArrowheads="1"/>
          </p:cNvSpPr>
          <p:nvPr>
            <p:ph type="body" idx="1"/>
          </p:nvPr>
        </p:nvSpPr>
        <p:spPr/>
        <p:txBody>
          <a:bodyPr/>
          <a:lstStyle/>
          <a:p>
            <a:r>
              <a:rPr lang="en-GB" altLang="en-US"/>
              <a:t>Accennare al fatto che Sb e’ un atomo grosso, ed e’ meno facile che sia scalzato da un interstiziale…e viceversa per B e P.</a:t>
            </a:r>
          </a:p>
          <a:p>
            <a:r>
              <a:rPr lang="en-GB" altLang="en-US"/>
              <a:t>Accennare anche a calcoli che permettono di mettere in relazione parametri marcoscopici a prametri microscopici ( vedere Plummer pgg. 426-436). Riportare i conti qui sotto ?</a:t>
            </a: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01E727-ABFD-525E-0CA2-56F38DB7EE7F}"/>
              </a:ext>
            </a:extLst>
          </p:cNvPr>
          <p:cNvSpPr>
            <a:spLocks noGrp="1" noChangeArrowheads="1"/>
          </p:cNvSpPr>
          <p:nvPr>
            <p:ph type="sldNum" sz="quarter" idx="5"/>
          </p:nvPr>
        </p:nvSpPr>
        <p:spPr>
          <a:ln/>
        </p:spPr>
        <p:txBody>
          <a:bodyPr/>
          <a:lstStyle/>
          <a:p>
            <a:fld id="{401D2B9C-B8E4-4196-990B-54B866BF611D}" type="slidenum">
              <a:rPr lang="en-US" altLang="en-US"/>
              <a:pPr/>
              <a:t>21</a:t>
            </a:fld>
            <a:endParaRPr lang="en-US" altLang="en-US"/>
          </a:p>
        </p:txBody>
      </p:sp>
      <p:sp>
        <p:nvSpPr>
          <p:cNvPr id="345090" name="Rectangle 2">
            <a:extLst>
              <a:ext uri="{FF2B5EF4-FFF2-40B4-BE49-F238E27FC236}">
                <a16:creationId xmlns:a16="http://schemas.microsoft.com/office/drawing/2014/main" id="{DFE9651A-E1C7-7126-0C4E-7911D835A583}"/>
              </a:ext>
            </a:extLst>
          </p:cNvPr>
          <p:cNvSpPr>
            <a:spLocks noGrp="1" noRot="1" noChangeAspect="1" noChangeArrowheads="1" noTextEdit="1"/>
          </p:cNvSpPr>
          <p:nvPr>
            <p:ph type="sldImg"/>
          </p:nvPr>
        </p:nvSpPr>
        <p:spPr>
          <a:ln/>
        </p:spPr>
      </p:sp>
      <p:sp>
        <p:nvSpPr>
          <p:cNvPr id="345091" name="Rectangle 3">
            <a:extLst>
              <a:ext uri="{FF2B5EF4-FFF2-40B4-BE49-F238E27FC236}">
                <a16:creationId xmlns:a16="http://schemas.microsoft.com/office/drawing/2014/main" id="{2406404D-2B0F-7D38-38A7-31BB3C459434}"/>
              </a:ext>
            </a:extLst>
          </p:cNvPr>
          <p:cNvSpPr>
            <a:spLocks noGrp="1" noChangeArrowheads="1"/>
          </p:cNvSpPr>
          <p:nvPr>
            <p:ph type="body" idx="1"/>
          </p:nvPr>
        </p:nvSpPr>
        <p:spPr/>
        <p:txBody>
          <a:bodyPr/>
          <a:lstStyle/>
          <a:p>
            <a:r>
              <a:rPr lang="en-GB" altLang="en-US"/>
              <a:t>Riflettere sulla formulina:</a:t>
            </a:r>
          </a:p>
          <a:p>
            <a:r>
              <a:rPr lang="en-GB" altLang="en-US"/>
              <a:t>Un aumento degli interstiziali produce piu’ specie mobili </a:t>
            </a:r>
            <a:r>
              <a:rPr lang="en-GB" altLang="en-US">
                <a:sym typeface="Wingdings" panose="05000000000000000000" pitchFamily="2" charset="2"/>
              </a:rPr>
              <a:t> aumenta la diffusione</a:t>
            </a:r>
          </a:p>
          <a:p>
            <a:r>
              <a:rPr lang="en-GB" altLang="en-US">
                <a:sym typeface="Wingdings" panose="05000000000000000000" pitchFamily="2" charset="2"/>
              </a:rPr>
              <a:t>Es. Una specie diffonde assistita da I, poi rilascia intrestiziali nel bulk, dove la concentrazione di I va quindi aumentando  la diffusione aumenta verso il bilk  questo spiega l’aumentata diffusione delle code come nel caso del P.</a:t>
            </a:r>
          </a:p>
          <a:p>
            <a:r>
              <a:rPr lang="en-GB" altLang="en-US">
                <a:sym typeface="Wingdings" panose="05000000000000000000" pitchFamily="2" charset="2"/>
              </a:rPr>
              <a:t>Anche il fenomeno di emitter “push” e’ spiegato dall’iniezione di interstiziali (P nell’emitter inietta I che fanno diffondere il B della base) </a:t>
            </a: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5CCEC9-45E7-08B1-F894-116BE1DF4D00}"/>
              </a:ext>
            </a:extLst>
          </p:cNvPr>
          <p:cNvSpPr>
            <a:spLocks noGrp="1" noChangeArrowheads="1"/>
          </p:cNvSpPr>
          <p:nvPr>
            <p:ph type="sldNum" sz="quarter" idx="5"/>
          </p:nvPr>
        </p:nvSpPr>
        <p:spPr>
          <a:ln/>
        </p:spPr>
        <p:txBody>
          <a:bodyPr/>
          <a:lstStyle/>
          <a:p>
            <a:fld id="{6665868F-B505-4171-A33E-986976871E22}" type="slidenum">
              <a:rPr lang="en-US" altLang="en-US"/>
              <a:pPr/>
              <a:t>22</a:t>
            </a:fld>
            <a:endParaRPr lang="en-US" altLang="en-US"/>
          </a:p>
        </p:txBody>
      </p:sp>
      <p:sp>
        <p:nvSpPr>
          <p:cNvPr id="349186" name="Rectangle 2">
            <a:extLst>
              <a:ext uri="{FF2B5EF4-FFF2-40B4-BE49-F238E27FC236}">
                <a16:creationId xmlns:a16="http://schemas.microsoft.com/office/drawing/2014/main" id="{D5E566F5-0FF4-CB51-FB87-F5AAAB146CF5}"/>
              </a:ext>
            </a:extLst>
          </p:cNvPr>
          <p:cNvSpPr>
            <a:spLocks noGrp="1" noRot="1" noChangeAspect="1" noChangeArrowheads="1" noTextEdit="1"/>
          </p:cNvSpPr>
          <p:nvPr>
            <p:ph type="sldImg"/>
          </p:nvPr>
        </p:nvSpPr>
        <p:spPr>
          <a:ln/>
        </p:spPr>
      </p:sp>
      <p:sp>
        <p:nvSpPr>
          <p:cNvPr id="349187" name="Rectangle 3">
            <a:extLst>
              <a:ext uri="{FF2B5EF4-FFF2-40B4-BE49-F238E27FC236}">
                <a16:creationId xmlns:a16="http://schemas.microsoft.com/office/drawing/2014/main" id="{1B27E68E-25A3-4794-3BA7-97DC6521974E}"/>
              </a:ext>
            </a:extLst>
          </p:cNvPr>
          <p:cNvSpPr>
            <a:spLocks noGrp="1" noChangeArrowheads="1"/>
          </p:cNvSpPr>
          <p:nvPr>
            <p:ph type="body" idx="1"/>
          </p:nvPr>
        </p:nvSpPr>
        <p:spPr/>
        <p:txBody>
          <a:bodyPr/>
          <a:lstStyle/>
          <a:p>
            <a:r>
              <a:rPr lang="en-GB" altLang="en-US"/>
              <a:t>Derivare la formulno finale </a:t>
            </a:r>
            <a:r>
              <a:rPr lang="en-GB" altLang="en-US">
                <a:sym typeface="Wingdings" panose="05000000000000000000" pitchFamily="2" charset="2"/>
              </a:rPr>
              <a:t> vedi appunti cartacei</a:t>
            </a: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38F8F7-FBEC-EFF8-E404-C9FB195E9E65}"/>
              </a:ext>
            </a:extLst>
          </p:cNvPr>
          <p:cNvSpPr>
            <a:spLocks noGrp="1" noChangeArrowheads="1"/>
          </p:cNvSpPr>
          <p:nvPr>
            <p:ph type="sldNum" sz="quarter" idx="5"/>
          </p:nvPr>
        </p:nvSpPr>
        <p:spPr>
          <a:ln/>
        </p:spPr>
        <p:txBody>
          <a:bodyPr/>
          <a:lstStyle/>
          <a:p>
            <a:fld id="{C7C176D1-1096-43F1-BBDE-B7427B86112E}" type="slidenum">
              <a:rPr lang="en-US" altLang="en-US"/>
              <a:pPr/>
              <a:t>23</a:t>
            </a:fld>
            <a:endParaRPr lang="en-US" altLang="en-US"/>
          </a:p>
        </p:txBody>
      </p:sp>
      <p:sp>
        <p:nvSpPr>
          <p:cNvPr id="277506" name="Rectangle 2">
            <a:extLst>
              <a:ext uri="{FF2B5EF4-FFF2-40B4-BE49-F238E27FC236}">
                <a16:creationId xmlns:a16="http://schemas.microsoft.com/office/drawing/2014/main" id="{85E93376-4FEF-DF16-E693-74FAD0FB4B1C}"/>
              </a:ext>
            </a:extLst>
          </p:cNvPr>
          <p:cNvSpPr>
            <a:spLocks noGrp="1" noRot="1" noChangeAspect="1" noChangeArrowheads="1" noTextEdit="1"/>
          </p:cNvSpPr>
          <p:nvPr>
            <p:ph type="sldImg"/>
          </p:nvPr>
        </p:nvSpPr>
        <p:spPr>
          <a:ln/>
        </p:spPr>
      </p:sp>
      <p:sp>
        <p:nvSpPr>
          <p:cNvPr id="277507" name="Rectangle 3">
            <a:extLst>
              <a:ext uri="{FF2B5EF4-FFF2-40B4-BE49-F238E27FC236}">
                <a16:creationId xmlns:a16="http://schemas.microsoft.com/office/drawing/2014/main" id="{D9294D3B-ECB1-BDBB-C533-69A7369EC372}"/>
              </a:ext>
            </a:extLst>
          </p:cNvPr>
          <p:cNvSpPr>
            <a:spLocks noGrp="1" noChangeArrowheads="1"/>
          </p:cNvSpPr>
          <p:nvPr>
            <p:ph type="body" idx="1"/>
          </p:nvPr>
        </p:nvSpPr>
        <p:spPr/>
        <p:txBody>
          <a:bodyPr/>
          <a:lstStyle/>
          <a:p>
            <a:r>
              <a:rPr lang="en-GB" altLang="en-US"/>
              <a:t>Citare 4 point probe e CV profiling</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E52F2-91D6-9622-5D13-35B83A89AE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A13925-8188-C4CD-DDBE-4335A82BC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EF9E647-4247-7423-3512-BD1FCD781BE5}"/>
              </a:ext>
            </a:extLst>
          </p:cNvPr>
          <p:cNvSpPr>
            <a:spLocks noGrp="1"/>
          </p:cNvSpPr>
          <p:nvPr>
            <p:ph type="sldNum" sz="quarter" idx="10"/>
          </p:nvPr>
        </p:nvSpPr>
        <p:spPr/>
        <p:txBody>
          <a:bodyPr/>
          <a:lstStyle>
            <a:lvl1pPr>
              <a:defRPr/>
            </a:lvl1pPr>
          </a:lstStyle>
          <a:p>
            <a:r>
              <a:rPr lang="en-US" altLang="en-US"/>
              <a:t>Page </a:t>
            </a:r>
            <a:fld id="{C1DF602E-ABBC-4DB5-A6A4-48FB32B9B5B2}" type="slidenum">
              <a:rPr lang="en-US" altLang="en-US"/>
              <a:pPr/>
              <a:t>‹#›</a:t>
            </a:fld>
            <a:endParaRPr lang="en-US" altLang="en-US"/>
          </a:p>
        </p:txBody>
      </p:sp>
    </p:spTree>
    <p:extLst>
      <p:ext uri="{BB962C8B-B14F-4D97-AF65-F5344CB8AC3E}">
        <p14:creationId xmlns:p14="http://schemas.microsoft.com/office/powerpoint/2010/main" val="34549234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8.wmf"/><Relationship Id="rId1" Type="http://schemas.openxmlformats.org/officeDocument/2006/relationships/slideLayout" Target="../slideLayouts/slideLayout48.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 Id="rId9" Type="http://schemas.openxmlformats.org/officeDocument/2006/relationships/image" Target="../media/image12.wmf"/></Relationships>
</file>

<file path=ppt/slides/_rels/slide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48.xml"/><Relationship Id="rId5" Type="http://schemas.openxmlformats.org/officeDocument/2006/relationships/image" Target="../media/image16.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7.bin"/><Relationship Id="rId1" Type="http://schemas.openxmlformats.org/officeDocument/2006/relationships/slideLayout" Target="../slideLayouts/slideLayout48.xml"/><Relationship Id="rId5" Type="http://schemas.openxmlformats.org/officeDocument/2006/relationships/image" Target="../media/image18.wmf"/><Relationship Id="rId4"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3.xml"/><Relationship Id="rId1" Type="http://schemas.openxmlformats.org/officeDocument/2006/relationships/slideLayout" Target="../slideLayouts/slideLayout48.xml"/><Relationship Id="rId6" Type="http://schemas.openxmlformats.org/officeDocument/2006/relationships/image" Target="../media/image20.wmf"/><Relationship Id="rId5" Type="http://schemas.openxmlformats.org/officeDocument/2006/relationships/oleObject" Target="../embeddings/oleObject10.bin"/><Relationship Id="rId4" Type="http://schemas.openxmlformats.org/officeDocument/2006/relationships/image" Target="../media/image1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48.xml"/><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image" Target="../media/image22.wmf"/></Relationships>
</file>

<file path=ppt/slides/_rels/slide9.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7.wmf"/><Relationship Id="rId2" Type="http://schemas.openxmlformats.org/officeDocument/2006/relationships/notesSlide" Target="../notesSlides/notesSlide5.xml"/><Relationship Id="rId1" Type="http://schemas.openxmlformats.org/officeDocument/2006/relationships/slideLayout" Target="../slideLayouts/slideLayout48.xml"/><Relationship Id="rId6" Type="http://schemas.openxmlformats.org/officeDocument/2006/relationships/image" Target="../media/image22.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26.wmf"/><Relationship Id="rId4" Type="http://schemas.openxmlformats.org/officeDocument/2006/relationships/image" Target="../media/image24.wmf"/><Relationship Id="rId9" Type="http://schemas.openxmlformats.org/officeDocument/2006/relationships/oleObject" Target="../embeddings/oleObject17.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6.xml"/><Relationship Id="rId1" Type="http://schemas.openxmlformats.org/officeDocument/2006/relationships/slideLayout" Target="../slideLayouts/slideLayout48.xml"/><Relationship Id="rId6" Type="http://schemas.openxmlformats.org/officeDocument/2006/relationships/image" Target="../media/image29.wmf"/><Relationship Id="rId5" Type="http://schemas.openxmlformats.org/officeDocument/2006/relationships/oleObject" Target="../embeddings/oleObject20.bin"/><Relationship Id="rId4" Type="http://schemas.openxmlformats.org/officeDocument/2006/relationships/image" Target="../media/image28.wmf"/></Relationships>
</file>

<file path=ppt/slides/_rels/slide11.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7.xml"/><Relationship Id="rId1" Type="http://schemas.openxmlformats.org/officeDocument/2006/relationships/slideLayout" Target="../slideLayouts/slideLayout48.xml"/><Relationship Id="rId6" Type="http://schemas.openxmlformats.org/officeDocument/2006/relationships/image" Target="../media/image22.wmf"/><Relationship Id="rId5" Type="http://schemas.openxmlformats.org/officeDocument/2006/relationships/oleObject" Target="../embeddings/oleObject22.bin"/><Relationship Id="rId10" Type="http://schemas.openxmlformats.org/officeDocument/2006/relationships/image" Target="../media/image32.wmf"/><Relationship Id="rId4" Type="http://schemas.openxmlformats.org/officeDocument/2006/relationships/image" Target="../media/image30.wmf"/><Relationship Id="rId9"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8.xml"/><Relationship Id="rId1" Type="http://schemas.openxmlformats.org/officeDocument/2006/relationships/slideLayout" Target="../slideLayouts/slideLayout48.xml"/><Relationship Id="rId6" Type="http://schemas.openxmlformats.org/officeDocument/2006/relationships/image" Target="../media/image34.wmf"/><Relationship Id="rId5" Type="http://schemas.openxmlformats.org/officeDocument/2006/relationships/oleObject" Target="../embeddings/oleObject26.bin"/><Relationship Id="rId4" Type="http://schemas.openxmlformats.org/officeDocument/2006/relationships/image" Target="../media/image3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9.xml"/><Relationship Id="rId1" Type="http://schemas.openxmlformats.org/officeDocument/2006/relationships/slideLayout" Target="../slideLayouts/slideLayout48.xml"/><Relationship Id="rId5" Type="http://schemas.openxmlformats.org/officeDocument/2006/relationships/image" Target="../media/image37.png"/><Relationship Id="rId4" Type="http://schemas.openxmlformats.org/officeDocument/2006/relationships/image" Target="../media/image36.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0.xml"/><Relationship Id="rId1" Type="http://schemas.openxmlformats.org/officeDocument/2006/relationships/slideLayout" Target="../slideLayouts/slideLayout48.xml"/><Relationship Id="rId6" Type="http://schemas.openxmlformats.org/officeDocument/2006/relationships/image" Target="../media/image39.wmf"/><Relationship Id="rId5" Type="http://schemas.openxmlformats.org/officeDocument/2006/relationships/oleObject" Target="../embeddings/oleObject30.bin"/><Relationship Id="rId4" Type="http://schemas.openxmlformats.org/officeDocument/2006/relationships/image" Target="../media/image38.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11.xml"/><Relationship Id="rId1" Type="http://schemas.openxmlformats.org/officeDocument/2006/relationships/slideLayout" Target="../slideLayouts/slideLayout48.xml"/><Relationship Id="rId6" Type="http://schemas.openxmlformats.org/officeDocument/2006/relationships/image" Target="../media/image41.wmf"/><Relationship Id="rId5" Type="http://schemas.openxmlformats.org/officeDocument/2006/relationships/oleObject" Target="../embeddings/oleObject32.bin"/><Relationship Id="rId4" Type="http://schemas.openxmlformats.org/officeDocument/2006/relationships/image" Target="../media/image40.wmf"/></Relationships>
</file>

<file path=ppt/slides/_rels/slide16.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notesSlide" Target="../notesSlides/notesSlide12.xml"/><Relationship Id="rId1" Type="http://schemas.openxmlformats.org/officeDocument/2006/relationships/slideLayout" Target="../slideLayouts/slideLayout48.xml"/><Relationship Id="rId6" Type="http://schemas.openxmlformats.org/officeDocument/2006/relationships/image" Target="../media/image43.wmf"/><Relationship Id="rId5" Type="http://schemas.openxmlformats.org/officeDocument/2006/relationships/oleObject" Target="../embeddings/oleObject34.bin"/><Relationship Id="rId4" Type="http://schemas.openxmlformats.org/officeDocument/2006/relationships/image" Target="../media/image4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13.xml"/><Relationship Id="rId1" Type="http://schemas.openxmlformats.org/officeDocument/2006/relationships/slideLayout" Target="../slideLayouts/slideLayout48.xml"/><Relationship Id="rId6" Type="http://schemas.openxmlformats.org/officeDocument/2006/relationships/image" Target="../media/image46.wmf"/><Relationship Id="rId5" Type="http://schemas.openxmlformats.org/officeDocument/2006/relationships/oleObject" Target="../embeddings/oleObject37.bin"/><Relationship Id="rId4" Type="http://schemas.openxmlformats.org/officeDocument/2006/relationships/image" Target="../media/image45.wmf"/></Relationships>
</file>

<file path=ppt/slides/_rels/slide1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notesSlide" Target="../notesSlides/notesSlide14.xml"/><Relationship Id="rId1" Type="http://schemas.openxmlformats.org/officeDocument/2006/relationships/slideLayout" Target="../slideLayouts/slideLayout48.xml"/><Relationship Id="rId6" Type="http://schemas.openxmlformats.org/officeDocument/2006/relationships/image" Target="../media/image48.wmf"/><Relationship Id="rId5" Type="http://schemas.openxmlformats.org/officeDocument/2006/relationships/oleObject" Target="../embeddings/oleObject39.bin"/><Relationship Id="rId4" Type="http://schemas.openxmlformats.org/officeDocument/2006/relationships/image" Target="../media/image47.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15.xml"/><Relationship Id="rId1" Type="http://schemas.openxmlformats.org/officeDocument/2006/relationships/slideLayout" Target="../slideLayouts/slideLayout48.xml"/><Relationship Id="rId4" Type="http://schemas.openxmlformats.org/officeDocument/2006/relationships/image" Target="../media/image50.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16.xml"/><Relationship Id="rId1" Type="http://schemas.openxmlformats.org/officeDocument/2006/relationships/slideLayout" Target="../slideLayouts/slideLayout48.xml"/><Relationship Id="rId4" Type="http://schemas.openxmlformats.org/officeDocument/2006/relationships/image" Target="../media/image51.wmf"/></Relationships>
</file>

<file path=ppt/slides/_rels/slide21.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notesSlide" Target="../notesSlides/notesSlide17.xml"/><Relationship Id="rId1" Type="http://schemas.openxmlformats.org/officeDocument/2006/relationships/slideLayout" Target="../slideLayouts/slideLayout48.xml"/><Relationship Id="rId6" Type="http://schemas.openxmlformats.org/officeDocument/2006/relationships/image" Target="../media/image53.wmf"/><Relationship Id="rId5" Type="http://schemas.openxmlformats.org/officeDocument/2006/relationships/oleObject" Target="../embeddings/oleObject44.bin"/><Relationship Id="rId4" Type="http://schemas.openxmlformats.org/officeDocument/2006/relationships/image" Target="../media/image52.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18.xml"/><Relationship Id="rId1" Type="http://schemas.openxmlformats.org/officeDocument/2006/relationships/slideLayout" Target="../slideLayouts/slideLayout48.xml"/><Relationship Id="rId6" Type="http://schemas.openxmlformats.org/officeDocument/2006/relationships/image" Target="../media/image55.wmf"/><Relationship Id="rId5" Type="http://schemas.openxmlformats.org/officeDocument/2006/relationships/oleObject" Target="../embeddings/oleObject47.bin"/><Relationship Id="rId4" Type="http://schemas.openxmlformats.org/officeDocument/2006/relationships/image" Target="../media/image52.wmf"/></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48.xml"/><Relationship Id="rId4" Type="http://schemas.openxmlformats.org/officeDocument/2006/relationships/image" Target="../media/image57.wmf"/></Relationships>
</file>

<file path=ppt/slides/_rels/slide24.xml.rels><?xml version="1.0" encoding="UTF-8" standalone="yes"?>
<Relationships xmlns="http://schemas.openxmlformats.org/package/2006/relationships"><Relationship Id="rId3" Type="http://schemas.openxmlformats.org/officeDocument/2006/relationships/hyperlink" Target="https://www.parksystems.cn/images/spmmodes/electrical/Scanning-Spreading-Resistance-Microscopy-(SSRM).pdf?v=1.2" TargetMode="External"/><Relationship Id="rId2" Type="http://schemas.openxmlformats.org/officeDocument/2006/relationships/image" Target="../media/image58.png"/><Relationship Id="rId1" Type="http://schemas.openxmlformats.org/officeDocument/2006/relationships/slideLayout" Target="../slideLayouts/slideLayout48.xml"/><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2" Type="http://schemas.openxmlformats.org/officeDocument/2006/relationships/hyperlink" Target="http://mathworld.wolfram.com/Erf.html" TargetMode="Externa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7948" name="Rectangle 12">
            <a:extLst>
              <a:ext uri="{FF2B5EF4-FFF2-40B4-BE49-F238E27FC236}">
                <a16:creationId xmlns:a16="http://schemas.microsoft.com/office/drawing/2014/main" id="{0D6A7866-5458-D339-6A06-E792A0C22FE1}"/>
              </a:ext>
            </a:extLst>
          </p:cNvPr>
          <p:cNvSpPr>
            <a:spLocks noGrp="1" noChangeArrowheads="1"/>
          </p:cNvSpPr>
          <p:nvPr>
            <p:ph type="ctrTitle"/>
          </p:nvPr>
        </p:nvSpPr>
        <p:spPr/>
        <p:txBody>
          <a:bodyPr/>
          <a:lstStyle/>
          <a:p>
            <a:r>
              <a:rPr lang="en-US" altLang="en-US"/>
              <a:t>Dopant diffusion</a:t>
            </a:r>
          </a:p>
        </p:txBody>
      </p:sp>
      <p:sp>
        <p:nvSpPr>
          <p:cNvPr id="3" name="Subtitle 2">
            <a:extLst>
              <a:ext uri="{FF2B5EF4-FFF2-40B4-BE49-F238E27FC236}">
                <a16:creationId xmlns:a16="http://schemas.microsoft.com/office/drawing/2014/main" id="{1BF6B03D-5021-2A01-00B5-A7F8A7413D30}"/>
              </a:ext>
            </a:extLst>
          </p:cNvPr>
          <p:cNvSpPr>
            <a:spLocks noGrp="1"/>
          </p:cNvSpPr>
          <p:nvPr>
            <p:ph type="subTitle"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AFE1B00-C129-2CAA-47E7-EBEC04D4EF94}"/>
              </a:ext>
            </a:extLst>
          </p:cNvPr>
          <p:cNvSpPr>
            <a:spLocks noGrp="1"/>
          </p:cNvSpPr>
          <p:nvPr>
            <p:ph type="sldNum" sz="quarter" idx="10"/>
          </p:nvPr>
        </p:nvSpPr>
        <p:spPr/>
        <p:txBody>
          <a:bodyPr/>
          <a:lstStyle/>
          <a:p>
            <a:r>
              <a:rPr lang="en-US" altLang="en-US"/>
              <a:t>Page </a:t>
            </a:r>
            <a:fld id="{7423D372-C98D-4957-8482-E21B8243DF88}" type="slidenum">
              <a:rPr lang="en-US" altLang="en-US"/>
              <a:pPr/>
              <a:t>2</a:t>
            </a:fld>
            <a:endParaRPr lang="en-US" altLang="en-US"/>
          </a:p>
        </p:txBody>
      </p:sp>
      <p:sp>
        <p:nvSpPr>
          <p:cNvPr id="319490" name="Rectangle 2">
            <a:extLst>
              <a:ext uri="{FF2B5EF4-FFF2-40B4-BE49-F238E27FC236}">
                <a16:creationId xmlns:a16="http://schemas.microsoft.com/office/drawing/2014/main" id="{9890B6D8-84CE-91F8-3D0B-53C2673FF2BA}"/>
              </a:ext>
            </a:extLst>
          </p:cNvPr>
          <p:cNvSpPr>
            <a:spLocks noGrp="1" noChangeArrowheads="1"/>
          </p:cNvSpPr>
          <p:nvPr>
            <p:ph type="title"/>
          </p:nvPr>
        </p:nvSpPr>
        <p:spPr/>
        <p:txBody>
          <a:bodyPr/>
          <a:lstStyle/>
          <a:p>
            <a:r>
              <a:rPr lang="en-GB" altLang="en-US"/>
              <a:t>Resistivity and surface concentration</a:t>
            </a:r>
            <a:endParaRPr lang="en-US" altLang="en-US"/>
          </a:p>
        </p:txBody>
      </p:sp>
      <p:sp>
        <p:nvSpPr>
          <p:cNvPr id="319492" name="Text Box 4">
            <a:extLst>
              <a:ext uri="{FF2B5EF4-FFF2-40B4-BE49-F238E27FC236}">
                <a16:creationId xmlns:a16="http://schemas.microsoft.com/office/drawing/2014/main" id="{CEF0774F-2202-9320-F452-3D080B83D3AD}"/>
              </a:ext>
            </a:extLst>
          </p:cNvPr>
          <p:cNvSpPr txBox="1">
            <a:spLocks noChangeArrowheads="1"/>
          </p:cNvSpPr>
          <p:nvPr/>
        </p:nvSpPr>
        <p:spPr bwMode="auto">
          <a:xfrm>
            <a:off x="5162551" y="3621088"/>
            <a:ext cx="3959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1600">
                <a:solidFill>
                  <a:srgbClr val="000000"/>
                </a:solidFill>
              </a:rPr>
              <a:t>For a non-uniformly doped layer, </a:t>
            </a:r>
          </a:p>
        </p:txBody>
      </p:sp>
      <p:pic>
        <p:nvPicPr>
          <p:cNvPr id="319493" name="Picture 5">
            <a:extLst>
              <a:ext uri="{FF2B5EF4-FFF2-40B4-BE49-F238E27FC236}">
                <a16:creationId xmlns:a16="http://schemas.microsoft.com/office/drawing/2014/main" id="{FDB2D909-E827-B088-573B-CC290245C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3305176"/>
            <a:ext cx="2838450"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19494" name="Object 6">
            <a:extLst>
              <a:ext uri="{FF2B5EF4-FFF2-40B4-BE49-F238E27FC236}">
                <a16:creationId xmlns:a16="http://schemas.microsoft.com/office/drawing/2014/main" id="{5BC1B3C2-803F-EA83-1396-F2BEB71EBEFA}"/>
              </a:ext>
            </a:extLst>
          </p:cNvPr>
          <p:cNvGraphicFramePr>
            <a:graphicFrameLocks noChangeAspect="1"/>
          </p:cNvGraphicFramePr>
          <p:nvPr/>
        </p:nvGraphicFramePr>
        <p:xfrm>
          <a:off x="5391150" y="4067175"/>
          <a:ext cx="3670300" cy="927100"/>
        </p:xfrm>
        <a:graphic>
          <a:graphicData uri="http://schemas.openxmlformats.org/presentationml/2006/ole">
            <mc:AlternateContent xmlns:mc="http://schemas.openxmlformats.org/markup-compatibility/2006">
              <mc:Choice xmlns:v="urn:schemas-microsoft-com:vml" Requires="v">
                <p:oleObj name="Equation" r:id="rId3" imgW="3670300" imgH="927100" progId="Equation.3">
                  <p:embed/>
                </p:oleObj>
              </mc:Choice>
              <mc:Fallback>
                <p:oleObj name="Equation" r:id="rId3" imgW="3670300" imgH="927100" progId="Equation.3">
                  <p:embed/>
                  <p:pic>
                    <p:nvPicPr>
                      <p:cNvPr id="319494" name="Object 6">
                        <a:extLst>
                          <a:ext uri="{FF2B5EF4-FFF2-40B4-BE49-F238E27FC236}">
                            <a16:creationId xmlns:a16="http://schemas.microsoft.com/office/drawing/2014/main" id="{5BC1B3C2-803F-EA83-1396-F2BEB71EB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150" y="4067175"/>
                        <a:ext cx="36703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496" name="Text Box 8">
            <a:extLst>
              <a:ext uri="{FF2B5EF4-FFF2-40B4-BE49-F238E27FC236}">
                <a16:creationId xmlns:a16="http://schemas.microsoft.com/office/drawing/2014/main" id="{146722E2-A1AC-DBE6-5E4B-0A709B0015C6}"/>
              </a:ext>
            </a:extLst>
          </p:cNvPr>
          <p:cNvSpPr txBox="1">
            <a:spLocks noChangeArrowheads="1"/>
          </p:cNvSpPr>
          <p:nvPr/>
        </p:nvSpPr>
        <p:spPr bwMode="auto">
          <a:xfrm>
            <a:off x="4876801" y="5170488"/>
            <a:ext cx="5597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1600">
                <a:solidFill>
                  <a:srgbClr val="000000"/>
                </a:solidFill>
              </a:rPr>
              <a:t>This eq. has been numerically integrated by Irvin   for simple analytical profiles</a:t>
            </a:r>
          </a:p>
        </p:txBody>
      </p:sp>
      <p:sp>
        <p:nvSpPr>
          <p:cNvPr id="319498" name="Text Box 10">
            <a:extLst>
              <a:ext uri="{FF2B5EF4-FFF2-40B4-BE49-F238E27FC236}">
                <a16:creationId xmlns:a16="http://schemas.microsoft.com/office/drawing/2014/main" id="{C13A446B-B656-CCFC-489A-2FEEF13D03C7}"/>
              </a:ext>
            </a:extLst>
          </p:cNvPr>
          <p:cNvSpPr txBox="1">
            <a:spLocks noChangeArrowheads="1"/>
          </p:cNvSpPr>
          <p:nvPr/>
        </p:nvSpPr>
        <p:spPr bwMode="auto">
          <a:xfrm>
            <a:off x="6400801" y="1287463"/>
            <a:ext cx="4175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1600">
                <a:solidFill>
                  <a:srgbClr val="000000"/>
                </a:solidFill>
              </a:rPr>
              <a:t>The resistivity  is given by</a:t>
            </a:r>
          </a:p>
        </p:txBody>
      </p:sp>
      <p:graphicFrame>
        <p:nvGraphicFramePr>
          <p:cNvPr id="319499" name="Object 11">
            <a:extLst>
              <a:ext uri="{FF2B5EF4-FFF2-40B4-BE49-F238E27FC236}">
                <a16:creationId xmlns:a16="http://schemas.microsoft.com/office/drawing/2014/main" id="{DA0E7DDF-D1DF-1C85-8108-F43B38310440}"/>
              </a:ext>
            </a:extLst>
          </p:cNvPr>
          <p:cNvGraphicFramePr>
            <a:graphicFrameLocks noChangeAspect="1"/>
          </p:cNvGraphicFramePr>
          <p:nvPr/>
        </p:nvGraphicFramePr>
        <p:xfrm>
          <a:off x="6400800" y="1654175"/>
          <a:ext cx="3759200" cy="596900"/>
        </p:xfrm>
        <a:graphic>
          <a:graphicData uri="http://schemas.openxmlformats.org/presentationml/2006/ole">
            <mc:AlternateContent xmlns:mc="http://schemas.openxmlformats.org/markup-compatibility/2006">
              <mc:Choice xmlns:v="urn:schemas-microsoft-com:vml" Requires="v">
                <p:oleObj name="Equation" r:id="rId5" imgW="3759200" imgH="596900" progId="Equation.3">
                  <p:embed/>
                </p:oleObj>
              </mc:Choice>
              <mc:Fallback>
                <p:oleObj name="Equation" r:id="rId5" imgW="3759200" imgH="596900" progId="Equation.3">
                  <p:embed/>
                  <p:pic>
                    <p:nvPicPr>
                      <p:cNvPr id="319499" name="Object 11">
                        <a:extLst>
                          <a:ext uri="{FF2B5EF4-FFF2-40B4-BE49-F238E27FC236}">
                            <a16:creationId xmlns:a16="http://schemas.microsoft.com/office/drawing/2014/main" id="{DA0E7DDF-D1DF-1C85-8108-F43B383104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1654175"/>
                        <a:ext cx="37592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501" name="Text Box 13">
            <a:extLst>
              <a:ext uri="{FF2B5EF4-FFF2-40B4-BE49-F238E27FC236}">
                <a16:creationId xmlns:a16="http://schemas.microsoft.com/office/drawing/2014/main" id="{D2645705-F53F-3F81-8915-BE1E070FFE3F}"/>
              </a:ext>
            </a:extLst>
          </p:cNvPr>
          <p:cNvSpPr txBox="1">
            <a:spLocks noChangeArrowheads="1"/>
          </p:cNvSpPr>
          <p:nvPr/>
        </p:nvSpPr>
        <p:spPr bwMode="auto">
          <a:xfrm>
            <a:off x="6432551" y="2262188"/>
            <a:ext cx="4022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1600">
                <a:solidFill>
                  <a:srgbClr val="000000"/>
                </a:solidFill>
              </a:rPr>
              <a:t> The sheet resistance of a shallow   junction is </a:t>
            </a:r>
          </a:p>
        </p:txBody>
      </p:sp>
      <p:graphicFrame>
        <p:nvGraphicFramePr>
          <p:cNvPr id="319502" name="Object 14">
            <a:extLst>
              <a:ext uri="{FF2B5EF4-FFF2-40B4-BE49-F238E27FC236}">
                <a16:creationId xmlns:a16="http://schemas.microsoft.com/office/drawing/2014/main" id="{45926281-7691-208E-62AF-3CB93F532F9B}"/>
              </a:ext>
            </a:extLst>
          </p:cNvPr>
          <p:cNvGraphicFramePr>
            <a:graphicFrameLocks noChangeAspect="1"/>
          </p:cNvGraphicFramePr>
          <p:nvPr/>
        </p:nvGraphicFramePr>
        <p:xfrm>
          <a:off x="7010400" y="2847975"/>
          <a:ext cx="2222500" cy="635000"/>
        </p:xfrm>
        <a:graphic>
          <a:graphicData uri="http://schemas.openxmlformats.org/presentationml/2006/ole">
            <mc:AlternateContent xmlns:mc="http://schemas.openxmlformats.org/markup-compatibility/2006">
              <mc:Choice xmlns:v="urn:schemas-microsoft-com:vml" Requires="v">
                <p:oleObj name="Equation" r:id="rId7" imgW="2222500" imgH="635000" progId="Equation.3">
                  <p:embed/>
                </p:oleObj>
              </mc:Choice>
              <mc:Fallback>
                <p:oleObj name="Equation" r:id="rId7" imgW="2222500" imgH="635000" progId="Equation.3">
                  <p:embed/>
                  <p:pic>
                    <p:nvPicPr>
                      <p:cNvPr id="319502" name="Object 14">
                        <a:extLst>
                          <a:ext uri="{FF2B5EF4-FFF2-40B4-BE49-F238E27FC236}">
                            <a16:creationId xmlns:a16="http://schemas.microsoft.com/office/drawing/2014/main" id="{45926281-7691-208E-62AF-3CB93F532F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0400" y="2847975"/>
                        <a:ext cx="22225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504" name="Text Box 16">
            <a:extLst>
              <a:ext uri="{FF2B5EF4-FFF2-40B4-BE49-F238E27FC236}">
                <a16:creationId xmlns:a16="http://schemas.microsoft.com/office/drawing/2014/main" id="{E48D0BEC-48B1-C3B9-FD64-4315227A6DED}"/>
              </a:ext>
            </a:extLst>
          </p:cNvPr>
          <p:cNvSpPr txBox="1">
            <a:spLocks noChangeArrowheads="1"/>
          </p:cNvSpPr>
          <p:nvPr/>
        </p:nvSpPr>
        <p:spPr bwMode="auto">
          <a:xfrm>
            <a:off x="1706564" y="5857875"/>
            <a:ext cx="9293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1600">
                <a:solidFill>
                  <a:srgbClr val="000000"/>
                </a:solidFill>
              </a:rPr>
              <a:t>Sheet resistance can be experimentally measured by a four point probe technique.</a:t>
            </a:r>
          </a:p>
          <a:p>
            <a:pPr eaLnBrk="1" hangingPunct="1">
              <a:spcBef>
                <a:spcPct val="35000"/>
              </a:spcBef>
              <a:buFont typeface="Times" panose="02020603050405020304" pitchFamily="18" charset="0"/>
              <a:buChar char="•"/>
            </a:pPr>
            <a:r>
              <a:rPr lang="en-US" altLang="en-US" sz="1600">
                <a:solidFill>
                  <a:srgbClr val="000000"/>
                </a:solidFill>
              </a:rPr>
              <a:t> Doping profiles can be measured by SIMS (chemical) or spreading R (electrical).</a:t>
            </a:r>
          </a:p>
        </p:txBody>
      </p:sp>
      <p:pic>
        <p:nvPicPr>
          <p:cNvPr id="319508" name="Picture 20">
            <a:extLst>
              <a:ext uri="{FF2B5EF4-FFF2-40B4-BE49-F238E27FC236}">
                <a16:creationId xmlns:a16="http://schemas.microsoft.com/office/drawing/2014/main" id="{50F0C3AA-CF22-3518-1F8E-27CB332A96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53552"/>
          <a:stretch>
            <a:fillRect/>
          </a:stretch>
        </p:blipFill>
        <p:spPr bwMode="auto">
          <a:xfrm>
            <a:off x="1908176" y="979488"/>
            <a:ext cx="3006725" cy="244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9509" name="Rectangle 21">
            <a:extLst>
              <a:ext uri="{FF2B5EF4-FFF2-40B4-BE49-F238E27FC236}">
                <a16:creationId xmlns:a16="http://schemas.microsoft.com/office/drawing/2014/main" id="{E69F3E7A-427F-70D2-9C90-FAD1A5B77577}"/>
              </a:ext>
            </a:extLst>
          </p:cNvPr>
          <p:cNvSpPr>
            <a:spLocks noChangeArrowheads="1"/>
          </p:cNvSpPr>
          <p:nvPr/>
        </p:nvSpPr>
        <p:spPr bwMode="auto">
          <a:xfrm>
            <a:off x="1979614" y="1100138"/>
            <a:ext cx="219075" cy="220662"/>
          </a:xfrm>
          <a:prstGeom prst="rect">
            <a:avLst/>
          </a:prstGeom>
          <a:solidFill>
            <a:schemeClr val="bg1"/>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50F6278-FB3D-28B4-D7C5-6D1321DBCDA8}"/>
              </a:ext>
            </a:extLst>
          </p:cNvPr>
          <p:cNvSpPr>
            <a:spLocks noGrp="1"/>
          </p:cNvSpPr>
          <p:nvPr>
            <p:ph type="sldNum" sz="quarter" idx="10"/>
          </p:nvPr>
        </p:nvSpPr>
        <p:spPr/>
        <p:txBody>
          <a:bodyPr/>
          <a:lstStyle/>
          <a:p>
            <a:r>
              <a:rPr lang="en-US" altLang="en-US"/>
              <a:t>Page </a:t>
            </a:r>
            <a:fld id="{0649BFBC-0784-4A03-A7BB-BAE7031BAE33}" type="slidenum">
              <a:rPr lang="en-US" altLang="en-US"/>
              <a:pPr/>
              <a:t>3</a:t>
            </a:fld>
            <a:endParaRPr lang="en-US" altLang="en-US"/>
          </a:p>
        </p:txBody>
      </p:sp>
      <p:sp>
        <p:nvSpPr>
          <p:cNvPr id="337922" name="Rectangle 2">
            <a:extLst>
              <a:ext uri="{FF2B5EF4-FFF2-40B4-BE49-F238E27FC236}">
                <a16:creationId xmlns:a16="http://schemas.microsoft.com/office/drawing/2014/main" id="{7170BA93-EF30-5CA2-43EC-CEFB16EB8F1A}"/>
              </a:ext>
            </a:extLst>
          </p:cNvPr>
          <p:cNvSpPr>
            <a:spLocks noGrp="1" noChangeArrowheads="1"/>
          </p:cNvSpPr>
          <p:nvPr>
            <p:ph type="title"/>
          </p:nvPr>
        </p:nvSpPr>
        <p:spPr/>
        <p:txBody>
          <a:bodyPr/>
          <a:lstStyle/>
          <a:p>
            <a:r>
              <a:rPr lang="en-GB" altLang="en-US"/>
              <a:t>Technology scaling and junction depth</a:t>
            </a:r>
            <a:endParaRPr lang="en-US" altLang="en-US"/>
          </a:p>
        </p:txBody>
      </p:sp>
      <p:sp>
        <p:nvSpPr>
          <p:cNvPr id="337924" name="Text Box 4">
            <a:extLst>
              <a:ext uri="{FF2B5EF4-FFF2-40B4-BE49-F238E27FC236}">
                <a16:creationId xmlns:a16="http://schemas.microsoft.com/office/drawing/2014/main" id="{C77D1807-6584-EE3B-9F9D-808CF3ACE2BA}"/>
              </a:ext>
            </a:extLst>
          </p:cNvPr>
          <p:cNvSpPr txBox="1">
            <a:spLocks noChangeArrowheads="1"/>
          </p:cNvSpPr>
          <p:nvPr/>
        </p:nvSpPr>
        <p:spPr bwMode="auto">
          <a:xfrm>
            <a:off x="1863725" y="3646488"/>
            <a:ext cx="8077200"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Times" panose="02020603050405020304" pitchFamily="18" charset="0"/>
              <a:buChar char="•"/>
            </a:pPr>
            <a:r>
              <a:rPr lang="en-US" altLang="en-US" sz="2000"/>
              <a:t>Doping profiles determine many short-channel characteristics in MOS devices.</a:t>
            </a:r>
          </a:p>
          <a:p>
            <a:pPr>
              <a:spcBef>
                <a:spcPct val="50000"/>
              </a:spcBef>
              <a:buFont typeface="Times" panose="02020603050405020304" pitchFamily="18" charset="0"/>
              <a:buChar char="•"/>
            </a:pPr>
            <a:r>
              <a:rPr lang="en-US" altLang="en-US" sz="2000"/>
              <a:t> Resistance impacts drive current.</a:t>
            </a:r>
          </a:p>
          <a:p>
            <a:pPr>
              <a:spcBef>
                <a:spcPct val="50000"/>
              </a:spcBef>
              <a:buFont typeface="Times" panose="02020603050405020304" pitchFamily="18" charset="0"/>
              <a:buChar char="•"/>
            </a:pPr>
            <a:r>
              <a:rPr lang="en-US" altLang="en-US" sz="2000"/>
              <a:t> Scaling implies all lateral and vertical dimensions scale by the same factor.</a:t>
            </a:r>
          </a:p>
          <a:p>
            <a:pPr>
              <a:spcBef>
                <a:spcPct val="50000"/>
              </a:spcBef>
              <a:buFont typeface="Times" panose="02020603050405020304" pitchFamily="18" charset="0"/>
              <a:buChar char="•"/>
            </a:pPr>
            <a:r>
              <a:rPr lang="en-US" altLang="en-US" sz="2000"/>
              <a:t> Generally doping levels need to increase and x</a:t>
            </a:r>
            <a:r>
              <a:rPr lang="en-US" altLang="en-US" sz="2000" baseline="-25000"/>
              <a:t>J </a:t>
            </a:r>
            <a:r>
              <a:rPr lang="en-US" altLang="en-US" sz="2000"/>
              <a:t>values need to decrease.</a:t>
            </a:r>
          </a:p>
        </p:txBody>
      </p:sp>
      <p:graphicFrame>
        <p:nvGraphicFramePr>
          <p:cNvPr id="337925" name="Object 5">
            <a:extLst>
              <a:ext uri="{FF2B5EF4-FFF2-40B4-BE49-F238E27FC236}">
                <a16:creationId xmlns:a16="http://schemas.microsoft.com/office/drawing/2014/main" id="{0EA842AD-DE10-4EA3-6C38-E1F4FF41A7AA}"/>
              </a:ext>
            </a:extLst>
          </p:cNvPr>
          <p:cNvGraphicFramePr>
            <a:graphicFrameLocks noChangeAspect="1"/>
          </p:cNvGraphicFramePr>
          <p:nvPr/>
        </p:nvGraphicFramePr>
        <p:xfrm>
          <a:off x="3175000" y="904876"/>
          <a:ext cx="4648200" cy="2524125"/>
        </p:xfrm>
        <a:graphic>
          <a:graphicData uri="http://schemas.openxmlformats.org/presentationml/2006/ole">
            <mc:AlternateContent xmlns:mc="http://schemas.openxmlformats.org/markup-compatibility/2006">
              <mc:Choice xmlns:v="urn:schemas-microsoft-com:vml" Requires="v">
                <p:oleObj name="Document" r:id="rId2" imgW="4888992" imgH="2529840" progId="Word.Document.8">
                  <p:embed/>
                </p:oleObj>
              </mc:Choice>
              <mc:Fallback>
                <p:oleObj name="Document" r:id="rId2" imgW="4888992" imgH="2529840" progId="Word.Document.8">
                  <p:embed/>
                  <p:pic>
                    <p:nvPicPr>
                      <p:cNvPr id="337925" name="Object 5">
                        <a:extLst>
                          <a:ext uri="{FF2B5EF4-FFF2-40B4-BE49-F238E27FC236}">
                            <a16:creationId xmlns:a16="http://schemas.microsoft.com/office/drawing/2014/main" id="{0EA842AD-DE10-4EA3-6C38-E1F4FF41A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00" y="904876"/>
                        <a:ext cx="4648200" cy="252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4592787-1BA9-A0F0-256F-E0A34F838CF3}"/>
              </a:ext>
            </a:extLst>
          </p:cNvPr>
          <p:cNvSpPr>
            <a:spLocks noGrp="1"/>
          </p:cNvSpPr>
          <p:nvPr>
            <p:ph type="sldNum" sz="quarter" idx="10"/>
          </p:nvPr>
        </p:nvSpPr>
        <p:spPr/>
        <p:txBody>
          <a:bodyPr/>
          <a:lstStyle/>
          <a:p>
            <a:r>
              <a:rPr lang="en-US" altLang="en-US"/>
              <a:t>Page </a:t>
            </a:r>
            <a:fld id="{4D3FAC8E-0D17-471F-89B6-C2AF662C0886}" type="slidenum">
              <a:rPr lang="en-US" altLang="en-US"/>
              <a:pPr/>
              <a:t>4</a:t>
            </a:fld>
            <a:endParaRPr lang="en-US" altLang="en-US"/>
          </a:p>
        </p:txBody>
      </p:sp>
      <p:sp>
        <p:nvSpPr>
          <p:cNvPr id="246786" name="Rectangle 2">
            <a:extLst>
              <a:ext uri="{FF2B5EF4-FFF2-40B4-BE49-F238E27FC236}">
                <a16:creationId xmlns:a16="http://schemas.microsoft.com/office/drawing/2014/main" id="{BE7E4810-0B75-5D89-F21B-3B3CEA2BF1BE}"/>
              </a:ext>
            </a:extLst>
          </p:cNvPr>
          <p:cNvSpPr>
            <a:spLocks noGrp="1" noChangeArrowheads="1"/>
          </p:cNvSpPr>
          <p:nvPr>
            <p:ph type="title"/>
          </p:nvPr>
        </p:nvSpPr>
        <p:spPr/>
        <p:txBody>
          <a:bodyPr/>
          <a:lstStyle/>
          <a:p>
            <a:r>
              <a:rPr lang="en-GB" altLang="en-US"/>
              <a:t>ITRS predictions for junctions depth</a:t>
            </a:r>
            <a:endParaRPr lang="en-US" altLang="en-US"/>
          </a:p>
        </p:txBody>
      </p:sp>
      <p:pic>
        <p:nvPicPr>
          <p:cNvPr id="246788" name="Picture 4">
            <a:extLst>
              <a:ext uri="{FF2B5EF4-FFF2-40B4-BE49-F238E27FC236}">
                <a16:creationId xmlns:a16="http://schemas.microsoft.com/office/drawing/2014/main" id="{96AC6C63-E0CB-9D81-E292-489FEA37B0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5614" y="1033463"/>
            <a:ext cx="8594725" cy="523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6789" name="Oval 5">
            <a:extLst>
              <a:ext uri="{FF2B5EF4-FFF2-40B4-BE49-F238E27FC236}">
                <a16:creationId xmlns:a16="http://schemas.microsoft.com/office/drawing/2014/main" id="{33DAEC34-F643-DFA5-0A40-429EDB5BBC07}"/>
              </a:ext>
            </a:extLst>
          </p:cNvPr>
          <p:cNvSpPr>
            <a:spLocks noChangeArrowheads="1"/>
          </p:cNvSpPr>
          <p:nvPr/>
        </p:nvSpPr>
        <p:spPr bwMode="auto">
          <a:xfrm>
            <a:off x="1744664" y="4824413"/>
            <a:ext cx="3011487" cy="330200"/>
          </a:xfrm>
          <a:prstGeom prst="ellipse">
            <a:avLst/>
          </a:prstGeom>
          <a:noFill/>
          <a:ln w="12700" algn="ctr">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23F035E-CD1A-2DD3-AA44-D4F3C5126D34}"/>
              </a:ext>
            </a:extLst>
          </p:cNvPr>
          <p:cNvSpPr>
            <a:spLocks noGrp="1"/>
          </p:cNvSpPr>
          <p:nvPr>
            <p:ph type="sldNum" sz="quarter" idx="10"/>
          </p:nvPr>
        </p:nvSpPr>
        <p:spPr/>
        <p:txBody>
          <a:bodyPr/>
          <a:lstStyle/>
          <a:p>
            <a:r>
              <a:rPr lang="en-US" altLang="en-US"/>
              <a:t>Page </a:t>
            </a:r>
            <a:fld id="{F6B291AF-6D82-49D0-BAE1-87FB942E9239}" type="slidenum">
              <a:rPr lang="en-US" altLang="en-US"/>
              <a:pPr/>
              <a:t>5</a:t>
            </a:fld>
            <a:endParaRPr lang="en-US" altLang="en-US"/>
          </a:p>
        </p:txBody>
      </p:sp>
      <p:sp>
        <p:nvSpPr>
          <p:cNvPr id="338946" name="Rectangle 2">
            <a:extLst>
              <a:ext uri="{FF2B5EF4-FFF2-40B4-BE49-F238E27FC236}">
                <a16:creationId xmlns:a16="http://schemas.microsoft.com/office/drawing/2014/main" id="{9DA1BF4D-6480-E20C-FDB3-093D190D27BE}"/>
              </a:ext>
            </a:extLst>
          </p:cNvPr>
          <p:cNvSpPr>
            <a:spLocks noGrp="1" noChangeArrowheads="1"/>
          </p:cNvSpPr>
          <p:nvPr>
            <p:ph type="title"/>
          </p:nvPr>
        </p:nvSpPr>
        <p:spPr/>
        <p:txBody>
          <a:bodyPr/>
          <a:lstStyle/>
          <a:p>
            <a:r>
              <a:rPr lang="en-GB" altLang="en-US"/>
              <a:t>Diffusion</a:t>
            </a:r>
            <a:endParaRPr lang="en-US" altLang="en-US"/>
          </a:p>
        </p:txBody>
      </p:sp>
      <p:graphicFrame>
        <p:nvGraphicFramePr>
          <p:cNvPr id="338948" name="Object 4">
            <a:extLst>
              <a:ext uri="{FF2B5EF4-FFF2-40B4-BE49-F238E27FC236}">
                <a16:creationId xmlns:a16="http://schemas.microsoft.com/office/drawing/2014/main" id="{7D535A65-D8B9-6171-C6CF-DC31E34E6E79}"/>
              </a:ext>
            </a:extLst>
          </p:cNvPr>
          <p:cNvGraphicFramePr>
            <a:graphicFrameLocks noChangeAspect="1"/>
          </p:cNvGraphicFramePr>
          <p:nvPr/>
        </p:nvGraphicFramePr>
        <p:xfrm>
          <a:off x="1524000" y="1404938"/>
          <a:ext cx="4038600" cy="2024062"/>
        </p:xfrm>
        <a:graphic>
          <a:graphicData uri="http://schemas.openxmlformats.org/presentationml/2006/ole">
            <mc:AlternateContent xmlns:mc="http://schemas.openxmlformats.org/markup-compatibility/2006">
              <mc:Choice xmlns:v="urn:schemas-microsoft-com:vml" Requires="v">
                <p:oleObj name="Document" r:id="rId2" imgW="4419600" imgH="2215896" progId="Word.Document.8">
                  <p:embed/>
                </p:oleObj>
              </mc:Choice>
              <mc:Fallback>
                <p:oleObj name="Document" r:id="rId2" imgW="4419600" imgH="2215896" progId="Word.Document.8">
                  <p:embed/>
                  <p:pic>
                    <p:nvPicPr>
                      <p:cNvPr id="338948" name="Object 4">
                        <a:extLst>
                          <a:ext uri="{FF2B5EF4-FFF2-40B4-BE49-F238E27FC236}">
                            <a16:creationId xmlns:a16="http://schemas.microsoft.com/office/drawing/2014/main" id="{7D535A65-D8B9-6171-C6CF-DC31E34E6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04938"/>
                        <a:ext cx="4038600" cy="2024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949" name="Object 5">
            <a:extLst>
              <a:ext uri="{FF2B5EF4-FFF2-40B4-BE49-F238E27FC236}">
                <a16:creationId xmlns:a16="http://schemas.microsoft.com/office/drawing/2014/main" id="{D888F47E-4A88-76FB-1345-56061226E5ED}"/>
              </a:ext>
            </a:extLst>
          </p:cNvPr>
          <p:cNvGraphicFramePr>
            <a:graphicFrameLocks noChangeAspect="1"/>
          </p:cNvGraphicFramePr>
          <p:nvPr/>
        </p:nvGraphicFramePr>
        <p:xfrm>
          <a:off x="1524001" y="3727451"/>
          <a:ext cx="4378325" cy="2576513"/>
        </p:xfrm>
        <a:graphic>
          <a:graphicData uri="http://schemas.openxmlformats.org/presentationml/2006/ole">
            <mc:AlternateContent xmlns:mc="http://schemas.openxmlformats.org/markup-compatibility/2006">
              <mc:Choice xmlns:v="urn:schemas-microsoft-com:vml" Requires="v">
                <p:oleObj name="Document" r:id="rId4" imgW="5635197" imgH="2711418" progId="Word.Document.8">
                  <p:embed/>
                </p:oleObj>
              </mc:Choice>
              <mc:Fallback>
                <p:oleObj name="Document" r:id="rId4" imgW="5635197" imgH="2711418" progId="Word.Document.8">
                  <p:embed/>
                  <p:pic>
                    <p:nvPicPr>
                      <p:cNvPr id="338949" name="Object 5">
                        <a:extLst>
                          <a:ext uri="{FF2B5EF4-FFF2-40B4-BE49-F238E27FC236}">
                            <a16:creationId xmlns:a16="http://schemas.microsoft.com/office/drawing/2014/main" id="{D888F47E-4A88-76FB-1345-56061226E5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1" y="3727451"/>
                        <a:ext cx="4378325" cy="2576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950" name="Text Box 6">
            <a:extLst>
              <a:ext uri="{FF2B5EF4-FFF2-40B4-BE49-F238E27FC236}">
                <a16:creationId xmlns:a16="http://schemas.microsoft.com/office/drawing/2014/main" id="{35ADB858-10FF-C447-6D3E-7993664FA73E}"/>
              </a:ext>
            </a:extLst>
          </p:cNvPr>
          <p:cNvSpPr txBox="1">
            <a:spLocks noChangeArrowheads="1"/>
          </p:cNvSpPr>
          <p:nvPr/>
        </p:nvSpPr>
        <p:spPr bwMode="auto">
          <a:xfrm>
            <a:off x="5859463" y="1397000"/>
            <a:ext cx="488791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Times" panose="02020603050405020304" pitchFamily="18" charset="0"/>
              <a:buChar char="•"/>
            </a:pPr>
            <a:r>
              <a:rPr lang="en-US" altLang="en-US"/>
              <a:t> Diffusion is the redistribution of atoms from regions of high concentration of mobile species to regions of low concentration. It occurs at all temperatures, but the diffusivity has an exponential dependence on T.</a:t>
            </a:r>
          </a:p>
          <a:p>
            <a:pPr>
              <a:spcBef>
                <a:spcPct val="50000"/>
              </a:spcBef>
              <a:buFont typeface="Times" panose="02020603050405020304" pitchFamily="18" charset="0"/>
              <a:buChar char="•"/>
            </a:pPr>
            <a:r>
              <a:rPr lang="en-US" altLang="en-US"/>
              <a:t> Pre-deposition: doping often proceeds by an initial pre-dep step to introduce the required dose of dopant into the substrate.</a:t>
            </a:r>
          </a:p>
          <a:p>
            <a:pPr>
              <a:spcBef>
                <a:spcPct val="50000"/>
              </a:spcBef>
              <a:buFont typeface="Times" panose="02020603050405020304" pitchFamily="18" charset="0"/>
              <a:buChar char="•"/>
            </a:pPr>
            <a:r>
              <a:rPr lang="en-US" altLang="en-US"/>
              <a:t> Drive-In: a subsequent drive-in anneal then redistributes the dopant giving the required xJ and surface concentration.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C29661E-B472-0ABD-40F1-91036D5EFD63}"/>
              </a:ext>
            </a:extLst>
          </p:cNvPr>
          <p:cNvSpPr>
            <a:spLocks noGrp="1"/>
          </p:cNvSpPr>
          <p:nvPr>
            <p:ph type="sldNum" sz="quarter" idx="10"/>
          </p:nvPr>
        </p:nvSpPr>
        <p:spPr/>
        <p:txBody>
          <a:bodyPr/>
          <a:lstStyle/>
          <a:p>
            <a:r>
              <a:rPr lang="en-US" altLang="en-US"/>
              <a:t>Page </a:t>
            </a:r>
            <a:fld id="{75420843-BF31-4059-98BF-A0BC85542F29}" type="slidenum">
              <a:rPr lang="en-US" altLang="en-US"/>
              <a:pPr/>
              <a:t>6</a:t>
            </a:fld>
            <a:endParaRPr lang="en-US" altLang="en-US"/>
          </a:p>
        </p:txBody>
      </p:sp>
      <p:sp>
        <p:nvSpPr>
          <p:cNvPr id="320514" name="Rectangle 2">
            <a:extLst>
              <a:ext uri="{FF2B5EF4-FFF2-40B4-BE49-F238E27FC236}">
                <a16:creationId xmlns:a16="http://schemas.microsoft.com/office/drawing/2014/main" id="{B72E2C44-A1F3-67AA-0ED8-03F366FA5915}"/>
              </a:ext>
            </a:extLst>
          </p:cNvPr>
          <p:cNvSpPr>
            <a:spLocks noGrp="1" noChangeArrowheads="1"/>
          </p:cNvSpPr>
          <p:nvPr>
            <p:ph type="title"/>
          </p:nvPr>
        </p:nvSpPr>
        <p:spPr/>
        <p:txBody>
          <a:bodyPr/>
          <a:lstStyle/>
          <a:p>
            <a:r>
              <a:rPr lang="en-GB" altLang="en-US"/>
              <a:t>Solid solubility</a:t>
            </a:r>
            <a:endParaRPr lang="en-US" altLang="en-US"/>
          </a:p>
        </p:txBody>
      </p:sp>
      <p:graphicFrame>
        <p:nvGraphicFramePr>
          <p:cNvPr id="320516" name="Object 4">
            <a:extLst>
              <a:ext uri="{FF2B5EF4-FFF2-40B4-BE49-F238E27FC236}">
                <a16:creationId xmlns:a16="http://schemas.microsoft.com/office/drawing/2014/main" id="{75E2855F-FAC4-5326-C7A0-A9E52F7492BC}"/>
              </a:ext>
            </a:extLst>
          </p:cNvPr>
          <p:cNvGraphicFramePr>
            <a:graphicFrameLocks noChangeAspect="1"/>
          </p:cNvGraphicFramePr>
          <p:nvPr/>
        </p:nvGraphicFramePr>
        <p:xfrm>
          <a:off x="1784351" y="1219200"/>
          <a:ext cx="3781425" cy="2871788"/>
        </p:xfrm>
        <a:graphic>
          <a:graphicData uri="http://schemas.openxmlformats.org/presentationml/2006/ole">
            <mc:AlternateContent xmlns:mc="http://schemas.openxmlformats.org/markup-compatibility/2006">
              <mc:Choice xmlns:v="urn:schemas-microsoft-com:vml" Requires="v">
                <p:oleObj name="Document" r:id="rId2" imgW="4483608" imgH="3404616" progId="Word.Document.8">
                  <p:embed/>
                </p:oleObj>
              </mc:Choice>
              <mc:Fallback>
                <p:oleObj name="Document" r:id="rId2" imgW="4483608" imgH="3404616" progId="Word.Document.8">
                  <p:embed/>
                  <p:pic>
                    <p:nvPicPr>
                      <p:cNvPr id="320516" name="Object 4">
                        <a:extLst>
                          <a:ext uri="{FF2B5EF4-FFF2-40B4-BE49-F238E27FC236}">
                            <a16:creationId xmlns:a16="http://schemas.microsoft.com/office/drawing/2014/main" id="{75E2855F-FAC4-5326-C7A0-A9E52F749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4351" y="1219200"/>
                        <a:ext cx="3781425" cy="287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517" name="Object 5">
            <a:extLst>
              <a:ext uri="{FF2B5EF4-FFF2-40B4-BE49-F238E27FC236}">
                <a16:creationId xmlns:a16="http://schemas.microsoft.com/office/drawing/2014/main" id="{F927FA48-5CEB-09CE-9568-29ACB4441885}"/>
              </a:ext>
            </a:extLst>
          </p:cNvPr>
          <p:cNvGraphicFramePr>
            <a:graphicFrameLocks noChangeAspect="1"/>
          </p:cNvGraphicFramePr>
          <p:nvPr/>
        </p:nvGraphicFramePr>
        <p:xfrm>
          <a:off x="1722438" y="4572001"/>
          <a:ext cx="4191000" cy="1908175"/>
        </p:xfrm>
        <a:graphic>
          <a:graphicData uri="http://schemas.openxmlformats.org/presentationml/2006/ole">
            <mc:AlternateContent xmlns:mc="http://schemas.openxmlformats.org/markup-compatibility/2006">
              <mc:Choice xmlns:v="urn:schemas-microsoft-com:vml" Requires="v">
                <p:oleObj name="Document" r:id="rId4" imgW="4852416" imgH="2209800" progId="Word.Document.8">
                  <p:embed/>
                </p:oleObj>
              </mc:Choice>
              <mc:Fallback>
                <p:oleObj name="Document" r:id="rId4" imgW="4852416" imgH="2209800" progId="Word.Document.8">
                  <p:embed/>
                  <p:pic>
                    <p:nvPicPr>
                      <p:cNvPr id="320517" name="Object 5">
                        <a:extLst>
                          <a:ext uri="{FF2B5EF4-FFF2-40B4-BE49-F238E27FC236}">
                            <a16:creationId xmlns:a16="http://schemas.microsoft.com/office/drawing/2014/main" id="{F927FA48-5CEB-09CE-9568-29ACB44418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2438" y="4572001"/>
                        <a:ext cx="4191000" cy="190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18" name="Text Box 6">
            <a:extLst>
              <a:ext uri="{FF2B5EF4-FFF2-40B4-BE49-F238E27FC236}">
                <a16:creationId xmlns:a16="http://schemas.microsoft.com/office/drawing/2014/main" id="{4A896423-AA4F-B014-BF4E-D8EE7DE4812D}"/>
              </a:ext>
            </a:extLst>
          </p:cNvPr>
          <p:cNvSpPr txBox="1">
            <a:spLocks noChangeArrowheads="1"/>
          </p:cNvSpPr>
          <p:nvPr/>
        </p:nvSpPr>
        <p:spPr bwMode="auto">
          <a:xfrm>
            <a:off x="5902326" y="1524001"/>
            <a:ext cx="46783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US" altLang="en-US" sz="2000">
                <a:solidFill>
                  <a:srgbClr val="000000"/>
                </a:solidFill>
              </a:rPr>
              <a:t>Dopants are soluble in bulk silicon up to a maximum value before they precipitate into another phase.</a:t>
            </a:r>
          </a:p>
        </p:txBody>
      </p:sp>
      <p:sp>
        <p:nvSpPr>
          <p:cNvPr id="320519" name="Text Box 7">
            <a:extLst>
              <a:ext uri="{FF2B5EF4-FFF2-40B4-BE49-F238E27FC236}">
                <a16:creationId xmlns:a16="http://schemas.microsoft.com/office/drawing/2014/main" id="{65A60ACF-5319-D849-3D39-5480868E6F8A}"/>
              </a:ext>
            </a:extLst>
          </p:cNvPr>
          <p:cNvSpPr txBox="1">
            <a:spLocks noChangeArrowheads="1"/>
          </p:cNvSpPr>
          <p:nvPr/>
        </p:nvSpPr>
        <p:spPr bwMode="auto">
          <a:xfrm>
            <a:off x="6354763" y="4357689"/>
            <a:ext cx="4024312"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US" altLang="en-US" sz="2000">
                <a:solidFill>
                  <a:srgbClr val="000000"/>
                </a:solidFill>
              </a:rPr>
              <a:t> Dopants may have an “electrical” solubility that is different than the solid solubility defined above.</a:t>
            </a:r>
          </a:p>
          <a:p>
            <a:pPr eaLnBrk="1" hangingPunct="1">
              <a:spcBef>
                <a:spcPct val="50000"/>
              </a:spcBef>
              <a:buFont typeface="Times" panose="02020603050405020304" pitchFamily="18" charset="0"/>
              <a:buChar char="•"/>
            </a:pPr>
            <a:r>
              <a:rPr lang="en-US" altLang="en-US" sz="2000">
                <a:solidFill>
                  <a:srgbClr val="000000"/>
                </a:solidFill>
              </a:rPr>
              <a:t> One example - As4V -electrically   inactive complex.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B5DC38E-C7C0-5604-AC85-BE7BECAD20E9}"/>
              </a:ext>
            </a:extLst>
          </p:cNvPr>
          <p:cNvSpPr>
            <a:spLocks noGrp="1"/>
          </p:cNvSpPr>
          <p:nvPr>
            <p:ph type="sldNum" sz="quarter" idx="10"/>
          </p:nvPr>
        </p:nvSpPr>
        <p:spPr/>
        <p:txBody>
          <a:bodyPr/>
          <a:lstStyle/>
          <a:p>
            <a:r>
              <a:rPr lang="en-US" altLang="en-US"/>
              <a:t>Page </a:t>
            </a:r>
            <a:fld id="{C13A4971-C996-454E-BCA2-B56DDA9DD878}" type="slidenum">
              <a:rPr lang="en-US" altLang="en-US"/>
              <a:pPr/>
              <a:t>7</a:t>
            </a:fld>
            <a:endParaRPr lang="en-US" altLang="en-US"/>
          </a:p>
        </p:txBody>
      </p:sp>
      <p:sp>
        <p:nvSpPr>
          <p:cNvPr id="248834" name="Rectangle 2">
            <a:extLst>
              <a:ext uri="{FF2B5EF4-FFF2-40B4-BE49-F238E27FC236}">
                <a16:creationId xmlns:a16="http://schemas.microsoft.com/office/drawing/2014/main" id="{2AAE10FA-D77C-9E60-4C4B-E4C432B0887D}"/>
              </a:ext>
            </a:extLst>
          </p:cNvPr>
          <p:cNvSpPr>
            <a:spLocks noGrp="1" noChangeArrowheads="1"/>
          </p:cNvSpPr>
          <p:nvPr>
            <p:ph type="title"/>
          </p:nvPr>
        </p:nvSpPr>
        <p:spPr/>
        <p:txBody>
          <a:bodyPr/>
          <a:lstStyle/>
          <a:p>
            <a:r>
              <a:rPr lang="en-GB" altLang="en-US"/>
              <a:t>Fick’s laws</a:t>
            </a:r>
            <a:endParaRPr lang="en-US" altLang="en-US"/>
          </a:p>
        </p:txBody>
      </p:sp>
      <p:graphicFrame>
        <p:nvGraphicFramePr>
          <p:cNvPr id="248836" name="Object 4">
            <a:extLst>
              <a:ext uri="{FF2B5EF4-FFF2-40B4-BE49-F238E27FC236}">
                <a16:creationId xmlns:a16="http://schemas.microsoft.com/office/drawing/2014/main" id="{6D3EBA84-534B-E3EB-19FA-8AA3A2CAB46B}"/>
              </a:ext>
            </a:extLst>
          </p:cNvPr>
          <p:cNvGraphicFramePr>
            <a:graphicFrameLocks noChangeAspect="1"/>
          </p:cNvGraphicFramePr>
          <p:nvPr/>
        </p:nvGraphicFramePr>
        <p:xfrm>
          <a:off x="2054225" y="1412875"/>
          <a:ext cx="3251200" cy="1612900"/>
        </p:xfrm>
        <a:graphic>
          <a:graphicData uri="http://schemas.openxmlformats.org/presentationml/2006/ole">
            <mc:AlternateContent xmlns:mc="http://schemas.openxmlformats.org/markup-compatibility/2006">
              <mc:Choice xmlns:v="urn:schemas-microsoft-com:vml" Requires="v">
                <p:oleObj name="Equation" r:id="rId3" imgW="1384200" imgH="838080" progId="Equation.3">
                  <p:embed/>
                </p:oleObj>
              </mc:Choice>
              <mc:Fallback>
                <p:oleObj name="Equation" r:id="rId3" imgW="1384200" imgH="838080" progId="Equation.3">
                  <p:embed/>
                  <p:pic>
                    <p:nvPicPr>
                      <p:cNvPr id="248836" name="Object 4">
                        <a:extLst>
                          <a:ext uri="{FF2B5EF4-FFF2-40B4-BE49-F238E27FC236}">
                            <a16:creationId xmlns:a16="http://schemas.microsoft.com/office/drawing/2014/main" id="{6D3EBA84-534B-E3EB-19FA-8AA3A2CAB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4225" y="1412875"/>
                        <a:ext cx="3251200" cy="161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38" name="Rectangle 6">
            <a:extLst>
              <a:ext uri="{FF2B5EF4-FFF2-40B4-BE49-F238E27FC236}">
                <a16:creationId xmlns:a16="http://schemas.microsoft.com/office/drawing/2014/main" id="{85C50F35-EE33-A1BB-1BED-BA8F4087D6BF}"/>
              </a:ext>
            </a:extLst>
          </p:cNvPr>
          <p:cNvSpPr>
            <a:spLocks noChangeArrowheads="1"/>
          </p:cNvSpPr>
          <p:nvPr/>
        </p:nvSpPr>
        <p:spPr bwMode="auto">
          <a:xfrm>
            <a:off x="7988301" y="4257675"/>
            <a:ext cx="754063" cy="1524000"/>
          </a:xfrm>
          <a:prstGeom prst="rect">
            <a:avLst/>
          </a:prstGeom>
          <a:solidFill>
            <a:srgbClr val="FF7F00"/>
          </a:solidFill>
          <a:ln w="12700" algn="ctr">
            <a:miter lim="800000"/>
            <a:headEnd/>
            <a:tailEnd/>
          </a:ln>
          <a:effectLst/>
          <a:scene3d>
            <a:camera prst="legacyObliqueTopRight"/>
            <a:lightRig rig="legacyFlat3" dir="b"/>
          </a:scene3d>
          <a:sp3d extrusionH="1801800" prstMaterial="legacyMatte">
            <a:bevelT w="13500" h="13500" prst="angle"/>
            <a:bevelB w="13500" h="13500" prst="angle"/>
            <a:extrusionClr>
              <a:srgbClr val="FF7F00"/>
            </a:extrusionClr>
            <a:contourClr>
              <a:srgbClr val="FF7F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248839" name="Line 7">
            <a:extLst>
              <a:ext uri="{FF2B5EF4-FFF2-40B4-BE49-F238E27FC236}">
                <a16:creationId xmlns:a16="http://schemas.microsoft.com/office/drawing/2014/main" id="{286921FA-5DF4-6623-2F44-94DD0F6DDBEE}"/>
              </a:ext>
            </a:extLst>
          </p:cNvPr>
          <p:cNvSpPr>
            <a:spLocks noChangeShapeType="1"/>
          </p:cNvSpPr>
          <p:nvPr/>
        </p:nvSpPr>
        <p:spPr bwMode="auto">
          <a:xfrm>
            <a:off x="6945314" y="4927600"/>
            <a:ext cx="942975" cy="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48840" name="Line 8">
            <a:extLst>
              <a:ext uri="{FF2B5EF4-FFF2-40B4-BE49-F238E27FC236}">
                <a16:creationId xmlns:a16="http://schemas.microsoft.com/office/drawing/2014/main" id="{90B03A3B-C8FD-1711-E7A1-74B371071A6E}"/>
              </a:ext>
            </a:extLst>
          </p:cNvPr>
          <p:cNvSpPr>
            <a:spLocks noChangeShapeType="1"/>
          </p:cNvSpPr>
          <p:nvPr/>
        </p:nvSpPr>
        <p:spPr bwMode="auto">
          <a:xfrm>
            <a:off x="9028114" y="4905375"/>
            <a:ext cx="942975" cy="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48841" name="Text Box 9">
            <a:extLst>
              <a:ext uri="{FF2B5EF4-FFF2-40B4-BE49-F238E27FC236}">
                <a16:creationId xmlns:a16="http://schemas.microsoft.com/office/drawing/2014/main" id="{9C69A281-F090-09DA-3B93-B9BD6930A947}"/>
              </a:ext>
            </a:extLst>
          </p:cNvPr>
          <p:cNvSpPr txBox="1">
            <a:spLocks noChangeArrowheads="1"/>
          </p:cNvSpPr>
          <p:nvPr/>
        </p:nvSpPr>
        <p:spPr bwMode="auto">
          <a:xfrm>
            <a:off x="8105776" y="5826125"/>
            <a:ext cx="7985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latin typeface="Symbol" panose="05050102010706020507" pitchFamily="18" charset="2"/>
              </a:rPr>
              <a:t>D</a:t>
            </a:r>
            <a:r>
              <a:rPr lang="en-GB" altLang="en-US" sz="2000">
                <a:solidFill>
                  <a:srgbClr val="000000"/>
                </a:solidFill>
              </a:rPr>
              <a:t>x</a:t>
            </a:r>
            <a:endParaRPr lang="en-US" altLang="en-US" sz="2000">
              <a:solidFill>
                <a:srgbClr val="000000"/>
              </a:solidFill>
              <a:latin typeface="Symbol" panose="05050102010706020507" pitchFamily="18" charset="2"/>
            </a:endParaRPr>
          </a:p>
        </p:txBody>
      </p:sp>
      <p:sp>
        <p:nvSpPr>
          <p:cNvPr id="248842" name="Text Box 10">
            <a:extLst>
              <a:ext uri="{FF2B5EF4-FFF2-40B4-BE49-F238E27FC236}">
                <a16:creationId xmlns:a16="http://schemas.microsoft.com/office/drawing/2014/main" id="{F67C51C2-5A5B-198E-AC81-88CCB426A027}"/>
              </a:ext>
            </a:extLst>
          </p:cNvPr>
          <p:cNvSpPr txBox="1">
            <a:spLocks noChangeArrowheads="1"/>
          </p:cNvSpPr>
          <p:nvPr/>
        </p:nvSpPr>
        <p:spPr bwMode="auto">
          <a:xfrm>
            <a:off x="7162800" y="4435475"/>
            <a:ext cx="520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F</a:t>
            </a:r>
            <a:r>
              <a:rPr lang="en-GB" altLang="en-US" sz="2000" baseline="-25000">
                <a:solidFill>
                  <a:srgbClr val="000000"/>
                </a:solidFill>
              </a:rPr>
              <a:t>in</a:t>
            </a:r>
            <a:endParaRPr lang="en-US" altLang="en-US" sz="2000">
              <a:solidFill>
                <a:srgbClr val="000000"/>
              </a:solidFill>
            </a:endParaRPr>
          </a:p>
        </p:txBody>
      </p:sp>
      <p:sp>
        <p:nvSpPr>
          <p:cNvPr id="248843" name="Text Box 11">
            <a:extLst>
              <a:ext uri="{FF2B5EF4-FFF2-40B4-BE49-F238E27FC236}">
                <a16:creationId xmlns:a16="http://schemas.microsoft.com/office/drawing/2014/main" id="{D9A48665-D459-713E-BA3B-B2667D4B0961}"/>
              </a:ext>
            </a:extLst>
          </p:cNvPr>
          <p:cNvSpPr txBox="1">
            <a:spLocks noChangeArrowheads="1"/>
          </p:cNvSpPr>
          <p:nvPr/>
        </p:nvSpPr>
        <p:spPr bwMode="auto">
          <a:xfrm>
            <a:off x="9331326" y="4414838"/>
            <a:ext cx="6064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F</a:t>
            </a:r>
            <a:r>
              <a:rPr lang="en-GB" altLang="en-US" sz="2000" baseline="-25000">
                <a:solidFill>
                  <a:srgbClr val="000000"/>
                </a:solidFill>
              </a:rPr>
              <a:t>out</a:t>
            </a:r>
            <a:endParaRPr lang="en-US" altLang="en-US" sz="2000">
              <a:solidFill>
                <a:srgbClr val="000000"/>
              </a:solidFill>
            </a:endParaRPr>
          </a:p>
        </p:txBody>
      </p:sp>
      <p:sp>
        <p:nvSpPr>
          <p:cNvPr id="248844" name="Text Box 12">
            <a:extLst>
              <a:ext uri="{FF2B5EF4-FFF2-40B4-BE49-F238E27FC236}">
                <a16:creationId xmlns:a16="http://schemas.microsoft.com/office/drawing/2014/main" id="{AF571AB4-418F-ECAE-EA4A-2044A79E97D3}"/>
              </a:ext>
            </a:extLst>
          </p:cNvPr>
          <p:cNvSpPr txBox="1">
            <a:spLocks noChangeArrowheads="1"/>
          </p:cNvSpPr>
          <p:nvPr/>
        </p:nvSpPr>
        <p:spPr bwMode="auto">
          <a:xfrm>
            <a:off x="1814513" y="3671889"/>
            <a:ext cx="58483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Where F is dopant flux</a:t>
            </a:r>
          </a:p>
          <a:p>
            <a:pPr eaLnBrk="1" hangingPunct="1">
              <a:spcBef>
                <a:spcPct val="50000"/>
              </a:spcBef>
              <a:buFont typeface="Times" panose="02020603050405020304" pitchFamily="18" charset="0"/>
              <a:buChar char="•"/>
            </a:pPr>
            <a:r>
              <a:rPr lang="en-GB" altLang="en-US" sz="2000">
                <a:solidFill>
                  <a:srgbClr val="000000"/>
                </a:solidFill>
              </a:rPr>
              <a:t>C is dopant concentration</a:t>
            </a:r>
          </a:p>
          <a:p>
            <a:pPr eaLnBrk="1" hangingPunct="1">
              <a:spcBef>
                <a:spcPct val="50000"/>
              </a:spcBef>
              <a:buFont typeface="Times" panose="02020603050405020304" pitchFamily="18" charset="0"/>
              <a:buChar char="•"/>
            </a:pPr>
            <a:r>
              <a:rPr lang="en-GB" altLang="en-US" sz="2000">
                <a:solidFill>
                  <a:srgbClr val="000000"/>
                </a:solidFill>
              </a:rPr>
              <a:t>D is diffusivity</a:t>
            </a:r>
            <a:endParaRPr lang="en-US" altLang="en-US" sz="2000">
              <a:solidFill>
                <a:srgbClr val="000000"/>
              </a:solidFill>
            </a:endParaRPr>
          </a:p>
        </p:txBody>
      </p:sp>
      <p:graphicFrame>
        <p:nvGraphicFramePr>
          <p:cNvPr id="248847" name="Object 15">
            <a:extLst>
              <a:ext uri="{FF2B5EF4-FFF2-40B4-BE49-F238E27FC236}">
                <a16:creationId xmlns:a16="http://schemas.microsoft.com/office/drawing/2014/main" id="{DBF5E74F-D3C5-7F05-7B15-5D48B5C78EB4}"/>
              </a:ext>
            </a:extLst>
          </p:cNvPr>
          <p:cNvGraphicFramePr>
            <a:graphicFrameLocks noChangeAspect="1"/>
          </p:cNvGraphicFramePr>
          <p:nvPr/>
        </p:nvGraphicFramePr>
        <p:xfrm>
          <a:off x="1990725" y="5099051"/>
          <a:ext cx="1651000" cy="1147763"/>
        </p:xfrm>
        <a:graphic>
          <a:graphicData uri="http://schemas.openxmlformats.org/presentationml/2006/ole">
            <mc:AlternateContent xmlns:mc="http://schemas.openxmlformats.org/markup-compatibility/2006">
              <mc:Choice xmlns:v="urn:schemas-microsoft-com:vml" Requires="v">
                <p:oleObj name="Equation" r:id="rId5" imgW="1041120" imgH="723600" progId="Equation.3">
                  <p:embed/>
                </p:oleObj>
              </mc:Choice>
              <mc:Fallback>
                <p:oleObj name="Equation" r:id="rId5" imgW="1041120" imgH="723600" progId="Equation.3">
                  <p:embed/>
                  <p:pic>
                    <p:nvPicPr>
                      <p:cNvPr id="248847" name="Object 15">
                        <a:extLst>
                          <a:ext uri="{FF2B5EF4-FFF2-40B4-BE49-F238E27FC236}">
                            <a16:creationId xmlns:a16="http://schemas.microsoft.com/office/drawing/2014/main" id="{DBF5E74F-D3C5-7F05-7B15-5D48B5C78E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0725" y="5099051"/>
                        <a:ext cx="1651000"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48" name="Object 16">
            <a:extLst>
              <a:ext uri="{FF2B5EF4-FFF2-40B4-BE49-F238E27FC236}">
                <a16:creationId xmlns:a16="http://schemas.microsoft.com/office/drawing/2014/main" id="{36448256-93F4-3215-B24D-C5A251F99FD4}"/>
              </a:ext>
            </a:extLst>
          </p:cNvPr>
          <p:cNvGraphicFramePr>
            <a:graphicFrameLocks noChangeAspect="1"/>
          </p:cNvGraphicFramePr>
          <p:nvPr/>
        </p:nvGraphicFramePr>
        <p:xfrm>
          <a:off x="7145338" y="1301751"/>
          <a:ext cx="3257550" cy="2339975"/>
        </p:xfrm>
        <a:graphic>
          <a:graphicData uri="http://schemas.openxmlformats.org/presentationml/2006/ole">
            <mc:AlternateContent xmlns:mc="http://schemas.openxmlformats.org/markup-compatibility/2006">
              <mc:Choice xmlns:v="urn:schemas-microsoft-com:vml" Requires="v">
                <p:oleObj name="Document" r:id="rId7" imgW="3834384" imgH="2755392" progId="Word.Document.8">
                  <p:embed/>
                </p:oleObj>
              </mc:Choice>
              <mc:Fallback>
                <p:oleObj name="Document" r:id="rId7" imgW="3834384" imgH="2755392" progId="Word.Document.8">
                  <p:embed/>
                  <p:pic>
                    <p:nvPicPr>
                      <p:cNvPr id="248848" name="Object 16">
                        <a:extLst>
                          <a:ext uri="{FF2B5EF4-FFF2-40B4-BE49-F238E27FC236}">
                            <a16:creationId xmlns:a16="http://schemas.microsoft.com/office/drawing/2014/main" id="{36448256-93F4-3215-B24D-C5A251F99F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5338" y="1301751"/>
                        <a:ext cx="3257550" cy="233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FC25B59A-7E58-31CD-D72E-141E8D22E2E8}"/>
              </a:ext>
            </a:extLst>
          </p:cNvPr>
          <p:cNvSpPr>
            <a:spLocks noGrp="1"/>
          </p:cNvSpPr>
          <p:nvPr>
            <p:ph type="sldNum" sz="quarter" idx="10"/>
          </p:nvPr>
        </p:nvSpPr>
        <p:spPr/>
        <p:txBody>
          <a:bodyPr/>
          <a:lstStyle/>
          <a:p>
            <a:r>
              <a:rPr lang="en-US" altLang="en-US"/>
              <a:t>Page </a:t>
            </a:r>
            <a:fld id="{996BB73A-760C-4F60-B401-341E9B5136F4}" type="slidenum">
              <a:rPr lang="en-US" altLang="en-US"/>
              <a:pPr/>
              <a:t>8</a:t>
            </a:fld>
            <a:endParaRPr lang="en-US" altLang="en-US"/>
          </a:p>
        </p:txBody>
      </p:sp>
      <p:sp>
        <p:nvSpPr>
          <p:cNvPr id="250882" name="Rectangle 2">
            <a:extLst>
              <a:ext uri="{FF2B5EF4-FFF2-40B4-BE49-F238E27FC236}">
                <a16:creationId xmlns:a16="http://schemas.microsoft.com/office/drawing/2014/main" id="{6A5E35BF-B21D-F145-4EB0-008747B8D576}"/>
              </a:ext>
            </a:extLst>
          </p:cNvPr>
          <p:cNvSpPr>
            <a:spLocks noGrp="1" noChangeArrowheads="1"/>
          </p:cNvSpPr>
          <p:nvPr>
            <p:ph type="title"/>
          </p:nvPr>
        </p:nvSpPr>
        <p:spPr/>
        <p:txBody>
          <a:bodyPr/>
          <a:lstStyle/>
          <a:p>
            <a:r>
              <a:rPr lang="en-GB" altLang="en-US"/>
              <a:t>Analytic solutions of diffusion equation</a:t>
            </a:r>
            <a:br>
              <a:rPr lang="en-GB" altLang="en-US"/>
            </a:br>
            <a:r>
              <a:rPr lang="en-GB" altLang="en-US"/>
              <a:t>Steady state</a:t>
            </a:r>
            <a:endParaRPr lang="en-US" altLang="en-US"/>
          </a:p>
        </p:txBody>
      </p:sp>
      <p:sp>
        <p:nvSpPr>
          <p:cNvPr id="250883" name="Rectangle 3">
            <a:extLst>
              <a:ext uri="{FF2B5EF4-FFF2-40B4-BE49-F238E27FC236}">
                <a16:creationId xmlns:a16="http://schemas.microsoft.com/office/drawing/2014/main" id="{43C45FE8-8503-AF7F-C931-D909669B6C32}"/>
              </a:ext>
            </a:extLst>
          </p:cNvPr>
          <p:cNvSpPr>
            <a:spLocks noGrp="1" noChangeArrowheads="1"/>
          </p:cNvSpPr>
          <p:nvPr>
            <p:ph type="body" idx="1"/>
          </p:nvPr>
        </p:nvSpPr>
        <p:spPr/>
        <p:txBody>
          <a:bodyPr/>
          <a:lstStyle/>
          <a:p>
            <a:r>
              <a:rPr lang="en-GB" altLang="en-US"/>
              <a:t>Assuming D is a constant (e.g. at fixed T) we can write</a:t>
            </a:r>
            <a:endParaRPr lang="en-US" altLang="en-US"/>
          </a:p>
        </p:txBody>
      </p:sp>
      <p:graphicFrame>
        <p:nvGraphicFramePr>
          <p:cNvPr id="250884" name="Object 4">
            <a:extLst>
              <a:ext uri="{FF2B5EF4-FFF2-40B4-BE49-F238E27FC236}">
                <a16:creationId xmlns:a16="http://schemas.microsoft.com/office/drawing/2014/main" id="{1B956ACA-E7C9-443C-A2EA-E9F28E316C62}"/>
              </a:ext>
            </a:extLst>
          </p:cNvPr>
          <p:cNvGraphicFramePr>
            <a:graphicFrameLocks noChangeAspect="1"/>
          </p:cNvGraphicFramePr>
          <p:nvPr/>
        </p:nvGraphicFramePr>
        <p:xfrm>
          <a:off x="3325814" y="2217738"/>
          <a:ext cx="1811337" cy="906462"/>
        </p:xfrm>
        <a:graphic>
          <a:graphicData uri="http://schemas.openxmlformats.org/presentationml/2006/ole">
            <mc:AlternateContent xmlns:mc="http://schemas.openxmlformats.org/markup-compatibility/2006">
              <mc:Choice xmlns:v="urn:schemas-microsoft-com:vml" Requires="v">
                <p:oleObj name="Equation" r:id="rId3" imgW="838080" imgH="419040" progId="Equation.3">
                  <p:embed/>
                </p:oleObj>
              </mc:Choice>
              <mc:Fallback>
                <p:oleObj name="Equation" r:id="rId3" imgW="838080" imgH="419040" progId="Equation.3">
                  <p:embed/>
                  <p:pic>
                    <p:nvPicPr>
                      <p:cNvPr id="250884" name="Object 4">
                        <a:extLst>
                          <a:ext uri="{FF2B5EF4-FFF2-40B4-BE49-F238E27FC236}">
                            <a16:creationId xmlns:a16="http://schemas.microsoft.com/office/drawing/2014/main" id="{1B956ACA-E7C9-443C-A2EA-E9F28E316C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814" y="2217738"/>
                        <a:ext cx="1811337"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6" name="Text Box 6">
            <a:extLst>
              <a:ext uri="{FF2B5EF4-FFF2-40B4-BE49-F238E27FC236}">
                <a16:creationId xmlns:a16="http://schemas.microsoft.com/office/drawing/2014/main" id="{B25F85E2-1F5F-6B8C-44BA-5E2225A3637E}"/>
              </a:ext>
            </a:extLst>
          </p:cNvPr>
          <p:cNvSpPr txBox="1">
            <a:spLocks noChangeArrowheads="1"/>
          </p:cNvSpPr>
          <p:nvPr/>
        </p:nvSpPr>
        <p:spPr bwMode="auto">
          <a:xfrm>
            <a:off x="2249488" y="3686175"/>
            <a:ext cx="42672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Steady state solution:</a:t>
            </a:r>
          </a:p>
          <a:p>
            <a:pPr eaLnBrk="1" hangingPunct="1">
              <a:spcBef>
                <a:spcPct val="50000"/>
              </a:spcBef>
            </a:pPr>
            <a:endParaRPr lang="en-US" altLang="en-US" sz="2000">
              <a:solidFill>
                <a:srgbClr val="000000"/>
              </a:solidFill>
            </a:endParaRPr>
          </a:p>
        </p:txBody>
      </p:sp>
      <p:graphicFrame>
        <p:nvGraphicFramePr>
          <p:cNvPr id="250887" name="Object 7">
            <a:extLst>
              <a:ext uri="{FF2B5EF4-FFF2-40B4-BE49-F238E27FC236}">
                <a16:creationId xmlns:a16="http://schemas.microsoft.com/office/drawing/2014/main" id="{E7825630-641E-CDD5-4A51-69574F367361}"/>
              </a:ext>
            </a:extLst>
          </p:cNvPr>
          <p:cNvGraphicFramePr>
            <a:graphicFrameLocks noChangeAspect="1"/>
          </p:cNvGraphicFramePr>
          <p:nvPr/>
        </p:nvGraphicFramePr>
        <p:xfrm>
          <a:off x="4579939" y="4538664"/>
          <a:ext cx="3030537" cy="877887"/>
        </p:xfrm>
        <a:graphic>
          <a:graphicData uri="http://schemas.openxmlformats.org/presentationml/2006/ole">
            <mc:AlternateContent xmlns:mc="http://schemas.openxmlformats.org/markup-compatibility/2006">
              <mc:Choice xmlns:v="urn:schemas-microsoft-com:vml" Requires="v">
                <p:oleObj name="Equation" r:id="rId5" imgW="1358640" imgH="393480" progId="Equation.3">
                  <p:embed/>
                </p:oleObj>
              </mc:Choice>
              <mc:Fallback>
                <p:oleObj name="Equation" r:id="rId5" imgW="1358640" imgH="393480" progId="Equation.3">
                  <p:embed/>
                  <p:pic>
                    <p:nvPicPr>
                      <p:cNvPr id="250887" name="Object 7">
                        <a:extLst>
                          <a:ext uri="{FF2B5EF4-FFF2-40B4-BE49-F238E27FC236}">
                            <a16:creationId xmlns:a16="http://schemas.microsoft.com/office/drawing/2014/main" id="{E7825630-641E-CDD5-4A51-69574F3673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9939" y="4538664"/>
                        <a:ext cx="3030537"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B7FB132-A92B-094E-26F2-58A6654C83FB}"/>
              </a:ext>
            </a:extLst>
          </p:cNvPr>
          <p:cNvSpPr>
            <a:spLocks noGrp="1"/>
          </p:cNvSpPr>
          <p:nvPr>
            <p:ph type="sldNum" sz="quarter" idx="10"/>
          </p:nvPr>
        </p:nvSpPr>
        <p:spPr/>
        <p:txBody>
          <a:bodyPr/>
          <a:lstStyle/>
          <a:p>
            <a:r>
              <a:rPr lang="en-US" altLang="en-US"/>
              <a:t>Page </a:t>
            </a:r>
            <a:fld id="{B6C94FED-8CF9-45B6-A576-BE6E0B2E8EEB}" type="slidenum">
              <a:rPr lang="en-US" altLang="en-US"/>
              <a:pPr/>
              <a:t>9</a:t>
            </a:fld>
            <a:endParaRPr lang="en-US" altLang="en-US"/>
          </a:p>
        </p:txBody>
      </p:sp>
      <p:sp>
        <p:nvSpPr>
          <p:cNvPr id="252930" name="Rectangle 2">
            <a:extLst>
              <a:ext uri="{FF2B5EF4-FFF2-40B4-BE49-F238E27FC236}">
                <a16:creationId xmlns:a16="http://schemas.microsoft.com/office/drawing/2014/main" id="{D1DA78E8-CBED-7E71-9766-A25501EACB57}"/>
              </a:ext>
            </a:extLst>
          </p:cNvPr>
          <p:cNvSpPr>
            <a:spLocks noGrp="1" noChangeArrowheads="1"/>
          </p:cNvSpPr>
          <p:nvPr>
            <p:ph type="title"/>
          </p:nvPr>
        </p:nvSpPr>
        <p:spPr/>
        <p:txBody>
          <a:bodyPr/>
          <a:lstStyle/>
          <a:p>
            <a:r>
              <a:rPr lang="en-GB" altLang="en-US"/>
              <a:t>Analytic solutions of diffusion equation</a:t>
            </a:r>
            <a:br>
              <a:rPr lang="en-GB" altLang="en-US"/>
            </a:br>
            <a:r>
              <a:rPr lang="en-GB" altLang="en-US"/>
              <a:t>Gaussian solution</a:t>
            </a:r>
            <a:endParaRPr lang="en-US" altLang="en-US"/>
          </a:p>
        </p:txBody>
      </p:sp>
      <p:sp>
        <p:nvSpPr>
          <p:cNvPr id="252936" name="Text Box 8">
            <a:extLst>
              <a:ext uri="{FF2B5EF4-FFF2-40B4-BE49-F238E27FC236}">
                <a16:creationId xmlns:a16="http://schemas.microsoft.com/office/drawing/2014/main" id="{0294EEEB-F85B-B704-C608-F1AFD5CE1F4B}"/>
              </a:ext>
            </a:extLst>
          </p:cNvPr>
          <p:cNvSpPr txBox="1">
            <a:spLocks noChangeArrowheads="1"/>
          </p:cNvSpPr>
          <p:nvPr/>
        </p:nvSpPr>
        <p:spPr bwMode="auto">
          <a:xfrm>
            <a:off x="1524001" y="1466850"/>
            <a:ext cx="79978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A delta function of dopant in the middle of a lightly doped region</a:t>
            </a:r>
            <a:endParaRPr lang="en-US" altLang="en-US" sz="2000">
              <a:solidFill>
                <a:srgbClr val="000000"/>
              </a:solidFill>
            </a:endParaRPr>
          </a:p>
        </p:txBody>
      </p:sp>
      <p:sp>
        <p:nvSpPr>
          <p:cNvPr id="252937" name="Text Box 9">
            <a:extLst>
              <a:ext uri="{FF2B5EF4-FFF2-40B4-BE49-F238E27FC236}">
                <a16:creationId xmlns:a16="http://schemas.microsoft.com/office/drawing/2014/main" id="{6EB11A00-030F-04D7-E83C-9C1245B0CE03}"/>
              </a:ext>
            </a:extLst>
          </p:cNvPr>
          <p:cNvSpPr txBox="1">
            <a:spLocks noChangeArrowheads="1"/>
          </p:cNvSpPr>
          <p:nvPr/>
        </p:nvSpPr>
        <p:spPr bwMode="auto">
          <a:xfrm>
            <a:off x="1973263" y="2849563"/>
            <a:ext cx="2698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Boundary conditions</a:t>
            </a:r>
            <a:endParaRPr lang="en-US" altLang="en-US" sz="2000">
              <a:solidFill>
                <a:srgbClr val="000000"/>
              </a:solidFill>
            </a:endParaRPr>
          </a:p>
        </p:txBody>
      </p:sp>
      <p:graphicFrame>
        <p:nvGraphicFramePr>
          <p:cNvPr id="252938" name="Object 10">
            <a:extLst>
              <a:ext uri="{FF2B5EF4-FFF2-40B4-BE49-F238E27FC236}">
                <a16:creationId xmlns:a16="http://schemas.microsoft.com/office/drawing/2014/main" id="{33CC8360-BA3E-D823-9029-9C3FB99BF03E}"/>
              </a:ext>
            </a:extLst>
          </p:cNvPr>
          <p:cNvGraphicFramePr>
            <a:graphicFrameLocks noChangeAspect="1"/>
          </p:cNvGraphicFramePr>
          <p:nvPr/>
        </p:nvGraphicFramePr>
        <p:xfrm>
          <a:off x="2362201" y="3425826"/>
          <a:ext cx="2074863" cy="1204913"/>
        </p:xfrm>
        <a:graphic>
          <a:graphicData uri="http://schemas.openxmlformats.org/presentationml/2006/ole">
            <mc:AlternateContent xmlns:mc="http://schemas.openxmlformats.org/markup-compatibility/2006">
              <mc:Choice xmlns:v="urn:schemas-microsoft-com:vml" Requires="v">
                <p:oleObj name="Equation" r:id="rId3" imgW="1574640" imgH="914400" progId="Equation.3">
                  <p:embed/>
                </p:oleObj>
              </mc:Choice>
              <mc:Fallback>
                <p:oleObj name="Equation" r:id="rId3" imgW="1574640" imgH="914400" progId="Equation.3">
                  <p:embed/>
                  <p:pic>
                    <p:nvPicPr>
                      <p:cNvPr id="252938" name="Object 10">
                        <a:extLst>
                          <a:ext uri="{FF2B5EF4-FFF2-40B4-BE49-F238E27FC236}">
                            <a16:creationId xmlns:a16="http://schemas.microsoft.com/office/drawing/2014/main" id="{33CC8360-BA3E-D823-9029-9C3FB99BF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3425826"/>
                        <a:ext cx="2074863" cy="120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9" name="Rectangle 11">
            <a:extLst>
              <a:ext uri="{FF2B5EF4-FFF2-40B4-BE49-F238E27FC236}">
                <a16:creationId xmlns:a16="http://schemas.microsoft.com/office/drawing/2014/main" id="{D6863169-0BB2-4239-347E-C50C2A9EF96A}"/>
              </a:ext>
            </a:extLst>
          </p:cNvPr>
          <p:cNvSpPr>
            <a:spLocks noChangeArrowheads="1"/>
          </p:cNvSpPr>
          <p:nvPr/>
        </p:nvSpPr>
        <p:spPr bwMode="auto">
          <a:xfrm>
            <a:off x="1989138" y="2819401"/>
            <a:ext cx="2582862" cy="1814513"/>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52940" name="Object 12">
            <a:extLst>
              <a:ext uri="{FF2B5EF4-FFF2-40B4-BE49-F238E27FC236}">
                <a16:creationId xmlns:a16="http://schemas.microsoft.com/office/drawing/2014/main" id="{7ECFF1F9-0033-E674-A7E4-555AC7D5D7EF}"/>
              </a:ext>
            </a:extLst>
          </p:cNvPr>
          <p:cNvGraphicFramePr>
            <a:graphicFrameLocks noChangeAspect="1"/>
          </p:cNvGraphicFramePr>
          <p:nvPr/>
        </p:nvGraphicFramePr>
        <p:xfrm>
          <a:off x="2251075" y="2066925"/>
          <a:ext cx="1447800" cy="723900"/>
        </p:xfrm>
        <a:graphic>
          <a:graphicData uri="http://schemas.openxmlformats.org/presentationml/2006/ole">
            <mc:AlternateContent xmlns:mc="http://schemas.openxmlformats.org/markup-compatibility/2006">
              <mc:Choice xmlns:v="urn:schemas-microsoft-com:vml" Requires="v">
                <p:oleObj name="Equation" r:id="rId5" imgW="838080" imgH="419040" progId="Equation.3">
                  <p:embed/>
                </p:oleObj>
              </mc:Choice>
              <mc:Fallback>
                <p:oleObj name="Equation" r:id="rId5" imgW="838080" imgH="419040" progId="Equation.3">
                  <p:embed/>
                  <p:pic>
                    <p:nvPicPr>
                      <p:cNvPr id="252940" name="Object 12">
                        <a:extLst>
                          <a:ext uri="{FF2B5EF4-FFF2-40B4-BE49-F238E27FC236}">
                            <a16:creationId xmlns:a16="http://schemas.microsoft.com/office/drawing/2014/main" id="{7ECFF1F9-0033-E674-A7E4-555AC7D5D7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1075" y="2066925"/>
                        <a:ext cx="14478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1" name="Object 13">
            <a:extLst>
              <a:ext uri="{FF2B5EF4-FFF2-40B4-BE49-F238E27FC236}">
                <a16:creationId xmlns:a16="http://schemas.microsoft.com/office/drawing/2014/main" id="{5DB9C43A-FB2F-50C8-7EA0-93999A9295E4}"/>
              </a:ext>
            </a:extLst>
          </p:cNvPr>
          <p:cNvGraphicFramePr>
            <a:graphicFrameLocks noChangeAspect="1"/>
          </p:cNvGraphicFramePr>
          <p:nvPr/>
        </p:nvGraphicFramePr>
        <p:xfrm>
          <a:off x="5572125" y="2265364"/>
          <a:ext cx="3644900" cy="962025"/>
        </p:xfrm>
        <a:graphic>
          <a:graphicData uri="http://schemas.openxmlformats.org/presentationml/2006/ole">
            <mc:AlternateContent xmlns:mc="http://schemas.openxmlformats.org/markup-compatibility/2006">
              <mc:Choice xmlns:v="urn:schemas-microsoft-com:vml" Requires="v">
                <p:oleObj name="Equation" r:id="rId7" imgW="1828800" imgH="482400" progId="Equation.3">
                  <p:embed/>
                </p:oleObj>
              </mc:Choice>
              <mc:Fallback>
                <p:oleObj name="Equation" r:id="rId7" imgW="1828800" imgH="482400" progId="Equation.3">
                  <p:embed/>
                  <p:pic>
                    <p:nvPicPr>
                      <p:cNvPr id="252941" name="Object 13">
                        <a:extLst>
                          <a:ext uri="{FF2B5EF4-FFF2-40B4-BE49-F238E27FC236}">
                            <a16:creationId xmlns:a16="http://schemas.microsoft.com/office/drawing/2014/main" id="{5DB9C43A-FB2F-50C8-7EA0-93999A9295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72125" y="2265364"/>
                        <a:ext cx="3644900"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6" name="Object 18">
            <a:extLst>
              <a:ext uri="{FF2B5EF4-FFF2-40B4-BE49-F238E27FC236}">
                <a16:creationId xmlns:a16="http://schemas.microsoft.com/office/drawing/2014/main" id="{9C267EAC-1434-2087-ED65-644915DCB12E}"/>
              </a:ext>
            </a:extLst>
          </p:cNvPr>
          <p:cNvGraphicFramePr>
            <a:graphicFrameLocks noChangeAspect="1"/>
          </p:cNvGraphicFramePr>
          <p:nvPr/>
        </p:nvGraphicFramePr>
        <p:xfrm>
          <a:off x="3802064" y="4433889"/>
          <a:ext cx="3163887" cy="2066925"/>
        </p:xfrm>
        <a:graphic>
          <a:graphicData uri="http://schemas.openxmlformats.org/presentationml/2006/ole">
            <mc:AlternateContent xmlns:mc="http://schemas.openxmlformats.org/markup-compatibility/2006">
              <mc:Choice xmlns:v="urn:schemas-microsoft-com:vml" Requires="v">
                <p:oleObj name="Document" r:id="rId9" imgW="3163824" imgH="2066544" progId="Word.Document.8">
                  <p:embed/>
                </p:oleObj>
              </mc:Choice>
              <mc:Fallback>
                <p:oleObj name="Document" r:id="rId9" imgW="3163824" imgH="2066544" progId="Word.Document.8">
                  <p:embed/>
                  <p:pic>
                    <p:nvPicPr>
                      <p:cNvPr id="252946" name="Object 18">
                        <a:extLst>
                          <a:ext uri="{FF2B5EF4-FFF2-40B4-BE49-F238E27FC236}">
                            <a16:creationId xmlns:a16="http://schemas.microsoft.com/office/drawing/2014/main" id="{9C267EAC-1434-2087-ED65-644915DCB12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02064" y="4433889"/>
                        <a:ext cx="3163887" cy="206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7" name="Object 19">
            <a:extLst>
              <a:ext uri="{FF2B5EF4-FFF2-40B4-BE49-F238E27FC236}">
                <a16:creationId xmlns:a16="http://schemas.microsoft.com/office/drawing/2014/main" id="{2DBABE58-DA52-430F-C74D-91D3CF01DF09}"/>
              </a:ext>
            </a:extLst>
          </p:cNvPr>
          <p:cNvGraphicFramePr>
            <a:graphicFrameLocks noChangeAspect="1"/>
          </p:cNvGraphicFramePr>
          <p:nvPr/>
        </p:nvGraphicFramePr>
        <p:xfrm>
          <a:off x="6986588" y="3763963"/>
          <a:ext cx="3200400" cy="2754312"/>
        </p:xfrm>
        <a:graphic>
          <a:graphicData uri="http://schemas.openxmlformats.org/presentationml/2006/ole">
            <mc:AlternateContent xmlns:mc="http://schemas.openxmlformats.org/markup-compatibility/2006">
              <mc:Choice xmlns:v="urn:schemas-microsoft-com:vml" Requires="v">
                <p:oleObj name="Document" r:id="rId11" imgW="2706624" imgH="2328672" progId="Word.Document.8">
                  <p:embed/>
                </p:oleObj>
              </mc:Choice>
              <mc:Fallback>
                <p:oleObj name="Document" r:id="rId11" imgW="2706624" imgH="2328672" progId="Word.Document.8">
                  <p:embed/>
                  <p:pic>
                    <p:nvPicPr>
                      <p:cNvPr id="252947" name="Object 19">
                        <a:extLst>
                          <a:ext uri="{FF2B5EF4-FFF2-40B4-BE49-F238E27FC236}">
                            <a16:creationId xmlns:a16="http://schemas.microsoft.com/office/drawing/2014/main" id="{2DBABE58-DA52-430F-C74D-91D3CF01DF0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6588" y="3763963"/>
                        <a:ext cx="3200400" cy="275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8DA9AC2-8ADB-4BB2-D508-5A5E229F2BEF}"/>
              </a:ext>
            </a:extLst>
          </p:cNvPr>
          <p:cNvSpPr>
            <a:spLocks noGrp="1"/>
          </p:cNvSpPr>
          <p:nvPr>
            <p:ph type="sldNum" sz="quarter" idx="10"/>
          </p:nvPr>
        </p:nvSpPr>
        <p:spPr/>
        <p:txBody>
          <a:bodyPr/>
          <a:lstStyle/>
          <a:p>
            <a:r>
              <a:rPr lang="en-US" altLang="en-US"/>
              <a:t>Page </a:t>
            </a:r>
            <a:fld id="{5F343A53-5F5C-4489-B3A4-6E65CF18EEF1}" type="slidenum">
              <a:rPr lang="en-US" altLang="en-US"/>
              <a:pPr/>
              <a:t>10</a:t>
            </a:fld>
            <a:endParaRPr lang="en-US" altLang="en-US"/>
          </a:p>
        </p:txBody>
      </p:sp>
      <p:sp>
        <p:nvSpPr>
          <p:cNvPr id="253954" name="Rectangle 2">
            <a:extLst>
              <a:ext uri="{FF2B5EF4-FFF2-40B4-BE49-F238E27FC236}">
                <a16:creationId xmlns:a16="http://schemas.microsoft.com/office/drawing/2014/main" id="{4BBCC402-6D4D-0904-2BE6-B7AC9685C829}"/>
              </a:ext>
            </a:extLst>
          </p:cNvPr>
          <p:cNvSpPr>
            <a:spLocks noGrp="1" noChangeArrowheads="1"/>
          </p:cNvSpPr>
          <p:nvPr>
            <p:ph type="title"/>
          </p:nvPr>
        </p:nvSpPr>
        <p:spPr/>
        <p:txBody>
          <a:bodyPr/>
          <a:lstStyle/>
          <a:p>
            <a:r>
              <a:rPr lang="en-GB" altLang="en-US"/>
              <a:t>Analytic solutions of diffusion equation</a:t>
            </a:r>
            <a:br>
              <a:rPr lang="en-GB" altLang="en-US"/>
            </a:br>
            <a:r>
              <a:rPr lang="en-GB" altLang="en-US"/>
              <a:t>Gaussian solution near a surface</a:t>
            </a:r>
            <a:endParaRPr lang="en-US" altLang="en-US"/>
          </a:p>
        </p:txBody>
      </p:sp>
      <p:sp>
        <p:nvSpPr>
          <p:cNvPr id="253955" name="Text Box 3">
            <a:extLst>
              <a:ext uri="{FF2B5EF4-FFF2-40B4-BE49-F238E27FC236}">
                <a16:creationId xmlns:a16="http://schemas.microsoft.com/office/drawing/2014/main" id="{223E628F-A2A3-2A2B-4AD5-8A4A8D138371}"/>
              </a:ext>
            </a:extLst>
          </p:cNvPr>
          <p:cNvSpPr txBox="1">
            <a:spLocks noChangeArrowheads="1"/>
          </p:cNvSpPr>
          <p:nvPr/>
        </p:nvSpPr>
        <p:spPr bwMode="auto">
          <a:xfrm>
            <a:off x="1524001" y="1466850"/>
            <a:ext cx="8666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A surface a x=0 is treated as a mirroring boundary condition (see picture)</a:t>
            </a:r>
            <a:endParaRPr lang="en-US" altLang="en-US" sz="2000">
              <a:solidFill>
                <a:srgbClr val="000000"/>
              </a:solidFill>
            </a:endParaRPr>
          </a:p>
        </p:txBody>
      </p:sp>
      <p:graphicFrame>
        <p:nvGraphicFramePr>
          <p:cNvPr id="253960" name="Object 8">
            <a:extLst>
              <a:ext uri="{FF2B5EF4-FFF2-40B4-BE49-F238E27FC236}">
                <a16:creationId xmlns:a16="http://schemas.microsoft.com/office/drawing/2014/main" id="{2FCE905B-34A1-60CE-E5D4-9D421C5D3E6C}"/>
              </a:ext>
            </a:extLst>
          </p:cNvPr>
          <p:cNvGraphicFramePr>
            <a:graphicFrameLocks noChangeAspect="1"/>
          </p:cNvGraphicFramePr>
          <p:nvPr/>
        </p:nvGraphicFramePr>
        <p:xfrm>
          <a:off x="4349750" y="2292351"/>
          <a:ext cx="3492500" cy="962025"/>
        </p:xfrm>
        <a:graphic>
          <a:graphicData uri="http://schemas.openxmlformats.org/presentationml/2006/ole">
            <mc:AlternateContent xmlns:mc="http://schemas.openxmlformats.org/markup-compatibility/2006">
              <mc:Choice xmlns:v="urn:schemas-microsoft-com:vml" Requires="v">
                <p:oleObj name="Equation" r:id="rId3" imgW="1752480" imgH="482400" progId="Equation.3">
                  <p:embed/>
                </p:oleObj>
              </mc:Choice>
              <mc:Fallback>
                <p:oleObj name="Equation" r:id="rId3" imgW="1752480" imgH="482400" progId="Equation.3">
                  <p:embed/>
                  <p:pic>
                    <p:nvPicPr>
                      <p:cNvPr id="253960" name="Object 8">
                        <a:extLst>
                          <a:ext uri="{FF2B5EF4-FFF2-40B4-BE49-F238E27FC236}">
                            <a16:creationId xmlns:a16="http://schemas.microsoft.com/office/drawing/2014/main" id="{2FCE905B-34A1-60CE-E5D4-9D421C5D3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9750" y="2292351"/>
                        <a:ext cx="3492500"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3" name="Object 11">
            <a:extLst>
              <a:ext uri="{FF2B5EF4-FFF2-40B4-BE49-F238E27FC236}">
                <a16:creationId xmlns:a16="http://schemas.microsoft.com/office/drawing/2014/main" id="{567D3693-B58F-F110-EAEE-9ACA15ABDA28}"/>
              </a:ext>
            </a:extLst>
          </p:cNvPr>
          <p:cNvGraphicFramePr>
            <a:graphicFrameLocks noChangeAspect="1"/>
          </p:cNvGraphicFramePr>
          <p:nvPr/>
        </p:nvGraphicFramePr>
        <p:xfrm>
          <a:off x="4070351" y="3429000"/>
          <a:ext cx="4022725" cy="2916238"/>
        </p:xfrm>
        <a:graphic>
          <a:graphicData uri="http://schemas.openxmlformats.org/presentationml/2006/ole">
            <mc:AlternateContent xmlns:mc="http://schemas.openxmlformats.org/markup-compatibility/2006">
              <mc:Choice xmlns:v="urn:schemas-microsoft-com:vml" Requires="v">
                <p:oleObj name="Document" r:id="rId5" imgW="3441192" imgH="2496312" progId="Word.Document.8">
                  <p:embed/>
                </p:oleObj>
              </mc:Choice>
              <mc:Fallback>
                <p:oleObj name="Document" r:id="rId5" imgW="3441192" imgH="2496312" progId="Word.Document.8">
                  <p:embed/>
                  <p:pic>
                    <p:nvPicPr>
                      <p:cNvPr id="253963" name="Object 11">
                        <a:extLst>
                          <a:ext uri="{FF2B5EF4-FFF2-40B4-BE49-F238E27FC236}">
                            <a16:creationId xmlns:a16="http://schemas.microsoft.com/office/drawing/2014/main" id="{567D3693-B58F-F110-EAEE-9ACA15ABDA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351" y="3429000"/>
                        <a:ext cx="4022725" cy="291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BC2245B-8486-AE86-8E78-D13043392349}"/>
              </a:ext>
            </a:extLst>
          </p:cNvPr>
          <p:cNvSpPr>
            <a:spLocks noGrp="1"/>
          </p:cNvSpPr>
          <p:nvPr>
            <p:ph type="sldNum" sz="quarter" idx="10"/>
          </p:nvPr>
        </p:nvSpPr>
        <p:spPr/>
        <p:txBody>
          <a:bodyPr/>
          <a:lstStyle/>
          <a:p>
            <a:r>
              <a:rPr lang="en-US" altLang="en-US"/>
              <a:t>Page </a:t>
            </a:r>
            <a:fld id="{C3634230-8EFA-46CC-8DA5-477D70824645}" type="slidenum">
              <a:rPr lang="en-US" altLang="en-US"/>
              <a:pPr/>
              <a:t>11</a:t>
            </a:fld>
            <a:endParaRPr lang="en-US" altLang="en-US"/>
          </a:p>
        </p:txBody>
      </p:sp>
      <p:sp>
        <p:nvSpPr>
          <p:cNvPr id="254978" name="Rectangle 2">
            <a:extLst>
              <a:ext uri="{FF2B5EF4-FFF2-40B4-BE49-F238E27FC236}">
                <a16:creationId xmlns:a16="http://schemas.microsoft.com/office/drawing/2014/main" id="{ADA27921-7BD5-AA04-77A5-BED32F9EC887}"/>
              </a:ext>
            </a:extLst>
          </p:cNvPr>
          <p:cNvSpPr>
            <a:spLocks noGrp="1" noChangeArrowheads="1"/>
          </p:cNvSpPr>
          <p:nvPr>
            <p:ph type="title"/>
          </p:nvPr>
        </p:nvSpPr>
        <p:spPr/>
        <p:txBody>
          <a:bodyPr/>
          <a:lstStyle/>
          <a:p>
            <a:r>
              <a:rPr lang="en-GB" altLang="en-US"/>
              <a:t>Analytic solutions of diffusion equation</a:t>
            </a:r>
            <a:br>
              <a:rPr lang="en-GB" altLang="en-US"/>
            </a:br>
            <a:r>
              <a:rPr lang="en-GB" altLang="en-US"/>
              <a:t>erfc solution</a:t>
            </a:r>
            <a:endParaRPr lang="en-US" altLang="en-US"/>
          </a:p>
        </p:txBody>
      </p:sp>
      <p:sp>
        <p:nvSpPr>
          <p:cNvPr id="254979" name="Text Box 3">
            <a:extLst>
              <a:ext uri="{FF2B5EF4-FFF2-40B4-BE49-F238E27FC236}">
                <a16:creationId xmlns:a16="http://schemas.microsoft.com/office/drawing/2014/main" id="{246E95AC-BD63-2A53-77DA-CBA655472E1D}"/>
              </a:ext>
            </a:extLst>
          </p:cNvPr>
          <p:cNvSpPr txBox="1">
            <a:spLocks noChangeArrowheads="1"/>
          </p:cNvSpPr>
          <p:nvPr/>
        </p:nvSpPr>
        <p:spPr bwMode="auto">
          <a:xfrm>
            <a:off x="1524000" y="1466850"/>
            <a:ext cx="58499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Diffusion from a infinite source of dopant</a:t>
            </a:r>
            <a:endParaRPr lang="en-US" altLang="en-US" sz="2000">
              <a:solidFill>
                <a:srgbClr val="000000"/>
              </a:solidFill>
            </a:endParaRPr>
          </a:p>
        </p:txBody>
      </p:sp>
      <p:sp>
        <p:nvSpPr>
          <p:cNvPr id="254985" name="Text Box 9">
            <a:extLst>
              <a:ext uri="{FF2B5EF4-FFF2-40B4-BE49-F238E27FC236}">
                <a16:creationId xmlns:a16="http://schemas.microsoft.com/office/drawing/2014/main" id="{0F1764BA-09B3-05C6-E856-2CBECFA6DE1E}"/>
              </a:ext>
            </a:extLst>
          </p:cNvPr>
          <p:cNvSpPr txBox="1">
            <a:spLocks noChangeArrowheads="1"/>
          </p:cNvSpPr>
          <p:nvPr/>
        </p:nvSpPr>
        <p:spPr bwMode="auto">
          <a:xfrm>
            <a:off x="1784350" y="5018088"/>
            <a:ext cx="2698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Boundary conditions</a:t>
            </a:r>
            <a:endParaRPr lang="en-US" altLang="en-US" sz="2000">
              <a:solidFill>
                <a:srgbClr val="000000"/>
              </a:solidFill>
            </a:endParaRPr>
          </a:p>
        </p:txBody>
      </p:sp>
      <p:graphicFrame>
        <p:nvGraphicFramePr>
          <p:cNvPr id="254986" name="Object 10">
            <a:extLst>
              <a:ext uri="{FF2B5EF4-FFF2-40B4-BE49-F238E27FC236}">
                <a16:creationId xmlns:a16="http://schemas.microsoft.com/office/drawing/2014/main" id="{FC727B58-03C1-B6A7-91B5-727ED522510C}"/>
              </a:ext>
            </a:extLst>
          </p:cNvPr>
          <p:cNvGraphicFramePr>
            <a:graphicFrameLocks noChangeAspect="1"/>
          </p:cNvGraphicFramePr>
          <p:nvPr/>
        </p:nvGraphicFramePr>
        <p:xfrm>
          <a:off x="2087564" y="5499100"/>
          <a:ext cx="2041525" cy="869950"/>
        </p:xfrm>
        <a:graphic>
          <a:graphicData uri="http://schemas.openxmlformats.org/presentationml/2006/ole">
            <mc:AlternateContent xmlns:mc="http://schemas.openxmlformats.org/markup-compatibility/2006">
              <mc:Choice xmlns:v="urn:schemas-microsoft-com:vml" Requires="v">
                <p:oleObj name="Equation" r:id="rId3" imgW="1549080" imgH="660240" progId="Equation.3">
                  <p:embed/>
                </p:oleObj>
              </mc:Choice>
              <mc:Fallback>
                <p:oleObj name="Equation" r:id="rId3" imgW="1549080" imgH="660240" progId="Equation.3">
                  <p:embed/>
                  <p:pic>
                    <p:nvPicPr>
                      <p:cNvPr id="254986" name="Object 10">
                        <a:extLst>
                          <a:ext uri="{FF2B5EF4-FFF2-40B4-BE49-F238E27FC236}">
                            <a16:creationId xmlns:a16="http://schemas.microsoft.com/office/drawing/2014/main" id="{FC727B58-03C1-B6A7-91B5-727ED5225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4" y="5499100"/>
                        <a:ext cx="2041525"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87" name="Rectangle 11">
            <a:extLst>
              <a:ext uri="{FF2B5EF4-FFF2-40B4-BE49-F238E27FC236}">
                <a16:creationId xmlns:a16="http://schemas.microsoft.com/office/drawing/2014/main" id="{DCA4475D-1265-D3B3-D1D6-81ABF114DDA0}"/>
              </a:ext>
            </a:extLst>
          </p:cNvPr>
          <p:cNvSpPr>
            <a:spLocks noChangeArrowheads="1"/>
          </p:cNvSpPr>
          <p:nvPr/>
        </p:nvSpPr>
        <p:spPr bwMode="auto">
          <a:xfrm>
            <a:off x="1800226" y="4987925"/>
            <a:ext cx="2582863" cy="1263650"/>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54989" name="Object 13">
            <a:extLst>
              <a:ext uri="{FF2B5EF4-FFF2-40B4-BE49-F238E27FC236}">
                <a16:creationId xmlns:a16="http://schemas.microsoft.com/office/drawing/2014/main" id="{F2DB8220-C8B3-FD85-5F50-046865B96EA1}"/>
              </a:ext>
            </a:extLst>
          </p:cNvPr>
          <p:cNvGraphicFramePr>
            <a:graphicFrameLocks noChangeAspect="1"/>
          </p:cNvGraphicFramePr>
          <p:nvPr/>
        </p:nvGraphicFramePr>
        <p:xfrm>
          <a:off x="2251076" y="4294189"/>
          <a:ext cx="1387475" cy="693737"/>
        </p:xfrm>
        <a:graphic>
          <a:graphicData uri="http://schemas.openxmlformats.org/presentationml/2006/ole">
            <mc:AlternateContent xmlns:mc="http://schemas.openxmlformats.org/markup-compatibility/2006">
              <mc:Choice xmlns:v="urn:schemas-microsoft-com:vml" Requires="v">
                <p:oleObj name="Equation" r:id="rId5" imgW="838080" imgH="419040" progId="Equation.3">
                  <p:embed/>
                </p:oleObj>
              </mc:Choice>
              <mc:Fallback>
                <p:oleObj name="Equation" r:id="rId5" imgW="838080" imgH="419040" progId="Equation.3">
                  <p:embed/>
                  <p:pic>
                    <p:nvPicPr>
                      <p:cNvPr id="254989" name="Object 13">
                        <a:extLst>
                          <a:ext uri="{FF2B5EF4-FFF2-40B4-BE49-F238E27FC236}">
                            <a16:creationId xmlns:a16="http://schemas.microsoft.com/office/drawing/2014/main" id="{F2DB8220-C8B3-FD85-5F50-046865B96E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1076" y="4294189"/>
                        <a:ext cx="1387475" cy="69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90" name="Text Box 14">
            <a:extLst>
              <a:ext uri="{FF2B5EF4-FFF2-40B4-BE49-F238E27FC236}">
                <a16:creationId xmlns:a16="http://schemas.microsoft.com/office/drawing/2014/main" id="{B28BB291-B24A-B12C-A230-164D18B161BE}"/>
              </a:ext>
            </a:extLst>
          </p:cNvPr>
          <p:cNvSpPr txBox="1">
            <a:spLocks noChangeArrowheads="1"/>
          </p:cNvSpPr>
          <p:nvPr/>
        </p:nvSpPr>
        <p:spPr bwMode="auto">
          <a:xfrm>
            <a:off x="6096000" y="2017714"/>
            <a:ext cx="4572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solidFill>
                  <a:srgbClr val="000000"/>
                </a:solidFill>
              </a:rPr>
              <a:t>Can be thought as a “sum” of Gaussian problems</a:t>
            </a:r>
            <a:endParaRPr lang="en-US" altLang="en-US" sz="1600">
              <a:solidFill>
                <a:srgbClr val="000000"/>
              </a:solidFill>
            </a:endParaRPr>
          </a:p>
        </p:txBody>
      </p:sp>
      <p:graphicFrame>
        <p:nvGraphicFramePr>
          <p:cNvPr id="254991" name="Object 15">
            <a:extLst>
              <a:ext uri="{FF2B5EF4-FFF2-40B4-BE49-F238E27FC236}">
                <a16:creationId xmlns:a16="http://schemas.microsoft.com/office/drawing/2014/main" id="{D6CE0FC9-9E49-6EE5-AC88-6DD420137ADD}"/>
              </a:ext>
            </a:extLst>
          </p:cNvPr>
          <p:cNvGraphicFramePr>
            <a:graphicFrameLocks noChangeAspect="1"/>
          </p:cNvGraphicFramePr>
          <p:nvPr/>
        </p:nvGraphicFramePr>
        <p:xfrm>
          <a:off x="6096001" y="2508250"/>
          <a:ext cx="4079875" cy="3748088"/>
        </p:xfrm>
        <a:graphic>
          <a:graphicData uri="http://schemas.openxmlformats.org/presentationml/2006/ole">
            <mc:AlternateContent xmlns:mc="http://schemas.openxmlformats.org/markup-compatibility/2006">
              <mc:Choice xmlns:v="urn:schemas-microsoft-com:vml" Requires="v">
                <p:oleObj name="Equation" r:id="rId7" imgW="3593880" imgH="3301920" progId="Equation.3">
                  <p:embed/>
                </p:oleObj>
              </mc:Choice>
              <mc:Fallback>
                <p:oleObj name="Equation" r:id="rId7" imgW="3593880" imgH="3301920" progId="Equation.3">
                  <p:embed/>
                  <p:pic>
                    <p:nvPicPr>
                      <p:cNvPr id="254991" name="Object 15">
                        <a:extLst>
                          <a:ext uri="{FF2B5EF4-FFF2-40B4-BE49-F238E27FC236}">
                            <a16:creationId xmlns:a16="http://schemas.microsoft.com/office/drawing/2014/main" id="{D6CE0FC9-9E49-6EE5-AC88-6DD420137A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1" y="2508250"/>
                        <a:ext cx="4079875" cy="3748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3" name="Object 17">
            <a:extLst>
              <a:ext uri="{FF2B5EF4-FFF2-40B4-BE49-F238E27FC236}">
                <a16:creationId xmlns:a16="http://schemas.microsoft.com/office/drawing/2014/main" id="{83879C00-DFFE-CA19-1E8C-ECB77241E4BC}"/>
              </a:ext>
            </a:extLst>
          </p:cNvPr>
          <p:cNvGraphicFramePr>
            <a:graphicFrameLocks noChangeAspect="1"/>
          </p:cNvGraphicFramePr>
          <p:nvPr/>
        </p:nvGraphicFramePr>
        <p:xfrm>
          <a:off x="1524001" y="1874838"/>
          <a:ext cx="4378325" cy="2513012"/>
        </p:xfrm>
        <a:graphic>
          <a:graphicData uri="http://schemas.openxmlformats.org/presentationml/2006/ole">
            <mc:AlternateContent xmlns:mc="http://schemas.openxmlformats.org/markup-compatibility/2006">
              <mc:Choice xmlns:v="urn:schemas-microsoft-com:vml" Requires="v">
                <p:oleObj name="Document" r:id="rId9" imgW="4050792" imgH="2325624" progId="Word.Document.8">
                  <p:embed/>
                </p:oleObj>
              </mc:Choice>
              <mc:Fallback>
                <p:oleObj name="Document" r:id="rId9" imgW="4050792" imgH="2325624" progId="Word.Document.8">
                  <p:embed/>
                  <p:pic>
                    <p:nvPicPr>
                      <p:cNvPr id="254993" name="Object 17">
                        <a:extLst>
                          <a:ext uri="{FF2B5EF4-FFF2-40B4-BE49-F238E27FC236}">
                            <a16:creationId xmlns:a16="http://schemas.microsoft.com/office/drawing/2014/main" id="{83879C00-DFFE-CA19-1E8C-ECB77241E4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1" y="1874838"/>
                        <a:ext cx="4378325" cy="2513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69937DD-0AF3-5813-2965-0485B2C594BF}"/>
              </a:ext>
            </a:extLst>
          </p:cNvPr>
          <p:cNvSpPr>
            <a:spLocks noGrp="1"/>
          </p:cNvSpPr>
          <p:nvPr>
            <p:ph type="sldNum" sz="quarter" idx="10"/>
          </p:nvPr>
        </p:nvSpPr>
        <p:spPr/>
        <p:txBody>
          <a:bodyPr/>
          <a:lstStyle/>
          <a:p>
            <a:r>
              <a:rPr lang="en-US" altLang="en-US"/>
              <a:t>Page </a:t>
            </a:r>
            <a:fld id="{C0683DAE-6514-4837-A5D2-8450D6539243}" type="slidenum">
              <a:rPr lang="en-US" altLang="en-US"/>
              <a:pPr/>
              <a:t>12</a:t>
            </a:fld>
            <a:endParaRPr lang="en-US" altLang="en-US"/>
          </a:p>
        </p:txBody>
      </p:sp>
      <p:sp>
        <p:nvSpPr>
          <p:cNvPr id="256002" name="Rectangle 2">
            <a:extLst>
              <a:ext uri="{FF2B5EF4-FFF2-40B4-BE49-F238E27FC236}">
                <a16:creationId xmlns:a16="http://schemas.microsoft.com/office/drawing/2014/main" id="{57AE8F40-D9EB-3519-7AF9-928E2E3F1324}"/>
              </a:ext>
            </a:extLst>
          </p:cNvPr>
          <p:cNvSpPr>
            <a:spLocks noGrp="1" noChangeArrowheads="1"/>
          </p:cNvSpPr>
          <p:nvPr>
            <p:ph type="title"/>
          </p:nvPr>
        </p:nvSpPr>
        <p:spPr/>
        <p:txBody>
          <a:bodyPr/>
          <a:lstStyle/>
          <a:p>
            <a:r>
              <a:rPr lang="en-GB" altLang="en-US"/>
              <a:t>Analytic solutions of diffusion equation</a:t>
            </a:r>
            <a:br>
              <a:rPr lang="en-GB" altLang="en-US"/>
            </a:br>
            <a:r>
              <a:rPr lang="en-GB" altLang="en-US"/>
              <a:t>erfc solution near a surface</a:t>
            </a:r>
            <a:endParaRPr lang="en-US" altLang="en-US"/>
          </a:p>
        </p:txBody>
      </p:sp>
      <p:sp>
        <p:nvSpPr>
          <p:cNvPr id="256003" name="Text Box 3">
            <a:extLst>
              <a:ext uri="{FF2B5EF4-FFF2-40B4-BE49-F238E27FC236}">
                <a16:creationId xmlns:a16="http://schemas.microsoft.com/office/drawing/2014/main" id="{59DEA533-6681-C39B-D39D-A709273964DB}"/>
              </a:ext>
            </a:extLst>
          </p:cNvPr>
          <p:cNvSpPr txBox="1">
            <a:spLocks noChangeArrowheads="1"/>
          </p:cNvSpPr>
          <p:nvPr/>
        </p:nvSpPr>
        <p:spPr bwMode="auto">
          <a:xfrm>
            <a:off x="1524000" y="1466850"/>
            <a:ext cx="58499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Symmetry considerations lead to:</a:t>
            </a:r>
            <a:endParaRPr lang="en-US" altLang="en-US" sz="2000">
              <a:solidFill>
                <a:srgbClr val="000000"/>
              </a:solidFill>
            </a:endParaRPr>
          </a:p>
        </p:txBody>
      </p:sp>
      <p:graphicFrame>
        <p:nvGraphicFramePr>
          <p:cNvPr id="256011" name="Object 11">
            <a:extLst>
              <a:ext uri="{FF2B5EF4-FFF2-40B4-BE49-F238E27FC236}">
                <a16:creationId xmlns:a16="http://schemas.microsoft.com/office/drawing/2014/main" id="{D3747CA5-C43E-6062-F197-4B1731F0953E}"/>
              </a:ext>
            </a:extLst>
          </p:cNvPr>
          <p:cNvGraphicFramePr>
            <a:graphicFrameLocks noChangeAspect="1"/>
          </p:cNvGraphicFramePr>
          <p:nvPr/>
        </p:nvGraphicFramePr>
        <p:xfrm>
          <a:off x="1949450" y="1990726"/>
          <a:ext cx="3289300" cy="982663"/>
        </p:xfrm>
        <a:graphic>
          <a:graphicData uri="http://schemas.openxmlformats.org/presentationml/2006/ole">
            <mc:AlternateContent xmlns:mc="http://schemas.openxmlformats.org/markup-compatibility/2006">
              <mc:Choice xmlns:v="urn:schemas-microsoft-com:vml" Requires="v">
                <p:oleObj name="Equation" r:id="rId3" imgW="1612800" imgH="482400" progId="Equation.3">
                  <p:embed/>
                </p:oleObj>
              </mc:Choice>
              <mc:Fallback>
                <p:oleObj name="Equation" r:id="rId3" imgW="1612800" imgH="482400" progId="Equation.3">
                  <p:embed/>
                  <p:pic>
                    <p:nvPicPr>
                      <p:cNvPr id="256011" name="Object 11">
                        <a:extLst>
                          <a:ext uri="{FF2B5EF4-FFF2-40B4-BE49-F238E27FC236}">
                            <a16:creationId xmlns:a16="http://schemas.microsoft.com/office/drawing/2014/main" id="{D3747CA5-C43E-6062-F197-4B1731F095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9450" y="1990726"/>
                        <a:ext cx="328930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12" name="Text Box 12">
            <a:extLst>
              <a:ext uri="{FF2B5EF4-FFF2-40B4-BE49-F238E27FC236}">
                <a16:creationId xmlns:a16="http://schemas.microsoft.com/office/drawing/2014/main" id="{044F8958-C98A-7EDA-67EF-B3971229DB7C}"/>
              </a:ext>
            </a:extLst>
          </p:cNvPr>
          <p:cNvSpPr txBox="1">
            <a:spLocks noChangeArrowheads="1"/>
          </p:cNvSpPr>
          <p:nvPr/>
        </p:nvSpPr>
        <p:spPr bwMode="auto">
          <a:xfrm>
            <a:off x="6705600" y="2074863"/>
            <a:ext cx="31067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Dose calculation:</a:t>
            </a:r>
            <a:endParaRPr lang="en-US" altLang="en-US" sz="2000">
              <a:solidFill>
                <a:srgbClr val="000000"/>
              </a:solidFill>
            </a:endParaRPr>
          </a:p>
        </p:txBody>
      </p:sp>
      <p:graphicFrame>
        <p:nvGraphicFramePr>
          <p:cNvPr id="256013" name="Object 13">
            <a:extLst>
              <a:ext uri="{FF2B5EF4-FFF2-40B4-BE49-F238E27FC236}">
                <a16:creationId xmlns:a16="http://schemas.microsoft.com/office/drawing/2014/main" id="{715B9FFC-EE4B-91F2-BE63-A83A8CFCA5BF}"/>
              </a:ext>
            </a:extLst>
          </p:cNvPr>
          <p:cNvGraphicFramePr>
            <a:graphicFrameLocks noChangeAspect="1"/>
          </p:cNvGraphicFramePr>
          <p:nvPr/>
        </p:nvGraphicFramePr>
        <p:xfrm>
          <a:off x="6289675" y="2713038"/>
          <a:ext cx="3429000" cy="715962"/>
        </p:xfrm>
        <a:graphic>
          <a:graphicData uri="http://schemas.openxmlformats.org/presentationml/2006/ole">
            <mc:AlternateContent xmlns:mc="http://schemas.openxmlformats.org/markup-compatibility/2006">
              <mc:Choice xmlns:v="urn:schemas-microsoft-com:vml" Requires="v">
                <p:oleObj name="Equation" r:id="rId5" imgW="2311200" imgH="482400" progId="Equation.3">
                  <p:embed/>
                </p:oleObj>
              </mc:Choice>
              <mc:Fallback>
                <p:oleObj name="Equation" r:id="rId5" imgW="2311200" imgH="482400" progId="Equation.3">
                  <p:embed/>
                  <p:pic>
                    <p:nvPicPr>
                      <p:cNvPr id="256013" name="Object 13">
                        <a:extLst>
                          <a:ext uri="{FF2B5EF4-FFF2-40B4-BE49-F238E27FC236}">
                            <a16:creationId xmlns:a16="http://schemas.microsoft.com/office/drawing/2014/main" id="{715B9FFC-EE4B-91F2-BE63-A83A8CFCA5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9675" y="2713038"/>
                        <a:ext cx="3429000" cy="71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14" name="Object 14">
            <a:extLst>
              <a:ext uri="{FF2B5EF4-FFF2-40B4-BE49-F238E27FC236}">
                <a16:creationId xmlns:a16="http://schemas.microsoft.com/office/drawing/2014/main" id="{446539C9-525E-246E-EE50-4B453E9838EF}"/>
              </a:ext>
            </a:extLst>
          </p:cNvPr>
          <p:cNvGraphicFramePr>
            <a:graphicFrameLocks noChangeAspect="1"/>
          </p:cNvGraphicFramePr>
          <p:nvPr/>
        </p:nvGraphicFramePr>
        <p:xfrm>
          <a:off x="1524000" y="3429001"/>
          <a:ext cx="3646488" cy="3033713"/>
        </p:xfrm>
        <a:graphic>
          <a:graphicData uri="http://schemas.openxmlformats.org/presentationml/2006/ole">
            <mc:AlternateContent xmlns:mc="http://schemas.openxmlformats.org/markup-compatibility/2006">
              <mc:Choice xmlns:v="urn:schemas-microsoft-com:vml" Requires="v">
                <p:oleObj name="Document" r:id="rId7" imgW="3645408" imgH="3032760" progId="Word.Document.8">
                  <p:embed/>
                </p:oleObj>
              </mc:Choice>
              <mc:Fallback>
                <p:oleObj name="Document" r:id="rId7" imgW="3645408" imgH="3032760" progId="Word.Document.8">
                  <p:embed/>
                  <p:pic>
                    <p:nvPicPr>
                      <p:cNvPr id="256014" name="Object 14">
                        <a:extLst>
                          <a:ext uri="{FF2B5EF4-FFF2-40B4-BE49-F238E27FC236}">
                            <a16:creationId xmlns:a16="http://schemas.microsoft.com/office/drawing/2014/main" id="{446539C9-525E-246E-EE50-4B453E9838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3429001"/>
                        <a:ext cx="3646488" cy="303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15" name="Text Box 15">
            <a:extLst>
              <a:ext uri="{FF2B5EF4-FFF2-40B4-BE49-F238E27FC236}">
                <a16:creationId xmlns:a16="http://schemas.microsoft.com/office/drawing/2014/main" id="{C79B6F08-C9B2-8158-BFFB-73E062AF0353}"/>
              </a:ext>
            </a:extLst>
          </p:cNvPr>
          <p:cNvSpPr txBox="1">
            <a:spLocks noChangeArrowheads="1"/>
          </p:cNvSpPr>
          <p:nvPr/>
        </p:nvSpPr>
        <p:spPr bwMode="auto">
          <a:xfrm>
            <a:off x="5399088" y="3641726"/>
            <a:ext cx="526891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1800" b="1">
                <a:solidFill>
                  <a:srgbClr val="000000"/>
                </a:solidFill>
              </a:rPr>
              <a:t>Important consequences of error function  solution:</a:t>
            </a:r>
          </a:p>
          <a:p>
            <a:pPr lvl="1" eaLnBrk="1" hangingPunct="1">
              <a:spcBef>
                <a:spcPct val="50000"/>
              </a:spcBef>
              <a:buFont typeface="Times" panose="02020603050405020304" pitchFamily="18" charset="0"/>
              <a:buChar char="•"/>
            </a:pPr>
            <a:r>
              <a:rPr lang="en-US" altLang="en-US" sz="1800">
                <a:solidFill>
                  <a:srgbClr val="000000"/>
                </a:solidFill>
              </a:rPr>
              <a:t>Symmetry about mid-point allows solution for constant surface concentration to be derived.</a:t>
            </a:r>
          </a:p>
          <a:p>
            <a:pPr lvl="1" eaLnBrk="1" hangingPunct="1">
              <a:spcBef>
                <a:spcPct val="50000"/>
              </a:spcBef>
              <a:buFont typeface="Times" panose="02020603050405020304" pitchFamily="18" charset="0"/>
              <a:buChar char="•"/>
            </a:pPr>
            <a:r>
              <a:rPr lang="en-US" altLang="en-US" sz="1800">
                <a:solidFill>
                  <a:srgbClr val="000000"/>
                </a:solidFill>
              </a:rPr>
              <a:t>Dose beyond x = 0 continues to increase with annealing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1EE11F7-8192-8159-0E77-7281B72D2555}"/>
              </a:ext>
            </a:extLst>
          </p:cNvPr>
          <p:cNvSpPr>
            <a:spLocks noGrp="1"/>
          </p:cNvSpPr>
          <p:nvPr>
            <p:ph type="sldNum" sz="quarter" idx="10"/>
          </p:nvPr>
        </p:nvSpPr>
        <p:spPr/>
        <p:txBody>
          <a:bodyPr/>
          <a:lstStyle/>
          <a:p>
            <a:r>
              <a:rPr lang="en-US" altLang="en-US"/>
              <a:t>Page </a:t>
            </a:r>
            <a:fld id="{6AE3F319-EE06-48BC-8D0F-2E37E3E15453}" type="slidenum">
              <a:rPr lang="en-US" altLang="en-US"/>
              <a:pPr/>
              <a:t>13</a:t>
            </a:fld>
            <a:endParaRPr lang="en-US" altLang="en-US"/>
          </a:p>
        </p:txBody>
      </p:sp>
      <p:sp>
        <p:nvSpPr>
          <p:cNvPr id="258050" name="Rectangle 2">
            <a:extLst>
              <a:ext uri="{FF2B5EF4-FFF2-40B4-BE49-F238E27FC236}">
                <a16:creationId xmlns:a16="http://schemas.microsoft.com/office/drawing/2014/main" id="{B751657E-5890-E744-15AD-321A4B53D36C}"/>
              </a:ext>
            </a:extLst>
          </p:cNvPr>
          <p:cNvSpPr>
            <a:spLocks noGrp="1" noChangeArrowheads="1"/>
          </p:cNvSpPr>
          <p:nvPr>
            <p:ph type="title"/>
          </p:nvPr>
        </p:nvSpPr>
        <p:spPr/>
        <p:txBody>
          <a:bodyPr/>
          <a:lstStyle/>
          <a:p>
            <a:r>
              <a:rPr lang="en-GB" altLang="en-US"/>
              <a:t>Intrinsic Diffusion coefficients </a:t>
            </a:r>
            <a:endParaRPr lang="en-US" altLang="en-US"/>
          </a:p>
        </p:txBody>
      </p:sp>
      <p:sp>
        <p:nvSpPr>
          <p:cNvPr id="258053" name="Text Box 5">
            <a:extLst>
              <a:ext uri="{FF2B5EF4-FFF2-40B4-BE49-F238E27FC236}">
                <a16:creationId xmlns:a16="http://schemas.microsoft.com/office/drawing/2014/main" id="{0ADF703F-1C7F-7F73-56F1-37909FCCA8EB}"/>
              </a:ext>
            </a:extLst>
          </p:cNvPr>
          <p:cNvSpPr txBox="1">
            <a:spLocks noChangeArrowheads="1"/>
          </p:cNvSpPr>
          <p:nvPr/>
        </p:nvSpPr>
        <p:spPr bwMode="auto">
          <a:xfrm>
            <a:off x="2016126" y="1481138"/>
            <a:ext cx="775176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For intrinsic doping condition, diffusion coefficients follow an Arrhenius law</a:t>
            </a:r>
            <a:endParaRPr lang="en-US" altLang="en-US" sz="2000">
              <a:solidFill>
                <a:srgbClr val="000000"/>
              </a:solidFill>
            </a:endParaRPr>
          </a:p>
        </p:txBody>
      </p:sp>
      <p:graphicFrame>
        <p:nvGraphicFramePr>
          <p:cNvPr id="258054" name="Object 6">
            <a:extLst>
              <a:ext uri="{FF2B5EF4-FFF2-40B4-BE49-F238E27FC236}">
                <a16:creationId xmlns:a16="http://schemas.microsoft.com/office/drawing/2014/main" id="{CAAEC2A8-7F3B-99F0-5956-41F5B6AFA83C}"/>
              </a:ext>
            </a:extLst>
          </p:cNvPr>
          <p:cNvGraphicFramePr>
            <a:graphicFrameLocks noChangeAspect="1"/>
          </p:cNvGraphicFramePr>
          <p:nvPr/>
        </p:nvGraphicFramePr>
        <p:xfrm>
          <a:off x="3841750" y="2212976"/>
          <a:ext cx="1924050" cy="728663"/>
        </p:xfrm>
        <a:graphic>
          <a:graphicData uri="http://schemas.openxmlformats.org/presentationml/2006/ole">
            <mc:AlternateContent xmlns:mc="http://schemas.openxmlformats.org/markup-compatibility/2006">
              <mc:Choice xmlns:v="urn:schemas-microsoft-com:vml" Requires="v">
                <p:oleObj name="Equation" r:id="rId3" imgW="1206360" imgH="457200" progId="Equation.3">
                  <p:embed/>
                </p:oleObj>
              </mc:Choice>
              <mc:Fallback>
                <p:oleObj name="Equation" r:id="rId3" imgW="1206360" imgH="457200" progId="Equation.3">
                  <p:embed/>
                  <p:pic>
                    <p:nvPicPr>
                      <p:cNvPr id="258054" name="Object 6">
                        <a:extLst>
                          <a:ext uri="{FF2B5EF4-FFF2-40B4-BE49-F238E27FC236}">
                            <a16:creationId xmlns:a16="http://schemas.microsoft.com/office/drawing/2014/main" id="{CAAEC2A8-7F3B-99F0-5956-41F5B6AFA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0" y="2212976"/>
                        <a:ext cx="192405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8107" name="Group 59">
            <a:extLst>
              <a:ext uri="{FF2B5EF4-FFF2-40B4-BE49-F238E27FC236}">
                <a16:creationId xmlns:a16="http://schemas.microsoft.com/office/drawing/2014/main" id="{5E08FEBB-F8D7-B452-9E14-9036D38080D6}"/>
              </a:ext>
            </a:extLst>
          </p:cNvPr>
          <p:cNvGraphicFramePr>
            <a:graphicFrameLocks noGrp="1"/>
          </p:cNvGraphicFramePr>
          <p:nvPr/>
        </p:nvGraphicFramePr>
        <p:xfrm>
          <a:off x="1801813" y="3784601"/>
          <a:ext cx="3929062" cy="2225675"/>
        </p:xfrm>
        <a:graphic>
          <a:graphicData uri="http://schemas.openxmlformats.org/drawingml/2006/table">
            <a:tbl>
              <a:tblPr/>
              <a:tblGrid>
                <a:gridCol w="1638300">
                  <a:extLst>
                    <a:ext uri="{9D8B030D-6E8A-4147-A177-3AD203B41FA5}">
                      <a16:colId xmlns:a16="http://schemas.microsoft.com/office/drawing/2014/main" val="2189151377"/>
                    </a:ext>
                  </a:extLst>
                </a:gridCol>
                <a:gridCol w="1354137">
                  <a:extLst>
                    <a:ext uri="{9D8B030D-6E8A-4147-A177-3AD203B41FA5}">
                      <a16:colId xmlns:a16="http://schemas.microsoft.com/office/drawing/2014/main" val="1005816867"/>
                    </a:ext>
                  </a:extLst>
                </a:gridCol>
                <a:gridCol w="936625">
                  <a:extLst>
                    <a:ext uri="{9D8B030D-6E8A-4147-A177-3AD203B41FA5}">
                      <a16:colId xmlns:a16="http://schemas.microsoft.com/office/drawing/2014/main" val="623791613"/>
                    </a:ext>
                  </a:extLst>
                </a:gridCol>
              </a:tblGrid>
              <a:tr h="2635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Element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D</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0</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 (cm2sec-1)</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a</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(eV)</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6457440"/>
                  </a:ext>
                </a:extLst>
              </a:tr>
              <a:tr h="274638">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Si</a:t>
                      </a:r>
                    </a:p>
                  </a:txBody>
                  <a:tcP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560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4.76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610167199"/>
                  </a:ext>
                </a:extLst>
              </a:tr>
              <a:tr h="2635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B</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1</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3.5</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602396133"/>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In</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3.5</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712134760"/>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As</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9.17</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3.99</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898221735"/>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Sb</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4.58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3.88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451663881"/>
                  </a:ext>
                </a:extLst>
              </a:tr>
              <a:tr h="26511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P</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4.70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3694213"/>
                  </a:ext>
                </a:extLst>
              </a:tr>
            </a:tbl>
          </a:graphicData>
        </a:graphic>
      </p:graphicFrame>
      <p:pic>
        <p:nvPicPr>
          <p:cNvPr id="258112" name="Picture 64">
            <a:extLst>
              <a:ext uri="{FF2B5EF4-FFF2-40B4-BE49-F238E27FC236}">
                <a16:creationId xmlns:a16="http://schemas.microsoft.com/office/drawing/2014/main" id="{DCA23D25-F692-9CF5-3578-33D5BF6BDB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2326" y="2000251"/>
            <a:ext cx="473392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4BE0D6C8-65CA-7F5C-8C97-E182675D1005}"/>
              </a:ext>
            </a:extLst>
          </p:cNvPr>
          <p:cNvSpPr>
            <a:spLocks noGrp="1"/>
          </p:cNvSpPr>
          <p:nvPr>
            <p:ph type="sldNum" sz="quarter" idx="10"/>
          </p:nvPr>
        </p:nvSpPr>
        <p:spPr/>
        <p:txBody>
          <a:bodyPr/>
          <a:lstStyle/>
          <a:p>
            <a:r>
              <a:rPr lang="en-US" altLang="en-US"/>
              <a:t>Page </a:t>
            </a:r>
            <a:fld id="{5D873103-1DE9-4EDE-959E-468644B0BEBC}" type="slidenum">
              <a:rPr lang="en-US" altLang="en-US"/>
              <a:pPr/>
              <a:t>14</a:t>
            </a:fld>
            <a:endParaRPr lang="en-US" altLang="en-US"/>
          </a:p>
        </p:txBody>
      </p:sp>
      <p:sp>
        <p:nvSpPr>
          <p:cNvPr id="340994" name="Rectangle 2">
            <a:extLst>
              <a:ext uri="{FF2B5EF4-FFF2-40B4-BE49-F238E27FC236}">
                <a16:creationId xmlns:a16="http://schemas.microsoft.com/office/drawing/2014/main" id="{5348E41F-DD7A-5C55-7C9E-9B66A3A80316}"/>
              </a:ext>
            </a:extLst>
          </p:cNvPr>
          <p:cNvSpPr>
            <a:spLocks noGrp="1" noChangeArrowheads="1"/>
          </p:cNvSpPr>
          <p:nvPr>
            <p:ph type="title"/>
          </p:nvPr>
        </p:nvSpPr>
        <p:spPr/>
        <p:txBody>
          <a:bodyPr/>
          <a:lstStyle/>
          <a:p>
            <a:r>
              <a:rPr lang="en-GB" altLang="en-US"/>
              <a:t>Effect of multiple diffusion steps</a:t>
            </a:r>
            <a:endParaRPr lang="en-US" altLang="en-US"/>
          </a:p>
        </p:txBody>
      </p:sp>
      <p:sp>
        <p:nvSpPr>
          <p:cNvPr id="340996" name="Text Box 4">
            <a:extLst>
              <a:ext uri="{FF2B5EF4-FFF2-40B4-BE49-F238E27FC236}">
                <a16:creationId xmlns:a16="http://schemas.microsoft.com/office/drawing/2014/main" id="{34CB64F5-25E4-7915-AAA2-0412EB77F993}"/>
              </a:ext>
            </a:extLst>
          </p:cNvPr>
          <p:cNvSpPr txBox="1">
            <a:spLocks noChangeArrowheads="1"/>
          </p:cNvSpPr>
          <p:nvPr/>
        </p:nvSpPr>
        <p:spPr bwMode="auto">
          <a:xfrm>
            <a:off x="1704976" y="1457326"/>
            <a:ext cx="8670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US" altLang="en-US" sz="2000">
                <a:solidFill>
                  <a:srgbClr val="000000"/>
                </a:solidFill>
              </a:rPr>
              <a:t>If a dopant is diffused at temperature T</a:t>
            </a:r>
            <a:r>
              <a:rPr lang="en-US" altLang="en-US" sz="2000" baseline="-25000">
                <a:solidFill>
                  <a:srgbClr val="000000"/>
                </a:solidFill>
              </a:rPr>
              <a:t>1</a:t>
            </a:r>
            <a:r>
              <a:rPr lang="en-US" altLang="en-US" sz="2000">
                <a:solidFill>
                  <a:srgbClr val="000000"/>
                </a:solidFill>
              </a:rPr>
              <a:t> for time t</a:t>
            </a:r>
            <a:r>
              <a:rPr lang="en-US" altLang="en-US" sz="2000" baseline="-25000">
                <a:solidFill>
                  <a:srgbClr val="000000"/>
                </a:solidFill>
              </a:rPr>
              <a:t>1</a:t>
            </a:r>
            <a:r>
              <a:rPr lang="en-US" altLang="en-US" sz="2000">
                <a:solidFill>
                  <a:srgbClr val="000000"/>
                </a:solidFill>
              </a:rPr>
              <a:t> and then is diffused at temperature T</a:t>
            </a:r>
            <a:r>
              <a:rPr lang="en-US" altLang="en-US" sz="2000" baseline="-25000">
                <a:solidFill>
                  <a:srgbClr val="000000"/>
                </a:solidFill>
              </a:rPr>
              <a:t>2</a:t>
            </a:r>
            <a:r>
              <a:rPr lang="en-US" altLang="en-US" sz="2000">
                <a:solidFill>
                  <a:srgbClr val="000000"/>
                </a:solidFill>
              </a:rPr>
              <a:t> for time t</a:t>
            </a:r>
            <a:r>
              <a:rPr lang="en-US" altLang="en-US" sz="2000" baseline="-25000">
                <a:solidFill>
                  <a:srgbClr val="000000"/>
                </a:solidFill>
              </a:rPr>
              <a:t>2</a:t>
            </a:r>
            <a:r>
              <a:rPr lang="en-US" altLang="en-US" sz="2000">
                <a:solidFill>
                  <a:srgbClr val="000000"/>
                </a:solidFill>
              </a:rPr>
              <a:t>, the total effective Dt is given by the sum of all the individual Dt products.</a:t>
            </a:r>
          </a:p>
        </p:txBody>
      </p:sp>
      <p:graphicFrame>
        <p:nvGraphicFramePr>
          <p:cNvPr id="340997" name="Object 5">
            <a:extLst>
              <a:ext uri="{FF2B5EF4-FFF2-40B4-BE49-F238E27FC236}">
                <a16:creationId xmlns:a16="http://schemas.microsoft.com/office/drawing/2014/main" id="{BB2283EE-A1E4-1E5B-F4F4-980F3885330C}"/>
              </a:ext>
            </a:extLst>
          </p:cNvPr>
          <p:cNvGraphicFramePr>
            <a:graphicFrameLocks noChangeAspect="1"/>
          </p:cNvGraphicFramePr>
          <p:nvPr/>
        </p:nvGraphicFramePr>
        <p:xfrm>
          <a:off x="4159251" y="2435225"/>
          <a:ext cx="3484563" cy="457200"/>
        </p:xfrm>
        <a:graphic>
          <a:graphicData uri="http://schemas.openxmlformats.org/presentationml/2006/ole">
            <mc:AlternateContent xmlns:mc="http://schemas.openxmlformats.org/markup-compatibility/2006">
              <mc:Choice xmlns:v="urn:schemas-microsoft-com:vml" Requires="v">
                <p:oleObj name="Equation" r:id="rId3" imgW="1930320" imgH="253800" progId="Equation.DSMT4">
                  <p:embed/>
                </p:oleObj>
              </mc:Choice>
              <mc:Fallback>
                <p:oleObj name="Equation" r:id="rId3" imgW="1930320" imgH="253800" progId="Equation.DSMT4">
                  <p:embed/>
                  <p:pic>
                    <p:nvPicPr>
                      <p:cNvPr id="340997" name="Object 5">
                        <a:extLst>
                          <a:ext uri="{FF2B5EF4-FFF2-40B4-BE49-F238E27FC236}">
                            <a16:creationId xmlns:a16="http://schemas.microsoft.com/office/drawing/2014/main" id="{BB2283EE-A1E4-1E5B-F4F4-980F388533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251" y="2435225"/>
                        <a:ext cx="34845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0998" name="Text Box 6">
            <a:extLst>
              <a:ext uri="{FF2B5EF4-FFF2-40B4-BE49-F238E27FC236}">
                <a16:creationId xmlns:a16="http://schemas.microsoft.com/office/drawing/2014/main" id="{F1BD8803-130F-EC8C-4593-EFD455B013FF}"/>
              </a:ext>
            </a:extLst>
          </p:cNvPr>
          <p:cNvSpPr txBox="1">
            <a:spLocks noChangeArrowheads="1"/>
          </p:cNvSpPr>
          <p:nvPr/>
        </p:nvSpPr>
        <p:spPr bwMode="auto">
          <a:xfrm>
            <a:off x="1660526" y="5686426"/>
            <a:ext cx="84820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b="1">
                <a:solidFill>
                  <a:srgbClr val="000000"/>
                </a:solidFill>
              </a:rPr>
              <a:t>Since D depends exponentially on T, only the higher temperature diffusion steps are important to determine the effective diffusion profile</a:t>
            </a:r>
            <a:endParaRPr lang="en-US" altLang="en-US" sz="1800" b="1">
              <a:solidFill>
                <a:srgbClr val="000000"/>
              </a:solidFill>
            </a:endParaRPr>
          </a:p>
        </p:txBody>
      </p:sp>
      <p:sp>
        <p:nvSpPr>
          <p:cNvPr id="340999" name="Text Box 7">
            <a:extLst>
              <a:ext uri="{FF2B5EF4-FFF2-40B4-BE49-F238E27FC236}">
                <a16:creationId xmlns:a16="http://schemas.microsoft.com/office/drawing/2014/main" id="{F7AFC705-AD2F-FA7D-14D6-08D699417239}"/>
              </a:ext>
            </a:extLst>
          </p:cNvPr>
          <p:cNvSpPr txBox="1">
            <a:spLocks noChangeArrowheads="1"/>
          </p:cNvSpPr>
          <p:nvPr/>
        </p:nvSpPr>
        <p:spPr bwMode="auto">
          <a:xfrm>
            <a:off x="1839913" y="3076575"/>
            <a:ext cx="2743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solidFill>
                  <a:srgbClr val="000000"/>
                </a:solidFill>
              </a:rPr>
              <a:t>Can also be written as</a:t>
            </a:r>
            <a:endParaRPr lang="en-US" altLang="en-US" sz="1800">
              <a:solidFill>
                <a:srgbClr val="000000"/>
              </a:solidFill>
            </a:endParaRPr>
          </a:p>
        </p:txBody>
      </p:sp>
      <p:graphicFrame>
        <p:nvGraphicFramePr>
          <p:cNvPr id="341000" name="Object 8">
            <a:extLst>
              <a:ext uri="{FF2B5EF4-FFF2-40B4-BE49-F238E27FC236}">
                <a16:creationId xmlns:a16="http://schemas.microsoft.com/office/drawing/2014/main" id="{4FA238C1-E7EE-2CAD-8AE1-697A8AF6D9DA}"/>
              </a:ext>
            </a:extLst>
          </p:cNvPr>
          <p:cNvGraphicFramePr>
            <a:graphicFrameLocks noChangeAspect="1"/>
          </p:cNvGraphicFramePr>
          <p:nvPr/>
        </p:nvGraphicFramePr>
        <p:xfrm>
          <a:off x="4198938" y="3476625"/>
          <a:ext cx="3784600" cy="768350"/>
        </p:xfrm>
        <a:graphic>
          <a:graphicData uri="http://schemas.openxmlformats.org/presentationml/2006/ole">
            <mc:AlternateContent xmlns:mc="http://schemas.openxmlformats.org/markup-compatibility/2006">
              <mc:Choice xmlns:v="urn:schemas-microsoft-com:vml" Requires="v">
                <p:oleObj name="Equation" r:id="rId5" imgW="2120760" imgH="431640" progId="Equation.DSMT4">
                  <p:embed/>
                </p:oleObj>
              </mc:Choice>
              <mc:Fallback>
                <p:oleObj name="Equation" r:id="rId5" imgW="2120760" imgH="431640" progId="Equation.DSMT4">
                  <p:embed/>
                  <p:pic>
                    <p:nvPicPr>
                      <p:cNvPr id="341000" name="Object 8">
                        <a:extLst>
                          <a:ext uri="{FF2B5EF4-FFF2-40B4-BE49-F238E27FC236}">
                            <a16:creationId xmlns:a16="http://schemas.microsoft.com/office/drawing/2014/main" id="{4FA238C1-E7EE-2CAD-8AE1-697A8AF6D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8938" y="3476625"/>
                        <a:ext cx="37846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CEFCE57-AE5A-2440-6B54-A62DE279AD2D}"/>
              </a:ext>
            </a:extLst>
          </p:cNvPr>
          <p:cNvSpPr>
            <a:spLocks noGrp="1"/>
          </p:cNvSpPr>
          <p:nvPr>
            <p:ph type="sldNum" sz="quarter" idx="10"/>
          </p:nvPr>
        </p:nvSpPr>
        <p:spPr/>
        <p:txBody>
          <a:bodyPr/>
          <a:lstStyle/>
          <a:p>
            <a:r>
              <a:rPr lang="en-US" altLang="en-US"/>
              <a:t>Page </a:t>
            </a:r>
            <a:fld id="{D9A26576-DBB6-4413-9CD6-75EF2F372981}" type="slidenum">
              <a:rPr lang="en-US" altLang="en-US"/>
              <a:pPr/>
              <a:t>15</a:t>
            </a:fld>
            <a:endParaRPr lang="en-US" altLang="en-US"/>
          </a:p>
        </p:txBody>
      </p:sp>
      <p:sp>
        <p:nvSpPr>
          <p:cNvPr id="251906" name="Rectangle 2">
            <a:extLst>
              <a:ext uri="{FF2B5EF4-FFF2-40B4-BE49-F238E27FC236}">
                <a16:creationId xmlns:a16="http://schemas.microsoft.com/office/drawing/2014/main" id="{97533BEB-72D4-6E12-6F78-824CCF7ADFA5}"/>
              </a:ext>
            </a:extLst>
          </p:cNvPr>
          <p:cNvSpPr>
            <a:spLocks noGrp="1" noChangeArrowheads="1"/>
          </p:cNvSpPr>
          <p:nvPr>
            <p:ph type="title"/>
          </p:nvPr>
        </p:nvSpPr>
        <p:spPr>
          <a:xfrm>
            <a:off x="1893889" y="71438"/>
            <a:ext cx="8402637" cy="1143000"/>
          </a:xfrm>
        </p:spPr>
        <p:txBody>
          <a:bodyPr/>
          <a:lstStyle/>
          <a:p>
            <a:r>
              <a:rPr lang="en-GB" altLang="en-US"/>
              <a:t>Correction to Fick’s law</a:t>
            </a:r>
            <a:endParaRPr lang="en-US" altLang="en-US"/>
          </a:p>
        </p:txBody>
      </p:sp>
      <p:sp>
        <p:nvSpPr>
          <p:cNvPr id="251907" name="Rectangle 3">
            <a:extLst>
              <a:ext uri="{FF2B5EF4-FFF2-40B4-BE49-F238E27FC236}">
                <a16:creationId xmlns:a16="http://schemas.microsoft.com/office/drawing/2014/main" id="{E479D016-F868-0F7F-DBCE-FAE7E701EB1E}"/>
              </a:ext>
            </a:extLst>
          </p:cNvPr>
          <p:cNvSpPr>
            <a:spLocks noGrp="1" noChangeArrowheads="1"/>
          </p:cNvSpPr>
          <p:nvPr>
            <p:ph type="body" idx="1"/>
          </p:nvPr>
        </p:nvSpPr>
        <p:spPr>
          <a:xfrm>
            <a:off x="1893889" y="893763"/>
            <a:ext cx="8402637" cy="4114800"/>
          </a:xfrm>
        </p:spPr>
        <p:txBody>
          <a:bodyPr/>
          <a:lstStyle/>
          <a:p>
            <a:r>
              <a:rPr lang="en-GB" altLang="en-US" sz="2000"/>
              <a:t>Electric field correction:</a:t>
            </a:r>
          </a:p>
          <a:p>
            <a:pPr lvl="1"/>
            <a:r>
              <a:rPr lang="en-GB" altLang="en-US"/>
              <a:t>Higher mobility of electrons and holes compared to ions</a:t>
            </a:r>
          </a:p>
          <a:p>
            <a:pPr lvl="1"/>
            <a:r>
              <a:rPr lang="en-GB" altLang="en-US"/>
              <a:t>Electrons and holes tend to diffuse forward, leaving behind charged donors or acceptors</a:t>
            </a:r>
          </a:p>
          <a:p>
            <a:pPr lvl="1"/>
            <a:r>
              <a:rPr lang="en-GB" altLang="en-US"/>
              <a:t>An electric field is set up ( in steady state condition electrons/holes drift flow will balance diffusion flow)</a:t>
            </a:r>
          </a:p>
          <a:p>
            <a:pPr lvl="1"/>
            <a:r>
              <a:rPr lang="en-GB" altLang="en-US"/>
              <a:t>The electric field drag donor/acceptor atoms too </a:t>
            </a:r>
            <a:r>
              <a:rPr lang="en-GB" altLang="en-US">
                <a:sym typeface="Wingdings" panose="05000000000000000000" pitchFamily="2" charset="2"/>
              </a:rPr>
              <a:t> enhanced diffusivity</a:t>
            </a:r>
            <a:endParaRPr lang="en-US" altLang="en-US"/>
          </a:p>
        </p:txBody>
      </p:sp>
      <p:sp>
        <p:nvSpPr>
          <p:cNvPr id="251908" name="Text Box 4">
            <a:extLst>
              <a:ext uri="{FF2B5EF4-FFF2-40B4-BE49-F238E27FC236}">
                <a16:creationId xmlns:a16="http://schemas.microsoft.com/office/drawing/2014/main" id="{97C1F0C5-68D0-72DD-A70F-11F656F6ACB3}"/>
              </a:ext>
            </a:extLst>
          </p:cNvPr>
          <p:cNvSpPr txBox="1">
            <a:spLocks noChangeArrowheads="1"/>
          </p:cNvSpPr>
          <p:nvPr/>
        </p:nvSpPr>
        <p:spPr bwMode="auto">
          <a:xfrm>
            <a:off x="6445251" y="3429000"/>
            <a:ext cx="37877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rgbClr val="000000"/>
                </a:solidFill>
              </a:rPr>
              <a:t>Fick’s first law can be re-written as:</a:t>
            </a:r>
            <a:endParaRPr lang="en-US" altLang="en-US" sz="2000">
              <a:solidFill>
                <a:srgbClr val="000000"/>
              </a:solidFill>
            </a:endParaRPr>
          </a:p>
        </p:txBody>
      </p:sp>
      <p:graphicFrame>
        <p:nvGraphicFramePr>
          <p:cNvPr id="251909" name="Object 5">
            <a:extLst>
              <a:ext uri="{FF2B5EF4-FFF2-40B4-BE49-F238E27FC236}">
                <a16:creationId xmlns:a16="http://schemas.microsoft.com/office/drawing/2014/main" id="{CFCC8068-05DA-BCE5-60B2-E083B4DCCCF2}"/>
              </a:ext>
            </a:extLst>
          </p:cNvPr>
          <p:cNvGraphicFramePr>
            <a:graphicFrameLocks noChangeAspect="1"/>
          </p:cNvGraphicFramePr>
          <p:nvPr/>
        </p:nvGraphicFramePr>
        <p:xfrm>
          <a:off x="6942138" y="4364039"/>
          <a:ext cx="2381250" cy="1412875"/>
        </p:xfrm>
        <a:graphic>
          <a:graphicData uri="http://schemas.openxmlformats.org/presentationml/2006/ole">
            <mc:AlternateContent xmlns:mc="http://schemas.openxmlformats.org/markup-compatibility/2006">
              <mc:Choice xmlns:v="urn:schemas-microsoft-com:vml" Requires="v">
                <p:oleObj name="Equation" r:id="rId3" imgW="1498320" imgH="888840" progId="Equation.3">
                  <p:embed/>
                </p:oleObj>
              </mc:Choice>
              <mc:Fallback>
                <p:oleObj name="Equation" r:id="rId3" imgW="1498320" imgH="888840" progId="Equation.3">
                  <p:embed/>
                  <p:pic>
                    <p:nvPicPr>
                      <p:cNvPr id="251909" name="Object 5">
                        <a:extLst>
                          <a:ext uri="{FF2B5EF4-FFF2-40B4-BE49-F238E27FC236}">
                            <a16:creationId xmlns:a16="http://schemas.microsoft.com/office/drawing/2014/main" id="{CFCC8068-05DA-BCE5-60B2-E083B4DCCC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2138" y="4364039"/>
                        <a:ext cx="2381250"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3" name="Object 9">
            <a:extLst>
              <a:ext uri="{FF2B5EF4-FFF2-40B4-BE49-F238E27FC236}">
                <a16:creationId xmlns:a16="http://schemas.microsoft.com/office/drawing/2014/main" id="{1FFCD4C7-3556-C859-43EE-F7A843A24230}"/>
              </a:ext>
            </a:extLst>
          </p:cNvPr>
          <p:cNvGraphicFramePr>
            <a:graphicFrameLocks noChangeAspect="1"/>
          </p:cNvGraphicFramePr>
          <p:nvPr/>
        </p:nvGraphicFramePr>
        <p:xfrm>
          <a:off x="1906589" y="3429001"/>
          <a:ext cx="2871787" cy="2962275"/>
        </p:xfrm>
        <a:graphic>
          <a:graphicData uri="http://schemas.openxmlformats.org/presentationml/2006/ole">
            <mc:AlternateContent xmlns:mc="http://schemas.openxmlformats.org/markup-compatibility/2006">
              <mc:Choice xmlns:v="urn:schemas-microsoft-com:vml" Requires="v">
                <p:oleObj name="Document" r:id="rId5" imgW="2871216" imgH="2962656" progId="Word.Document.8">
                  <p:embed/>
                </p:oleObj>
              </mc:Choice>
              <mc:Fallback>
                <p:oleObj name="Document" r:id="rId5" imgW="2871216" imgH="2962656" progId="Word.Document.8">
                  <p:embed/>
                  <p:pic>
                    <p:nvPicPr>
                      <p:cNvPr id="251913" name="Object 9">
                        <a:extLst>
                          <a:ext uri="{FF2B5EF4-FFF2-40B4-BE49-F238E27FC236}">
                            <a16:creationId xmlns:a16="http://schemas.microsoft.com/office/drawing/2014/main" id="{1FFCD4C7-3556-C859-43EE-F7A843A242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6589" y="3429001"/>
                        <a:ext cx="2871787" cy="296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DC95E26-4A89-98F4-CA7C-38AEFFCB2ECD}"/>
              </a:ext>
            </a:extLst>
          </p:cNvPr>
          <p:cNvSpPr>
            <a:spLocks noGrp="1"/>
          </p:cNvSpPr>
          <p:nvPr>
            <p:ph type="sldNum" sz="quarter" idx="10"/>
          </p:nvPr>
        </p:nvSpPr>
        <p:spPr/>
        <p:txBody>
          <a:bodyPr/>
          <a:lstStyle/>
          <a:p>
            <a:r>
              <a:rPr lang="en-US" altLang="en-US"/>
              <a:t>Page </a:t>
            </a:r>
            <a:fld id="{51BA2B03-0577-4EA4-B5B9-B62DF485C5B7}" type="slidenum">
              <a:rPr lang="en-US" altLang="en-US"/>
              <a:pPr/>
              <a:t>16</a:t>
            </a:fld>
            <a:endParaRPr lang="en-US" altLang="en-US"/>
          </a:p>
        </p:txBody>
      </p:sp>
      <p:sp>
        <p:nvSpPr>
          <p:cNvPr id="257026" name="Rectangle 2">
            <a:extLst>
              <a:ext uri="{FF2B5EF4-FFF2-40B4-BE49-F238E27FC236}">
                <a16:creationId xmlns:a16="http://schemas.microsoft.com/office/drawing/2014/main" id="{D8C71B73-ED53-131F-9C57-394DC896F24E}"/>
              </a:ext>
            </a:extLst>
          </p:cNvPr>
          <p:cNvSpPr>
            <a:spLocks noGrp="1" noChangeArrowheads="1"/>
          </p:cNvSpPr>
          <p:nvPr>
            <p:ph type="title"/>
          </p:nvPr>
        </p:nvSpPr>
        <p:spPr/>
        <p:txBody>
          <a:bodyPr/>
          <a:lstStyle/>
          <a:p>
            <a:r>
              <a:rPr lang="en-GB" altLang="en-US"/>
              <a:t>Correction to Fick’s law</a:t>
            </a:r>
            <a:endParaRPr lang="en-US" altLang="en-US"/>
          </a:p>
        </p:txBody>
      </p:sp>
      <p:sp>
        <p:nvSpPr>
          <p:cNvPr id="257027" name="Rectangle 3">
            <a:extLst>
              <a:ext uri="{FF2B5EF4-FFF2-40B4-BE49-F238E27FC236}">
                <a16:creationId xmlns:a16="http://schemas.microsoft.com/office/drawing/2014/main" id="{A2BD7D34-CD4B-455E-64BD-C66E45960688}"/>
              </a:ext>
            </a:extLst>
          </p:cNvPr>
          <p:cNvSpPr>
            <a:spLocks noGrp="1" noChangeArrowheads="1"/>
          </p:cNvSpPr>
          <p:nvPr>
            <p:ph type="body" idx="1"/>
          </p:nvPr>
        </p:nvSpPr>
        <p:spPr>
          <a:xfrm>
            <a:off x="1893889" y="1028700"/>
            <a:ext cx="8402637" cy="4114800"/>
          </a:xfrm>
        </p:spPr>
        <p:txBody>
          <a:bodyPr/>
          <a:lstStyle/>
          <a:p>
            <a:r>
              <a:rPr lang="en-GB" altLang="en-US" sz="2000"/>
              <a:t>Concentration dependent diffusion:</a:t>
            </a:r>
          </a:p>
          <a:p>
            <a:pPr lvl="1"/>
            <a:r>
              <a:rPr lang="en-GB" altLang="en-US"/>
              <a:t>In extrinsic conditions, profiles don’t match gaussian or erf functions profiles </a:t>
            </a:r>
            <a:r>
              <a:rPr lang="en-GB" altLang="en-US">
                <a:sym typeface="Wingdings" panose="05000000000000000000" pitchFamily="2" charset="2"/>
              </a:rPr>
              <a:t> box shaped profiles for high concentration regions suggest that diffusion is faster where concentration is higher.</a:t>
            </a:r>
          </a:p>
          <a:p>
            <a:pPr lvl="1"/>
            <a:r>
              <a:rPr lang="en-GB" altLang="en-US">
                <a:sym typeface="Wingdings" panose="05000000000000000000" pitchFamily="2" charset="2"/>
              </a:rPr>
              <a:t>D depends on C !</a:t>
            </a:r>
          </a:p>
          <a:p>
            <a:pPr lvl="1"/>
            <a:r>
              <a:rPr lang="en-GB" altLang="en-US">
                <a:sym typeface="Wingdings" panose="05000000000000000000" pitchFamily="2" charset="2"/>
              </a:rPr>
              <a:t>Second Fick’s law still holds, but in the form</a:t>
            </a:r>
            <a:endParaRPr lang="en-US" altLang="en-US"/>
          </a:p>
        </p:txBody>
      </p:sp>
      <p:graphicFrame>
        <p:nvGraphicFramePr>
          <p:cNvPr id="257028" name="Object 4">
            <a:extLst>
              <a:ext uri="{FF2B5EF4-FFF2-40B4-BE49-F238E27FC236}">
                <a16:creationId xmlns:a16="http://schemas.microsoft.com/office/drawing/2014/main" id="{218C4967-C6CE-6F8B-C46D-33C5780FF33D}"/>
              </a:ext>
            </a:extLst>
          </p:cNvPr>
          <p:cNvGraphicFramePr>
            <a:graphicFrameLocks noChangeAspect="1"/>
          </p:cNvGraphicFramePr>
          <p:nvPr/>
        </p:nvGraphicFramePr>
        <p:xfrm>
          <a:off x="7451726" y="2439989"/>
          <a:ext cx="1935163" cy="765175"/>
        </p:xfrm>
        <a:graphic>
          <a:graphicData uri="http://schemas.openxmlformats.org/presentationml/2006/ole">
            <mc:AlternateContent xmlns:mc="http://schemas.openxmlformats.org/markup-compatibility/2006">
              <mc:Choice xmlns:v="urn:schemas-microsoft-com:vml" Requires="v">
                <p:oleObj name="Equation" r:id="rId3" imgW="1091880" imgH="431640" progId="Equation.3">
                  <p:embed/>
                </p:oleObj>
              </mc:Choice>
              <mc:Fallback>
                <p:oleObj name="Equation" r:id="rId3" imgW="1091880" imgH="431640" progId="Equation.3">
                  <p:embed/>
                  <p:pic>
                    <p:nvPicPr>
                      <p:cNvPr id="257028" name="Object 4">
                        <a:extLst>
                          <a:ext uri="{FF2B5EF4-FFF2-40B4-BE49-F238E27FC236}">
                            <a16:creationId xmlns:a16="http://schemas.microsoft.com/office/drawing/2014/main" id="{218C4967-C6CE-6F8B-C46D-33C5780FF3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1726" y="2439989"/>
                        <a:ext cx="1935163"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7031" name="Text Box 7">
            <a:extLst>
              <a:ext uri="{FF2B5EF4-FFF2-40B4-BE49-F238E27FC236}">
                <a16:creationId xmlns:a16="http://schemas.microsoft.com/office/drawing/2014/main" id="{6C05AAA9-CE40-1609-AFD9-EDECD696D655}"/>
              </a:ext>
            </a:extLst>
          </p:cNvPr>
          <p:cNvSpPr txBox="1">
            <a:spLocks noChangeArrowheads="1"/>
          </p:cNvSpPr>
          <p:nvPr/>
        </p:nvSpPr>
        <p:spPr bwMode="auto">
          <a:xfrm>
            <a:off x="1524001" y="3048000"/>
            <a:ext cx="50212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2000">
                <a:solidFill>
                  <a:srgbClr val="000000"/>
                </a:solidFill>
              </a:rPr>
              <a:t>Experimentally its is found that:</a:t>
            </a:r>
            <a:endParaRPr lang="en-US" altLang="en-US" sz="2000">
              <a:solidFill>
                <a:srgbClr val="000000"/>
              </a:solidFill>
            </a:endParaRPr>
          </a:p>
        </p:txBody>
      </p:sp>
      <p:graphicFrame>
        <p:nvGraphicFramePr>
          <p:cNvPr id="257032" name="Object 8">
            <a:extLst>
              <a:ext uri="{FF2B5EF4-FFF2-40B4-BE49-F238E27FC236}">
                <a16:creationId xmlns:a16="http://schemas.microsoft.com/office/drawing/2014/main" id="{2B583A36-8B1F-D3F3-6AA3-DF0B854043D0}"/>
              </a:ext>
            </a:extLst>
          </p:cNvPr>
          <p:cNvGraphicFramePr>
            <a:graphicFrameLocks noChangeAspect="1"/>
          </p:cNvGraphicFramePr>
          <p:nvPr/>
        </p:nvGraphicFramePr>
        <p:xfrm>
          <a:off x="1863726" y="3429001"/>
          <a:ext cx="2608263" cy="1273175"/>
        </p:xfrm>
        <a:graphic>
          <a:graphicData uri="http://schemas.openxmlformats.org/presentationml/2006/ole">
            <mc:AlternateContent xmlns:mc="http://schemas.openxmlformats.org/markup-compatibility/2006">
              <mc:Choice xmlns:v="urn:schemas-microsoft-com:vml" Requires="v">
                <p:oleObj name="Equation" r:id="rId5" imgW="2133360" imgH="1041120" progId="Equation.DSMT4">
                  <p:embed/>
                </p:oleObj>
              </mc:Choice>
              <mc:Fallback>
                <p:oleObj name="Equation" r:id="rId5" imgW="2133360" imgH="1041120" progId="Equation.DSMT4">
                  <p:embed/>
                  <p:pic>
                    <p:nvPicPr>
                      <p:cNvPr id="257032" name="Object 8">
                        <a:extLst>
                          <a:ext uri="{FF2B5EF4-FFF2-40B4-BE49-F238E27FC236}">
                            <a16:creationId xmlns:a16="http://schemas.microsoft.com/office/drawing/2014/main" id="{2B583A36-8B1F-D3F3-6AA3-DF0B854043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3726" y="3429001"/>
                        <a:ext cx="2608263"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33" name="Text Box 9">
            <a:extLst>
              <a:ext uri="{FF2B5EF4-FFF2-40B4-BE49-F238E27FC236}">
                <a16:creationId xmlns:a16="http://schemas.microsoft.com/office/drawing/2014/main" id="{B2C00D4F-C227-F70A-C64A-7205E963E6CB}"/>
              </a:ext>
            </a:extLst>
          </p:cNvPr>
          <p:cNvSpPr txBox="1">
            <a:spLocks noChangeArrowheads="1"/>
          </p:cNvSpPr>
          <p:nvPr/>
        </p:nvSpPr>
        <p:spPr bwMode="auto">
          <a:xfrm>
            <a:off x="1770063" y="4773613"/>
            <a:ext cx="39481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solidFill>
                  <a:srgbClr val="000000"/>
                </a:solidFill>
              </a:rPr>
              <a:t>And every “D” can be written in the form</a:t>
            </a:r>
            <a:endParaRPr lang="en-US" altLang="en-US" sz="1600">
              <a:solidFill>
                <a:srgbClr val="000000"/>
              </a:solidFill>
            </a:endParaRPr>
          </a:p>
        </p:txBody>
      </p:sp>
      <p:graphicFrame>
        <p:nvGraphicFramePr>
          <p:cNvPr id="257034" name="Object 10">
            <a:extLst>
              <a:ext uri="{FF2B5EF4-FFF2-40B4-BE49-F238E27FC236}">
                <a16:creationId xmlns:a16="http://schemas.microsoft.com/office/drawing/2014/main" id="{F26F685A-8F48-6F65-BE5D-F362D4440824}"/>
              </a:ext>
            </a:extLst>
          </p:cNvPr>
          <p:cNvGraphicFramePr>
            <a:graphicFrameLocks noChangeAspect="1"/>
          </p:cNvGraphicFramePr>
          <p:nvPr/>
        </p:nvGraphicFramePr>
        <p:xfrm>
          <a:off x="2517775" y="5246688"/>
          <a:ext cx="1436688" cy="544512"/>
        </p:xfrm>
        <a:graphic>
          <a:graphicData uri="http://schemas.openxmlformats.org/presentationml/2006/ole">
            <mc:AlternateContent xmlns:mc="http://schemas.openxmlformats.org/markup-compatibility/2006">
              <mc:Choice xmlns:v="urn:schemas-microsoft-com:vml" Requires="v">
                <p:oleObj name="Equation" r:id="rId7" imgW="1206360" imgH="457200" progId="Equation.3">
                  <p:embed/>
                </p:oleObj>
              </mc:Choice>
              <mc:Fallback>
                <p:oleObj name="Equation" r:id="rId7" imgW="1206360" imgH="457200" progId="Equation.3">
                  <p:embed/>
                  <p:pic>
                    <p:nvPicPr>
                      <p:cNvPr id="257034" name="Object 10">
                        <a:extLst>
                          <a:ext uri="{FF2B5EF4-FFF2-40B4-BE49-F238E27FC236}">
                            <a16:creationId xmlns:a16="http://schemas.microsoft.com/office/drawing/2014/main" id="{F26F685A-8F48-6F65-BE5D-F362D44408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775" y="5246688"/>
                        <a:ext cx="1436688"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170" name="Group 146">
            <a:extLst>
              <a:ext uri="{FF2B5EF4-FFF2-40B4-BE49-F238E27FC236}">
                <a16:creationId xmlns:a16="http://schemas.microsoft.com/office/drawing/2014/main" id="{5DEC705C-73B8-730C-AA77-B5ECE1909472}"/>
              </a:ext>
            </a:extLst>
          </p:cNvPr>
          <p:cNvGraphicFramePr>
            <a:graphicFrameLocks noGrp="1"/>
          </p:cNvGraphicFramePr>
          <p:nvPr/>
        </p:nvGraphicFramePr>
        <p:xfrm>
          <a:off x="5589589" y="3429001"/>
          <a:ext cx="5049837" cy="2225675"/>
        </p:xfrm>
        <a:graphic>
          <a:graphicData uri="http://schemas.openxmlformats.org/drawingml/2006/table">
            <a:tbl>
              <a:tblPr/>
              <a:tblGrid>
                <a:gridCol w="900112">
                  <a:extLst>
                    <a:ext uri="{9D8B030D-6E8A-4147-A177-3AD203B41FA5}">
                      <a16:colId xmlns:a16="http://schemas.microsoft.com/office/drawing/2014/main" val="1769444421"/>
                    </a:ext>
                  </a:extLst>
                </a:gridCol>
                <a:gridCol w="506413">
                  <a:extLst>
                    <a:ext uri="{9D8B030D-6E8A-4147-A177-3AD203B41FA5}">
                      <a16:colId xmlns:a16="http://schemas.microsoft.com/office/drawing/2014/main" val="3526207877"/>
                    </a:ext>
                  </a:extLst>
                </a:gridCol>
                <a:gridCol w="493712">
                  <a:extLst>
                    <a:ext uri="{9D8B030D-6E8A-4147-A177-3AD203B41FA5}">
                      <a16:colId xmlns:a16="http://schemas.microsoft.com/office/drawing/2014/main" val="2053426524"/>
                    </a:ext>
                  </a:extLst>
                </a:gridCol>
                <a:gridCol w="493713">
                  <a:extLst>
                    <a:ext uri="{9D8B030D-6E8A-4147-A177-3AD203B41FA5}">
                      <a16:colId xmlns:a16="http://schemas.microsoft.com/office/drawing/2014/main" val="1041168719"/>
                    </a:ext>
                  </a:extLst>
                </a:gridCol>
                <a:gridCol w="493712">
                  <a:extLst>
                    <a:ext uri="{9D8B030D-6E8A-4147-A177-3AD203B41FA5}">
                      <a16:colId xmlns:a16="http://schemas.microsoft.com/office/drawing/2014/main" val="2321484566"/>
                    </a:ext>
                  </a:extLst>
                </a:gridCol>
                <a:gridCol w="479425">
                  <a:extLst>
                    <a:ext uri="{9D8B030D-6E8A-4147-A177-3AD203B41FA5}">
                      <a16:colId xmlns:a16="http://schemas.microsoft.com/office/drawing/2014/main" val="2953099400"/>
                    </a:ext>
                  </a:extLst>
                </a:gridCol>
                <a:gridCol w="508000">
                  <a:extLst>
                    <a:ext uri="{9D8B030D-6E8A-4147-A177-3AD203B41FA5}">
                      <a16:colId xmlns:a16="http://schemas.microsoft.com/office/drawing/2014/main" val="3331757561"/>
                    </a:ext>
                  </a:extLst>
                </a:gridCol>
                <a:gridCol w="609600">
                  <a:extLst>
                    <a:ext uri="{9D8B030D-6E8A-4147-A177-3AD203B41FA5}">
                      <a16:colId xmlns:a16="http://schemas.microsoft.com/office/drawing/2014/main" val="1836762678"/>
                    </a:ext>
                  </a:extLst>
                </a:gridCol>
                <a:gridCol w="565150">
                  <a:extLst>
                    <a:ext uri="{9D8B030D-6E8A-4147-A177-3AD203B41FA5}">
                      <a16:colId xmlns:a16="http://schemas.microsoft.com/office/drawing/2014/main" val="1619671827"/>
                    </a:ext>
                  </a:extLst>
                </a:gridCol>
              </a:tblGrid>
              <a:tr h="2635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Element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D</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0</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0</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a</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D</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0</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a:t>
                      </a:r>
                      <a:endParaRPr kumimoji="0" lang="en-US"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a</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D</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0</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a:t>
                      </a:r>
                      <a:endParaRPr kumimoji="0" lang="en-US"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a</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D</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0</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 </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a</a:t>
                      </a: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 </a:t>
                      </a:r>
                      <a:r>
                        <a:rPr kumimoji="0" lang="en-GB" altLang="en-US" sz="1400" b="1" i="0" u="none" strike="noStrike" cap="none" normalizeH="0" baseline="30000">
                          <a:ln>
                            <a:noFill/>
                          </a:ln>
                          <a:solidFill>
                            <a:srgbClr val="000000"/>
                          </a:solidFill>
                          <a:effectLst/>
                          <a:latin typeface="Arial" panose="020B0604020202020204" pitchFamily="34" charset="0"/>
                          <a:ea typeface="MS PGothic" panose="020B0600070205080204" pitchFamily="34" charset="-128"/>
                        </a:rPr>
                        <a:t>- -</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7432304"/>
                  </a:ext>
                </a:extLst>
              </a:tr>
              <a:tr h="274638">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Si</a:t>
                      </a:r>
                    </a:p>
                  </a:txBody>
                  <a:tcP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560</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4.76</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3881673167"/>
                  </a:ext>
                </a:extLst>
              </a:tr>
              <a:tr h="2635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B</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0.05</a:t>
                      </a: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3.5</a:t>
                      </a: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0.95</a:t>
                      </a: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3.5</a:t>
                      </a: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2922109884"/>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In</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3.5</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3.5</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4004988662"/>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As</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0.01</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3.44</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31.0</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4.15</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460274187"/>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Sb</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0.21</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3.65</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15.0</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4.08</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601536604"/>
                  </a:ext>
                </a:extLst>
              </a:tr>
              <a:tr h="26511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P</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3.85</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3.66</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4.44</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44.2</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4.37</a:t>
                      </a:r>
                      <a:endParaRPr kumimoji="0" lang="en-US" altLang="en-US"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2805516"/>
                  </a:ext>
                </a:extLst>
              </a:tr>
            </a:tbl>
          </a:graphicData>
        </a:graphic>
      </p:graphicFrame>
      <p:sp>
        <p:nvSpPr>
          <p:cNvPr id="257171" name="Text Box 147">
            <a:extLst>
              <a:ext uri="{FF2B5EF4-FFF2-40B4-BE49-F238E27FC236}">
                <a16:creationId xmlns:a16="http://schemas.microsoft.com/office/drawing/2014/main" id="{64E22318-35AE-524C-4ECF-AB0BBBE30DED}"/>
              </a:ext>
            </a:extLst>
          </p:cNvPr>
          <p:cNvSpPr txBox="1">
            <a:spLocks noChangeArrowheads="1"/>
          </p:cNvSpPr>
          <p:nvPr/>
        </p:nvSpPr>
        <p:spPr bwMode="auto">
          <a:xfrm>
            <a:off x="7794625" y="5691188"/>
            <a:ext cx="2641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solidFill>
                  <a:srgbClr val="000000"/>
                </a:solidFill>
              </a:rPr>
              <a:t>D  in cm</a:t>
            </a:r>
            <a:r>
              <a:rPr lang="en-GB" altLang="en-US" sz="1600" baseline="30000">
                <a:solidFill>
                  <a:srgbClr val="000000"/>
                </a:solidFill>
              </a:rPr>
              <a:t>2</a:t>
            </a:r>
            <a:r>
              <a:rPr lang="en-GB" altLang="en-US" sz="1600">
                <a:solidFill>
                  <a:srgbClr val="000000"/>
                </a:solidFill>
              </a:rPr>
              <a:t>sec</a:t>
            </a:r>
            <a:r>
              <a:rPr lang="en-GB" altLang="en-US" sz="1600" baseline="30000">
                <a:solidFill>
                  <a:srgbClr val="000000"/>
                </a:solidFill>
              </a:rPr>
              <a:t>-1</a:t>
            </a:r>
          </a:p>
          <a:p>
            <a:pPr eaLnBrk="1" hangingPunct="1">
              <a:spcBef>
                <a:spcPct val="50000"/>
              </a:spcBef>
            </a:pPr>
            <a:r>
              <a:rPr lang="en-GB" altLang="en-US" sz="1600">
                <a:solidFill>
                  <a:srgbClr val="000000"/>
                </a:solidFill>
              </a:rPr>
              <a:t>E</a:t>
            </a:r>
            <a:r>
              <a:rPr lang="en-GB" altLang="en-US" sz="1600" baseline="-25000">
                <a:solidFill>
                  <a:srgbClr val="000000"/>
                </a:solidFill>
              </a:rPr>
              <a:t>a</a:t>
            </a:r>
            <a:r>
              <a:rPr lang="en-GB" altLang="en-US" sz="1600">
                <a:solidFill>
                  <a:srgbClr val="000000"/>
                </a:solidFill>
              </a:rPr>
              <a:t> in eV </a:t>
            </a:r>
            <a:endParaRPr lang="en-US" altLang="en-US" sz="1600">
              <a:solidFill>
                <a:srgbClr val="000000"/>
              </a:solidFill>
            </a:endParaRPr>
          </a:p>
        </p:txBody>
      </p:sp>
      <p:sp>
        <p:nvSpPr>
          <p:cNvPr id="257173" name="Text Box 149">
            <a:extLst>
              <a:ext uri="{FF2B5EF4-FFF2-40B4-BE49-F238E27FC236}">
                <a16:creationId xmlns:a16="http://schemas.microsoft.com/office/drawing/2014/main" id="{76A83E56-168B-D4B6-F39B-D45FC8C9BD55}"/>
              </a:ext>
            </a:extLst>
          </p:cNvPr>
          <p:cNvSpPr txBox="1">
            <a:spLocks noChangeArrowheads="1"/>
          </p:cNvSpPr>
          <p:nvPr/>
        </p:nvSpPr>
        <p:spPr bwMode="auto">
          <a:xfrm>
            <a:off x="4660900" y="3540125"/>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solidFill>
                  <a:srgbClr val="000000"/>
                </a:solidFill>
              </a:rPr>
              <a:t>n type</a:t>
            </a:r>
            <a:endParaRPr lang="en-US" altLang="en-US" sz="1800">
              <a:solidFill>
                <a:srgbClr val="000000"/>
              </a:solidFill>
            </a:endParaRPr>
          </a:p>
        </p:txBody>
      </p:sp>
      <p:sp>
        <p:nvSpPr>
          <p:cNvPr id="257174" name="Text Box 150">
            <a:extLst>
              <a:ext uri="{FF2B5EF4-FFF2-40B4-BE49-F238E27FC236}">
                <a16:creationId xmlns:a16="http://schemas.microsoft.com/office/drawing/2014/main" id="{3E5CB8B1-6F21-E3E9-3CFE-58A0FEFE857E}"/>
              </a:ext>
            </a:extLst>
          </p:cNvPr>
          <p:cNvSpPr txBox="1">
            <a:spLocks noChangeArrowheads="1"/>
          </p:cNvSpPr>
          <p:nvPr/>
        </p:nvSpPr>
        <p:spPr bwMode="auto">
          <a:xfrm>
            <a:off x="4670425" y="4184650"/>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solidFill>
                  <a:srgbClr val="000000"/>
                </a:solidFill>
              </a:rPr>
              <a:t>p type</a:t>
            </a:r>
            <a:endParaRPr lang="en-US" altLang="en-US" sz="18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8CDA06D5-03F5-8CDA-AE93-F1C5C2F42747}"/>
              </a:ext>
            </a:extLst>
          </p:cNvPr>
          <p:cNvSpPr>
            <a:spLocks noGrp="1"/>
          </p:cNvSpPr>
          <p:nvPr>
            <p:ph type="sldNum" sz="quarter" idx="10"/>
          </p:nvPr>
        </p:nvSpPr>
        <p:spPr/>
        <p:txBody>
          <a:bodyPr/>
          <a:lstStyle/>
          <a:p>
            <a:r>
              <a:rPr lang="en-US" altLang="en-US"/>
              <a:t>Page </a:t>
            </a:r>
            <a:fld id="{0F26DBDA-D4A9-4BC1-88E0-16D75E6B92F1}" type="slidenum">
              <a:rPr lang="en-US" altLang="en-US"/>
              <a:pPr/>
              <a:t>17</a:t>
            </a:fld>
            <a:endParaRPr lang="en-US" altLang="en-US"/>
          </a:p>
        </p:txBody>
      </p:sp>
      <p:sp>
        <p:nvSpPr>
          <p:cNvPr id="269314" name="Rectangle 2">
            <a:extLst>
              <a:ext uri="{FF2B5EF4-FFF2-40B4-BE49-F238E27FC236}">
                <a16:creationId xmlns:a16="http://schemas.microsoft.com/office/drawing/2014/main" id="{76AF11F6-67C1-C990-0863-AE71E5B1B365}"/>
              </a:ext>
            </a:extLst>
          </p:cNvPr>
          <p:cNvSpPr>
            <a:spLocks noGrp="1" noChangeArrowheads="1"/>
          </p:cNvSpPr>
          <p:nvPr>
            <p:ph type="title"/>
          </p:nvPr>
        </p:nvSpPr>
        <p:spPr/>
        <p:txBody>
          <a:bodyPr/>
          <a:lstStyle/>
          <a:p>
            <a:r>
              <a:rPr lang="en-GB" altLang="en-US"/>
              <a:t>Other factors influencing diffusion</a:t>
            </a:r>
            <a:endParaRPr lang="en-US" altLang="en-US"/>
          </a:p>
        </p:txBody>
      </p:sp>
      <p:sp>
        <p:nvSpPr>
          <p:cNvPr id="269315" name="Rectangle 3">
            <a:extLst>
              <a:ext uri="{FF2B5EF4-FFF2-40B4-BE49-F238E27FC236}">
                <a16:creationId xmlns:a16="http://schemas.microsoft.com/office/drawing/2014/main" id="{A4362A90-E5F2-D17A-84F9-AC8B91BDC508}"/>
              </a:ext>
            </a:extLst>
          </p:cNvPr>
          <p:cNvSpPr>
            <a:spLocks noGrp="1" noChangeArrowheads="1"/>
          </p:cNvSpPr>
          <p:nvPr>
            <p:ph type="body" idx="1"/>
          </p:nvPr>
        </p:nvSpPr>
        <p:spPr>
          <a:xfrm>
            <a:off x="1879600" y="1257300"/>
            <a:ext cx="8402638" cy="4114800"/>
          </a:xfrm>
        </p:spPr>
        <p:txBody>
          <a:bodyPr/>
          <a:lstStyle/>
          <a:p>
            <a:r>
              <a:rPr lang="en-GB" altLang="en-US" sz="2000"/>
              <a:t>Segregation</a:t>
            </a:r>
          </a:p>
          <a:p>
            <a:pPr lvl="1"/>
            <a:r>
              <a:rPr lang="en-GB" altLang="en-US"/>
              <a:t>Different solid solubility in different materials</a:t>
            </a:r>
          </a:p>
          <a:p>
            <a:endParaRPr lang="en-GB" altLang="en-US" sz="2000"/>
          </a:p>
          <a:p>
            <a:r>
              <a:rPr lang="en-GB" altLang="en-US" sz="2000"/>
              <a:t>Interfacial dopant pile-up</a:t>
            </a:r>
          </a:p>
          <a:p>
            <a:pPr lvl="1"/>
            <a:r>
              <a:rPr lang="en-GB" altLang="en-US"/>
              <a:t>Dopants piling up in a very thin, inactive interfacial layer between Si and SiO</a:t>
            </a:r>
            <a:r>
              <a:rPr lang="en-GB" altLang="en-US" baseline="-25000"/>
              <a:t>2</a:t>
            </a:r>
          </a:p>
          <a:p>
            <a:pPr lvl="1">
              <a:buFontTx/>
              <a:buNone/>
            </a:pPr>
            <a:endParaRPr lang="en-US" altLang="en-US"/>
          </a:p>
        </p:txBody>
      </p:sp>
      <p:graphicFrame>
        <p:nvGraphicFramePr>
          <p:cNvPr id="269316" name="Object 4">
            <a:extLst>
              <a:ext uri="{FF2B5EF4-FFF2-40B4-BE49-F238E27FC236}">
                <a16:creationId xmlns:a16="http://schemas.microsoft.com/office/drawing/2014/main" id="{7527AFAD-0B85-E3E3-8EB3-61FE97DC2A1E}"/>
              </a:ext>
            </a:extLst>
          </p:cNvPr>
          <p:cNvGraphicFramePr>
            <a:graphicFrameLocks noChangeAspect="1"/>
          </p:cNvGraphicFramePr>
          <p:nvPr/>
        </p:nvGraphicFramePr>
        <p:xfrm>
          <a:off x="5902325" y="3429001"/>
          <a:ext cx="4343400" cy="3071813"/>
        </p:xfrm>
        <a:graphic>
          <a:graphicData uri="http://schemas.openxmlformats.org/presentationml/2006/ole">
            <mc:AlternateContent xmlns:mc="http://schemas.openxmlformats.org/markup-compatibility/2006">
              <mc:Choice xmlns:v="urn:schemas-microsoft-com:vml" Requires="v">
                <p:oleObj name="Document" r:id="rId3" imgW="4687824" imgH="3316224" progId="Word.Document.8">
                  <p:embed/>
                </p:oleObj>
              </mc:Choice>
              <mc:Fallback>
                <p:oleObj name="Document" r:id="rId3" imgW="4687824" imgH="3316224" progId="Word.Document.8">
                  <p:embed/>
                  <p:pic>
                    <p:nvPicPr>
                      <p:cNvPr id="269316" name="Object 4">
                        <a:extLst>
                          <a:ext uri="{FF2B5EF4-FFF2-40B4-BE49-F238E27FC236}">
                            <a16:creationId xmlns:a16="http://schemas.microsoft.com/office/drawing/2014/main" id="{7527AFAD-0B85-E3E3-8EB3-61FE97DC2A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2325" y="3429001"/>
                        <a:ext cx="4343400" cy="307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17" name="Text Box 5">
            <a:extLst>
              <a:ext uri="{FF2B5EF4-FFF2-40B4-BE49-F238E27FC236}">
                <a16:creationId xmlns:a16="http://schemas.microsoft.com/office/drawing/2014/main" id="{B8AEE265-FC35-AC69-8F1C-E7F33FF56BDE}"/>
              </a:ext>
            </a:extLst>
          </p:cNvPr>
          <p:cNvSpPr txBox="1">
            <a:spLocks noChangeArrowheads="1"/>
          </p:cNvSpPr>
          <p:nvPr/>
        </p:nvSpPr>
        <p:spPr bwMode="auto">
          <a:xfrm>
            <a:off x="2127251" y="5624514"/>
            <a:ext cx="4183063" cy="719137"/>
          </a:xfrm>
          <a:prstGeom prst="rect">
            <a:avLst/>
          </a:prstGeom>
          <a:noFill/>
          <a:ln w="9525"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marL="447675" indent="-247650"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marL="638175" indent="-142875"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marL="876300" indent="-200025"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marL="1085850" indent="-171450"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marL="15430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0002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24574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2914650" indent="-17145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35000"/>
              </a:spcBef>
              <a:buFont typeface="Times" panose="02020603050405020304" pitchFamily="18" charset="0"/>
              <a:buChar char="•"/>
            </a:pPr>
            <a:r>
              <a:rPr lang="en-US" altLang="en-US" sz="2000">
                <a:solidFill>
                  <a:srgbClr val="000000"/>
                </a:solidFill>
              </a:rPr>
              <a:t>N-type dopants tend to pile-up </a:t>
            </a:r>
          </a:p>
          <a:p>
            <a:pPr eaLnBrk="1" hangingPunct="1">
              <a:spcBef>
                <a:spcPct val="35000"/>
              </a:spcBef>
              <a:buFont typeface="Times" panose="02020603050405020304" pitchFamily="18" charset="0"/>
              <a:buChar char="•"/>
            </a:pPr>
            <a:r>
              <a:rPr lang="en-US" altLang="en-US" sz="2000">
                <a:solidFill>
                  <a:srgbClr val="000000"/>
                </a:solidFill>
              </a:rPr>
              <a:t>Boron depletes </a:t>
            </a:r>
          </a:p>
        </p:txBody>
      </p:sp>
      <p:graphicFrame>
        <p:nvGraphicFramePr>
          <p:cNvPr id="269318" name="Object 6">
            <a:extLst>
              <a:ext uri="{FF2B5EF4-FFF2-40B4-BE49-F238E27FC236}">
                <a16:creationId xmlns:a16="http://schemas.microsoft.com/office/drawing/2014/main" id="{070CDD4C-26D0-2629-C153-DCAEE0F7F32F}"/>
              </a:ext>
            </a:extLst>
          </p:cNvPr>
          <p:cNvGraphicFramePr>
            <a:graphicFrameLocks noChangeAspect="1"/>
          </p:cNvGraphicFramePr>
          <p:nvPr/>
        </p:nvGraphicFramePr>
        <p:xfrm>
          <a:off x="1820863" y="3429001"/>
          <a:ext cx="2678112" cy="2068513"/>
        </p:xfrm>
        <a:graphic>
          <a:graphicData uri="http://schemas.openxmlformats.org/presentationml/2006/ole">
            <mc:AlternateContent xmlns:mc="http://schemas.openxmlformats.org/markup-compatibility/2006">
              <mc:Choice xmlns:v="urn:schemas-microsoft-com:vml" Requires="v">
                <p:oleObj name="Document" r:id="rId5" imgW="2602992" imgH="2011680" progId="Word.Document.8">
                  <p:embed/>
                </p:oleObj>
              </mc:Choice>
              <mc:Fallback>
                <p:oleObj name="Document" r:id="rId5" imgW="2602992" imgH="2011680" progId="Word.Document.8">
                  <p:embed/>
                  <p:pic>
                    <p:nvPicPr>
                      <p:cNvPr id="269318" name="Object 6">
                        <a:extLst>
                          <a:ext uri="{FF2B5EF4-FFF2-40B4-BE49-F238E27FC236}">
                            <a16:creationId xmlns:a16="http://schemas.microsoft.com/office/drawing/2014/main" id="{070CDD4C-26D0-2629-C153-DCAEE0F7F3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0863" y="3429001"/>
                        <a:ext cx="2678112" cy="206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B04072A-548A-D319-8C5C-897885DA0631}"/>
              </a:ext>
            </a:extLst>
          </p:cNvPr>
          <p:cNvSpPr>
            <a:spLocks noGrp="1"/>
          </p:cNvSpPr>
          <p:nvPr>
            <p:ph type="sldNum" sz="quarter" idx="10"/>
          </p:nvPr>
        </p:nvSpPr>
        <p:spPr/>
        <p:txBody>
          <a:bodyPr/>
          <a:lstStyle/>
          <a:p>
            <a:r>
              <a:rPr lang="en-US" altLang="en-US"/>
              <a:t>Page </a:t>
            </a:r>
            <a:fld id="{50E1251C-B930-4DE8-A66D-56F57110F9EA}" type="slidenum">
              <a:rPr lang="en-US" altLang="en-US"/>
              <a:pPr/>
              <a:t>18</a:t>
            </a:fld>
            <a:endParaRPr lang="en-US" altLang="en-US"/>
          </a:p>
        </p:txBody>
      </p:sp>
      <p:sp>
        <p:nvSpPr>
          <p:cNvPr id="271362" name="Rectangle 2">
            <a:extLst>
              <a:ext uri="{FF2B5EF4-FFF2-40B4-BE49-F238E27FC236}">
                <a16:creationId xmlns:a16="http://schemas.microsoft.com/office/drawing/2014/main" id="{61B5769D-BE84-A2C8-EA9B-2DC001A6395B}"/>
              </a:ext>
            </a:extLst>
          </p:cNvPr>
          <p:cNvSpPr>
            <a:spLocks noGrp="1" noChangeArrowheads="1"/>
          </p:cNvSpPr>
          <p:nvPr>
            <p:ph type="title"/>
          </p:nvPr>
        </p:nvSpPr>
        <p:spPr/>
        <p:txBody>
          <a:bodyPr/>
          <a:lstStyle/>
          <a:p>
            <a:r>
              <a:rPr lang="en-GB" altLang="en-US"/>
              <a:t>Diffusion at atomic scale</a:t>
            </a:r>
            <a:endParaRPr lang="en-US" altLang="en-US"/>
          </a:p>
        </p:txBody>
      </p:sp>
      <p:sp>
        <p:nvSpPr>
          <p:cNvPr id="271363" name="Rectangle 3">
            <a:extLst>
              <a:ext uri="{FF2B5EF4-FFF2-40B4-BE49-F238E27FC236}">
                <a16:creationId xmlns:a16="http://schemas.microsoft.com/office/drawing/2014/main" id="{8F564C93-58A7-C3BA-98BD-2AEC8C92D60A}"/>
              </a:ext>
            </a:extLst>
          </p:cNvPr>
          <p:cNvSpPr>
            <a:spLocks noGrp="1" noChangeArrowheads="1"/>
          </p:cNvSpPr>
          <p:nvPr>
            <p:ph type="body" idx="1"/>
          </p:nvPr>
        </p:nvSpPr>
        <p:spPr/>
        <p:txBody>
          <a:bodyPr/>
          <a:lstStyle/>
          <a:p>
            <a:r>
              <a:rPr lang="en-GB" altLang="en-US"/>
              <a:t>Diffusion of dopants is strictly related to the presence of point defects</a:t>
            </a:r>
            <a:endParaRPr lang="en-US" altLang="en-US"/>
          </a:p>
        </p:txBody>
      </p:sp>
      <p:sp>
        <p:nvSpPr>
          <p:cNvPr id="271365" name="Text Box 5">
            <a:extLst>
              <a:ext uri="{FF2B5EF4-FFF2-40B4-BE49-F238E27FC236}">
                <a16:creationId xmlns:a16="http://schemas.microsoft.com/office/drawing/2014/main" id="{C078F1E6-2290-E57A-8260-6B642FE5596B}"/>
              </a:ext>
            </a:extLst>
          </p:cNvPr>
          <p:cNvSpPr txBox="1">
            <a:spLocks noChangeArrowheads="1"/>
          </p:cNvSpPr>
          <p:nvPr/>
        </p:nvSpPr>
        <p:spPr bwMode="auto">
          <a:xfrm>
            <a:off x="1784351" y="4876801"/>
            <a:ext cx="76485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a:solidFill>
                  <a:srgbClr val="000000"/>
                </a:solidFill>
              </a:rPr>
              <a:t>A vacancy can let an atom hop to an adjacent site</a:t>
            </a:r>
          </a:p>
          <a:p>
            <a:pPr eaLnBrk="1" hangingPunct="1">
              <a:spcBef>
                <a:spcPct val="50000"/>
              </a:spcBef>
              <a:buFont typeface="Times" panose="02020603050405020304" pitchFamily="18" charset="0"/>
              <a:buChar char="•"/>
            </a:pPr>
            <a:r>
              <a:rPr lang="en-GB" altLang="en-US" sz="1800">
                <a:solidFill>
                  <a:srgbClr val="000000"/>
                </a:solidFill>
              </a:rPr>
              <a:t>An interstitial can kick out an atom from a lattice position</a:t>
            </a:r>
          </a:p>
          <a:p>
            <a:pPr eaLnBrk="1" hangingPunct="1">
              <a:spcBef>
                <a:spcPct val="50000"/>
              </a:spcBef>
              <a:buFont typeface="Times" panose="02020603050405020304" pitchFamily="18" charset="0"/>
              <a:buChar char="•"/>
            </a:pPr>
            <a:r>
              <a:rPr lang="en-GB" altLang="en-US" sz="1800">
                <a:solidFill>
                  <a:srgbClr val="000000"/>
                </a:solidFill>
              </a:rPr>
              <a:t>An interstitial/dopant pair can travel along bonds directions </a:t>
            </a:r>
            <a:endParaRPr lang="en-US" altLang="en-US" sz="1800">
              <a:solidFill>
                <a:srgbClr val="000000"/>
              </a:solidFill>
            </a:endParaRPr>
          </a:p>
        </p:txBody>
      </p:sp>
      <p:sp>
        <p:nvSpPr>
          <p:cNvPr id="271366" name="AutoShape 6">
            <a:extLst>
              <a:ext uri="{FF2B5EF4-FFF2-40B4-BE49-F238E27FC236}">
                <a16:creationId xmlns:a16="http://schemas.microsoft.com/office/drawing/2014/main" id="{3C72E768-9809-CD0B-3153-B556D48A80F8}"/>
              </a:ext>
            </a:extLst>
          </p:cNvPr>
          <p:cNvSpPr>
            <a:spLocks/>
          </p:cNvSpPr>
          <p:nvPr/>
        </p:nvSpPr>
        <p:spPr bwMode="auto">
          <a:xfrm>
            <a:off x="8012113" y="5384800"/>
            <a:ext cx="158750" cy="609600"/>
          </a:xfrm>
          <a:prstGeom prst="rightBrace">
            <a:avLst>
              <a:gd name="adj1" fmla="val 32000"/>
              <a:gd name="adj2" fmla="val 50000"/>
            </a:avLst>
          </a:prstGeom>
          <a:noFill/>
          <a:ln w="12700">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1367" name="Text Box 7">
            <a:extLst>
              <a:ext uri="{FF2B5EF4-FFF2-40B4-BE49-F238E27FC236}">
                <a16:creationId xmlns:a16="http://schemas.microsoft.com/office/drawing/2014/main" id="{BE93EDD3-99FB-38DB-DBF1-ECF9C5DB8C32}"/>
              </a:ext>
            </a:extLst>
          </p:cNvPr>
          <p:cNvSpPr txBox="1">
            <a:spLocks noChangeArrowheads="1"/>
          </p:cNvSpPr>
          <p:nvPr/>
        </p:nvSpPr>
        <p:spPr bwMode="auto">
          <a:xfrm>
            <a:off x="8345489" y="5443539"/>
            <a:ext cx="2105025" cy="584775"/>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solidFill>
                  <a:srgbClr val="000000"/>
                </a:solidFill>
              </a:rPr>
              <a:t>Interstitial-assisted diffusion</a:t>
            </a:r>
            <a:endParaRPr lang="en-US" altLang="en-US" sz="1600">
              <a:solidFill>
                <a:srgbClr val="000000"/>
              </a:solidFill>
            </a:endParaRPr>
          </a:p>
        </p:txBody>
      </p:sp>
      <p:graphicFrame>
        <p:nvGraphicFramePr>
          <p:cNvPr id="271368" name="Object 8">
            <a:extLst>
              <a:ext uri="{FF2B5EF4-FFF2-40B4-BE49-F238E27FC236}">
                <a16:creationId xmlns:a16="http://schemas.microsoft.com/office/drawing/2014/main" id="{C834347C-23B9-7075-D315-5107576F39FA}"/>
              </a:ext>
            </a:extLst>
          </p:cNvPr>
          <p:cNvGraphicFramePr>
            <a:graphicFrameLocks noChangeAspect="1"/>
          </p:cNvGraphicFramePr>
          <p:nvPr/>
        </p:nvGraphicFramePr>
        <p:xfrm>
          <a:off x="2266950" y="2514600"/>
          <a:ext cx="1892300" cy="1874838"/>
        </p:xfrm>
        <a:graphic>
          <a:graphicData uri="http://schemas.openxmlformats.org/presentationml/2006/ole">
            <mc:AlternateContent xmlns:mc="http://schemas.openxmlformats.org/markup-compatibility/2006">
              <mc:Choice xmlns:v="urn:schemas-microsoft-com:vml" Requires="v">
                <p:oleObj name="Document" r:id="rId3" imgW="1892808" imgH="1874520" progId="Word.Document.8">
                  <p:embed/>
                </p:oleObj>
              </mc:Choice>
              <mc:Fallback>
                <p:oleObj name="Document" r:id="rId3" imgW="1892808" imgH="1874520" progId="Word.Document.8">
                  <p:embed/>
                  <p:pic>
                    <p:nvPicPr>
                      <p:cNvPr id="271368" name="Object 8">
                        <a:extLst>
                          <a:ext uri="{FF2B5EF4-FFF2-40B4-BE49-F238E27FC236}">
                            <a16:creationId xmlns:a16="http://schemas.microsoft.com/office/drawing/2014/main" id="{C834347C-23B9-7075-D315-5107576F39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2514600"/>
                        <a:ext cx="1892300" cy="187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69" name="Object 9">
            <a:extLst>
              <a:ext uri="{FF2B5EF4-FFF2-40B4-BE49-F238E27FC236}">
                <a16:creationId xmlns:a16="http://schemas.microsoft.com/office/drawing/2014/main" id="{9A058958-F71A-A006-6625-95EC9118CA5B}"/>
              </a:ext>
            </a:extLst>
          </p:cNvPr>
          <p:cNvGraphicFramePr>
            <a:graphicFrameLocks noChangeAspect="1"/>
          </p:cNvGraphicFramePr>
          <p:nvPr/>
        </p:nvGraphicFramePr>
        <p:xfrm>
          <a:off x="5619750" y="2590800"/>
          <a:ext cx="2197100" cy="1765300"/>
        </p:xfrm>
        <a:graphic>
          <a:graphicData uri="http://schemas.openxmlformats.org/presentationml/2006/ole">
            <mc:AlternateContent xmlns:mc="http://schemas.openxmlformats.org/markup-compatibility/2006">
              <mc:Choice xmlns:v="urn:schemas-microsoft-com:vml" Requires="v">
                <p:oleObj name="Document" r:id="rId5" imgW="2197608" imgH="1764792" progId="Word.Document.8">
                  <p:embed/>
                </p:oleObj>
              </mc:Choice>
              <mc:Fallback>
                <p:oleObj name="Document" r:id="rId5" imgW="2197608" imgH="1764792" progId="Word.Document.8">
                  <p:embed/>
                  <p:pic>
                    <p:nvPicPr>
                      <p:cNvPr id="271369" name="Object 9">
                        <a:extLst>
                          <a:ext uri="{FF2B5EF4-FFF2-40B4-BE49-F238E27FC236}">
                            <a16:creationId xmlns:a16="http://schemas.microsoft.com/office/drawing/2014/main" id="{9A058958-F71A-A006-6625-95EC9118CA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9750" y="2590800"/>
                        <a:ext cx="2197100"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70" name="Object 10">
            <a:extLst>
              <a:ext uri="{FF2B5EF4-FFF2-40B4-BE49-F238E27FC236}">
                <a16:creationId xmlns:a16="http://schemas.microsoft.com/office/drawing/2014/main" id="{7A6A5006-CE8A-58FB-7940-9BE53E01008F}"/>
              </a:ext>
            </a:extLst>
          </p:cNvPr>
          <p:cNvGraphicFramePr>
            <a:graphicFrameLocks noChangeAspect="1"/>
          </p:cNvGraphicFramePr>
          <p:nvPr/>
        </p:nvGraphicFramePr>
        <p:xfrm>
          <a:off x="8134350" y="2438401"/>
          <a:ext cx="1957388" cy="1990725"/>
        </p:xfrm>
        <a:graphic>
          <a:graphicData uri="http://schemas.openxmlformats.org/presentationml/2006/ole">
            <mc:AlternateContent xmlns:mc="http://schemas.openxmlformats.org/markup-compatibility/2006">
              <mc:Choice xmlns:v="urn:schemas-microsoft-com:vml" Requires="v">
                <p:oleObj name="Document" r:id="rId7" imgW="1956816" imgH="1990344" progId="Word.Document.8">
                  <p:embed/>
                </p:oleObj>
              </mc:Choice>
              <mc:Fallback>
                <p:oleObj name="Document" r:id="rId7" imgW="1956816" imgH="1990344" progId="Word.Document.8">
                  <p:embed/>
                  <p:pic>
                    <p:nvPicPr>
                      <p:cNvPr id="271370" name="Object 10">
                        <a:extLst>
                          <a:ext uri="{FF2B5EF4-FFF2-40B4-BE49-F238E27FC236}">
                            <a16:creationId xmlns:a16="http://schemas.microsoft.com/office/drawing/2014/main" id="{7A6A5006-CE8A-58FB-7940-9BE53E0100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34350" y="2438401"/>
                        <a:ext cx="1957388" cy="199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B7DBE59-63CA-E29A-8020-6909876FC90E}"/>
              </a:ext>
            </a:extLst>
          </p:cNvPr>
          <p:cNvSpPr>
            <a:spLocks noGrp="1"/>
          </p:cNvSpPr>
          <p:nvPr>
            <p:ph type="sldNum" sz="quarter" idx="10"/>
          </p:nvPr>
        </p:nvSpPr>
        <p:spPr/>
        <p:txBody>
          <a:bodyPr/>
          <a:lstStyle/>
          <a:p>
            <a:r>
              <a:rPr lang="en-US" altLang="en-US"/>
              <a:t>Page </a:t>
            </a:r>
            <a:fld id="{3893C449-AE8B-443D-BFDC-325E63DBBCCE}" type="slidenum">
              <a:rPr lang="en-US" altLang="en-US"/>
              <a:pPr/>
              <a:t>19</a:t>
            </a:fld>
            <a:endParaRPr lang="en-US" altLang="en-US"/>
          </a:p>
        </p:txBody>
      </p:sp>
      <p:sp>
        <p:nvSpPr>
          <p:cNvPr id="272386" name="Rectangle 2">
            <a:extLst>
              <a:ext uri="{FF2B5EF4-FFF2-40B4-BE49-F238E27FC236}">
                <a16:creationId xmlns:a16="http://schemas.microsoft.com/office/drawing/2014/main" id="{F3802E04-5EFF-9194-9575-813B91D3D8CC}"/>
              </a:ext>
            </a:extLst>
          </p:cNvPr>
          <p:cNvSpPr>
            <a:spLocks noGrp="1" noChangeArrowheads="1"/>
          </p:cNvSpPr>
          <p:nvPr>
            <p:ph type="title"/>
          </p:nvPr>
        </p:nvSpPr>
        <p:spPr/>
        <p:txBody>
          <a:bodyPr/>
          <a:lstStyle/>
          <a:p>
            <a:r>
              <a:rPr lang="en-GB" altLang="en-US"/>
              <a:t>Diffusion at atomic scale</a:t>
            </a:r>
            <a:endParaRPr lang="en-US" altLang="en-US"/>
          </a:p>
        </p:txBody>
      </p:sp>
      <p:sp>
        <p:nvSpPr>
          <p:cNvPr id="272387" name="Rectangle 3">
            <a:extLst>
              <a:ext uri="{FF2B5EF4-FFF2-40B4-BE49-F238E27FC236}">
                <a16:creationId xmlns:a16="http://schemas.microsoft.com/office/drawing/2014/main" id="{91F7CC30-4A56-20D2-4202-61776B3CA451}"/>
              </a:ext>
            </a:extLst>
          </p:cNvPr>
          <p:cNvSpPr>
            <a:spLocks noGrp="1" noChangeArrowheads="1"/>
          </p:cNvSpPr>
          <p:nvPr>
            <p:ph type="body" idx="1"/>
          </p:nvPr>
        </p:nvSpPr>
        <p:spPr/>
        <p:txBody>
          <a:bodyPr/>
          <a:lstStyle/>
          <a:p>
            <a:r>
              <a:rPr lang="en-GB" altLang="en-US"/>
              <a:t>Oxidation can enhance or retard diffusion</a:t>
            </a:r>
            <a:endParaRPr lang="en-US" altLang="en-US"/>
          </a:p>
        </p:txBody>
      </p:sp>
      <p:sp>
        <p:nvSpPr>
          <p:cNvPr id="272395" name="Text Box 11">
            <a:extLst>
              <a:ext uri="{FF2B5EF4-FFF2-40B4-BE49-F238E27FC236}">
                <a16:creationId xmlns:a16="http://schemas.microsoft.com/office/drawing/2014/main" id="{C195A015-6D24-1565-ED2E-804F2E3A323C}"/>
              </a:ext>
            </a:extLst>
          </p:cNvPr>
          <p:cNvSpPr txBox="1">
            <a:spLocks noChangeArrowheads="1"/>
          </p:cNvSpPr>
          <p:nvPr/>
        </p:nvSpPr>
        <p:spPr bwMode="auto">
          <a:xfrm>
            <a:off x="6096001" y="2903539"/>
            <a:ext cx="4397375" cy="2031325"/>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b="1">
                <a:solidFill>
                  <a:srgbClr val="000000"/>
                </a:solidFill>
              </a:rPr>
              <a:t>Oxidation injects interstitials and absorbs vacancies:</a:t>
            </a:r>
          </a:p>
          <a:p>
            <a:pPr lvl="1" eaLnBrk="1" hangingPunct="1">
              <a:spcBef>
                <a:spcPct val="50000"/>
              </a:spcBef>
              <a:buFont typeface="Times" panose="02020603050405020304" pitchFamily="18" charset="0"/>
              <a:buChar char="•"/>
            </a:pPr>
            <a:r>
              <a:rPr lang="en-GB" altLang="en-US" sz="1800">
                <a:solidFill>
                  <a:srgbClr val="000000"/>
                </a:solidFill>
              </a:rPr>
              <a:t>B e P show interstitial-assisted diffusion</a:t>
            </a:r>
          </a:p>
          <a:p>
            <a:pPr lvl="1" eaLnBrk="1" hangingPunct="1">
              <a:spcBef>
                <a:spcPct val="50000"/>
              </a:spcBef>
              <a:buFont typeface="Times" panose="02020603050405020304" pitchFamily="18" charset="0"/>
              <a:buChar char="•"/>
            </a:pPr>
            <a:r>
              <a:rPr lang="en-GB" altLang="en-US" sz="1800">
                <a:solidFill>
                  <a:srgbClr val="000000"/>
                </a:solidFill>
              </a:rPr>
              <a:t>Sb shows vacancy-assisted diffusion</a:t>
            </a:r>
            <a:endParaRPr lang="en-US" altLang="en-US" sz="1800">
              <a:solidFill>
                <a:srgbClr val="000000"/>
              </a:solidFill>
            </a:endParaRPr>
          </a:p>
        </p:txBody>
      </p:sp>
      <p:graphicFrame>
        <p:nvGraphicFramePr>
          <p:cNvPr id="272396" name="Object 12">
            <a:extLst>
              <a:ext uri="{FF2B5EF4-FFF2-40B4-BE49-F238E27FC236}">
                <a16:creationId xmlns:a16="http://schemas.microsoft.com/office/drawing/2014/main" id="{B45FFAD1-0718-8D37-DA72-EAE2F2DB021D}"/>
              </a:ext>
            </a:extLst>
          </p:cNvPr>
          <p:cNvGraphicFramePr>
            <a:graphicFrameLocks noChangeAspect="1"/>
          </p:cNvGraphicFramePr>
          <p:nvPr/>
        </p:nvGraphicFramePr>
        <p:xfrm>
          <a:off x="1524000" y="2438400"/>
          <a:ext cx="4459288" cy="3252788"/>
        </p:xfrm>
        <a:graphic>
          <a:graphicData uri="http://schemas.openxmlformats.org/presentationml/2006/ole">
            <mc:AlternateContent xmlns:mc="http://schemas.openxmlformats.org/markup-compatibility/2006">
              <mc:Choice xmlns:v="urn:schemas-microsoft-com:vml" Requires="v">
                <p:oleObj name="Document" r:id="rId3" imgW="4459224" imgH="3252216" progId="Word.Document.8">
                  <p:embed/>
                </p:oleObj>
              </mc:Choice>
              <mc:Fallback>
                <p:oleObj name="Document" r:id="rId3" imgW="4459224" imgH="3252216" progId="Word.Document.8">
                  <p:embed/>
                  <p:pic>
                    <p:nvPicPr>
                      <p:cNvPr id="272396" name="Object 12">
                        <a:extLst>
                          <a:ext uri="{FF2B5EF4-FFF2-40B4-BE49-F238E27FC236}">
                            <a16:creationId xmlns:a16="http://schemas.microsoft.com/office/drawing/2014/main" id="{B45FFAD1-0718-8D37-DA72-EAE2F2DB0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438400"/>
                        <a:ext cx="4459288" cy="325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160194D-6E30-AA4F-9AF0-2198D66335D6}"/>
              </a:ext>
            </a:extLst>
          </p:cNvPr>
          <p:cNvSpPr>
            <a:spLocks noGrp="1"/>
          </p:cNvSpPr>
          <p:nvPr>
            <p:ph type="sldNum" sz="quarter" idx="10"/>
          </p:nvPr>
        </p:nvSpPr>
        <p:spPr/>
        <p:txBody>
          <a:bodyPr/>
          <a:lstStyle/>
          <a:p>
            <a:r>
              <a:rPr lang="en-US" altLang="en-US"/>
              <a:t>Page </a:t>
            </a:r>
            <a:fld id="{305F0D9D-91F4-4ED0-B551-817D2C4D4662}" type="slidenum">
              <a:rPr lang="en-US" altLang="en-US"/>
              <a:pPr/>
              <a:t>20</a:t>
            </a:fld>
            <a:endParaRPr lang="en-US" altLang="en-US"/>
          </a:p>
        </p:txBody>
      </p:sp>
      <p:sp>
        <p:nvSpPr>
          <p:cNvPr id="275458" name="Rectangle 2">
            <a:extLst>
              <a:ext uri="{FF2B5EF4-FFF2-40B4-BE49-F238E27FC236}">
                <a16:creationId xmlns:a16="http://schemas.microsoft.com/office/drawing/2014/main" id="{2003CD55-EEDC-68A0-5305-A876F837DA6C}"/>
              </a:ext>
            </a:extLst>
          </p:cNvPr>
          <p:cNvSpPr>
            <a:spLocks noGrp="1" noChangeArrowheads="1"/>
          </p:cNvSpPr>
          <p:nvPr>
            <p:ph type="title"/>
          </p:nvPr>
        </p:nvSpPr>
        <p:spPr/>
        <p:txBody>
          <a:bodyPr/>
          <a:lstStyle/>
          <a:p>
            <a:r>
              <a:rPr lang="en-GB" altLang="en-US"/>
              <a:t>Diffusion at atomic scale</a:t>
            </a:r>
            <a:endParaRPr lang="en-US" altLang="en-US"/>
          </a:p>
        </p:txBody>
      </p:sp>
      <p:sp>
        <p:nvSpPr>
          <p:cNvPr id="275459" name="Rectangle 3">
            <a:extLst>
              <a:ext uri="{FF2B5EF4-FFF2-40B4-BE49-F238E27FC236}">
                <a16:creationId xmlns:a16="http://schemas.microsoft.com/office/drawing/2014/main" id="{6D53FE9D-7E46-717A-6EFA-30A3C8584CCE}"/>
              </a:ext>
            </a:extLst>
          </p:cNvPr>
          <p:cNvSpPr>
            <a:spLocks noGrp="1" noChangeArrowheads="1"/>
          </p:cNvSpPr>
          <p:nvPr>
            <p:ph type="body" idx="1"/>
          </p:nvPr>
        </p:nvSpPr>
        <p:spPr/>
        <p:txBody>
          <a:bodyPr/>
          <a:lstStyle/>
          <a:p>
            <a:r>
              <a:rPr lang="en-GB" altLang="en-US"/>
              <a:t>The diffusivity can be generally written as:</a:t>
            </a:r>
            <a:endParaRPr lang="en-US" altLang="en-US"/>
          </a:p>
        </p:txBody>
      </p:sp>
      <p:graphicFrame>
        <p:nvGraphicFramePr>
          <p:cNvPr id="275463" name="Object 7">
            <a:extLst>
              <a:ext uri="{FF2B5EF4-FFF2-40B4-BE49-F238E27FC236}">
                <a16:creationId xmlns:a16="http://schemas.microsoft.com/office/drawing/2014/main" id="{629C308E-0FF0-4030-D4D6-44A96E403FA7}"/>
              </a:ext>
            </a:extLst>
          </p:cNvPr>
          <p:cNvGraphicFramePr>
            <a:graphicFrameLocks noChangeAspect="1"/>
          </p:cNvGraphicFramePr>
          <p:nvPr/>
        </p:nvGraphicFramePr>
        <p:xfrm>
          <a:off x="3116264" y="2100263"/>
          <a:ext cx="3106737" cy="874712"/>
        </p:xfrm>
        <a:graphic>
          <a:graphicData uri="http://schemas.openxmlformats.org/presentationml/2006/ole">
            <mc:AlternateContent xmlns:mc="http://schemas.openxmlformats.org/markup-compatibility/2006">
              <mc:Choice xmlns:v="urn:schemas-microsoft-com:vml" Requires="v">
                <p:oleObj name="Equation" r:id="rId3" imgW="1714320" imgH="482400" progId="Equation.3">
                  <p:embed/>
                </p:oleObj>
              </mc:Choice>
              <mc:Fallback>
                <p:oleObj name="Equation" r:id="rId3" imgW="1714320" imgH="482400" progId="Equation.3">
                  <p:embed/>
                  <p:pic>
                    <p:nvPicPr>
                      <p:cNvPr id="275463" name="Object 7">
                        <a:extLst>
                          <a:ext uri="{FF2B5EF4-FFF2-40B4-BE49-F238E27FC236}">
                            <a16:creationId xmlns:a16="http://schemas.microsoft.com/office/drawing/2014/main" id="{629C308E-0FF0-4030-D4D6-44A96E403F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6264" y="2100263"/>
                        <a:ext cx="3106737"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5466" name="Text Box 10">
            <a:extLst>
              <a:ext uri="{FF2B5EF4-FFF2-40B4-BE49-F238E27FC236}">
                <a16:creationId xmlns:a16="http://schemas.microsoft.com/office/drawing/2014/main" id="{E52DD833-ADA1-5E30-5C51-7737F91D5408}"/>
              </a:ext>
            </a:extLst>
          </p:cNvPr>
          <p:cNvSpPr txBox="1">
            <a:spLocks noChangeArrowheads="1"/>
          </p:cNvSpPr>
          <p:nvPr/>
        </p:nvSpPr>
        <p:spPr bwMode="auto">
          <a:xfrm>
            <a:off x="1728788" y="3871914"/>
            <a:ext cx="4367212" cy="2062103"/>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b="1">
                <a:solidFill>
                  <a:srgbClr val="000000"/>
                </a:solidFill>
              </a:rPr>
              <a:t>f</a:t>
            </a:r>
            <a:r>
              <a:rPr lang="en-GB" altLang="en-US" sz="1600" b="1" baseline="-25000">
                <a:solidFill>
                  <a:srgbClr val="000000"/>
                </a:solidFill>
              </a:rPr>
              <a:t>i</a:t>
            </a:r>
            <a:r>
              <a:rPr lang="en-GB" altLang="en-US" sz="1600">
                <a:solidFill>
                  <a:srgbClr val="000000"/>
                </a:solidFill>
              </a:rPr>
              <a:t>=  interstitial type mechanism fraction</a:t>
            </a:r>
          </a:p>
          <a:p>
            <a:pPr eaLnBrk="1" hangingPunct="1">
              <a:spcBef>
                <a:spcPct val="50000"/>
              </a:spcBef>
            </a:pPr>
            <a:r>
              <a:rPr lang="en-GB" altLang="en-US" sz="1600" b="1">
                <a:solidFill>
                  <a:srgbClr val="000000"/>
                </a:solidFill>
              </a:rPr>
              <a:t>f</a:t>
            </a:r>
            <a:r>
              <a:rPr lang="en-GB" altLang="en-US" sz="1600" b="1" baseline="-25000">
                <a:solidFill>
                  <a:srgbClr val="000000"/>
                </a:solidFill>
              </a:rPr>
              <a:t>v</a:t>
            </a:r>
            <a:r>
              <a:rPr lang="en-GB" altLang="en-US" sz="1600">
                <a:solidFill>
                  <a:srgbClr val="000000"/>
                </a:solidFill>
              </a:rPr>
              <a:t>= vacancy type mechanism fraction</a:t>
            </a:r>
          </a:p>
          <a:p>
            <a:pPr eaLnBrk="1" hangingPunct="1">
              <a:spcBef>
                <a:spcPct val="50000"/>
              </a:spcBef>
            </a:pPr>
            <a:r>
              <a:rPr lang="en-GB" altLang="en-US" sz="1600" b="1">
                <a:solidFill>
                  <a:srgbClr val="000000"/>
                </a:solidFill>
              </a:rPr>
              <a:t>C</a:t>
            </a:r>
            <a:r>
              <a:rPr lang="en-GB" altLang="en-US" sz="1600" b="1" baseline="-25000">
                <a:solidFill>
                  <a:srgbClr val="000000"/>
                </a:solidFill>
              </a:rPr>
              <a:t>I/V</a:t>
            </a:r>
            <a:r>
              <a:rPr lang="en-GB" altLang="en-US" sz="1600">
                <a:solidFill>
                  <a:srgbClr val="000000"/>
                </a:solidFill>
              </a:rPr>
              <a:t>= interstitial/vacancy concentration</a:t>
            </a:r>
          </a:p>
          <a:p>
            <a:pPr eaLnBrk="1" hangingPunct="1">
              <a:spcBef>
                <a:spcPct val="50000"/>
              </a:spcBef>
            </a:pPr>
            <a:r>
              <a:rPr lang="en-GB" altLang="en-US" sz="1600" b="1">
                <a:solidFill>
                  <a:srgbClr val="000000"/>
                </a:solidFill>
              </a:rPr>
              <a:t>C</a:t>
            </a:r>
            <a:r>
              <a:rPr lang="en-GB" altLang="en-US" sz="1600" b="1" baseline="30000">
                <a:solidFill>
                  <a:srgbClr val="000000"/>
                </a:solidFill>
              </a:rPr>
              <a:t>*</a:t>
            </a:r>
            <a:r>
              <a:rPr lang="en-GB" altLang="en-US" sz="1600" b="1" baseline="-25000">
                <a:solidFill>
                  <a:srgbClr val="000000"/>
                </a:solidFill>
              </a:rPr>
              <a:t>I/V</a:t>
            </a:r>
            <a:r>
              <a:rPr lang="en-GB" altLang="en-US" sz="1600">
                <a:solidFill>
                  <a:srgbClr val="000000"/>
                </a:solidFill>
              </a:rPr>
              <a:t>= interstitial/vacancy equilibrium concentration</a:t>
            </a:r>
          </a:p>
          <a:p>
            <a:pPr eaLnBrk="1" hangingPunct="1">
              <a:spcBef>
                <a:spcPct val="50000"/>
              </a:spcBef>
            </a:pPr>
            <a:r>
              <a:rPr lang="en-GB" altLang="en-US" sz="1600" b="1">
                <a:solidFill>
                  <a:srgbClr val="000000"/>
                </a:solidFill>
              </a:rPr>
              <a:t>D</a:t>
            </a:r>
            <a:r>
              <a:rPr lang="en-GB" altLang="en-US" sz="1600" b="1" baseline="30000">
                <a:solidFill>
                  <a:srgbClr val="000000"/>
                </a:solidFill>
              </a:rPr>
              <a:t>*</a:t>
            </a:r>
            <a:r>
              <a:rPr lang="en-GB" altLang="en-US" sz="1600">
                <a:solidFill>
                  <a:srgbClr val="000000"/>
                </a:solidFill>
              </a:rPr>
              <a:t>= equilibrium diffusivity in inert conditions</a:t>
            </a:r>
          </a:p>
        </p:txBody>
      </p:sp>
      <p:graphicFrame>
        <p:nvGraphicFramePr>
          <p:cNvPr id="275495" name="Group 39">
            <a:extLst>
              <a:ext uri="{FF2B5EF4-FFF2-40B4-BE49-F238E27FC236}">
                <a16:creationId xmlns:a16="http://schemas.microsoft.com/office/drawing/2014/main" id="{B2D1EE17-D19F-6F65-2AA8-3921930DEC6E}"/>
              </a:ext>
            </a:extLst>
          </p:cNvPr>
          <p:cNvGraphicFramePr>
            <a:graphicFrameLocks noGrp="1"/>
          </p:cNvGraphicFramePr>
          <p:nvPr/>
        </p:nvGraphicFramePr>
        <p:xfrm>
          <a:off x="6461126" y="3929063"/>
          <a:ext cx="3929063" cy="1903412"/>
        </p:xfrm>
        <a:graphic>
          <a:graphicData uri="http://schemas.openxmlformats.org/drawingml/2006/table">
            <a:tbl>
              <a:tblPr/>
              <a:tblGrid>
                <a:gridCol w="1638300">
                  <a:extLst>
                    <a:ext uri="{9D8B030D-6E8A-4147-A177-3AD203B41FA5}">
                      <a16:colId xmlns:a16="http://schemas.microsoft.com/office/drawing/2014/main" val="3480872579"/>
                    </a:ext>
                  </a:extLst>
                </a:gridCol>
                <a:gridCol w="1354138">
                  <a:extLst>
                    <a:ext uri="{9D8B030D-6E8A-4147-A177-3AD203B41FA5}">
                      <a16:colId xmlns:a16="http://schemas.microsoft.com/office/drawing/2014/main" val="186509932"/>
                    </a:ext>
                  </a:extLst>
                </a:gridCol>
                <a:gridCol w="936625">
                  <a:extLst>
                    <a:ext uri="{9D8B030D-6E8A-4147-A177-3AD203B41FA5}">
                      <a16:colId xmlns:a16="http://schemas.microsoft.com/office/drawing/2014/main" val="1813337219"/>
                    </a:ext>
                  </a:extLst>
                </a:gridCol>
              </a:tblGrid>
              <a:tr h="2508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Element</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f</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i</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f</a:t>
                      </a:r>
                      <a:r>
                        <a:rPr kumimoji="0" lang="en-GB" altLang="en-US" sz="14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v</a:t>
                      </a:r>
                      <a:endParaRPr kumimoji="0" lang="en-US" altLang="en-US" sz="14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7796878"/>
                  </a:ext>
                </a:extLst>
              </a:tr>
              <a:tr h="274638">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Si</a:t>
                      </a:r>
                    </a:p>
                  </a:txBody>
                  <a:tcPr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3920429881"/>
                  </a:ext>
                </a:extLst>
              </a:tr>
              <a:tr h="263525">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B</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1</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rPr>
                        <a:t>0</a:t>
                      </a:r>
                      <a:endParaRPr kumimoji="0" lang="en-US" altLang="en-US" sz="1600" b="0" i="0" u="none" strike="noStrike" cap="none" normalizeH="0" baseline="0">
                        <a:ln>
                          <a:noFill/>
                        </a:ln>
                        <a:solidFill>
                          <a:schemeClr val="tx1"/>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376861511"/>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P</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4237720273"/>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As</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a:noFill/>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3231277678"/>
                  </a:ext>
                </a:extLst>
              </a:tr>
              <a:tr h="322263">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Sb</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0.02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MS PGothic" panose="020B0600070205080204" pitchFamily="34" charset="-128"/>
                        </a:defRPr>
                      </a:lvl1pPr>
                      <a:lvl2pPr marL="200025">
                        <a:defRPr>
                          <a:solidFill>
                            <a:srgbClr val="000000"/>
                          </a:solidFill>
                          <a:latin typeface="Arial" panose="020B0604020202020204" pitchFamily="34" charset="0"/>
                          <a:ea typeface="MS PGothic" panose="020B0600070205080204" pitchFamily="34" charset="-128"/>
                        </a:defRPr>
                      </a:lvl2pPr>
                      <a:lvl3pPr marL="495300">
                        <a:defRPr sz="1400">
                          <a:solidFill>
                            <a:srgbClr val="000000"/>
                          </a:solidFill>
                          <a:latin typeface="Arial" panose="020B0604020202020204" pitchFamily="34" charset="0"/>
                          <a:ea typeface="MS PGothic" panose="020B0600070205080204" pitchFamily="34" charset="-128"/>
                        </a:defRPr>
                      </a:lvl3pPr>
                      <a:lvl4pPr marL="676275">
                        <a:spcBef>
                          <a:spcPct val="20000"/>
                        </a:spcBef>
                        <a:defRPr sz="1400">
                          <a:solidFill>
                            <a:srgbClr val="000000"/>
                          </a:solidFill>
                          <a:latin typeface="Arial" panose="020B0604020202020204" pitchFamily="34" charset="0"/>
                          <a:ea typeface="MS PGothic" panose="020B0600070205080204" pitchFamily="34" charset="-128"/>
                        </a:defRPr>
                      </a:lvl4pPr>
                      <a:lvl5pPr marL="914400">
                        <a:spcBef>
                          <a:spcPct val="20000"/>
                        </a:spcBef>
                        <a:defRPr sz="1400">
                          <a:solidFill>
                            <a:srgbClr val="000000"/>
                          </a:solidFill>
                          <a:latin typeface="Arial" panose="020B0604020202020204" pitchFamily="34" charset="0"/>
                          <a:ea typeface="MS PGothic"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0.98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958227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F8812C1-C7D5-45E3-2818-FEAC7B8DA4BF}"/>
              </a:ext>
            </a:extLst>
          </p:cNvPr>
          <p:cNvSpPr>
            <a:spLocks noGrp="1"/>
          </p:cNvSpPr>
          <p:nvPr>
            <p:ph type="sldNum" sz="quarter" idx="10"/>
          </p:nvPr>
        </p:nvSpPr>
        <p:spPr/>
        <p:txBody>
          <a:bodyPr/>
          <a:lstStyle/>
          <a:p>
            <a:r>
              <a:rPr lang="en-US" altLang="en-US"/>
              <a:t>Page </a:t>
            </a:r>
            <a:fld id="{936838A4-7EDA-4089-B874-060A0B8B3D63}" type="slidenum">
              <a:rPr lang="en-US" altLang="en-US"/>
              <a:pPr/>
              <a:t>21</a:t>
            </a:fld>
            <a:endParaRPr lang="en-US" altLang="en-US"/>
          </a:p>
        </p:txBody>
      </p:sp>
      <p:sp>
        <p:nvSpPr>
          <p:cNvPr id="344066" name="Rectangle 2">
            <a:extLst>
              <a:ext uri="{FF2B5EF4-FFF2-40B4-BE49-F238E27FC236}">
                <a16:creationId xmlns:a16="http://schemas.microsoft.com/office/drawing/2014/main" id="{845F8301-626B-5C8C-C748-8D5EA096EF13}"/>
              </a:ext>
            </a:extLst>
          </p:cNvPr>
          <p:cNvSpPr>
            <a:spLocks noGrp="1" noChangeArrowheads="1"/>
          </p:cNvSpPr>
          <p:nvPr>
            <p:ph type="title"/>
          </p:nvPr>
        </p:nvSpPr>
        <p:spPr/>
        <p:txBody>
          <a:bodyPr/>
          <a:lstStyle/>
          <a:p>
            <a:r>
              <a:rPr lang="en-GB" altLang="en-US"/>
              <a:t>Modeling of atomic scale diffusion</a:t>
            </a:r>
            <a:endParaRPr lang="en-US" altLang="en-US"/>
          </a:p>
        </p:txBody>
      </p:sp>
      <p:sp>
        <p:nvSpPr>
          <p:cNvPr id="344068" name="Text Box 4">
            <a:extLst>
              <a:ext uri="{FF2B5EF4-FFF2-40B4-BE49-F238E27FC236}">
                <a16:creationId xmlns:a16="http://schemas.microsoft.com/office/drawing/2014/main" id="{C3EC4FCA-1805-00BF-EC2D-D1EEDB038312}"/>
              </a:ext>
            </a:extLst>
          </p:cNvPr>
          <p:cNvSpPr txBox="1">
            <a:spLocks noChangeArrowheads="1"/>
          </p:cNvSpPr>
          <p:nvPr/>
        </p:nvSpPr>
        <p:spPr bwMode="auto">
          <a:xfrm>
            <a:off x="1855789" y="1246189"/>
            <a:ext cx="82438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a:solidFill>
                  <a:srgbClr val="000000"/>
                </a:solidFill>
              </a:rPr>
              <a:t>Take as an example interstitial assisted diffusion; we can consider a dopant A interacting with an interstitial as:c</a:t>
            </a:r>
            <a:endParaRPr lang="en-US" altLang="en-US" sz="1800">
              <a:solidFill>
                <a:srgbClr val="000000"/>
              </a:solidFill>
            </a:endParaRPr>
          </a:p>
        </p:txBody>
      </p:sp>
      <p:graphicFrame>
        <p:nvGraphicFramePr>
          <p:cNvPr id="344069" name="Object 5">
            <a:extLst>
              <a:ext uri="{FF2B5EF4-FFF2-40B4-BE49-F238E27FC236}">
                <a16:creationId xmlns:a16="http://schemas.microsoft.com/office/drawing/2014/main" id="{53B9769A-3044-1AD2-AE57-C6BCEE3860B1}"/>
              </a:ext>
            </a:extLst>
          </p:cNvPr>
          <p:cNvGraphicFramePr>
            <a:graphicFrameLocks noChangeAspect="1"/>
          </p:cNvGraphicFramePr>
          <p:nvPr/>
        </p:nvGraphicFramePr>
        <p:xfrm>
          <a:off x="4840288" y="2000250"/>
          <a:ext cx="1822450" cy="425450"/>
        </p:xfrm>
        <a:graphic>
          <a:graphicData uri="http://schemas.openxmlformats.org/presentationml/2006/ole">
            <mc:AlternateContent xmlns:mc="http://schemas.openxmlformats.org/markup-compatibility/2006">
              <mc:Choice xmlns:v="urn:schemas-microsoft-com:vml" Requires="v">
                <p:oleObj name="Equation" r:id="rId3" imgW="761760" imgH="177480" progId="Equation.DSMT4">
                  <p:embed/>
                </p:oleObj>
              </mc:Choice>
              <mc:Fallback>
                <p:oleObj name="Equation" r:id="rId3" imgW="761760" imgH="177480" progId="Equation.DSMT4">
                  <p:embed/>
                  <p:pic>
                    <p:nvPicPr>
                      <p:cNvPr id="344069" name="Object 5">
                        <a:extLst>
                          <a:ext uri="{FF2B5EF4-FFF2-40B4-BE49-F238E27FC236}">
                            <a16:creationId xmlns:a16="http://schemas.microsoft.com/office/drawing/2014/main" id="{53B9769A-3044-1AD2-AE57-C6BCEE386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0288" y="2000250"/>
                        <a:ext cx="182245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4071" name="Text Box 7">
            <a:extLst>
              <a:ext uri="{FF2B5EF4-FFF2-40B4-BE49-F238E27FC236}">
                <a16:creationId xmlns:a16="http://schemas.microsoft.com/office/drawing/2014/main" id="{BD132BB5-3CCC-A491-C8E1-ADDA222DFA14}"/>
              </a:ext>
            </a:extLst>
          </p:cNvPr>
          <p:cNvSpPr txBox="1">
            <a:spLocks noChangeArrowheads="1"/>
          </p:cNvSpPr>
          <p:nvPr/>
        </p:nvSpPr>
        <p:spPr bwMode="auto">
          <a:xfrm>
            <a:off x="1985964" y="2646363"/>
            <a:ext cx="82438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b="1">
                <a:solidFill>
                  <a:srgbClr val="000000"/>
                </a:solidFill>
              </a:rPr>
              <a:t>AI is the interstitial assisted mobile species</a:t>
            </a:r>
            <a:r>
              <a:rPr lang="en-GB" altLang="en-US" sz="1800">
                <a:solidFill>
                  <a:srgbClr val="000000"/>
                </a:solidFill>
              </a:rPr>
              <a:t> </a:t>
            </a:r>
            <a:endParaRPr lang="en-US" altLang="en-US" sz="1800">
              <a:solidFill>
                <a:srgbClr val="000000"/>
              </a:solidFill>
            </a:endParaRPr>
          </a:p>
        </p:txBody>
      </p:sp>
      <p:graphicFrame>
        <p:nvGraphicFramePr>
          <p:cNvPr id="344072" name="Object 8">
            <a:extLst>
              <a:ext uri="{FF2B5EF4-FFF2-40B4-BE49-F238E27FC236}">
                <a16:creationId xmlns:a16="http://schemas.microsoft.com/office/drawing/2014/main" id="{87D41991-0CE0-4233-609B-7EF2D8B26956}"/>
              </a:ext>
            </a:extLst>
          </p:cNvPr>
          <p:cNvGraphicFramePr>
            <a:graphicFrameLocks noChangeAspect="1"/>
          </p:cNvGraphicFramePr>
          <p:nvPr/>
        </p:nvGraphicFramePr>
        <p:xfrm>
          <a:off x="1524000" y="3887789"/>
          <a:ext cx="3765550" cy="2619375"/>
        </p:xfrm>
        <a:graphic>
          <a:graphicData uri="http://schemas.openxmlformats.org/presentationml/2006/ole">
            <mc:AlternateContent xmlns:mc="http://schemas.openxmlformats.org/markup-compatibility/2006">
              <mc:Choice xmlns:v="urn:schemas-microsoft-com:vml" Requires="v">
                <p:oleObj name="Document" r:id="rId5" imgW="5385816" imgH="3745992" progId="Word.Document.8">
                  <p:embed/>
                </p:oleObj>
              </mc:Choice>
              <mc:Fallback>
                <p:oleObj name="Document" r:id="rId5" imgW="5385816" imgH="3745992" progId="Word.Document.8">
                  <p:embed/>
                  <p:pic>
                    <p:nvPicPr>
                      <p:cNvPr id="344072" name="Object 8">
                        <a:extLst>
                          <a:ext uri="{FF2B5EF4-FFF2-40B4-BE49-F238E27FC236}">
                            <a16:creationId xmlns:a16="http://schemas.microsoft.com/office/drawing/2014/main" id="{87D41991-0CE0-4233-609B-7EF2D8B269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887789"/>
                        <a:ext cx="3765550" cy="261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4073" name="Object 9">
            <a:extLst>
              <a:ext uri="{FF2B5EF4-FFF2-40B4-BE49-F238E27FC236}">
                <a16:creationId xmlns:a16="http://schemas.microsoft.com/office/drawing/2014/main" id="{54F52E63-7F1F-80FB-6273-932F086CDE08}"/>
              </a:ext>
            </a:extLst>
          </p:cNvPr>
          <p:cNvGraphicFramePr>
            <a:graphicFrameLocks noChangeAspect="1"/>
          </p:cNvGraphicFramePr>
          <p:nvPr/>
        </p:nvGraphicFramePr>
        <p:xfrm>
          <a:off x="6116638" y="4900614"/>
          <a:ext cx="3281362" cy="1208087"/>
        </p:xfrm>
        <a:graphic>
          <a:graphicData uri="http://schemas.openxmlformats.org/presentationml/2006/ole">
            <mc:AlternateContent xmlns:mc="http://schemas.openxmlformats.org/markup-compatibility/2006">
              <mc:Choice xmlns:v="urn:schemas-microsoft-com:vml" Requires="v">
                <p:oleObj name="Document" r:id="rId7" imgW="5181600" imgH="1908048" progId="Word.Document.8">
                  <p:embed/>
                </p:oleObj>
              </mc:Choice>
              <mc:Fallback>
                <p:oleObj name="Document" r:id="rId7" imgW="5181600" imgH="1908048" progId="Word.Document.8">
                  <p:embed/>
                  <p:pic>
                    <p:nvPicPr>
                      <p:cNvPr id="344073" name="Object 9">
                        <a:extLst>
                          <a:ext uri="{FF2B5EF4-FFF2-40B4-BE49-F238E27FC236}">
                            <a16:creationId xmlns:a16="http://schemas.microsoft.com/office/drawing/2014/main" id="{54F52E63-7F1F-80FB-6273-932F086CDE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6638" y="4900614"/>
                        <a:ext cx="3281362" cy="1208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4074" name="Text Box 10">
            <a:extLst>
              <a:ext uri="{FF2B5EF4-FFF2-40B4-BE49-F238E27FC236}">
                <a16:creationId xmlns:a16="http://schemas.microsoft.com/office/drawing/2014/main" id="{CC11E4B7-EB39-E439-F17F-2FEAA50D73DB}"/>
              </a:ext>
            </a:extLst>
          </p:cNvPr>
          <p:cNvSpPr txBox="1">
            <a:spLocks noChangeArrowheads="1"/>
          </p:cNvSpPr>
          <p:nvPr/>
        </p:nvSpPr>
        <p:spPr bwMode="auto">
          <a:xfrm>
            <a:off x="5902325" y="3429000"/>
            <a:ext cx="4197350" cy="1077218"/>
          </a:xfrm>
          <a:prstGeom prst="rect">
            <a:avLst/>
          </a:prstGeom>
          <a:noFill/>
          <a:ln w="12700" algn="ctr">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600"/>
              <a:t>I-assisted diffusion can generate a chemical pumping of I defects into the substrate, thus explaining phenomena as the enhanced tail diffusion for P and the “emitter push” </a:t>
            </a:r>
            <a:endParaRPr lang="en-US" alt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F3CAE333-FE3E-6B0C-31BA-89C1E7F57155}"/>
              </a:ext>
            </a:extLst>
          </p:cNvPr>
          <p:cNvSpPr>
            <a:spLocks noGrp="1"/>
          </p:cNvSpPr>
          <p:nvPr>
            <p:ph type="sldNum" sz="quarter" idx="10"/>
          </p:nvPr>
        </p:nvSpPr>
        <p:spPr/>
        <p:txBody>
          <a:bodyPr/>
          <a:lstStyle/>
          <a:p>
            <a:r>
              <a:rPr lang="en-US" altLang="en-US"/>
              <a:t>Page </a:t>
            </a:r>
            <a:fld id="{61F845C3-7D28-4BCE-991A-1D932D228056}" type="slidenum">
              <a:rPr lang="en-US" altLang="en-US"/>
              <a:pPr/>
              <a:t>22</a:t>
            </a:fld>
            <a:endParaRPr lang="en-US" altLang="en-US"/>
          </a:p>
        </p:txBody>
      </p:sp>
      <p:sp>
        <p:nvSpPr>
          <p:cNvPr id="348162" name="Rectangle 2">
            <a:extLst>
              <a:ext uri="{FF2B5EF4-FFF2-40B4-BE49-F238E27FC236}">
                <a16:creationId xmlns:a16="http://schemas.microsoft.com/office/drawing/2014/main" id="{BCAA6B23-4363-314E-D573-152942800783}"/>
              </a:ext>
            </a:extLst>
          </p:cNvPr>
          <p:cNvSpPr>
            <a:spLocks noGrp="1" noChangeArrowheads="1"/>
          </p:cNvSpPr>
          <p:nvPr>
            <p:ph type="title"/>
          </p:nvPr>
        </p:nvSpPr>
        <p:spPr/>
        <p:txBody>
          <a:bodyPr/>
          <a:lstStyle/>
          <a:p>
            <a:r>
              <a:rPr lang="en-GB" altLang="en-US"/>
              <a:t>Modeling of atomic scale diffusion</a:t>
            </a:r>
            <a:endParaRPr lang="en-US" altLang="en-US"/>
          </a:p>
        </p:txBody>
      </p:sp>
      <p:sp>
        <p:nvSpPr>
          <p:cNvPr id="348163" name="Text Box 3">
            <a:extLst>
              <a:ext uri="{FF2B5EF4-FFF2-40B4-BE49-F238E27FC236}">
                <a16:creationId xmlns:a16="http://schemas.microsoft.com/office/drawing/2014/main" id="{27F39EE7-6E65-0111-8DC3-EACCED19E4F0}"/>
              </a:ext>
            </a:extLst>
          </p:cNvPr>
          <p:cNvSpPr txBox="1">
            <a:spLocks noChangeArrowheads="1"/>
          </p:cNvSpPr>
          <p:nvPr/>
        </p:nvSpPr>
        <p:spPr bwMode="auto">
          <a:xfrm>
            <a:off x="1855789" y="1246188"/>
            <a:ext cx="82438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a:solidFill>
                  <a:srgbClr val="000000"/>
                </a:solidFill>
              </a:rPr>
              <a:t>If we consider the interstitial assisted reaction: </a:t>
            </a:r>
            <a:endParaRPr lang="en-US" altLang="en-US" sz="1800">
              <a:solidFill>
                <a:srgbClr val="000000"/>
              </a:solidFill>
            </a:endParaRPr>
          </a:p>
        </p:txBody>
      </p:sp>
      <p:graphicFrame>
        <p:nvGraphicFramePr>
          <p:cNvPr id="348164" name="Object 4">
            <a:extLst>
              <a:ext uri="{FF2B5EF4-FFF2-40B4-BE49-F238E27FC236}">
                <a16:creationId xmlns:a16="http://schemas.microsoft.com/office/drawing/2014/main" id="{422352B8-3A40-DE0A-4DCE-ED3C45CFB7A4}"/>
              </a:ext>
            </a:extLst>
          </p:cNvPr>
          <p:cNvGraphicFramePr>
            <a:graphicFrameLocks noChangeAspect="1"/>
          </p:cNvGraphicFramePr>
          <p:nvPr/>
        </p:nvGraphicFramePr>
        <p:xfrm>
          <a:off x="4760913" y="1731963"/>
          <a:ext cx="1822450" cy="425450"/>
        </p:xfrm>
        <a:graphic>
          <a:graphicData uri="http://schemas.openxmlformats.org/presentationml/2006/ole">
            <mc:AlternateContent xmlns:mc="http://schemas.openxmlformats.org/markup-compatibility/2006">
              <mc:Choice xmlns:v="urn:schemas-microsoft-com:vml" Requires="v">
                <p:oleObj name="Equation" r:id="rId3" imgW="761760" imgH="177480" progId="Equation.DSMT4">
                  <p:embed/>
                </p:oleObj>
              </mc:Choice>
              <mc:Fallback>
                <p:oleObj name="Equation" r:id="rId3" imgW="761760" imgH="177480" progId="Equation.DSMT4">
                  <p:embed/>
                  <p:pic>
                    <p:nvPicPr>
                      <p:cNvPr id="348164" name="Object 4">
                        <a:extLst>
                          <a:ext uri="{FF2B5EF4-FFF2-40B4-BE49-F238E27FC236}">
                            <a16:creationId xmlns:a16="http://schemas.microsoft.com/office/drawing/2014/main" id="{422352B8-3A40-DE0A-4DCE-ED3C45CFB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0913" y="1731963"/>
                        <a:ext cx="182245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165" name="Text Box 5">
            <a:extLst>
              <a:ext uri="{FF2B5EF4-FFF2-40B4-BE49-F238E27FC236}">
                <a16:creationId xmlns:a16="http://schemas.microsoft.com/office/drawing/2014/main" id="{CB273283-6A27-DA3E-8EBB-1ACD7535B7A9}"/>
              </a:ext>
            </a:extLst>
          </p:cNvPr>
          <p:cNvSpPr txBox="1">
            <a:spLocks noChangeArrowheads="1"/>
          </p:cNvSpPr>
          <p:nvPr/>
        </p:nvSpPr>
        <p:spPr bwMode="auto">
          <a:xfrm>
            <a:off x="1779589" y="2555875"/>
            <a:ext cx="82438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to be in chemical equilibrium (</a:t>
            </a:r>
            <a:r>
              <a:rPr lang="en-GB" altLang="en-US" b="1"/>
              <a:t>C</a:t>
            </a:r>
            <a:r>
              <a:rPr lang="en-GB" altLang="en-US" b="1" baseline="-25000"/>
              <a:t>AI</a:t>
            </a:r>
            <a:r>
              <a:rPr lang="en-GB" altLang="en-US" b="1"/>
              <a:t>=kC</a:t>
            </a:r>
            <a:r>
              <a:rPr lang="en-GB" altLang="en-US" b="1" baseline="-25000"/>
              <a:t>A</a:t>
            </a:r>
            <a:r>
              <a:rPr lang="en-GB" altLang="en-US" b="1"/>
              <a:t>C</a:t>
            </a:r>
            <a:r>
              <a:rPr lang="en-GB" altLang="en-US" b="1" baseline="-25000"/>
              <a:t>I</a:t>
            </a:r>
            <a:r>
              <a:rPr lang="en-GB" altLang="en-US"/>
              <a:t>), we can derive a powerful expression that relates the microscopic diffusion to macroscopic and measurable parameters</a:t>
            </a:r>
            <a:endParaRPr lang="en-US" altLang="en-US"/>
          </a:p>
        </p:txBody>
      </p:sp>
      <p:graphicFrame>
        <p:nvGraphicFramePr>
          <p:cNvPr id="348169" name="Object 9">
            <a:extLst>
              <a:ext uri="{FF2B5EF4-FFF2-40B4-BE49-F238E27FC236}">
                <a16:creationId xmlns:a16="http://schemas.microsoft.com/office/drawing/2014/main" id="{C4217211-CE92-F945-6DC1-2040B219E34B}"/>
              </a:ext>
            </a:extLst>
          </p:cNvPr>
          <p:cNvGraphicFramePr>
            <a:graphicFrameLocks noChangeAspect="1"/>
          </p:cNvGraphicFramePr>
          <p:nvPr/>
        </p:nvGraphicFramePr>
        <p:xfrm>
          <a:off x="3321051" y="4025900"/>
          <a:ext cx="5160963" cy="1092200"/>
        </p:xfrm>
        <a:graphic>
          <a:graphicData uri="http://schemas.openxmlformats.org/presentationml/2006/ole">
            <mc:AlternateContent xmlns:mc="http://schemas.openxmlformats.org/markup-compatibility/2006">
              <mc:Choice xmlns:v="urn:schemas-microsoft-com:vml" Requires="v">
                <p:oleObj name="Equation" r:id="rId5" imgW="2400120" imgH="507960" progId="Equation.DSMT4">
                  <p:embed/>
                </p:oleObj>
              </mc:Choice>
              <mc:Fallback>
                <p:oleObj name="Equation" r:id="rId5" imgW="2400120" imgH="507960" progId="Equation.DSMT4">
                  <p:embed/>
                  <p:pic>
                    <p:nvPicPr>
                      <p:cNvPr id="348169" name="Object 9">
                        <a:extLst>
                          <a:ext uri="{FF2B5EF4-FFF2-40B4-BE49-F238E27FC236}">
                            <a16:creationId xmlns:a16="http://schemas.microsoft.com/office/drawing/2014/main" id="{C4217211-CE92-F945-6DC1-2040B219E3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1051" y="4025900"/>
                        <a:ext cx="5160963"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B9F03B5-E3A1-FCEE-577A-C6DDA85AA5F3}"/>
              </a:ext>
            </a:extLst>
          </p:cNvPr>
          <p:cNvSpPr>
            <a:spLocks noGrp="1"/>
          </p:cNvSpPr>
          <p:nvPr>
            <p:ph type="sldNum" sz="quarter" idx="10"/>
          </p:nvPr>
        </p:nvSpPr>
        <p:spPr/>
        <p:txBody>
          <a:bodyPr/>
          <a:lstStyle/>
          <a:p>
            <a:r>
              <a:rPr lang="en-US" altLang="en-US"/>
              <a:t>Page </a:t>
            </a:r>
            <a:fld id="{BE51F973-EC26-45FE-8C83-276A64DEA280}" type="slidenum">
              <a:rPr lang="en-US" altLang="en-US"/>
              <a:pPr/>
              <a:t>23</a:t>
            </a:fld>
            <a:endParaRPr lang="en-US" altLang="en-US"/>
          </a:p>
        </p:txBody>
      </p:sp>
      <p:sp>
        <p:nvSpPr>
          <p:cNvPr id="273410" name="Rectangle 2">
            <a:extLst>
              <a:ext uri="{FF2B5EF4-FFF2-40B4-BE49-F238E27FC236}">
                <a16:creationId xmlns:a16="http://schemas.microsoft.com/office/drawing/2014/main" id="{8C5242EB-E46D-894E-6871-CCAC861CECF0}"/>
              </a:ext>
            </a:extLst>
          </p:cNvPr>
          <p:cNvSpPr>
            <a:spLocks noGrp="1" noChangeArrowheads="1"/>
          </p:cNvSpPr>
          <p:nvPr>
            <p:ph type="title"/>
          </p:nvPr>
        </p:nvSpPr>
        <p:spPr/>
        <p:txBody>
          <a:bodyPr/>
          <a:lstStyle/>
          <a:p>
            <a:r>
              <a:rPr lang="en-GB" altLang="en-US"/>
              <a:t>Measurements methods</a:t>
            </a:r>
            <a:br>
              <a:rPr lang="en-GB" altLang="en-US"/>
            </a:br>
            <a:r>
              <a:rPr lang="en-GB" altLang="en-US"/>
              <a:t>SIMS</a:t>
            </a:r>
            <a:endParaRPr lang="en-US" altLang="en-US"/>
          </a:p>
        </p:txBody>
      </p:sp>
      <p:sp>
        <p:nvSpPr>
          <p:cNvPr id="273411" name="Rectangle 3">
            <a:extLst>
              <a:ext uri="{FF2B5EF4-FFF2-40B4-BE49-F238E27FC236}">
                <a16:creationId xmlns:a16="http://schemas.microsoft.com/office/drawing/2014/main" id="{CCFC521F-B8C1-E499-B5EF-18BAC6BA0F47}"/>
              </a:ext>
            </a:extLst>
          </p:cNvPr>
          <p:cNvSpPr>
            <a:spLocks noGrp="1" noChangeArrowheads="1"/>
          </p:cNvSpPr>
          <p:nvPr>
            <p:ph type="body" idx="1"/>
          </p:nvPr>
        </p:nvSpPr>
        <p:spPr/>
        <p:txBody>
          <a:bodyPr/>
          <a:lstStyle/>
          <a:p>
            <a:r>
              <a:rPr lang="en-GB" altLang="en-US"/>
              <a:t>The sample is bombarded with ions (O</a:t>
            </a:r>
            <a:r>
              <a:rPr lang="en-GB" altLang="en-US" baseline="30000"/>
              <a:t>+</a:t>
            </a:r>
            <a:r>
              <a:rPr lang="en-GB" altLang="en-US"/>
              <a:t> or </a:t>
            </a:r>
            <a:r>
              <a:rPr lang="en-GB" altLang="en-US" baseline="30000"/>
              <a:t> </a:t>
            </a:r>
            <a:r>
              <a:rPr lang="en-GB" altLang="en-US"/>
              <a:t>Cs</a:t>
            </a:r>
            <a:r>
              <a:rPr lang="en-GB" altLang="en-US" baseline="30000"/>
              <a:t>+</a:t>
            </a:r>
            <a:r>
              <a:rPr lang="en-GB" altLang="en-US"/>
              <a:t>)</a:t>
            </a:r>
            <a:endParaRPr lang="en-GB" altLang="en-US" baseline="30000"/>
          </a:p>
          <a:p>
            <a:r>
              <a:rPr lang="en-GB" altLang="en-US"/>
              <a:t>Impinging ions sputter sample atoms</a:t>
            </a:r>
          </a:p>
          <a:p>
            <a:r>
              <a:rPr lang="en-GB" altLang="en-US"/>
              <a:t>Atoms are mass-analyzed</a:t>
            </a:r>
            <a:endParaRPr lang="en-US" altLang="en-US"/>
          </a:p>
        </p:txBody>
      </p:sp>
      <p:pic>
        <p:nvPicPr>
          <p:cNvPr id="273412" name="Picture 4">
            <a:extLst>
              <a:ext uri="{FF2B5EF4-FFF2-40B4-BE49-F238E27FC236}">
                <a16:creationId xmlns:a16="http://schemas.microsoft.com/office/drawing/2014/main" id="{DF1EE0AD-CEEA-51FE-31C7-02F90F6C02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3254375"/>
            <a:ext cx="3979863" cy="309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8" name="Picture 10">
            <a:extLst>
              <a:ext uri="{FF2B5EF4-FFF2-40B4-BE49-F238E27FC236}">
                <a16:creationId xmlns:a16="http://schemas.microsoft.com/office/drawing/2014/main" id="{8C62C8E1-72E4-E5E6-E4FA-0B077CA61D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8402"/>
          <a:stretch>
            <a:fillRect/>
          </a:stretch>
        </p:blipFill>
        <p:spPr bwMode="auto">
          <a:xfrm>
            <a:off x="6888163" y="3009901"/>
            <a:ext cx="3308350"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19" name="Text Box 11">
            <a:extLst>
              <a:ext uri="{FF2B5EF4-FFF2-40B4-BE49-F238E27FC236}">
                <a16:creationId xmlns:a16="http://schemas.microsoft.com/office/drawing/2014/main" id="{C32B944A-ECF6-B909-1CD7-D301EE19715E}"/>
              </a:ext>
            </a:extLst>
          </p:cNvPr>
          <p:cNvSpPr txBox="1">
            <a:spLocks noChangeArrowheads="1"/>
          </p:cNvSpPr>
          <p:nvPr/>
        </p:nvSpPr>
        <p:spPr bwMode="auto">
          <a:xfrm>
            <a:off x="8680450" y="3429000"/>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it-IT" altLang="en-US" sz="1800" b="1">
                <a:solidFill>
                  <a:srgbClr val="FFFF66"/>
                </a:solidFill>
              </a:rPr>
              <a:t>F</a:t>
            </a:r>
            <a:endParaRPr lang="en-US" altLang="en-US" sz="1800" b="1">
              <a:solidFill>
                <a:srgbClr val="FFFF66"/>
              </a:solidFill>
            </a:endParaRPr>
          </a:p>
        </p:txBody>
      </p:sp>
      <p:sp>
        <p:nvSpPr>
          <p:cNvPr id="273420" name="Text Box 12">
            <a:extLst>
              <a:ext uri="{FF2B5EF4-FFF2-40B4-BE49-F238E27FC236}">
                <a16:creationId xmlns:a16="http://schemas.microsoft.com/office/drawing/2014/main" id="{A4BABC01-20A8-C57E-91BD-3563BD3150E1}"/>
              </a:ext>
            </a:extLst>
          </p:cNvPr>
          <p:cNvSpPr txBox="1">
            <a:spLocks noChangeArrowheads="1"/>
          </p:cNvSpPr>
          <p:nvPr/>
        </p:nvSpPr>
        <p:spPr bwMode="auto">
          <a:xfrm>
            <a:off x="9321800" y="3429000"/>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it-IT" altLang="en-US" sz="1800" b="1">
                <a:solidFill>
                  <a:srgbClr val="FF66FF"/>
                </a:solidFill>
              </a:rPr>
              <a:t>Si</a:t>
            </a:r>
            <a:endParaRPr lang="en-US" altLang="en-US" sz="1800" b="1">
              <a:solidFill>
                <a:srgbClr val="FF66FF"/>
              </a:solidFill>
            </a:endParaRPr>
          </a:p>
        </p:txBody>
      </p:sp>
      <p:sp>
        <p:nvSpPr>
          <p:cNvPr id="273421" name="Text Box 13">
            <a:extLst>
              <a:ext uri="{FF2B5EF4-FFF2-40B4-BE49-F238E27FC236}">
                <a16:creationId xmlns:a16="http://schemas.microsoft.com/office/drawing/2014/main" id="{C5E06CC4-778A-43F1-13F2-40EF7F48017C}"/>
              </a:ext>
            </a:extLst>
          </p:cNvPr>
          <p:cNvSpPr txBox="1">
            <a:spLocks noChangeArrowheads="1"/>
          </p:cNvSpPr>
          <p:nvPr/>
        </p:nvSpPr>
        <p:spPr bwMode="auto">
          <a:xfrm>
            <a:off x="8999538" y="3429000"/>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eaLnBrk="0" hangingPunct="0">
              <a:spcBef>
                <a:spcPct val="0"/>
              </a:spcBef>
              <a:defRPr sz="2400">
                <a:solidFill>
                  <a:schemeClr val="tx1"/>
                </a:solidFill>
                <a:latin typeface="Arial" panose="020B0604020202020204" pitchFamily="34" charset="0"/>
                <a:ea typeface="MS PGothic" panose="020B0600070205080204" pitchFamily="34" charset="-128"/>
              </a:defRPr>
            </a:lvl1pPr>
            <a:lvl2pPr eaLnBrk="0" hangingPunct="0">
              <a:spcBef>
                <a:spcPct val="0"/>
              </a:spcBef>
              <a:defRPr sz="2400">
                <a:solidFill>
                  <a:schemeClr val="tx1"/>
                </a:solidFill>
                <a:latin typeface="Arial" panose="020B0604020202020204" pitchFamily="34" charset="0"/>
                <a:ea typeface="MS PGothic" panose="020B0600070205080204" pitchFamily="34" charset="-128"/>
              </a:defRPr>
            </a:lvl2pPr>
            <a:lvl3pPr eaLnBrk="0" hangingPunct="0">
              <a:spcBef>
                <a:spcPct val="0"/>
              </a:spcBef>
              <a:defRPr sz="2400">
                <a:solidFill>
                  <a:schemeClr val="tx1"/>
                </a:solidFill>
                <a:latin typeface="Arial" panose="020B0604020202020204" pitchFamily="34" charset="0"/>
                <a:ea typeface="MS PGothic" panose="020B0600070205080204" pitchFamily="34" charset="-128"/>
              </a:defRPr>
            </a:lvl3pPr>
            <a:lvl4pPr eaLnBrk="0" hangingPunct="0">
              <a:spcBef>
                <a:spcPct val="0"/>
              </a:spcBef>
              <a:defRPr sz="2400">
                <a:solidFill>
                  <a:schemeClr val="tx1"/>
                </a:solidFill>
                <a:latin typeface="Arial" panose="020B0604020202020204" pitchFamily="34" charset="0"/>
                <a:ea typeface="MS PGothic" panose="020B0600070205080204" pitchFamily="34" charset="-128"/>
              </a:defRPr>
            </a:lvl4pPr>
            <a:lvl5pPr eaLnBrk="0" hangingPunct="0">
              <a:spcBef>
                <a:spcPct val="0"/>
              </a:spcBef>
              <a:defRPr sz="2400">
                <a:solidFill>
                  <a:schemeClr val="tx1"/>
                </a:solidFill>
                <a:latin typeface="Arial" panose="020B0604020202020204" pitchFamily="34" charset="0"/>
                <a:ea typeface="MS PGothic"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it-IT" altLang="en-US" sz="1800" b="1">
                <a:solidFill>
                  <a:srgbClr val="0000CC"/>
                </a:solidFill>
              </a:rPr>
              <a:t>B</a:t>
            </a:r>
            <a:endParaRPr lang="en-US" altLang="en-US" sz="1800" b="1">
              <a:solidFill>
                <a:srgbClr val="0000CC"/>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DD4E-BE75-7890-CA04-AB09B3A17C2E}"/>
              </a:ext>
            </a:extLst>
          </p:cNvPr>
          <p:cNvSpPr>
            <a:spLocks noGrp="1"/>
          </p:cNvSpPr>
          <p:nvPr>
            <p:ph type="title"/>
          </p:nvPr>
        </p:nvSpPr>
        <p:spPr/>
        <p:txBody>
          <a:bodyPr/>
          <a:lstStyle/>
          <a:p>
            <a:r>
              <a:rPr lang="en-US" dirty="0"/>
              <a:t>SRP and SRRM</a:t>
            </a:r>
          </a:p>
        </p:txBody>
      </p:sp>
      <p:sp>
        <p:nvSpPr>
          <p:cNvPr id="3" name="Content Placeholder 2">
            <a:extLst>
              <a:ext uri="{FF2B5EF4-FFF2-40B4-BE49-F238E27FC236}">
                <a16:creationId xmlns:a16="http://schemas.microsoft.com/office/drawing/2014/main" id="{F1AF19FC-A185-8ACE-7D4C-42AE41075C14}"/>
              </a:ext>
            </a:extLst>
          </p:cNvPr>
          <p:cNvSpPr>
            <a:spLocks noGrp="1"/>
          </p:cNvSpPr>
          <p:nvPr>
            <p:ph idx="1"/>
          </p:nvPr>
        </p:nvSpPr>
        <p:spPr>
          <a:xfrm>
            <a:off x="484630" y="1263719"/>
            <a:ext cx="4883783" cy="4709160"/>
          </a:xfrm>
        </p:spPr>
        <p:txBody>
          <a:bodyPr/>
          <a:lstStyle/>
          <a:p>
            <a:r>
              <a:rPr lang="en-US" dirty="0"/>
              <a:t>Spreading Resistance Profiling (SRP)</a:t>
            </a:r>
          </a:p>
        </p:txBody>
      </p:sp>
      <p:sp>
        <p:nvSpPr>
          <p:cNvPr id="4" name="Slide Number Placeholder 3">
            <a:extLst>
              <a:ext uri="{FF2B5EF4-FFF2-40B4-BE49-F238E27FC236}">
                <a16:creationId xmlns:a16="http://schemas.microsoft.com/office/drawing/2014/main" id="{69BED243-6EA7-7309-2A95-8F31FA5031A8}"/>
              </a:ext>
            </a:extLst>
          </p:cNvPr>
          <p:cNvSpPr>
            <a:spLocks noGrp="1"/>
          </p:cNvSpPr>
          <p:nvPr>
            <p:ph type="sldNum" sz="quarter" idx="10"/>
          </p:nvPr>
        </p:nvSpPr>
        <p:spPr/>
        <p:txBody>
          <a:bodyPr/>
          <a:lstStyle/>
          <a:p>
            <a:r>
              <a:rPr lang="en-US" altLang="en-US"/>
              <a:t>Page </a:t>
            </a:r>
            <a:fld id="{C1DF602E-ABBC-4DB5-A6A4-48FB32B9B5B2}" type="slidenum">
              <a:rPr lang="en-US" altLang="en-US" smtClean="0"/>
              <a:pPr/>
              <a:t>24</a:t>
            </a:fld>
            <a:endParaRPr lang="en-US" altLang="en-US"/>
          </a:p>
        </p:txBody>
      </p:sp>
      <p:pic>
        <p:nvPicPr>
          <p:cNvPr id="8" name="Picture 7">
            <a:extLst>
              <a:ext uri="{FF2B5EF4-FFF2-40B4-BE49-F238E27FC236}">
                <a16:creationId xmlns:a16="http://schemas.microsoft.com/office/drawing/2014/main" id="{5B82DC02-0600-A8C2-9A17-A808ACCC3D24}"/>
              </a:ext>
            </a:extLst>
          </p:cNvPr>
          <p:cNvPicPr>
            <a:picLocks noChangeAspect="1"/>
          </p:cNvPicPr>
          <p:nvPr/>
        </p:nvPicPr>
        <p:blipFill>
          <a:blip r:embed="rId2"/>
          <a:stretch>
            <a:fillRect/>
          </a:stretch>
        </p:blipFill>
        <p:spPr>
          <a:xfrm>
            <a:off x="378075" y="1842396"/>
            <a:ext cx="4174531" cy="3173208"/>
          </a:xfrm>
          <a:prstGeom prst="rect">
            <a:avLst/>
          </a:prstGeom>
        </p:spPr>
      </p:pic>
      <p:sp>
        <p:nvSpPr>
          <p:cNvPr id="10" name="TextBox 9">
            <a:extLst>
              <a:ext uri="{FF2B5EF4-FFF2-40B4-BE49-F238E27FC236}">
                <a16:creationId xmlns:a16="http://schemas.microsoft.com/office/drawing/2014/main" id="{43586087-B7AB-37ED-A601-5A5289882F92}"/>
              </a:ext>
            </a:extLst>
          </p:cNvPr>
          <p:cNvSpPr txBox="1"/>
          <p:nvPr/>
        </p:nvSpPr>
        <p:spPr>
          <a:xfrm>
            <a:off x="378075" y="5133534"/>
            <a:ext cx="4883783" cy="261610"/>
          </a:xfrm>
          <a:prstGeom prst="rect">
            <a:avLst/>
          </a:prstGeom>
          <a:noFill/>
        </p:spPr>
        <p:txBody>
          <a:bodyPr wrap="square">
            <a:spAutoFit/>
          </a:bodyPr>
          <a:lstStyle/>
          <a:p>
            <a:r>
              <a:rPr lang="en-US" sz="1100" dirty="0">
                <a:hlinkClick r:id="rId3"/>
              </a:rPr>
              <a:t>Scanning-Spreading-Resistance-Microscopy-(SSRM).pdf (parksystems.cn)</a:t>
            </a:r>
            <a:endParaRPr lang="en-US" sz="1100" dirty="0"/>
          </a:p>
        </p:txBody>
      </p:sp>
      <p:pic>
        <p:nvPicPr>
          <p:cNvPr id="12" name="Picture 11">
            <a:extLst>
              <a:ext uri="{FF2B5EF4-FFF2-40B4-BE49-F238E27FC236}">
                <a16:creationId xmlns:a16="http://schemas.microsoft.com/office/drawing/2014/main" id="{E9BD7DBA-EE8B-5CD6-9209-FB8AC6498DC4}"/>
              </a:ext>
            </a:extLst>
          </p:cNvPr>
          <p:cNvPicPr>
            <a:picLocks noChangeAspect="1"/>
          </p:cNvPicPr>
          <p:nvPr/>
        </p:nvPicPr>
        <p:blipFill>
          <a:blip r:embed="rId4"/>
          <a:stretch>
            <a:fillRect/>
          </a:stretch>
        </p:blipFill>
        <p:spPr>
          <a:xfrm>
            <a:off x="5474968" y="1842396"/>
            <a:ext cx="6229350" cy="2562225"/>
          </a:xfrm>
          <a:prstGeom prst="rect">
            <a:avLst/>
          </a:prstGeom>
        </p:spPr>
      </p:pic>
      <p:sp>
        <p:nvSpPr>
          <p:cNvPr id="13" name="Content Placeholder 2">
            <a:extLst>
              <a:ext uri="{FF2B5EF4-FFF2-40B4-BE49-F238E27FC236}">
                <a16:creationId xmlns:a16="http://schemas.microsoft.com/office/drawing/2014/main" id="{D23CF554-AF7C-A40C-1811-2214DF0F1742}"/>
              </a:ext>
            </a:extLst>
          </p:cNvPr>
          <p:cNvSpPr txBox="1">
            <a:spLocks/>
          </p:cNvSpPr>
          <p:nvPr/>
        </p:nvSpPr>
        <p:spPr>
          <a:xfrm>
            <a:off x="5887456" y="1263719"/>
            <a:ext cx="5923417" cy="4709160"/>
          </a:xfrm>
          <a:prstGeom prst="rect">
            <a:avLst/>
          </a:prstGeom>
        </p:spPr>
        <p:txBody>
          <a:bodyPr vert="horz" lIns="0" tIns="0" rIns="0" bIns="0" spcCol="484632" rtlCol="0">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r>
              <a:rPr lang="en-US" dirty="0"/>
              <a:t>Scanning Spreading Resistance Microscopy (SSRM)</a:t>
            </a:r>
          </a:p>
        </p:txBody>
      </p:sp>
      <p:pic>
        <p:nvPicPr>
          <p:cNvPr id="15" name="Picture 14">
            <a:extLst>
              <a:ext uri="{FF2B5EF4-FFF2-40B4-BE49-F238E27FC236}">
                <a16:creationId xmlns:a16="http://schemas.microsoft.com/office/drawing/2014/main" id="{1D536203-B5A3-4DC3-6D54-281492372978}"/>
              </a:ext>
            </a:extLst>
          </p:cNvPr>
          <p:cNvPicPr>
            <a:picLocks noChangeAspect="1"/>
          </p:cNvPicPr>
          <p:nvPr/>
        </p:nvPicPr>
        <p:blipFill>
          <a:blip r:embed="rId5"/>
          <a:stretch>
            <a:fillRect/>
          </a:stretch>
        </p:blipFill>
        <p:spPr>
          <a:xfrm>
            <a:off x="6094474" y="4299558"/>
            <a:ext cx="1838325" cy="2457450"/>
          </a:xfrm>
          <a:prstGeom prst="rect">
            <a:avLst/>
          </a:prstGeom>
        </p:spPr>
      </p:pic>
      <p:sp>
        <p:nvSpPr>
          <p:cNvPr id="17" name="TextBox 16">
            <a:extLst>
              <a:ext uri="{FF2B5EF4-FFF2-40B4-BE49-F238E27FC236}">
                <a16:creationId xmlns:a16="http://schemas.microsoft.com/office/drawing/2014/main" id="{759A74A1-9AA7-6916-C489-BE646D4DD824}"/>
              </a:ext>
            </a:extLst>
          </p:cNvPr>
          <p:cNvSpPr txBox="1"/>
          <p:nvPr/>
        </p:nvSpPr>
        <p:spPr>
          <a:xfrm>
            <a:off x="8139817" y="4692438"/>
            <a:ext cx="2847731" cy="938719"/>
          </a:xfrm>
          <a:prstGeom prst="rect">
            <a:avLst/>
          </a:prstGeom>
          <a:noFill/>
        </p:spPr>
        <p:txBody>
          <a:bodyPr wrap="square">
            <a:spAutoFit/>
          </a:bodyPr>
          <a:lstStyle/>
          <a:p>
            <a:r>
              <a:rPr lang="en-US" sz="1100" b="0" i="0" dirty="0">
                <a:solidFill>
                  <a:srgbClr val="4D5156"/>
                </a:solidFill>
                <a:effectLst/>
                <a:latin typeface="arial" panose="020B0604020202020204" pitchFamily="34" charset="0"/>
              </a:rPr>
              <a:t>U. </a:t>
            </a:r>
            <a:r>
              <a:rPr lang="en-US" sz="1100" b="0" i="0" dirty="0" err="1">
                <a:solidFill>
                  <a:srgbClr val="4D5156"/>
                </a:solidFill>
                <a:effectLst/>
                <a:latin typeface="arial" panose="020B0604020202020204" pitchFamily="34" charset="0"/>
              </a:rPr>
              <a:t>Celano</a:t>
            </a:r>
            <a:r>
              <a:rPr lang="en-US" sz="1100" b="0" i="0" dirty="0">
                <a:solidFill>
                  <a:srgbClr val="4D5156"/>
                </a:solidFill>
                <a:effectLst/>
                <a:latin typeface="arial" panose="020B0604020202020204" pitchFamily="34" charset="0"/>
              </a:rPr>
              <a:t> et al. “</a:t>
            </a:r>
            <a:r>
              <a:rPr lang="en-US" sz="1100" dirty="0"/>
              <a:t>Individual Device Analysis Using Hybrid TEM-Scalpel SSRM Metrology” </a:t>
            </a:r>
            <a:r>
              <a:rPr lang="en-US" sz="1100" b="0" i="0" dirty="0">
                <a:solidFill>
                  <a:srgbClr val="4D5156"/>
                </a:solidFill>
                <a:effectLst/>
                <a:latin typeface="arial" panose="020B0604020202020204" pitchFamily="34" charset="0"/>
              </a:rPr>
              <a:t>Frontiers of Characterization and Metrology for Nanoelectronics (</a:t>
            </a:r>
            <a:r>
              <a:rPr lang="en-US" sz="1100" b="1" i="0" dirty="0">
                <a:solidFill>
                  <a:srgbClr val="5F6368"/>
                </a:solidFill>
                <a:effectLst/>
                <a:latin typeface="arial" panose="020B0604020202020204" pitchFamily="34" charset="0"/>
              </a:rPr>
              <a:t>FCMN</a:t>
            </a:r>
            <a:r>
              <a:rPr lang="en-US" sz="1100" b="0" i="0" dirty="0">
                <a:solidFill>
                  <a:srgbClr val="4D5156"/>
                </a:solidFill>
                <a:effectLst/>
                <a:latin typeface="arial" panose="020B0604020202020204" pitchFamily="34" charset="0"/>
              </a:rPr>
              <a:t>) conference 2017</a:t>
            </a:r>
            <a:endParaRPr lang="en-US" sz="1100" dirty="0"/>
          </a:p>
        </p:txBody>
      </p:sp>
    </p:spTree>
    <p:extLst>
      <p:ext uri="{BB962C8B-B14F-4D97-AF65-F5344CB8AC3E}">
        <p14:creationId xmlns:p14="http://schemas.microsoft.com/office/powerpoint/2010/main" val="1191807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59B9-0E43-60EC-4860-44E1E8F1D7EE}"/>
              </a:ext>
            </a:extLst>
          </p:cNvPr>
          <p:cNvSpPr>
            <a:spLocks noGrp="1"/>
          </p:cNvSpPr>
          <p:nvPr>
            <p:ph type="title"/>
          </p:nvPr>
        </p:nvSpPr>
        <p:spPr/>
        <p:txBody>
          <a:bodyPr/>
          <a:lstStyle/>
          <a:p>
            <a:r>
              <a:rPr lang="en-US" dirty="0"/>
              <a:t>Electron holography</a:t>
            </a:r>
          </a:p>
        </p:txBody>
      </p:sp>
      <p:pic>
        <p:nvPicPr>
          <p:cNvPr id="6" name="Content Placeholder 5">
            <a:extLst>
              <a:ext uri="{FF2B5EF4-FFF2-40B4-BE49-F238E27FC236}">
                <a16:creationId xmlns:a16="http://schemas.microsoft.com/office/drawing/2014/main" id="{0B00B57E-384D-7DFC-BC9A-942E356C5485}"/>
              </a:ext>
            </a:extLst>
          </p:cNvPr>
          <p:cNvPicPr>
            <a:picLocks noGrp="1" noChangeAspect="1"/>
          </p:cNvPicPr>
          <p:nvPr>
            <p:ph idx="1"/>
          </p:nvPr>
        </p:nvPicPr>
        <p:blipFill>
          <a:blip r:embed="rId2"/>
          <a:stretch>
            <a:fillRect/>
          </a:stretch>
        </p:blipFill>
        <p:spPr>
          <a:xfrm>
            <a:off x="4827589" y="1547812"/>
            <a:ext cx="7105650" cy="3762375"/>
          </a:xfrm>
        </p:spPr>
      </p:pic>
      <p:sp>
        <p:nvSpPr>
          <p:cNvPr id="4" name="Slide Number Placeholder 3">
            <a:extLst>
              <a:ext uri="{FF2B5EF4-FFF2-40B4-BE49-F238E27FC236}">
                <a16:creationId xmlns:a16="http://schemas.microsoft.com/office/drawing/2014/main" id="{557B6713-2096-95BD-4BCF-E5A482570829}"/>
              </a:ext>
            </a:extLst>
          </p:cNvPr>
          <p:cNvSpPr>
            <a:spLocks noGrp="1"/>
          </p:cNvSpPr>
          <p:nvPr>
            <p:ph type="sldNum" sz="quarter" idx="10"/>
          </p:nvPr>
        </p:nvSpPr>
        <p:spPr/>
        <p:txBody>
          <a:bodyPr/>
          <a:lstStyle/>
          <a:p>
            <a:r>
              <a:rPr lang="en-US" altLang="en-US"/>
              <a:t>Page </a:t>
            </a:r>
            <a:fld id="{C1DF602E-ABBC-4DB5-A6A4-48FB32B9B5B2}" type="slidenum">
              <a:rPr lang="en-US" altLang="en-US" smtClean="0"/>
              <a:pPr/>
              <a:t>25</a:t>
            </a:fld>
            <a:endParaRPr lang="en-US" altLang="en-US"/>
          </a:p>
        </p:txBody>
      </p:sp>
      <p:pic>
        <p:nvPicPr>
          <p:cNvPr id="8" name="Picture 7">
            <a:extLst>
              <a:ext uri="{FF2B5EF4-FFF2-40B4-BE49-F238E27FC236}">
                <a16:creationId xmlns:a16="http://schemas.microsoft.com/office/drawing/2014/main" id="{597894F8-C737-47B8-9209-D0A2D127EA94}"/>
              </a:ext>
            </a:extLst>
          </p:cNvPr>
          <p:cNvPicPr>
            <a:picLocks noChangeAspect="1"/>
          </p:cNvPicPr>
          <p:nvPr/>
        </p:nvPicPr>
        <p:blipFill>
          <a:blip r:embed="rId3"/>
          <a:stretch>
            <a:fillRect/>
          </a:stretch>
        </p:blipFill>
        <p:spPr>
          <a:xfrm>
            <a:off x="258761" y="1547812"/>
            <a:ext cx="4150750" cy="3628872"/>
          </a:xfrm>
          <a:prstGeom prst="rect">
            <a:avLst/>
          </a:prstGeom>
        </p:spPr>
      </p:pic>
      <p:sp>
        <p:nvSpPr>
          <p:cNvPr id="10" name="TextBox 9">
            <a:extLst>
              <a:ext uri="{FF2B5EF4-FFF2-40B4-BE49-F238E27FC236}">
                <a16:creationId xmlns:a16="http://schemas.microsoft.com/office/drawing/2014/main" id="{A14E31C9-A9C0-8B99-C13C-F1642792EF08}"/>
              </a:ext>
            </a:extLst>
          </p:cNvPr>
          <p:cNvSpPr txBox="1"/>
          <p:nvPr/>
        </p:nvSpPr>
        <p:spPr>
          <a:xfrm>
            <a:off x="1123039" y="6004036"/>
            <a:ext cx="8943109" cy="369332"/>
          </a:xfrm>
          <a:prstGeom prst="rect">
            <a:avLst/>
          </a:prstGeom>
          <a:noFill/>
        </p:spPr>
        <p:txBody>
          <a:bodyPr wrap="square">
            <a:spAutoFit/>
          </a:bodyPr>
          <a:lstStyle/>
          <a:p>
            <a:r>
              <a:rPr lang="en-US" dirty="0"/>
              <a:t>Hannes </a:t>
            </a:r>
            <a:r>
              <a:rPr lang="en-US" dirty="0" err="1"/>
              <a:t>Lichte</a:t>
            </a:r>
            <a:r>
              <a:rPr lang="en-US" dirty="0"/>
              <a:t> and Michael Lehmann 2008 Rep. Prog. Phys. 71 016102</a:t>
            </a:r>
          </a:p>
        </p:txBody>
      </p:sp>
    </p:spTree>
    <p:extLst>
      <p:ext uri="{BB962C8B-B14F-4D97-AF65-F5344CB8AC3E}">
        <p14:creationId xmlns:p14="http://schemas.microsoft.com/office/powerpoint/2010/main" val="311188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D0E26DA-3C7A-398B-65AF-B63E30507CF9}"/>
              </a:ext>
            </a:extLst>
          </p:cNvPr>
          <p:cNvSpPr>
            <a:spLocks noGrp="1"/>
          </p:cNvSpPr>
          <p:nvPr>
            <p:ph type="sldNum" sz="quarter" idx="10"/>
          </p:nvPr>
        </p:nvSpPr>
        <p:spPr/>
        <p:txBody>
          <a:bodyPr/>
          <a:lstStyle/>
          <a:p>
            <a:r>
              <a:rPr lang="en-US" altLang="en-US"/>
              <a:t>Page </a:t>
            </a:r>
            <a:fld id="{7AB81248-31CB-4755-8BFE-5C22CAED7D8E}" type="slidenum">
              <a:rPr lang="en-US" altLang="en-US"/>
              <a:pPr/>
              <a:t>26</a:t>
            </a:fld>
            <a:endParaRPr lang="en-US" altLang="en-US"/>
          </a:p>
        </p:txBody>
      </p:sp>
      <p:sp>
        <p:nvSpPr>
          <p:cNvPr id="339970" name="Rectangle 2">
            <a:extLst>
              <a:ext uri="{FF2B5EF4-FFF2-40B4-BE49-F238E27FC236}">
                <a16:creationId xmlns:a16="http://schemas.microsoft.com/office/drawing/2014/main" id="{1F61EF30-1028-8059-96C7-1839B137A6FC}"/>
              </a:ext>
            </a:extLst>
          </p:cNvPr>
          <p:cNvSpPr>
            <a:spLocks noGrp="1" noChangeArrowheads="1"/>
          </p:cNvSpPr>
          <p:nvPr>
            <p:ph type="title"/>
          </p:nvPr>
        </p:nvSpPr>
        <p:spPr/>
        <p:txBody>
          <a:bodyPr/>
          <a:lstStyle/>
          <a:p>
            <a:r>
              <a:rPr lang="en-GB" altLang="en-US"/>
              <a:t>Bibliography and links for this lesson</a:t>
            </a:r>
            <a:endParaRPr lang="en-US" altLang="en-US"/>
          </a:p>
        </p:txBody>
      </p:sp>
      <p:sp>
        <p:nvSpPr>
          <p:cNvPr id="339971" name="Rectangle 3">
            <a:extLst>
              <a:ext uri="{FF2B5EF4-FFF2-40B4-BE49-F238E27FC236}">
                <a16:creationId xmlns:a16="http://schemas.microsoft.com/office/drawing/2014/main" id="{A9A50F3D-F622-AA83-99A5-F5E74CB3A4EB}"/>
              </a:ext>
            </a:extLst>
          </p:cNvPr>
          <p:cNvSpPr>
            <a:spLocks noGrp="1" noChangeArrowheads="1"/>
          </p:cNvSpPr>
          <p:nvPr>
            <p:ph type="body" idx="1"/>
          </p:nvPr>
        </p:nvSpPr>
        <p:spPr/>
        <p:txBody>
          <a:bodyPr/>
          <a:lstStyle/>
          <a:p>
            <a:r>
              <a:rPr lang="en-GB" altLang="en-US"/>
              <a:t>Erf and Erfc information and details:</a:t>
            </a:r>
          </a:p>
          <a:p>
            <a:pPr lvl="1"/>
            <a:r>
              <a:rPr lang="en-US" altLang="en-US">
                <a:hlinkClick r:id="rId2"/>
              </a:rPr>
              <a:t>http://mathworld.wolfram.com/Erf.html</a:t>
            </a:r>
            <a:endParaRPr lang="en-US" altLang="en-US"/>
          </a:p>
          <a:p>
            <a:r>
              <a:rPr lang="en-GB" altLang="en-US"/>
              <a:t>Irvin curves:</a:t>
            </a:r>
          </a:p>
          <a:p>
            <a:pPr lvl="1"/>
            <a:r>
              <a:rPr lang="en-US" altLang="en-US"/>
              <a:t>http://fabweb.ece.uiuc.edu/gt/irvin/</a:t>
            </a:r>
          </a:p>
          <a:p>
            <a:pPr lvl="1">
              <a:buFontTx/>
              <a:buNone/>
            </a:pPr>
            <a:endParaRPr lang="en-US" altLang="en-US"/>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68</TotalTime>
  <Words>1579</Words>
  <Application>Microsoft Office PowerPoint</Application>
  <PresentationFormat>Widescreen</PresentationFormat>
  <Paragraphs>263</Paragraphs>
  <Slides>26</Slides>
  <Notes>19</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5" baseType="lpstr">
      <vt:lpstr>Arial</vt:lpstr>
      <vt:lpstr>Arial</vt:lpstr>
      <vt:lpstr>Symbol</vt:lpstr>
      <vt:lpstr>Times</vt:lpstr>
      <vt:lpstr>Verdana</vt:lpstr>
      <vt:lpstr>Wingdings</vt:lpstr>
      <vt:lpstr>Micron</vt:lpstr>
      <vt:lpstr>Equation</vt:lpstr>
      <vt:lpstr>Document</vt:lpstr>
      <vt:lpstr>Dopant diffusion</vt:lpstr>
      <vt:lpstr>Resistivity and surface concentration</vt:lpstr>
      <vt:lpstr>Technology scaling and junction depth</vt:lpstr>
      <vt:lpstr>ITRS predictions for junctions depth</vt:lpstr>
      <vt:lpstr>Diffusion</vt:lpstr>
      <vt:lpstr>Solid solubility</vt:lpstr>
      <vt:lpstr>Fick’s laws</vt:lpstr>
      <vt:lpstr>Analytic solutions of diffusion equation Steady state</vt:lpstr>
      <vt:lpstr>Analytic solutions of diffusion equation Gaussian solution</vt:lpstr>
      <vt:lpstr>Analytic solutions of diffusion equation Gaussian solution near a surface</vt:lpstr>
      <vt:lpstr>Analytic solutions of diffusion equation erfc solution</vt:lpstr>
      <vt:lpstr>Analytic solutions of diffusion equation erfc solution near a surface</vt:lpstr>
      <vt:lpstr>Intrinsic Diffusion coefficients </vt:lpstr>
      <vt:lpstr>Effect of multiple diffusion steps</vt:lpstr>
      <vt:lpstr>Correction to Fick’s law</vt:lpstr>
      <vt:lpstr>Correction to Fick’s law</vt:lpstr>
      <vt:lpstr>Other factors influencing diffusion</vt:lpstr>
      <vt:lpstr>Diffusion at atomic scale</vt:lpstr>
      <vt:lpstr>Diffusion at atomic scale</vt:lpstr>
      <vt:lpstr>Diffusion at atomic scale</vt:lpstr>
      <vt:lpstr>Modeling of atomic scale diffusion</vt:lpstr>
      <vt:lpstr>Modeling of atomic scale diffusion</vt:lpstr>
      <vt:lpstr>Measurements methods SIMS</vt:lpstr>
      <vt:lpstr>SRP and SRRM</vt:lpstr>
      <vt:lpstr>Electron holography</vt:lpstr>
      <vt:lpstr>Bibliography and links for this lesson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7</cp:revision>
  <dcterms:created xsi:type="dcterms:W3CDTF">2025-02-14T08:32:36Z</dcterms:created>
  <dcterms:modified xsi:type="dcterms:W3CDTF">2025-02-14T09:47:31Z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