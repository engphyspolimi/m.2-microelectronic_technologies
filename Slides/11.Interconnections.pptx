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8"/>
  </p:notesMasterIdLst>
  <p:handoutMasterIdLst>
    <p:handoutMasterId r:id="rId49"/>
  </p:handoutMasterIdLst>
  <p:sldIdLst>
    <p:sldId id="310" r:id="rId5"/>
    <p:sldId id="312" r:id="rId6"/>
    <p:sldId id="313" r:id="rId7"/>
    <p:sldId id="351" r:id="rId8"/>
    <p:sldId id="340" r:id="rId9"/>
    <p:sldId id="341" r:id="rId10"/>
    <p:sldId id="353" r:id="rId11"/>
    <p:sldId id="318" r:id="rId12"/>
    <p:sldId id="352" r:id="rId13"/>
    <p:sldId id="320" r:id="rId14"/>
    <p:sldId id="343" r:id="rId15"/>
    <p:sldId id="321" r:id="rId16"/>
    <p:sldId id="345" r:id="rId17"/>
    <p:sldId id="324" r:id="rId18"/>
    <p:sldId id="344" r:id="rId19"/>
    <p:sldId id="325" r:id="rId20"/>
    <p:sldId id="323" r:id="rId21"/>
    <p:sldId id="355" r:id="rId22"/>
    <p:sldId id="356" r:id="rId23"/>
    <p:sldId id="346" r:id="rId24"/>
    <p:sldId id="327" r:id="rId25"/>
    <p:sldId id="322" r:id="rId26"/>
    <p:sldId id="354" r:id="rId27"/>
    <p:sldId id="347" r:id="rId28"/>
    <p:sldId id="348" r:id="rId29"/>
    <p:sldId id="349" r:id="rId30"/>
    <p:sldId id="350" r:id="rId31"/>
    <p:sldId id="333" r:id="rId32"/>
    <p:sldId id="336" r:id="rId33"/>
    <p:sldId id="337" r:id="rId34"/>
    <p:sldId id="338" r:id="rId35"/>
    <p:sldId id="357" r:id="rId36"/>
    <p:sldId id="358" r:id="rId37"/>
    <p:sldId id="359" r:id="rId38"/>
    <p:sldId id="360" r:id="rId39"/>
    <p:sldId id="361" r:id="rId40"/>
    <p:sldId id="362" r:id="rId41"/>
    <p:sldId id="363" r:id="rId42"/>
    <p:sldId id="364" r:id="rId43"/>
    <p:sldId id="365" r:id="rId44"/>
    <p:sldId id="339" r:id="rId45"/>
    <p:sldId id="367" r:id="rId46"/>
    <p:sldId id="366"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C693AB-E6BD-42A7-92AD-5C5205E1779A}" v="1" dt="2025-02-14T09:50:19.450"/>
  </p1510:revLst>
</p1510:revInfo>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718" autoAdjust="0"/>
  </p:normalViewPr>
  <p:slideViewPr>
    <p:cSldViewPr snapToGrid="0" showGuides="1">
      <p:cViewPr>
        <p:scale>
          <a:sx n="71" d="100"/>
          <a:sy n="71" d="100"/>
        </p:scale>
        <p:origin x="484" y="52"/>
      </p:cViewPr>
      <p:guideLst/>
    </p:cSldViewPr>
  </p:slideViewPr>
  <p:notesTextViewPr>
    <p:cViewPr>
      <p:scale>
        <a:sx n="1" d="1"/>
        <a:sy n="1" d="1"/>
      </p:scale>
      <p:origin x="0" y="0"/>
    </p:cViewPr>
  </p:notesTextViewPr>
  <p:sorterViewPr>
    <p:cViewPr>
      <p:scale>
        <a:sx n="1" d="1"/>
        <a:sy n="1" d="1"/>
      </p:scale>
      <p:origin x="0" y="-15144"/>
    </p:cViewPr>
  </p:sorterViewPr>
  <p:notesViewPr>
    <p:cSldViewPr snapToGrid="0" showGuides="1">
      <p:cViewPr varScale="1">
        <p:scale>
          <a:sx n="166" d="100"/>
          <a:sy n="166" d="100"/>
        </p:scale>
        <p:origin x="6672"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ello Mariani" userId="1e342699-93ad-4e2e-93b0-0f6a2c00c4b8" providerId="ADAL" clId="{FBC693AB-E6BD-42A7-92AD-5C5205E1779A}"/>
    <pc:docChg chg="addSld delSld modSld">
      <pc:chgData name="Marcello Mariani" userId="1e342699-93ad-4e2e-93b0-0f6a2c00c4b8" providerId="ADAL" clId="{FBC693AB-E6BD-42A7-92AD-5C5205E1779A}" dt="2025-02-14T09:50:19.414" v="1"/>
      <pc:docMkLst>
        <pc:docMk/>
      </pc:docMkLst>
      <pc:sldChg chg="del">
        <pc:chgData name="Marcello Mariani" userId="1e342699-93ad-4e2e-93b0-0f6a2c00c4b8" providerId="ADAL" clId="{FBC693AB-E6BD-42A7-92AD-5C5205E1779A}" dt="2025-02-14T09:50:18.095" v="0" actId="47"/>
        <pc:sldMkLst>
          <pc:docMk/>
          <pc:sldMk cId="3070784113" sldId="266"/>
        </pc:sldMkLst>
      </pc:sldChg>
      <pc:sldChg chg="del">
        <pc:chgData name="Marcello Mariani" userId="1e342699-93ad-4e2e-93b0-0f6a2c00c4b8" providerId="ADAL" clId="{FBC693AB-E6BD-42A7-92AD-5C5205E1779A}" dt="2025-02-14T09:50:18.095" v="0" actId="47"/>
        <pc:sldMkLst>
          <pc:docMk/>
          <pc:sldMk cId="3318774999" sldId="269"/>
        </pc:sldMkLst>
      </pc:sldChg>
      <pc:sldChg chg="del">
        <pc:chgData name="Marcello Mariani" userId="1e342699-93ad-4e2e-93b0-0f6a2c00c4b8" providerId="ADAL" clId="{FBC693AB-E6BD-42A7-92AD-5C5205E1779A}" dt="2025-02-14T09:50:18.095" v="0" actId="47"/>
        <pc:sldMkLst>
          <pc:docMk/>
          <pc:sldMk cId="3815861287" sldId="270"/>
        </pc:sldMkLst>
      </pc:sldChg>
      <pc:sldChg chg="del">
        <pc:chgData name="Marcello Mariani" userId="1e342699-93ad-4e2e-93b0-0f6a2c00c4b8" providerId="ADAL" clId="{FBC693AB-E6BD-42A7-92AD-5C5205E1779A}" dt="2025-02-14T09:50:18.095" v="0" actId="47"/>
        <pc:sldMkLst>
          <pc:docMk/>
          <pc:sldMk cId="3008946381" sldId="271"/>
        </pc:sldMkLst>
      </pc:sldChg>
      <pc:sldChg chg="del">
        <pc:chgData name="Marcello Mariani" userId="1e342699-93ad-4e2e-93b0-0f6a2c00c4b8" providerId="ADAL" clId="{FBC693AB-E6BD-42A7-92AD-5C5205E1779A}" dt="2025-02-14T09:50:18.095" v="0" actId="47"/>
        <pc:sldMkLst>
          <pc:docMk/>
          <pc:sldMk cId="973713600" sldId="272"/>
        </pc:sldMkLst>
      </pc:sldChg>
      <pc:sldChg chg="del">
        <pc:chgData name="Marcello Mariani" userId="1e342699-93ad-4e2e-93b0-0f6a2c00c4b8" providerId="ADAL" clId="{FBC693AB-E6BD-42A7-92AD-5C5205E1779A}" dt="2025-02-14T09:50:18.095" v="0" actId="47"/>
        <pc:sldMkLst>
          <pc:docMk/>
          <pc:sldMk cId="1493898410" sldId="273"/>
        </pc:sldMkLst>
      </pc:sldChg>
      <pc:sldChg chg="del">
        <pc:chgData name="Marcello Mariani" userId="1e342699-93ad-4e2e-93b0-0f6a2c00c4b8" providerId="ADAL" clId="{FBC693AB-E6BD-42A7-92AD-5C5205E1779A}" dt="2025-02-14T09:50:18.095" v="0" actId="47"/>
        <pc:sldMkLst>
          <pc:docMk/>
          <pc:sldMk cId="3132368358" sldId="274"/>
        </pc:sldMkLst>
      </pc:sldChg>
      <pc:sldChg chg="del">
        <pc:chgData name="Marcello Mariani" userId="1e342699-93ad-4e2e-93b0-0f6a2c00c4b8" providerId="ADAL" clId="{FBC693AB-E6BD-42A7-92AD-5C5205E1779A}" dt="2025-02-14T09:50:18.095" v="0" actId="47"/>
        <pc:sldMkLst>
          <pc:docMk/>
          <pc:sldMk cId="3442465838" sldId="275"/>
        </pc:sldMkLst>
      </pc:sldChg>
      <pc:sldChg chg="add del">
        <pc:chgData name="Marcello Mariani" userId="1e342699-93ad-4e2e-93b0-0f6a2c00c4b8" providerId="ADAL" clId="{FBC693AB-E6BD-42A7-92AD-5C5205E1779A}" dt="2025-02-14T09:50:19.414" v="1"/>
        <pc:sldMkLst>
          <pc:docMk/>
          <pc:sldMk cId="0" sldId="310"/>
        </pc:sldMkLst>
      </pc:sldChg>
      <pc:sldChg chg="add del">
        <pc:chgData name="Marcello Mariani" userId="1e342699-93ad-4e2e-93b0-0f6a2c00c4b8" providerId="ADAL" clId="{FBC693AB-E6BD-42A7-92AD-5C5205E1779A}" dt="2025-02-14T09:50:19.414" v="1"/>
        <pc:sldMkLst>
          <pc:docMk/>
          <pc:sldMk cId="0" sldId="312"/>
        </pc:sldMkLst>
      </pc:sldChg>
      <pc:sldChg chg="add">
        <pc:chgData name="Marcello Mariani" userId="1e342699-93ad-4e2e-93b0-0f6a2c00c4b8" providerId="ADAL" clId="{FBC693AB-E6BD-42A7-92AD-5C5205E1779A}" dt="2025-02-14T09:50:19.414" v="1"/>
        <pc:sldMkLst>
          <pc:docMk/>
          <pc:sldMk cId="0" sldId="313"/>
        </pc:sldMkLst>
      </pc:sldChg>
      <pc:sldChg chg="add">
        <pc:chgData name="Marcello Mariani" userId="1e342699-93ad-4e2e-93b0-0f6a2c00c4b8" providerId="ADAL" clId="{FBC693AB-E6BD-42A7-92AD-5C5205E1779A}" dt="2025-02-14T09:50:19.414" v="1"/>
        <pc:sldMkLst>
          <pc:docMk/>
          <pc:sldMk cId="0" sldId="318"/>
        </pc:sldMkLst>
      </pc:sldChg>
      <pc:sldChg chg="add">
        <pc:chgData name="Marcello Mariani" userId="1e342699-93ad-4e2e-93b0-0f6a2c00c4b8" providerId="ADAL" clId="{FBC693AB-E6BD-42A7-92AD-5C5205E1779A}" dt="2025-02-14T09:50:19.414" v="1"/>
        <pc:sldMkLst>
          <pc:docMk/>
          <pc:sldMk cId="0" sldId="320"/>
        </pc:sldMkLst>
      </pc:sldChg>
      <pc:sldChg chg="add">
        <pc:chgData name="Marcello Mariani" userId="1e342699-93ad-4e2e-93b0-0f6a2c00c4b8" providerId="ADAL" clId="{FBC693AB-E6BD-42A7-92AD-5C5205E1779A}" dt="2025-02-14T09:50:19.414" v="1"/>
        <pc:sldMkLst>
          <pc:docMk/>
          <pc:sldMk cId="0" sldId="321"/>
        </pc:sldMkLst>
      </pc:sldChg>
      <pc:sldChg chg="add">
        <pc:chgData name="Marcello Mariani" userId="1e342699-93ad-4e2e-93b0-0f6a2c00c4b8" providerId="ADAL" clId="{FBC693AB-E6BD-42A7-92AD-5C5205E1779A}" dt="2025-02-14T09:50:19.414" v="1"/>
        <pc:sldMkLst>
          <pc:docMk/>
          <pc:sldMk cId="0" sldId="322"/>
        </pc:sldMkLst>
      </pc:sldChg>
      <pc:sldChg chg="add">
        <pc:chgData name="Marcello Mariani" userId="1e342699-93ad-4e2e-93b0-0f6a2c00c4b8" providerId="ADAL" clId="{FBC693AB-E6BD-42A7-92AD-5C5205E1779A}" dt="2025-02-14T09:50:19.414" v="1"/>
        <pc:sldMkLst>
          <pc:docMk/>
          <pc:sldMk cId="0" sldId="323"/>
        </pc:sldMkLst>
      </pc:sldChg>
      <pc:sldChg chg="add">
        <pc:chgData name="Marcello Mariani" userId="1e342699-93ad-4e2e-93b0-0f6a2c00c4b8" providerId="ADAL" clId="{FBC693AB-E6BD-42A7-92AD-5C5205E1779A}" dt="2025-02-14T09:50:19.414" v="1"/>
        <pc:sldMkLst>
          <pc:docMk/>
          <pc:sldMk cId="0" sldId="324"/>
        </pc:sldMkLst>
      </pc:sldChg>
      <pc:sldChg chg="add">
        <pc:chgData name="Marcello Mariani" userId="1e342699-93ad-4e2e-93b0-0f6a2c00c4b8" providerId="ADAL" clId="{FBC693AB-E6BD-42A7-92AD-5C5205E1779A}" dt="2025-02-14T09:50:19.414" v="1"/>
        <pc:sldMkLst>
          <pc:docMk/>
          <pc:sldMk cId="0" sldId="325"/>
        </pc:sldMkLst>
      </pc:sldChg>
      <pc:sldChg chg="add del">
        <pc:chgData name="Marcello Mariani" userId="1e342699-93ad-4e2e-93b0-0f6a2c00c4b8" providerId="ADAL" clId="{FBC693AB-E6BD-42A7-92AD-5C5205E1779A}" dt="2025-02-14T09:50:19.414" v="1"/>
        <pc:sldMkLst>
          <pc:docMk/>
          <pc:sldMk cId="0" sldId="327"/>
        </pc:sldMkLst>
      </pc:sldChg>
      <pc:sldChg chg="del">
        <pc:chgData name="Marcello Mariani" userId="1e342699-93ad-4e2e-93b0-0f6a2c00c4b8" providerId="ADAL" clId="{FBC693AB-E6BD-42A7-92AD-5C5205E1779A}" dt="2025-02-14T09:50:18.095" v="0" actId="47"/>
        <pc:sldMkLst>
          <pc:docMk/>
          <pc:sldMk cId="0" sldId="328"/>
        </pc:sldMkLst>
      </pc:sldChg>
      <pc:sldChg chg="del">
        <pc:chgData name="Marcello Mariani" userId="1e342699-93ad-4e2e-93b0-0f6a2c00c4b8" providerId="ADAL" clId="{FBC693AB-E6BD-42A7-92AD-5C5205E1779A}" dt="2025-02-14T09:50:18.095" v="0" actId="47"/>
        <pc:sldMkLst>
          <pc:docMk/>
          <pc:sldMk cId="0" sldId="329"/>
        </pc:sldMkLst>
      </pc:sldChg>
      <pc:sldChg chg="del">
        <pc:chgData name="Marcello Mariani" userId="1e342699-93ad-4e2e-93b0-0f6a2c00c4b8" providerId="ADAL" clId="{FBC693AB-E6BD-42A7-92AD-5C5205E1779A}" dt="2025-02-14T09:50:18.095" v="0" actId="47"/>
        <pc:sldMkLst>
          <pc:docMk/>
          <pc:sldMk cId="0" sldId="330"/>
        </pc:sldMkLst>
      </pc:sldChg>
      <pc:sldChg chg="del">
        <pc:chgData name="Marcello Mariani" userId="1e342699-93ad-4e2e-93b0-0f6a2c00c4b8" providerId="ADAL" clId="{FBC693AB-E6BD-42A7-92AD-5C5205E1779A}" dt="2025-02-14T09:50:18.095" v="0" actId="47"/>
        <pc:sldMkLst>
          <pc:docMk/>
          <pc:sldMk cId="0" sldId="331"/>
        </pc:sldMkLst>
      </pc:sldChg>
      <pc:sldChg chg="del">
        <pc:chgData name="Marcello Mariani" userId="1e342699-93ad-4e2e-93b0-0f6a2c00c4b8" providerId="ADAL" clId="{FBC693AB-E6BD-42A7-92AD-5C5205E1779A}" dt="2025-02-14T09:50:18.095" v="0" actId="47"/>
        <pc:sldMkLst>
          <pc:docMk/>
          <pc:sldMk cId="0" sldId="332"/>
        </pc:sldMkLst>
      </pc:sldChg>
      <pc:sldChg chg="add del">
        <pc:chgData name="Marcello Mariani" userId="1e342699-93ad-4e2e-93b0-0f6a2c00c4b8" providerId="ADAL" clId="{FBC693AB-E6BD-42A7-92AD-5C5205E1779A}" dt="2025-02-14T09:50:19.414" v="1"/>
        <pc:sldMkLst>
          <pc:docMk/>
          <pc:sldMk cId="0" sldId="333"/>
        </pc:sldMkLst>
      </pc:sldChg>
      <pc:sldChg chg="del">
        <pc:chgData name="Marcello Mariani" userId="1e342699-93ad-4e2e-93b0-0f6a2c00c4b8" providerId="ADAL" clId="{FBC693AB-E6BD-42A7-92AD-5C5205E1779A}" dt="2025-02-14T09:50:18.095" v="0" actId="47"/>
        <pc:sldMkLst>
          <pc:docMk/>
          <pc:sldMk cId="0" sldId="334"/>
        </pc:sldMkLst>
      </pc:sldChg>
      <pc:sldChg chg="del">
        <pc:chgData name="Marcello Mariani" userId="1e342699-93ad-4e2e-93b0-0f6a2c00c4b8" providerId="ADAL" clId="{FBC693AB-E6BD-42A7-92AD-5C5205E1779A}" dt="2025-02-14T09:50:18.095" v="0" actId="47"/>
        <pc:sldMkLst>
          <pc:docMk/>
          <pc:sldMk cId="0" sldId="335"/>
        </pc:sldMkLst>
      </pc:sldChg>
      <pc:sldChg chg="add">
        <pc:chgData name="Marcello Mariani" userId="1e342699-93ad-4e2e-93b0-0f6a2c00c4b8" providerId="ADAL" clId="{FBC693AB-E6BD-42A7-92AD-5C5205E1779A}" dt="2025-02-14T09:50:19.414" v="1"/>
        <pc:sldMkLst>
          <pc:docMk/>
          <pc:sldMk cId="0" sldId="336"/>
        </pc:sldMkLst>
      </pc:sldChg>
      <pc:sldChg chg="del">
        <pc:chgData name="Marcello Mariani" userId="1e342699-93ad-4e2e-93b0-0f6a2c00c4b8" providerId="ADAL" clId="{FBC693AB-E6BD-42A7-92AD-5C5205E1779A}" dt="2025-02-14T09:50:18.095" v="0" actId="47"/>
        <pc:sldMkLst>
          <pc:docMk/>
          <pc:sldMk cId="3082046553" sldId="336"/>
        </pc:sldMkLst>
      </pc:sldChg>
      <pc:sldChg chg="add">
        <pc:chgData name="Marcello Mariani" userId="1e342699-93ad-4e2e-93b0-0f6a2c00c4b8" providerId="ADAL" clId="{FBC693AB-E6BD-42A7-92AD-5C5205E1779A}" dt="2025-02-14T09:50:19.414" v="1"/>
        <pc:sldMkLst>
          <pc:docMk/>
          <pc:sldMk cId="0" sldId="337"/>
        </pc:sldMkLst>
      </pc:sldChg>
      <pc:sldChg chg="del">
        <pc:chgData name="Marcello Mariani" userId="1e342699-93ad-4e2e-93b0-0f6a2c00c4b8" providerId="ADAL" clId="{FBC693AB-E6BD-42A7-92AD-5C5205E1779A}" dt="2025-02-14T09:50:18.095" v="0" actId="47"/>
        <pc:sldMkLst>
          <pc:docMk/>
          <pc:sldMk cId="4291015416" sldId="337"/>
        </pc:sldMkLst>
      </pc:sldChg>
      <pc:sldChg chg="add">
        <pc:chgData name="Marcello Mariani" userId="1e342699-93ad-4e2e-93b0-0f6a2c00c4b8" providerId="ADAL" clId="{FBC693AB-E6BD-42A7-92AD-5C5205E1779A}" dt="2025-02-14T09:50:19.414" v="1"/>
        <pc:sldMkLst>
          <pc:docMk/>
          <pc:sldMk cId="0" sldId="338"/>
        </pc:sldMkLst>
      </pc:sldChg>
      <pc:sldChg chg="del">
        <pc:chgData name="Marcello Mariani" userId="1e342699-93ad-4e2e-93b0-0f6a2c00c4b8" providerId="ADAL" clId="{FBC693AB-E6BD-42A7-92AD-5C5205E1779A}" dt="2025-02-14T09:50:18.095" v="0" actId="47"/>
        <pc:sldMkLst>
          <pc:docMk/>
          <pc:sldMk cId="4155349789" sldId="338"/>
        </pc:sldMkLst>
      </pc:sldChg>
      <pc:sldChg chg="add del">
        <pc:chgData name="Marcello Mariani" userId="1e342699-93ad-4e2e-93b0-0f6a2c00c4b8" providerId="ADAL" clId="{FBC693AB-E6BD-42A7-92AD-5C5205E1779A}" dt="2025-02-14T09:50:19.414" v="1"/>
        <pc:sldMkLst>
          <pc:docMk/>
          <pc:sldMk cId="0" sldId="339"/>
        </pc:sldMkLst>
      </pc:sldChg>
      <pc:sldChg chg="add del">
        <pc:chgData name="Marcello Mariani" userId="1e342699-93ad-4e2e-93b0-0f6a2c00c4b8" providerId="ADAL" clId="{FBC693AB-E6BD-42A7-92AD-5C5205E1779A}" dt="2025-02-14T09:50:19.414" v="1"/>
        <pc:sldMkLst>
          <pc:docMk/>
          <pc:sldMk cId="0" sldId="340"/>
        </pc:sldMkLst>
      </pc:sldChg>
      <pc:sldChg chg="add del">
        <pc:chgData name="Marcello Mariani" userId="1e342699-93ad-4e2e-93b0-0f6a2c00c4b8" providerId="ADAL" clId="{FBC693AB-E6BD-42A7-92AD-5C5205E1779A}" dt="2025-02-14T09:50:19.414" v="1"/>
        <pc:sldMkLst>
          <pc:docMk/>
          <pc:sldMk cId="0" sldId="341"/>
        </pc:sldMkLst>
      </pc:sldChg>
      <pc:sldChg chg="del">
        <pc:chgData name="Marcello Mariani" userId="1e342699-93ad-4e2e-93b0-0f6a2c00c4b8" providerId="ADAL" clId="{FBC693AB-E6BD-42A7-92AD-5C5205E1779A}" dt="2025-02-14T09:50:18.095" v="0" actId="47"/>
        <pc:sldMkLst>
          <pc:docMk/>
          <pc:sldMk cId="1329929219" sldId="342"/>
        </pc:sldMkLst>
      </pc:sldChg>
      <pc:sldChg chg="add del">
        <pc:chgData name="Marcello Mariani" userId="1e342699-93ad-4e2e-93b0-0f6a2c00c4b8" providerId="ADAL" clId="{FBC693AB-E6BD-42A7-92AD-5C5205E1779A}" dt="2025-02-14T09:50:19.414" v="1"/>
        <pc:sldMkLst>
          <pc:docMk/>
          <pc:sldMk cId="0" sldId="343"/>
        </pc:sldMkLst>
      </pc:sldChg>
      <pc:sldChg chg="add del">
        <pc:chgData name="Marcello Mariani" userId="1e342699-93ad-4e2e-93b0-0f6a2c00c4b8" providerId="ADAL" clId="{FBC693AB-E6BD-42A7-92AD-5C5205E1779A}" dt="2025-02-14T09:50:19.414" v="1"/>
        <pc:sldMkLst>
          <pc:docMk/>
          <pc:sldMk cId="0" sldId="344"/>
        </pc:sldMkLst>
      </pc:sldChg>
      <pc:sldChg chg="add del">
        <pc:chgData name="Marcello Mariani" userId="1e342699-93ad-4e2e-93b0-0f6a2c00c4b8" providerId="ADAL" clId="{FBC693AB-E6BD-42A7-92AD-5C5205E1779A}" dt="2025-02-14T09:50:19.414" v="1"/>
        <pc:sldMkLst>
          <pc:docMk/>
          <pc:sldMk cId="0" sldId="345"/>
        </pc:sldMkLst>
      </pc:sldChg>
      <pc:sldChg chg="add del">
        <pc:chgData name="Marcello Mariani" userId="1e342699-93ad-4e2e-93b0-0f6a2c00c4b8" providerId="ADAL" clId="{FBC693AB-E6BD-42A7-92AD-5C5205E1779A}" dt="2025-02-14T09:50:19.414" v="1"/>
        <pc:sldMkLst>
          <pc:docMk/>
          <pc:sldMk cId="0" sldId="346"/>
        </pc:sldMkLst>
      </pc:sldChg>
      <pc:sldChg chg="add del">
        <pc:chgData name="Marcello Mariani" userId="1e342699-93ad-4e2e-93b0-0f6a2c00c4b8" providerId="ADAL" clId="{FBC693AB-E6BD-42A7-92AD-5C5205E1779A}" dt="2025-02-14T09:50:19.414" v="1"/>
        <pc:sldMkLst>
          <pc:docMk/>
          <pc:sldMk cId="0" sldId="347"/>
        </pc:sldMkLst>
      </pc:sldChg>
      <pc:sldChg chg="add">
        <pc:chgData name="Marcello Mariani" userId="1e342699-93ad-4e2e-93b0-0f6a2c00c4b8" providerId="ADAL" clId="{FBC693AB-E6BD-42A7-92AD-5C5205E1779A}" dt="2025-02-14T09:50:19.414" v="1"/>
        <pc:sldMkLst>
          <pc:docMk/>
          <pc:sldMk cId="0" sldId="348"/>
        </pc:sldMkLst>
      </pc:sldChg>
      <pc:sldChg chg="add">
        <pc:chgData name="Marcello Mariani" userId="1e342699-93ad-4e2e-93b0-0f6a2c00c4b8" providerId="ADAL" clId="{FBC693AB-E6BD-42A7-92AD-5C5205E1779A}" dt="2025-02-14T09:50:19.414" v="1"/>
        <pc:sldMkLst>
          <pc:docMk/>
          <pc:sldMk cId="0" sldId="349"/>
        </pc:sldMkLst>
      </pc:sldChg>
      <pc:sldChg chg="add del">
        <pc:chgData name="Marcello Mariani" userId="1e342699-93ad-4e2e-93b0-0f6a2c00c4b8" providerId="ADAL" clId="{FBC693AB-E6BD-42A7-92AD-5C5205E1779A}" dt="2025-02-14T09:50:19.414" v="1"/>
        <pc:sldMkLst>
          <pc:docMk/>
          <pc:sldMk cId="0" sldId="350"/>
        </pc:sldMkLst>
      </pc:sldChg>
      <pc:sldChg chg="add del">
        <pc:chgData name="Marcello Mariani" userId="1e342699-93ad-4e2e-93b0-0f6a2c00c4b8" providerId="ADAL" clId="{FBC693AB-E6BD-42A7-92AD-5C5205E1779A}" dt="2025-02-14T09:50:19.414" v="1"/>
        <pc:sldMkLst>
          <pc:docMk/>
          <pc:sldMk cId="0" sldId="351"/>
        </pc:sldMkLst>
      </pc:sldChg>
      <pc:sldChg chg="add del">
        <pc:chgData name="Marcello Mariani" userId="1e342699-93ad-4e2e-93b0-0f6a2c00c4b8" providerId="ADAL" clId="{FBC693AB-E6BD-42A7-92AD-5C5205E1779A}" dt="2025-02-14T09:50:19.414" v="1"/>
        <pc:sldMkLst>
          <pc:docMk/>
          <pc:sldMk cId="0" sldId="352"/>
        </pc:sldMkLst>
      </pc:sldChg>
      <pc:sldChg chg="add del">
        <pc:chgData name="Marcello Mariani" userId="1e342699-93ad-4e2e-93b0-0f6a2c00c4b8" providerId="ADAL" clId="{FBC693AB-E6BD-42A7-92AD-5C5205E1779A}" dt="2025-02-14T09:50:19.414" v="1"/>
        <pc:sldMkLst>
          <pc:docMk/>
          <pc:sldMk cId="0" sldId="353"/>
        </pc:sldMkLst>
      </pc:sldChg>
      <pc:sldChg chg="add del">
        <pc:chgData name="Marcello Mariani" userId="1e342699-93ad-4e2e-93b0-0f6a2c00c4b8" providerId="ADAL" clId="{FBC693AB-E6BD-42A7-92AD-5C5205E1779A}" dt="2025-02-14T09:50:19.414" v="1"/>
        <pc:sldMkLst>
          <pc:docMk/>
          <pc:sldMk cId="0" sldId="354"/>
        </pc:sldMkLst>
      </pc:sldChg>
      <pc:sldChg chg="add">
        <pc:chgData name="Marcello Mariani" userId="1e342699-93ad-4e2e-93b0-0f6a2c00c4b8" providerId="ADAL" clId="{FBC693AB-E6BD-42A7-92AD-5C5205E1779A}" dt="2025-02-14T09:50:19.414" v="1"/>
        <pc:sldMkLst>
          <pc:docMk/>
          <pc:sldMk cId="0" sldId="355"/>
        </pc:sldMkLst>
      </pc:sldChg>
      <pc:sldChg chg="del">
        <pc:chgData name="Marcello Mariani" userId="1e342699-93ad-4e2e-93b0-0f6a2c00c4b8" providerId="ADAL" clId="{FBC693AB-E6BD-42A7-92AD-5C5205E1779A}" dt="2025-02-14T09:50:18.095" v="0" actId="47"/>
        <pc:sldMkLst>
          <pc:docMk/>
          <pc:sldMk cId="3841430317" sldId="355"/>
        </pc:sldMkLst>
      </pc:sldChg>
      <pc:sldChg chg="add">
        <pc:chgData name="Marcello Mariani" userId="1e342699-93ad-4e2e-93b0-0f6a2c00c4b8" providerId="ADAL" clId="{FBC693AB-E6BD-42A7-92AD-5C5205E1779A}" dt="2025-02-14T09:50:19.414" v="1"/>
        <pc:sldMkLst>
          <pc:docMk/>
          <pc:sldMk cId="0" sldId="356"/>
        </pc:sldMkLst>
      </pc:sldChg>
      <pc:sldChg chg="add">
        <pc:chgData name="Marcello Mariani" userId="1e342699-93ad-4e2e-93b0-0f6a2c00c4b8" providerId="ADAL" clId="{FBC693AB-E6BD-42A7-92AD-5C5205E1779A}" dt="2025-02-14T09:50:19.414" v="1"/>
        <pc:sldMkLst>
          <pc:docMk/>
          <pc:sldMk cId="0" sldId="357"/>
        </pc:sldMkLst>
      </pc:sldChg>
      <pc:sldChg chg="add">
        <pc:chgData name="Marcello Mariani" userId="1e342699-93ad-4e2e-93b0-0f6a2c00c4b8" providerId="ADAL" clId="{FBC693AB-E6BD-42A7-92AD-5C5205E1779A}" dt="2025-02-14T09:50:19.414" v="1"/>
        <pc:sldMkLst>
          <pc:docMk/>
          <pc:sldMk cId="0" sldId="358"/>
        </pc:sldMkLst>
      </pc:sldChg>
      <pc:sldChg chg="add">
        <pc:chgData name="Marcello Mariani" userId="1e342699-93ad-4e2e-93b0-0f6a2c00c4b8" providerId="ADAL" clId="{FBC693AB-E6BD-42A7-92AD-5C5205E1779A}" dt="2025-02-14T09:50:19.414" v="1"/>
        <pc:sldMkLst>
          <pc:docMk/>
          <pc:sldMk cId="0" sldId="359"/>
        </pc:sldMkLst>
      </pc:sldChg>
      <pc:sldChg chg="add">
        <pc:chgData name="Marcello Mariani" userId="1e342699-93ad-4e2e-93b0-0f6a2c00c4b8" providerId="ADAL" clId="{FBC693AB-E6BD-42A7-92AD-5C5205E1779A}" dt="2025-02-14T09:50:19.414" v="1"/>
        <pc:sldMkLst>
          <pc:docMk/>
          <pc:sldMk cId="0" sldId="360"/>
        </pc:sldMkLst>
      </pc:sldChg>
      <pc:sldChg chg="add">
        <pc:chgData name="Marcello Mariani" userId="1e342699-93ad-4e2e-93b0-0f6a2c00c4b8" providerId="ADAL" clId="{FBC693AB-E6BD-42A7-92AD-5C5205E1779A}" dt="2025-02-14T09:50:19.414" v="1"/>
        <pc:sldMkLst>
          <pc:docMk/>
          <pc:sldMk cId="0" sldId="361"/>
        </pc:sldMkLst>
      </pc:sldChg>
      <pc:sldChg chg="add">
        <pc:chgData name="Marcello Mariani" userId="1e342699-93ad-4e2e-93b0-0f6a2c00c4b8" providerId="ADAL" clId="{FBC693AB-E6BD-42A7-92AD-5C5205E1779A}" dt="2025-02-14T09:50:19.414" v="1"/>
        <pc:sldMkLst>
          <pc:docMk/>
          <pc:sldMk cId="0" sldId="362"/>
        </pc:sldMkLst>
      </pc:sldChg>
      <pc:sldChg chg="add">
        <pc:chgData name="Marcello Mariani" userId="1e342699-93ad-4e2e-93b0-0f6a2c00c4b8" providerId="ADAL" clId="{FBC693AB-E6BD-42A7-92AD-5C5205E1779A}" dt="2025-02-14T09:50:19.414" v="1"/>
        <pc:sldMkLst>
          <pc:docMk/>
          <pc:sldMk cId="0" sldId="363"/>
        </pc:sldMkLst>
      </pc:sldChg>
      <pc:sldChg chg="add">
        <pc:chgData name="Marcello Mariani" userId="1e342699-93ad-4e2e-93b0-0f6a2c00c4b8" providerId="ADAL" clId="{FBC693AB-E6BD-42A7-92AD-5C5205E1779A}" dt="2025-02-14T09:50:19.414" v="1"/>
        <pc:sldMkLst>
          <pc:docMk/>
          <pc:sldMk cId="0" sldId="364"/>
        </pc:sldMkLst>
      </pc:sldChg>
      <pc:sldChg chg="add">
        <pc:chgData name="Marcello Mariani" userId="1e342699-93ad-4e2e-93b0-0f6a2c00c4b8" providerId="ADAL" clId="{FBC693AB-E6BD-42A7-92AD-5C5205E1779A}" dt="2025-02-14T09:50:19.414" v="1"/>
        <pc:sldMkLst>
          <pc:docMk/>
          <pc:sldMk cId="0" sldId="365"/>
        </pc:sldMkLst>
      </pc:sldChg>
      <pc:sldChg chg="add">
        <pc:chgData name="Marcello Mariani" userId="1e342699-93ad-4e2e-93b0-0f6a2c00c4b8" providerId="ADAL" clId="{FBC693AB-E6BD-42A7-92AD-5C5205E1779A}" dt="2025-02-14T09:50:19.414" v="1"/>
        <pc:sldMkLst>
          <pc:docMk/>
          <pc:sldMk cId="0" sldId="366"/>
        </pc:sldMkLst>
      </pc:sldChg>
      <pc:sldChg chg="add">
        <pc:chgData name="Marcello Mariani" userId="1e342699-93ad-4e2e-93b0-0f6a2c00c4b8" providerId="ADAL" clId="{FBC693AB-E6BD-42A7-92AD-5C5205E1779A}" dt="2025-02-14T09:50:19.414" v="1"/>
        <pc:sldMkLst>
          <pc:docMk/>
          <pc:sldMk cId="0" sldId="367"/>
        </pc:sldMkLst>
      </pc:sldChg>
      <pc:sldMasterChg chg="delSldLayout">
        <pc:chgData name="Marcello Mariani" userId="1e342699-93ad-4e2e-93b0-0f6a2c00c4b8" providerId="ADAL" clId="{FBC693AB-E6BD-42A7-92AD-5C5205E1779A}" dt="2025-02-14T09:50:18.095" v="0" actId="47"/>
        <pc:sldMasterMkLst>
          <pc:docMk/>
          <pc:sldMasterMk cId="1404919433" sldId="2147483648"/>
        </pc:sldMasterMkLst>
        <pc:sldLayoutChg chg="del">
          <pc:chgData name="Marcello Mariani" userId="1e342699-93ad-4e2e-93b0-0f6a2c00c4b8" providerId="ADAL" clId="{FBC693AB-E6BD-42A7-92AD-5C5205E1779A}" dt="2025-02-14T09:50:18.095" v="0" actId="47"/>
          <pc:sldLayoutMkLst>
            <pc:docMk/>
            <pc:sldMasterMk cId="1404919433" sldId="2147483648"/>
            <pc:sldLayoutMk cId="823514808" sldId="2147483751"/>
          </pc:sldLayoutMkLst>
        </pc:sldLayoutChg>
        <pc:sldLayoutChg chg="del">
          <pc:chgData name="Marcello Mariani" userId="1e342699-93ad-4e2e-93b0-0f6a2c00c4b8" providerId="ADAL" clId="{FBC693AB-E6BD-42A7-92AD-5C5205E1779A}" dt="2025-02-14T09:50:18.095" v="0" actId="47"/>
          <pc:sldLayoutMkLst>
            <pc:docMk/>
            <pc:sldMasterMk cId="1404919433" sldId="2147483648"/>
            <pc:sldLayoutMk cId="377034911" sldId="214748375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2/14/2025</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D2D61D6-3A7C-A223-FD03-8D312E31F3C5}"/>
              </a:ext>
            </a:extLst>
          </p:cNvPr>
          <p:cNvSpPr>
            <a:spLocks noGrp="1" noChangeArrowheads="1"/>
          </p:cNvSpPr>
          <p:nvPr>
            <p:ph type="sldNum" sz="quarter" idx="5"/>
          </p:nvPr>
        </p:nvSpPr>
        <p:spPr>
          <a:noFill/>
        </p:spPr>
        <p:txBody>
          <a:bodyPr/>
          <a:lstStyle>
            <a:lvl1pPr defTabSz="931863">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defTabSz="931863">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defTabSz="931863">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defTabSz="931863">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defTabSz="931863">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defTabSz="931863"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defTabSz="931863"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defTabSz="931863"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defTabSz="931863"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FD29CCAA-D77F-4DEB-AFDB-73F15D86CE7F}" type="slidenum">
              <a:rPr lang="en-US" altLang="en-US" sz="1200">
                <a:solidFill>
                  <a:schemeClr val="tx1"/>
                </a:solidFill>
              </a:rPr>
              <a:pPr>
                <a:lnSpc>
                  <a:spcPct val="100000"/>
                </a:lnSpc>
                <a:spcBef>
                  <a:spcPct val="0"/>
                </a:spcBef>
                <a:buClrTx/>
                <a:buFontTx/>
                <a:buNone/>
              </a:pPr>
              <a:t>1</a:t>
            </a:fld>
            <a:endParaRPr lang="en-US" altLang="en-US" sz="1200">
              <a:solidFill>
                <a:schemeClr val="tx1"/>
              </a:solidFill>
            </a:endParaRPr>
          </a:p>
        </p:txBody>
      </p:sp>
      <p:sp>
        <p:nvSpPr>
          <p:cNvPr id="10243" name="Rectangle 2">
            <a:extLst>
              <a:ext uri="{FF2B5EF4-FFF2-40B4-BE49-F238E27FC236}">
                <a16:creationId xmlns:a16="http://schemas.microsoft.com/office/drawing/2014/main" id="{99C28157-9939-F723-3CEE-167AFE947D1A}"/>
              </a:ext>
            </a:extLst>
          </p:cNvPr>
          <p:cNvSpPr>
            <a:spLocks noGrp="1" noRot="1" noChangeAspect="1" noChangeArrowheads="1" noTextEdit="1"/>
          </p:cNvSpPr>
          <p:nvPr>
            <p:ph type="sldImg"/>
          </p:nvPr>
        </p:nvSpPr>
        <p:spPr>
          <a:xfrm>
            <a:off x="409575" y="698500"/>
            <a:ext cx="6192838" cy="3484563"/>
          </a:xfrm>
          <a:ln/>
        </p:spPr>
      </p:sp>
      <p:sp>
        <p:nvSpPr>
          <p:cNvPr id="10244" name="Rectangle 3">
            <a:extLst>
              <a:ext uri="{FF2B5EF4-FFF2-40B4-BE49-F238E27FC236}">
                <a16:creationId xmlns:a16="http://schemas.microsoft.com/office/drawing/2014/main" id="{9C89003E-E7A2-FF6B-1B77-1C20C943FE4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4688D048-D2A8-E518-52ED-F0CA591947D5}"/>
              </a:ext>
            </a:extLst>
          </p:cNvPr>
          <p:cNvSpPr>
            <a:spLocks noGrp="1" noChangeArrowheads="1"/>
          </p:cNvSpPr>
          <p:nvPr>
            <p:ph type="sldNum" sz="quarter" idx="5"/>
          </p:nvPr>
        </p:nvSpPr>
        <p:spPr>
          <a:noFill/>
        </p:spPr>
        <p:txBody>
          <a:bodyPr/>
          <a:lstStyle>
            <a:lvl1pPr defTabSz="931863">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defTabSz="931863">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defTabSz="931863">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defTabSz="931863">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defTabSz="931863">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defTabSz="931863"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defTabSz="931863"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defTabSz="931863"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defTabSz="931863"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fld id="{7117308E-CCD0-4380-911F-17E61BF45A1D}" type="slidenum">
              <a:rPr lang="en-US" altLang="en-US" sz="1200">
                <a:solidFill>
                  <a:schemeClr val="tx1"/>
                </a:solidFill>
              </a:rPr>
              <a:pPr>
                <a:lnSpc>
                  <a:spcPct val="100000"/>
                </a:lnSpc>
                <a:spcBef>
                  <a:spcPct val="0"/>
                </a:spcBef>
                <a:buClrTx/>
                <a:buFontTx/>
                <a:buNone/>
              </a:pPr>
              <a:t>15</a:t>
            </a:fld>
            <a:endParaRPr lang="en-US" altLang="en-US" sz="1200">
              <a:solidFill>
                <a:schemeClr val="tx1"/>
              </a:solidFill>
            </a:endParaRPr>
          </a:p>
        </p:txBody>
      </p:sp>
      <p:sp>
        <p:nvSpPr>
          <p:cNvPr id="25603" name="Rectangle 2">
            <a:extLst>
              <a:ext uri="{FF2B5EF4-FFF2-40B4-BE49-F238E27FC236}">
                <a16:creationId xmlns:a16="http://schemas.microsoft.com/office/drawing/2014/main" id="{250F104E-FE48-A070-F0B0-836F65FE093B}"/>
              </a:ext>
            </a:extLst>
          </p:cNvPr>
          <p:cNvSpPr>
            <a:spLocks noGrp="1" noRot="1" noChangeAspect="1" noChangeArrowheads="1" noTextEdit="1"/>
          </p:cNvSpPr>
          <p:nvPr>
            <p:ph type="sldImg"/>
          </p:nvPr>
        </p:nvSpPr>
        <p:spPr>
          <a:xfrm>
            <a:off x="1182688" y="698500"/>
            <a:ext cx="4646612" cy="3484563"/>
          </a:xfrm>
          <a:ln/>
        </p:spPr>
      </p:sp>
      <p:sp>
        <p:nvSpPr>
          <p:cNvPr id="25604" name="Rectangle 3">
            <a:extLst>
              <a:ext uri="{FF2B5EF4-FFF2-40B4-BE49-F238E27FC236}">
                <a16:creationId xmlns:a16="http://schemas.microsoft.com/office/drawing/2014/main" id="{72D77F25-3872-F82F-9583-D69B3B98C5B6}"/>
              </a:ext>
            </a:extLst>
          </p:cNvPr>
          <p:cNvSpPr>
            <a:spLocks noGrp="1" noChangeArrowheads="1"/>
          </p:cNvSpPr>
          <p:nvPr>
            <p:ph type="body" idx="1"/>
          </p:nvPr>
        </p:nvSpPr>
        <p:spPr>
          <a:noFill/>
        </p:spPr>
        <p:txBody>
          <a:bodyPr/>
          <a:lstStyle/>
          <a:p>
            <a:pPr eaLnBrk="1" hangingPunct="1"/>
            <a:r>
              <a:rPr lang="en-GB" altLang="en-US"/>
              <a:t>Ricorda: nel caso dell’Al Ti e’ barriera chimica, reagisce con Al e Si per formare siliciuri e alluminati e impedire reazioni fra Al e Si.</a:t>
            </a:r>
          </a:p>
          <a:p>
            <a:pPr eaLnBrk="1" hangingPunct="1"/>
            <a:r>
              <a:rPr lang="en-GB" altLang="en-US"/>
              <a:t>TiN e’ barriera inerte: blocca la diffusione del Si.</a:t>
            </a: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gradFill>
          <a:gsLst>
            <a:gs pos="99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2FCE3E8-BF0D-133B-F370-3BA0557C7033}"/>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3EAB596-2816-934A-F43F-7E02A732003D}"/>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86000">
                <a:srgbClr val="F69525"/>
              </a:gs>
              <a:gs pos="54000">
                <a:srgbClr val="F1673E"/>
              </a:gs>
              <a:gs pos="100000">
                <a:srgbClr val="F8A71B"/>
              </a:gs>
              <a:gs pos="25000">
                <a:srgbClr val="ED3E55"/>
              </a:gs>
              <a:gs pos="0">
                <a:srgbClr val="EA226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297519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BBF4D2F9-F0B4-525A-8A33-F23EB5E13904}"/>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EE7529FE-8674-66E7-70AC-189F17E5F94C}"/>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69000">
                <a:srgbClr val="0F5AFC"/>
              </a:gs>
              <a:gs pos="20000">
                <a:srgbClr val="2B42F6">
                  <a:alpha val="70400"/>
                </a:srgbClr>
              </a:gs>
              <a:gs pos="40000">
                <a:srgbClr val="1C4FF9">
                  <a:alpha val="82998"/>
                </a:srgbClr>
              </a:gs>
              <a:gs pos="0">
                <a:srgbClr val="2B42F6"/>
              </a:gs>
              <a:gs pos="100000">
                <a:srgbClr val="0563FE"/>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4044405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755C98A4-5CB0-07F1-AB96-342AE17A3C3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207A1B12-2B36-1F30-8158-AA19470114CD}"/>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2954331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065B3846-9287-A022-CEF6-D0A12D44506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694166E-BE08-AE5C-72B8-0E3A74F7D9F7}"/>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81500">
                <a:srgbClr val="2843F7"/>
              </a:gs>
              <a:gs pos="62000">
                <a:srgbClr val="1F4DF9">
                  <a:alpha val="82000"/>
                </a:srgbClr>
              </a:gs>
              <a:gs pos="20000">
                <a:srgbClr val="0F5BFC">
                  <a:alpha val="69804"/>
                </a:srgbClr>
              </a:gs>
              <a:gs pos="39000">
                <a:srgbClr val="1654FA">
                  <a:alpha val="77393"/>
                </a:srgbClr>
              </a:gs>
              <a:gs pos="0">
                <a:srgbClr val="0861FD"/>
              </a:gs>
              <a:gs pos="100000">
                <a:srgbClr val="303EF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2232692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p:bg>
      <p:bgPr>
        <a:gradFill>
          <a:gsLst>
            <a:gs pos="0">
              <a:srgbClr val="0068FF"/>
            </a:gs>
            <a:gs pos="5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828B200-B429-3B72-1A5F-4D98343150B2}"/>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ADDF1D4-1256-9276-BFC7-692D2AEA53F6}"/>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86000">
                <a:srgbClr val="242931"/>
              </a:gs>
              <a:gs pos="60000">
                <a:srgbClr val="171A1F"/>
              </a:gs>
              <a:gs pos="43000">
                <a:srgbClr val="0B0C0E">
                  <a:alpha val="95000"/>
                </a:srgbClr>
              </a:gs>
              <a:gs pos="24000">
                <a:srgbClr val="040405">
                  <a:alpha val="46000"/>
                </a:srgbClr>
              </a:gs>
              <a:gs pos="0">
                <a:srgbClr val="000F24">
                  <a:alpha val="35000"/>
                </a:srgbClr>
              </a:gs>
              <a:gs pos="100000">
                <a:srgbClr val="2C323C"/>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181058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p:bg>
      <p:bgPr>
        <a:gradFill>
          <a:gsLst>
            <a:gs pos="0">
              <a:srgbClr val="BD03F7"/>
            </a:gs>
            <a:gs pos="50000">
              <a:srgbClr val="000000"/>
            </a:gs>
            <a:gs pos="100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5D78915F-5B99-8821-195F-AFC656456ED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749FD661-319F-7662-B929-5B84BC187778}"/>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77000">
                <a:srgbClr val="07080A"/>
              </a:gs>
              <a:gs pos="59000">
                <a:srgbClr val="010102">
                  <a:alpha val="98534"/>
                </a:srgbClr>
              </a:gs>
              <a:gs pos="43000">
                <a:srgbClr val="14001B">
                  <a:alpha val="67565"/>
                </a:srgbClr>
              </a:gs>
              <a:gs pos="23000">
                <a:srgbClr val="260132">
                  <a:alpha val="15754"/>
                </a:srgbClr>
              </a:gs>
              <a:gs pos="0">
                <a:srgbClr val="39014B">
                  <a:alpha val="15000"/>
                </a:srgbClr>
              </a:gs>
              <a:gs pos="98000">
                <a:srgbClr val="0F1114"/>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7000784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dirty="0"/>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Verdana"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dirty="0"/>
              <a:t>[Section 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438187272"/>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3688" userDrawn="1">
          <p15:clr>
            <a:srgbClr val="C35EA4"/>
          </p15:clr>
        </p15:guide>
        <p15:guide id="3" pos="3988" userDrawn="1">
          <p15:clr>
            <a:srgbClr val="C35EA4"/>
          </p15:clr>
        </p15:guide>
        <p15:guide id="4" orient="horz" pos="3274" userDrawn="1">
          <p15:clr>
            <a:srgbClr val="5ACBF0"/>
          </p15:clr>
        </p15:guide>
        <p15:guide id="5" orient="horz" pos="2528" userDrawn="1">
          <p15:clr>
            <a:srgbClr val="5ACBF0"/>
          </p15:clr>
        </p15:guide>
        <p15:guide id="6" orient="horz" pos="1790"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dirty="0"/>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1]</a:t>
            </a:r>
          </a:p>
          <a:p>
            <a:pPr lvl="1"/>
            <a:r>
              <a:rPr lang="en-US" dirty="0"/>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2]</a:t>
            </a:r>
          </a:p>
          <a:p>
            <a:pPr lvl="1"/>
            <a:r>
              <a:rPr lang="en-US" dirty="0"/>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3]</a:t>
            </a:r>
          </a:p>
          <a:p>
            <a:pPr lvl="1"/>
            <a:r>
              <a:rPr lang="en-US" dirty="0"/>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4]</a:t>
            </a:r>
          </a:p>
          <a:p>
            <a:pPr lvl="1"/>
            <a:r>
              <a:rPr lang="en-US" dirty="0"/>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5]</a:t>
            </a:r>
          </a:p>
          <a:p>
            <a:pPr lvl="1"/>
            <a:r>
              <a:rPr lang="en-US" dirty="0"/>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6]</a:t>
            </a:r>
          </a:p>
          <a:p>
            <a:pPr lvl="1"/>
            <a:r>
              <a:rPr lang="en-US" dirty="0"/>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7]</a:t>
            </a:r>
          </a:p>
          <a:p>
            <a:pPr lvl="1"/>
            <a:r>
              <a:rPr lang="en-US" dirty="0"/>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8]</a:t>
            </a:r>
          </a:p>
          <a:p>
            <a:pPr lvl="1"/>
            <a:r>
              <a:rPr lang="en-US" dirty="0"/>
              <a:t>Second level</a:t>
            </a:r>
          </a:p>
        </p:txBody>
      </p:sp>
    </p:spTree>
    <p:extLst>
      <p:ext uri="{BB962C8B-B14F-4D97-AF65-F5344CB8AC3E}">
        <p14:creationId xmlns:p14="http://schemas.microsoft.com/office/powerpoint/2010/main" val="2548277075"/>
      </p:ext>
    </p:extLst>
  </p:cSld>
  <p:clrMapOvr>
    <a:masterClrMapping/>
  </p:clrMapOvr>
  <p:extLst>
    <p:ext uri="{DCECCB84-F9BA-43D5-87BE-67443E8EF086}">
      <p15:sldGuideLst xmlns:p15="http://schemas.microsoft.com/office/powerpoint/2012/main">
        <p15:guide id="2" pos="1844" userDrawn="1">
          <p15:clr>
            <a:srgbClr val="C35EA4"/>
          </p15:clr>
        </p15:guide>
        <p15:guide id="3" pos="2144" userDrawn="1">
          <p15:clr>
            <a:srgbClr val="C35EA4"/>
          </p15:clr>
        </p15:guide>
        <p15:guide id="4" pos="3688" userDrawn="1">
          <p15:clr>
            <a:srgbClr val="C35EA4"/>
          </p15:clr>
        </p15:guide>
        <p15:guide id="5" pos="3988" userDrawn="1">
          <p15:clr>
            <a:srgbClr val="C35EA4"/>
          </p15:clr>
        </p15:guide>
        <p15:guide id="6" pos="5530" userDrawn="1">
          <p15:clr>
            <a:srgbClr val="C35EA4"/>
          </p15:clr>
        </p15:guide>
        <p15:guide id="7" pos="5832" userDrawn="1">
          <p15:clr>
            <a:srgbClr val="C35EA4"/>
          </p15:clr>
        </p15:guide>
        <p15:guide id="8" orient="horz" pos="2528" userDrawn="1">
          <p15:clr>
            <a:srgbClr val="5ACBF0"/>
          </p15:clr>
        </p15:guide>
        <p15:guide id="9" orient="horz" pos="1046"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1328184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083071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29291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4680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37721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28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5" name="Text Placeholder 6">
            <a:extLst>
              <a:ext uri="{FF2B5EF4-FFF2-40B4-BE49-F238E27FC236}">
                <a16:creationId xmlns:a16="http://schemas.microsoft.com/office/drawing/2014/main" id="{324DBC0A-09C6-8D5B-7217-D71586B96521}"/>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923336257"/>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3" name="Text Placeholder 6">
            <a:extLst>
              <a:ext uri="{FF2B5EF4-FFF2-40B4-BE49-F238E27FC236}">
                <a16:creationId xmlns:a16="http://schemas.microsoft.com/office/drawing/2014/main" id="{223BF356-CF1D-4355-C776-ED3A225B591C}"/>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57535452"/>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57A58F2F-CEF9-C6DC-893F-9FC18D2F3F7A}"/>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E8FF44B-DA0D-BCCF-6D23-F5FF84CDB7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12164743"/>
      </p:ext>
    </p:extLst>
  </p:cSld>
  <p:clrMapOvr>
    <a:masterClrMapping/>
  </p:clrMapOvr>
  <p:extLst>
    <p:ext uri="{DCECCB84-F9BA-43D5-87BE-67443E8EF086}">
      <p15:sldGuideLst xmlns:p15="http://schemas.microsoft.com/office/powerpoint/2012/main">
        <p15:guide id="4" pos="3688" userDrawn="1">
          <p15:clr>
            <a:srgbClr val="C35EA4"/>
          </p15:clr>
        </p15:guide>
        <p15:guide id="5" pos="3988"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B9352E71-0FBC-B57C-BA1C-F3123777E3E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087B9522-8FAC-44DF-B41B-8A11FB1BD484}"/>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469634042"/>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A6DBE3F-E9DB-07F7-7400-D6B010DF7E4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D16EA0E-7621-054B-BF38-8AB8F8EA540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51973460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790" userDrawn="1">
          <p15:clr>
            <a:srgbClr val="5ACBF0"/>
          </p15:clr>
        </p15:guide>
        <p15:guide id="12" orient="horz" pos="2528" userDrawn="1">
          <p15:clr>
            <a:srgbClr val="5ACBF0"/>
          </p15:clr>
        </p15:guide>
        <p15:guide id="13" orient="horz" pos="3274"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C3081E74-ED83-D851-4859-957E17BECE4B}"/>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A6E3B703-8571-63E4-0440-637BDB438B4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31711836"/>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p:txBody>
          <a:bodyPr/>
          <a:lstStyle/>
          <a:p>
            <a:r>
              <a:rPr lang="en-US" dirty="0"/>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0ACE562-9D20-A180-5CD3-97067FCEA4CC}"/>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0EE0415F-39CF-6AAB-F30F-6CF8D85C09E9}"/>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449703550"/>
      </p:ext>
    </p:extLst>
  </p:cSld>
  <p:clrMapOvr>
    <a:masterClrMapping/>
  </p:clrMapOvr>
  <p:extLst>
    <p:ext uri="{DCECCB84-F9BA-43D5-87BE-67443E8EF086}">
      <p15:sldGuideLst xmlns:p15="http://schemas.microsoft.com/office/powerpoint/2012/main">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233F031B-6175-1A38-B01C-C8A79AF57A16}"/>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E22E2A2-679D-C1C7-BB3B-DA0CFCEAD92A}"/>
              </a:ext>
            </a:extLst>
          </p:cNvPr>
          <p:cNvSpPr>
            <a:spLocks noGrp="1"/>
          </p:cNvSpPr>
          <p:nvPr>
            <p:ph type="body" sz="quarter" idx="11" hasCustomPrompt="1"/>
          </p:nvPr>
        </p:nvSpPr>
        <p:spPr>
          <a:xfrm>
            <a:off x="486537" y="6153150"/>
            <a:ext cx="6828663"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0510650"/>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C7B07B83-B265-0408-22AB-54965C51ADD3}"/>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B61D57F-AFB7-D6A0-BC4A-D1E5DEA07C57}"/>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41092425"/>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5E33A794-6327-B840-D041-4032796B828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163518686"/>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1CF95E6C-B783-1A08-BA51-DB5AF13F871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93364974"/>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EED5E02-7F26-6B4D-B42F-9DBCE5F4AE47}"/>
              </a:ext>
            </a:extLst>
          </p:cNvPr>
          <p:cNvSpPr>
            <a:spLocks noGrp="1"/>
          </p:cNvSpPr>
          <p:nvPr>
            <p:ph type="body" sz="quarter" idx="12"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A7EA39C-96F6-243D-C427-1670BC8A3BE2}"/>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20243599"/>
      </p:ext>
    </p:extLst>
  </p:cSld>
  <p:clrMapOvr>
    <a:masterClrMapping/>
  </p:clrMapOvr>
  <p:extLst>
    <p:ext uri="{DCECCB84-F9BA-43D5-87BE-67443E8EF086}">
      <p15:sldGuideLst xmlns:p15="http://schemas.microsoft.com/office/powerpoint/2012/main">
        <p15:guide id="5" pos="4914" userDrawn="1">
          <p15:clr>
            <a:srgbClr val="C35EA4"/>
          </p15:clr>
        </p15:guide>
        <p15:guide id="7" pos="5222" userDrawn="1">
          <p15:clr>
            <a:srgbClr val="C35EA4"/>
          </p15:clr>
        </p15:guide>
        <p15:guide id="8" orient="horz" pos="1046" userDrawn="1">
          <p15:clr>
            <a:srgbClr val="5ACBF0"/>
          </p15:clr>
        </p15:guide>
        <p15:guide id="9" pos="2762" userDrawn="1">
          <p15:clr>
            <a:srgbClr val="C35EA4"/>
          </p15:clr>
        </p15:guide>
        <p15:guide id="10" pos="2454" userDrawn="1">
          <p15:clr>
            <a:srgbClr val="C35EA4"/>
          </p15:clr>
        </p15:guide>
        <p15:guide id="11" orient="horz" pos="2342" userDrawn="1">
          <p15:clr>
            <a:srgbClr val="5ACBF0"/>
          </p15:clr>
        </p15:guide>
        <p15:guide id="12" orient="horz" pos="1976" userDrawn="1">
          <p15:clr>
            <a:srgbClr val="5ACBF0"/>
          </p15:clr>
        </p15:guide>
        <p15:guide id="13" orient="horz" pos="216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6067"/>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Verdana"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6">
            <a:extLst>
              <a:ext uri="{FF2B5EF4-FFF2-40B4-BE49-F238E27FC236}">
                <a16:creationId xmlns:a16="http://schemas.microsoft.com/office/drawing/2014/main" id="{666A6A1C-9F01-E7C8-2434-0B1DA07E2DBF}"/>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628621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userDrawn="1">
          <p15:clr>
            <a:srgbClr val="5ACBF0"/>
          </p15:clr>
        </p15:guide>
        <p15:guide id="2" pos="5530" userDrawn="1">
          <p15:clr>
            <a:srgbClr val="C35EA4"/>
          </p15:clr>
        </p15:guide>
        <p15:guide id="3" orient="horz" pos="1790" userDrawn="1">
          <p15:clr>
            <a:srgbClr val="5ACBF0"/>
          </p15:clr>
        </p15:guide>
        <p15:guide id="4" orient="horz" pos="2528" userDrawn="1">
          <p15:clr>
            <a:srgbClr val="5ACBF0"/>
          </p15:clr>
        </p15:guide>
        <p15:guide id="5" orient="horz" pos="3274"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6" name="Rectangle">
            <a:extLst>
              <a:ext uri="{FF2B5EF4-FFF2-40B4-BE49-F238E27FC236}">
                <a16:creationId xmlns:a16="http://schemas.microsoft.com/office/drawing/2014/main" id="{166C6E5A-3ECC-8C8B-1F79-9615AC5E710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0215D570-9305-036E-CFE1-4E7CF566E43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5E901853-85AC-6A21-F66D-437FE4F6B208}"/>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1A7970E8-A9A2-1659-B39C-1E3FABDC3E3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61777742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8F4F4368-3D86-6BC8-B4B9-E4285753984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4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C0640255-E06C-9CA7-3C97-79F52E92B89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6DBA3495-BE29-A801-E1F1-B5DB12D938B5}"/>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73FF0E75-801E-2774-9809-E0D627DEB0A5}"/>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311552693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6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125A3CA9-909C-F8E6-CE7D-094B54E28B3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36B38DE3-4C1B-768F-FFFC-EE4579D8809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2435911040"/>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F8E94517-991E-90A3-337D-FC0405B2D025}"/>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AED62E86-583F-5B1D-5C1F-0A903CC8E23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869579156"/>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42ADCD7-5E21-10AE-F0EE-1DD4E95AC11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5714-6535-FC6B-D032-D7C36B74E7E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048051692"/>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FA0DD6E-2A72-F958-97BE-5B15257FEB5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18D2FD1E-9F5C-1B68-069E-C7DBD5E2A1E2}"/>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233255733"/>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dirty="0"/>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7DDD333C-5605-149D-8F92-EC10DC7A6F89}"/>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Tree>
    <p:extLst>
      <p:ext uri="{BB962C8B-B14F-4D97-AF65-F5344CB8AC3E}">
        <p14:creationId xmlns:p14="http://schemas.microsoft.com/office/powerpoint/2010/main" val="2595290207"/>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2" userDrawn="1">
          <p15:clr>
            <a:srgbClr val="C35EA4"/>
          </p15:clr>
        </p15:guide>
        <p15:guide id="7" pos="5222" userDrawn="1">
          <p15:clr>
            <a:srgbClr val="C35EA4"/>
          </p15:clr>
        </p15:guide>
        <p15:guide id="8" orient="horz" pos="1046" userDrawn="1">
          <p15:clr>
            <a:srgbClr val="5ACBF0"/>
          </p15:clr>
        </p15:guide>
        <p15:guide id="10" orient="horz" pos="2528" userDrawn="1">
          <p15:clr>
            <a:srgbClr val="5ACBF0"/>
          </p15:clr>
        </p15:guide>
        <p15:guide id="11" orient="horz" pos="2346"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p:txBody>
          <a:bodyPr/>
          <a:lstStyle/>
          <a:p>
            <a:r>
              <a:rPr lang="en-US" dirty="0"/>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E3EA358-26F8-903C-E58A-AC5F0E9C82A2}"/>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55B1645-A968-D5C8-FE73-1F781F99C76C}"/>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15463495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976" userDrawn="1">
          <p15:clr>
            <a:srgbClr val="5ACBF0"/>
          </p15:clr>
        </p15:guide>
        <p15:guide id="12" orient="horz" pos="2158"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A704BE5C-6B80-9B0F-1ED5-15FF3358E42B}"/>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1ACD6B16-8BBF-0711-BDA3-94662772CCDB}"/>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390203051"/>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D9205506-CA75-1055-2CE1-68050A1A7B1E}"/>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C5EC4519-B474-13F5-AA61-40DB2F5A609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4262528"/>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32715"/>
      </p:ext>
    </p:extLst>
  </p:cSld>
  <p:clrMapOvr>
    <a:masterClrMapping/>
  </p:clrMapOvr>
  <p:extLst>
    <p:ext uri="{DCECCB84-F9BA-43D5-87BE-67443E8EF086}">
      <p15:sldGuideLst xmlns:p15="http://schemas.microsoft.com/office/powerpoint/2012/main">
        <p15:guide id="1" orient="horz" pos="1046" userDrawn="1">
          <p15:clr>
            <a:srgbClr val="5ACBF0"/>
          </p15:clr>
        </p15:guide>
        <p15:guide id="2" orient="horz" pos="676" userDrawn="1">
          <p15:clr>
            <a:srgbClr val="5ACBF0"/>
          </p15:clr>
        </p15:guide>
        <p15:guide id="3" orient="horz" pos="1418" userDrawn="1">
          <p15:clr>
            <a:srgbClr val="5ACBF0"/>
          </p15:clr>
        </p15:guide>
        <p15:guide id="4" orient="horz" pos="1788" userDrawn="1">
          <p15:clr>
            <a:srgbClr val="5ACBF0"/>
          </p15:clr>
        </p15:guide>
        <p15:guide id="5" orient="horz" pos="2160" userDrawn="1">
          <p15:clr>
            <a:srgbClr val="5ACBF0"/>
          </p15:clr>
        </p15:guide>
        <p15:guide id="6" orient="horz" pos="2530" userDrawn="1">
          <p15:clr>
            <a:srgbClr val="5ACBF0"/>
          </p15:clr>
        </p15:guide>
        <p15:guide id="7" orient="horz" pos="2902" userDrawn="1">
          <p15:clr>
            <a:srgbClr val="5ACBF0"/>
          </p15:clr>
        </p15:guide>
        <p15:guide id="8" orient="horz" pos="3272" userDrawn="1">
          <p15:clr>
            <a:srgbClr val="5ACBF0"/>
          </p15:clr>
        </p15:guide>
        <p15:guide id="9" orient="horz" pos="3644" userDrawn="1">
          <p15:clr>
            <a:srgbClr val="5ACBF0"/>
          </p15:clr>
        </p15:guide>
        <p15:guide id="10" pos="614" userDrawn="1">
          <p15:clr>
            <a:srgbClr val="C35EA4"/>
          </p15:clr>
        </p15:guide>
        <p15:guide id="11" pos="922" userDrawn="1">
          <p15:clr>
            <a:srgbClr val="C35EA4"/>
          </p15:clr>
        </p15:guide>
        <p15:guide id="12" pos="1228" userDrawn="1">
          <p15:clr>
            <a:srgbClr val="C35EA4"/>
          </p15:clr>
        </p15:guide>
        <p15:guide id="13" pos="1536" userDrawn="1">
          <p15:clr>
            <a:srgbClr val="C35EA4"/>
          </p15:clr>
        </p15:guide>
        <p15:guide id="14" pos="1842" userDrawn="1">
          <p15:clr>
            <a:srgbClr val="C35EA4"/>
          </p15:clr>
        </p15:guide>
        <p15:guide id="15" pos="2150" userDrawn="1">
          <p15:clr>
            <a:srgbClr val="C35EA4"/>
          </p15:clr>
        </p15:guide>
        <p15:guide id="16" pos="2458" userDrawn="1">
          <p15:clr>
            <a:srgbClr val="C35EA4"/>
          </p15:clr>
        </p15:guide>
        <p15:guide id="17" pos="2764" userDrawn="1">
          <p15:clr>
            <a:srgbClr val="C35EA4"/>
          </p15:clr>
        </p15:guide>
        <p15:guide id="18" pos="3072" userDrawn="1">
          <p15:clr>
            <a:srgbClr val="C35EA4"/>
          </p15:clr>
        </p15:guide>
        <p15:guide id="19" pos="3378" userDrawn="1">
          <p15:clr>
            <a:srgbClr val="C35EA4"/>
          </p15:clr>
        </p15:guide>
        <p15:guide id="20" pos="3686" userDrawn="1">
          <p15:clr>
            <a:srgbClr val="C35EA4"/>
          </p15:clr>
        </p15:guide>
        <p15:guide id="21" pos="3994" userDrawn="1">
          <p15:clr>
            <a:srgbClr val="C35EA4"/>
          </p15:clr>
        </p15:guide>
        <p15:guide id="22" pos="4300" userDrawn="1">
          <p15:clr>
            <a:srgbClr val="C35EA4"/>
          </p15:clr>
        </p15:guide>
        <p15:guide id="23" pos="4608" userDrawn="1">
          <p15:clr>
            <a:srgbClr val="C35EA4"/>
          </p15:clr>
        </p15:guide>
        <p15:guide id="24" pos="4914" userDrawn="1">
          <p15:clr>
            <a:srgbClr val="C35EA4"/>
          </p15:clr>
        </p15:guide>
        <p15:guide id="25" pos="5222" userDrawn="1">
          <p15:clr>
            <a:srgbClr val="C35EA4"/>
          </p15:clr>
        </p15:guide>
        <p15:guide id="26" pos="5530" userDrawn="1">
          <p15:clr>
            <a:srgbClr val="C35EA4"/>
          </p15:clr>
        </p15:guide>
        <p15:guide id="27" pos="5836" userDrawn="1">
          <p15:clr>
            <a:srgbClr val="C35EA4"/>
          </p15:clr>
        </p15:guide>
        <p15:guide id="28" pos="6144" userDrawn="1">
          <p15:clr>
            <a:srgbClr val="C35EA4"/>
          </p15:clr>
        </p15:guide>
        <p15:guide id="29" pos="6450" userDrawn="1">
          <p15:clr>
            <a:srgbClr val="C35EA4"/>
          </p15:clr>
        </p15:guide>
        <p15:guide id="30" pos="6758" userDrawn="1">
          <p15:clr>
            <a:srgbClr val="C35EA4"/>
          </p15:clr>
        </p15:guide>
        <p15:guide id="31" pos="7066" userDrawn="1">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0160C290-CB1C-4634-2F50-C609362A9FDE}"/>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829318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 Dark Mode">
    <p:bg>
      <p:bgPr>
        <a:solidFill>
          <a:srgbClr val="000000"/>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75CAAB07-BDBC-78DE-C0D5-F0BBD454C857}"/>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10816990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Picture Placeholder 1">
            <a:extLst>
              <a:ext uri="{FF2B5EF4-FFF2-40B4-BE49-F238E27FC236}">
                <a16:creationId xmlns:a16="http://schemas.microsoft.com/office/drawing/2014/main" id="{C437124C-7DAC-2C73-3A3B-40CE8EA5DBD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5C44B333-9790-3AFF-A453-DCF924E3ABD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247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3B7A7532-530A-AE40-D3BD-209CF0F78AEF}"/>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3AFAB3B8-ED81-63FA-3A5F-FF49E1F1D1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88896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00E0F8-78E2-9BB1-6926-FD1F124C9D81}"/>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5D595160-99B1-A89B-8594-F51B441E17ED}"/>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0ADE40D-11F3-616A-9D17-ABE99492FC3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3866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6" name="Picture Placeholder 1">
            <a:extLst>
              <a:ext uri="{FF2B5EF4-FFF2-40B4-BE49-F238E27FC236}">
                <a16:creationId xmlns:a16="http://schemas.microsoft.com/office/drawing/2014/main" id="{D1DA3984-0649-EF6B-93D6-4362C78F3990}"/>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86C8C10B-1893-1583-BDCB-563AC873AA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83291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12">
    <p:bg>
      <p:bgPr>
        <a:gradFill>
          <a:gsLst>
            <a:gs pos="0">
              <a:srgbClr val="0068FF"/>
            </a:gs>
            <a:gs pos="4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A53DC1-6337-429E-77CC-E9E5416EA5B5}"/>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68000">
                <a:srgbClr val="242931"/>
              </a:gs>
              <a:gs pos="0">
                <a:srgbClr val="000F24">
                  <a:alpha val="35000"/>
                </a:srgbClr>
              </a:gs>
              <a:gs pos="100000">
                <a:srgbClr val="313843"/>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 name="Picture Placeholder 1">
            <a:extLst>
              <a:ext uri="{FF2B5EF4-FFF2-40B4-BE49-F238E27FC236}">
                <a16:creationId xmlns:a16="http://schemas.microsoft.com/office/drawing/2014/main" id="{FD11DAF6-BD41-A48B-811D-A1C1CBA6EAB1}"/>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D030DDB7-FB01-2390-8CB9-13BE639ED05C}"/>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40795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13">
    <p:bg>
      <p:bgPr>
        <a:gradFill>
          <a:gsLst>
            <a:gs pos="0">
              <a:srgbClr val="BD03F7"/>
            </a:gs>
            <a:gs pos="25000">
              <a:srgbClr val="000000"/>
            </a:gs>
            <a:gs pos="75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8" name="Picture Placeholder 1">
            <a:extLst>
              <a:ext uri="{FF2B5EF4-FFF2-40B4-BE49-F238E27FC236}">
                <a16:creationId xmlns:a16="http://schemas.microsoft.com/office/drawing/2014/main" id="{3B62A672-3C49-9CD1-DF1A-D03BF9427383}"/>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09736AE2-F7BD-A33D-B25E-5FC752607BA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521997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8C7E6489-8994-5B82-C352-B6CEFB1B5EF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7F2A3E5-5A29-7BCC-2E85-124997C0531A}"/>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45656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Picture Placeholder 1">
            <a:extLst>
              <a:ext uri="{FF2B5EF4-FFF2-40B4-BE49-F238E27FC236}">
                <a16:creationId xmlns:a16="http://schemas.microsoft.com/office/drawing/2014/main" id="{0ABF8673-84C0-EF57-C8E2-AB6E6ABA3C85}"/>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358D5E2-08E3-563A-E477-E855F424A28D}"/>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65229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55C1E0A-B816-FFEE-CE08-8818A0BF9255}"/>
              </a:ext>
            </a:extLst>
          </p:cNvPr>
          <p:cNvSpPr>
            <a:spLocks noGrp="1" noChangeArrowheads="1"/>
          </p:cNvSpPr>
          <p:nvPr>
            <p:ph type="sldNum" sz="quarter" idx="10"/>
          </p:nvPr>
        </p:nvSpPr>
        <p:spPr>
          <a:ln/>
        </p:spPr>
        <p:txBody>
          <a:bodyPr/>
          <a:lstStyle>
            <a:lvl1pPr>
              <a:defRPr/>
            </a:lvl1pPr>
          </a:lstStyle>
          <a:p>
            <a:r>
              <a:rPr lang="en-US" altLang="en-US"/>
              <a:t>Page </a:t>
            </a:r>
            <a:fld id="{1E3CF07A-3AC7-46A6-8E48-7AD0025DA8F5}" type="slidenum">
              <a:rPr lang="en-US" altLang="en-US"/>
              <a:pPr/>
              <a:t>‹#›</a:t>
            </a:fld>
            <a:endParaRPr lang="en-US" altLang="en-US"/>
          </a:p>
        </p:txBody>
      </p:sp>
    </p:spTree>
    <p:extLst>
      <p:ext uri="{BB962C8B-B14F-4D97-AF65-F5344CB8AC3E}">
        <p14:creationId xmlns:p14="http://schemas.microsoft.com/office/powerpoint/2010/main" val="174408630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2CCDC3B6-7807-A248-F592-2281D445747D}"/>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140491943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71" r:id="rId3"/>
    <p:sldLayoutId id="2147483672" r:id="rId4"/>
    <p:sldLayoutId id="2147483724" r:id="rId5"/>
    <p:sldLayoutId id="2147483713" r:id="rId6"/>
    <p:sldLayoutId id="2147483663" r:id="rId7"/>
    <p:sldLayoutId id="2147483709" r:id="rId8"/>
    <p:sldLayoutId id="2147483736" r:id="rId9"/>
    <p:sldLayoutId id="2147483676" r:id="rId10"/>
    <p:sldLayoutId id="2147483677" r:id="rId11"/>
    <p:sldLayoutId id="2147483679" r:id="rId12"/>
    <p:sldLayoutId id="2147483737" r:id="rId13"/>
    <p:sldLayoutId id="2147483740" r:id="rId14"/>
    <p:sldLayoutId id="2147483741" r:id="rId15"/>
    <p:sldLayoutId id="2147483652" r:id="rId16"/>
    <p:sldLayoutId id="2147483658" r:id="rId17"/>
    <p:sldLayoutId id="2147483659" r:id="rId18"/>
    <p:sldLayoutId id="2147483660" r:id="rId19"/>
    <p:sldLayoutId id="2147483661" r:id="rId20"/>
    <p:sldLayoutId id="2147483686" r:id="rId21"/>
    <p:sldLayoutId id="2147483687" r:id="rId22"/>
    <p:sldLayoutId id="2147483725" r:id="rId23"/>
    <p:sldLayoutId id="2147483727" r:id="rId24"/>
    <p:sldLayoutId id="2147483688" r:id="rId25"/>
    <p:sldLayoutId id="2147483682" r:id="rId26"/>
    <p:sldLayoutId id="2147483666" r:id="rId27"/>
    <p:sldLayoutId id="2147483730" r:id="rId28"/>
    <p:sldLayoutId id="2147483662" r:id="rId29"/>
    <p:sldLayoutId id="2147483732" r:id="rId30"/>
    <p:sldLayoutId id="2147483667" r:id="rId31"/>
    <p:sldLayoutId id="2147483733" r:id="rId32"/>
    <p:sldLayoutId id="2147483680" r:id="rId33"/>
    <p:sldLayoutId id="2147483681" r:id="rId34"/>
    <p:sldLayoutId id="2147483654" r:id="rId35"/>
    <p:sldLayoutId id="2147483729" r:id="rId36"/>
    <p:sldLayoutId id="2147483655" r:id="rId37"/>
    <p:sldLayoutId id="2147483669" r:id="rId38"/>
    <p:sldLayoutId id="2147483738"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2" userDrawn="1">
          <p15:clr>
            <a:srgbClr val="F26B43"/>
          </p15:clr>
        </p15:guide>
        <p15:guide id="3" pos="7374" userDrawn="1">
          <p15:clr>
            <a:srgbClr val="F26B43"/>
          </p15:clr>
        </p15:guide>
        <p15:guide id="4" orient="horz" pos="4014" userDrawn="1">
          <p15:clr>
            <a:srgbClr val="F26B43"/>
          </p15:clr>
        </p15:guide>
        <p15:guide id="5" orient="horz" pos="30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wmf"/><Relationship Id="rId1" Type="http://schemas.openxmlformats.org/officeDocument/2006/relationships/slideLayout" Target="../slideLayouts/slideLayout48.xml"/></Relationships>
</file>

<file path=ppt/slides/_rels/slide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48.xml"/><Relationship Id="rId4" Type="http://schemas.openxmlformats.org/officeDocument/2006/relationships/image" Target="../media/image11.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slideLayout" Target="../slideLayouts/slideLayout48.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16.wmf"/><Relationship Id="rId1" Type="http://schemas.openxmlformats.org/officeDocument/2006/relationships/slideLayout" Target="../slideLayouts/slideLayout48.xml"/><Relationship Id="rId4" Type="http://schemas.openxmlformats.org/officeDocument/2006/relationships/image" Target="../media/image17.wmf"/></Relationships>
</file>

<file path=ppt/slides/_rels/slide12.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4.bin"/><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4.wmf"/><Relationship Id="rId1" Type="http://schemas.openxmlformats.org/officeDocument/2006/relationships/slideLayout" Target="../slideLayouts/slideLayout4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xml"/><Relationship Id="rId1" Type="http://schemas.openxmlformats.org/officeDocument/2006/relationships/slideLayout" Target="../slideLayouts/slideLayout48.xml"/><Relationship Id="rId6" Type="http://schemas.openxmlformats.org/officeDocument/2006/relationships/image" Target="../media/image20.wmf"/><Relationship Id="rId5" Type="http://schemas.openxmlformats.org/officeDocument/2006/relationships/oleObject" Target="../embeddings/oleObject6.bin"/><Relationship Id="rId4" Type="http://schemas.openxmlformats.org/officeDocument/2006/relationships/image" Target="../media/image19.wmf"/></Relationships>
</file>

<file path=ppt/slides/_rels/slide16.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7.bin"/><Relationship Id="rId1" Type="http://schemas.openxmlformats.org/officeDocument/2006/relationships/slideLayout" Target="../slideLayouts/slideLayout4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0.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8.bin"/><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9.bin"/><Relationship Id="rId1" Type="http://schemas.openxmlformats.org/officeDocument/2006/relationships/slideLayout" Target="../slideLayouts/slideLayout4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10.bin"/><Relationship Id="rId1" Type="http://schemas.openxmlformats.org/officeDocument/2006/relationships/slideLayout" Target="../slideLayouts/slideLayout48.xml"/><Relationship Id="rId6" Type="http://schemas.openxmlformats.org/officeDocument/2006/relationships/oleObject" Target="../embeddings/oleObject12.bin"/><Relationship Id="rId5" Type="http://schemas.openxmlformats.org/officeDocument/2006/relationships/image" Target="../media/image25.wmf"/><Relationship Id="rId4" Type="http://schemas.openxmlformats.org/officeDocument/2006/relationships/oleObject" Target="../embeddings/oleObject11.bin"/><Relationship Id="rId9" Type="http://schemas.openxmlformats.org/officeDocument/2006/relationships/image" Target="../media/image27.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24.wmf"/><Relationship Id="rId7" Type="http://schemas.openxmlformats.org/officeDocument/2006/relationships/image" Target="../media/image28.wmf"/><Relationship Id="rId2" Type="http://schemas.openxmlformats.org/officeDocument/2006/relationships/oleObject" Target="../embeddings/oleObject14.bin"/><Relationship Id="rId1" Type="http://schemas.openxmlformats.org/officeDocument/2006/relationships/slideLayout" Target="../slideLayouts/slideLayout48.xml"/><Relationship Id="rId6" Type="http://schemas.openxmlformats.org/officeDocument/2006/relationships/oleObject" Target="../embeddings/oleObject16.bin"/><Relationship Id="rId5" Type="http://schemas.openxmlformats.org/officeDocument/2006/relationships/image" Target="../media/image27.wmf"/><Relationship Id="rId4" Type="http://schemas.openxmlformats.org/officeDocument/2006/relationships/oleObject" Target="../embeddings/oleObject15.bin"/><Relationship Id="rId9" Type="http://schemas.openxmlformats.org/officeDocument/2006/relationships/image" Target="../media/image29.wmf"/></Relationships>
</file>

<file path=ppt/slides/_rels/slide26.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48.xml"/></Relationships>
</file>

<file path=ppt/slides/_rels/slide27.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4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9.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48.xml"/></Relationships>
</file>

<file path=ppt/slides/_rels/slide30.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48.xml"/></Relationships>
</file>

<file path=ppt/slides/_rels/slide31.x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slideLayout" Target="../slideLayouts/slideLayout48.xml"/></Relationships>
</file>

<file path=ppt/slides/_rels/slide32.x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slideLayout" Target="../slideLayouts/slideLayout48.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8.xml"/></Relationships>
</file>

<file path=ppt/slides/_rels/slide34.x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slideLayout" Target="../slideLayouts/slideLayout48.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8.xml"/></Relationships>
</file>

<file path=ppt/slides/_rels/slide36.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48.xml"/></Relationships>
</file>

<file path=ppt/slides/_rels/slide37.x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slideLayout" Target="../slideLayouts/slideLayout48.xml"/></Relationships>
</file>

<file path=ppt/slides/_rels/slide38.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png"/><Relationship Id="rId1" Type="http://schemas.openxmlformats.org/officeDocument/2006/relationships/slideLayout" Target="../slideLayouts/slideLayout48.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slideLayout" Target="../slideLayouts/slideLayout48.xml"/></Relationships>
</file>

<file path=ppt/slides/_rels/slide40.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wmf"/><Relationship Id="rId1" Type="http://schemas.openxmlformats.org/officeDocument/2006/relationships/slideLayout" Target="../slideLayouts/slideLayout48.xml"/><Relationship Id="rId4" Type="http://schemas.openxmlformats.org/officeDocument/2006/relationships/image" Target="../media/image47.emf"/></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8.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8.xml"/><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8" name="Rectangle 12">
            <a:extLst>
              <a:ext uri="{FF2B5EF4-FFF2-40B4-BE49-F238E27FC236}">
                <a16:creationId xmlns:a16="http://schemas.microsoft.com/office/drawing/2014/main" id="{E069E537-F89D-4CC3-AB94-11B097E55457}"/>
              </a:ext>
            </a:extLst>
          </p:cNvPr>
          <p:cNvSpPr>
            <a:spLocks noGrp="1" noChangeArrowheads="1"/>
          </p:cNvSpPr>
          <p:nvPr>
            <p:ph type="ctrTitle"/>
          </p:nvPr>
        </p:nvSpPr>
        <p:spPr/>
        <p:txBody>
          <a:bodyPr/>
          <a:lstStyle/>
          <a:p>
            <a:pPr eaLnBrk="1" hangingPunct="1"/>
            <a:r>
              <a:rPr lang="en-GB" altLang="en-US" dirty="0"/>
              <a:t>Interconnections</a:t>
            </a:r>
            <a:endParaRPr lang="en-US" altLang="en-US" dirty="0"/>
          </a:p>
        </p:txBody>
      </p:sp>
      <p:sp>
        <p:nvSpPr>
          <p:cNvPr id="2" name="Subtitle 1">
            <a:extLst>
              <a:ext uri="{FF2B5EF4-FFF2-40B4-BE49-F238E27FC236}">
                <a16:creationId xmlns:a16="http://schemas.microsoft.com/office/drawing/2014/main" id="{674AC9C7-842F-9E8B-FB6B-8B09032F75CF}"/>
              </a:ext>
            </a:extLst>
          </p:cNvPr>
          <p:cNvSpPr>
            <a:spLocks noGrp="1"/>
          </p:cNvSpPr>
          <p:nvPr>
            <p:ph type="subTitle" idx="1"/>
          </p:nvPr>
        </p:nvSpPr>
        <p:spPr/>
        <p:txBody>
          <a:bodyPr/>
          <a:lstStyle/>
          <a:p>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a:extLst>
              <a:ext uri="{FF2B5EF4-FFF2-40B4-BE49-F238E27FC236}">
                <a16:creationId xmlns:a16="http://schemas.microsoft.com/office/drawing/2014/main" id="{6FB10DF2-5E7F-F7AA-7F7D-43C153AB0DFA}"/>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D51F6FC1-9301-4222-97B2-529BBB165279}" type="slidenum">
              <a:rPr lang="en-US" altLang="en-US" sz="800"/>
              <a:pPr>
                <a:lnSpc>
                  <a:spcPct val="100000"/>
                </a:lnSpc>
                <a:spcBef>
                  <a:spcPct val="0"/>
                </a:spcBef>
                <a:buClr>
                  <a:srgbClr val="F68933"/>
                </a:buClr>
                <a:buFontTx/>
                <a:buNone/>
              </a:pPr>
              <a:t>2</a:t>
            </a:fld>
            <a:endParaRPr lang="en-US" altLang="en-US" sz="800"/>
          </a:p>
        </p:txBody>
      </p:sp>
      <p:sp>
        <p:nvSpPr>
          <p:cNvPr id="11267" name="Rectangle 2">
            <a:extLst>
              <a:ext uri="{FF2B5EF4-FFF2-40B4-BE49-F238E27FC236}">
                <a16:creationId xmlns:a16="http://schemas.microsoft.com/office/drawing/2014/main" id="{21E6607D-2358-6AF2-DC12-D75CA096569E}"/>
              </a:ext>
            </a:extLst>
          </p:cNvPr>
          <p:cNvSpPr>
            <a:spLocks noGrp="1" noChangeArrowheads="1"/>
          </p:cNvSpPr>
          <p:nvPr>
            <p:ph type="title"/>
          </p:nvPr>
        </p:nvSpPr>
        <p:spPr/>
        <p:txBody>
          <a:bodyPr/>
          <a:lstStyle/>
          <a:p>
            <a:pPr eaLnBrk="1" hangingPunct="1"/>
            <a:r>
              <a:rPr lang="en-US" altLang="en-US"/>
              <a:t>Introduction</a:t>
            </a:r>
          </a:p>
        </p:txBody>
      </p:sp>
      <p:sp>
        <p:nvSpPr>
          <p:cNvPr id="11268" name="Rectangle 5">
            <a:extLst>
              <a:ext uri="{FF2B5EF4-FFF2-40B4-BE49-F238E27FC236}">
                <a16:creationId xmlns:a16="http://schemas.microsoft.com/office/drawing/2014/main" id="{017643A9-28B5-B58E-1C71-A3F5D3EADA67}"/>
              </a:ext>
            </a:extLst>
          </p:cNvPr>
          <p:cNvSpPr>
            <a:spLocks noGrp="1" noChangeArrowheads="1"/>
          </p:cNvSpPr>
          <p:nvPr>
            <p:ph type="body" idx="1"/>
          </p:nvPr>
        </p:nvSpPr>
        <p:spPr>
          <a:xfrm>
            <a:off x="1879600" y="1190625"/>
            <a:ext cx="8402638" cy="4114800"/>
          </a:xfrm>
        </p:spPr>
        <p:txBody>
          <a:bodyPr/>
          <a:lstStyle/>
          <a:p>
            <a:pPr eaLnBrk="1" hangingPunct="1"/>
            <a:r>
              <a:rPr lang="en-GB" altLang="en-US"/>
              <a:t>Back end or Back end of the line (BEOL):</a:t>
            </a:r>
          </a:p>
          <a:p>
            <a:pPr lvl="1" eaLnBrk="1" hangingPunct="1"/>
            <a:r>
              <a:rPr lang="en-GB" altLang="en-US"/>
              <a:t>Interconnect layers</a:t>
            </a:r>
          </a:p>
          <a:p>
            <a:pPr lvl="1" eaLnBrk="1" hangingPunct="1"/>
            <a:r>
              <a:rPr lang="en-GB" altLang="en-US"/>
              <a:t>Contacts</a:t>
            </a:r>
          </a:p>
          <a:p>
            <a:pPr lvl="1" eaLnBrk="1" hangingPunct="1"/>
            <a:r>
              <a:rPr lang="en-GB" altLang="en-US"/>
              <a:t>Vias</a:t>
            </a:r>
          </a:p>
          <a:p>
            <a:pPr lvl="1" eaLnBrk="1" hangingPunct="1"/>
            <a:r>
              <a:rPr lang="en-GB" altLang="en-US"/>
              <a:t>Insulating dielectric layers</a:t>
            </a:r>
            <a:endParaRPr lang="en-US" altLang="en-US"/>
          </a:p>
        </p:txBody>
      </p:sp>
      <p:sp>
        <p:nvSpPr>
          <p:cNvPr id="11269" name="AutoShape 6">
            <a:extLst>
              <a:ext uri="{FF2B5EF4-FFF2-40B4-BE49-F238E27FC236}">
                <a16:creationId xmlns:a16="http://schemas.microsoft.com/office/drawing/2014/main" id="{1EC6C11F-2B1C-DB0B-F3AC-3B359C5BA7FE}"/>
              </a:ext>
            </a:extLst>
          </p:cNvPr>
          <p:cNvSpPr>
            <a:spLocks/>
          </p:cNvSpPr>
          <p:nvPr/>
        </p:nvSpPr>
        <p:spPr bwMode="auto">
          <a:xfrm>
            <a:off x="5761038" y="1711326"/>
            <a:ext cx="334962" cy="1431925"/>
          </a:xfrm>
          <a:prstGeom prst="rightBrace">
            <a:avLst>
              <a:gd name="adj1" fmla="val 35624"/>
              <a:gd name="adj2" fmla="val 50000"/>
            </a:avLst>
          </a:prstGeom>
          <a:noFill/>
          <a:ln w="1270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11270" name="Text Box 7">
            <a:extLst>
              <a:ext uri="{FF2B5EF4-FFF2-40B4-BE49-F238E27FC236}">
                <a16:creationId xmlns:a16="http://schemas.microsoft.com/office/drawing/2014/main" id="{B7633DB9-CF45-C737-198D-62ECC8F8480F}"/>
              </a:ext>
            </a:extLst>
          </p:cNvPr>
          <p:cNvSpPr txBox="1">
            <a:spLocks noChangeArrowheads="1"/>
          </p:cNvSpPr>
          <p:nvPr/>
        </p:nvSpPr>
        <p:spPr bwMode="auto">
          <a:xfrm>
            <a:off x="6338888" y="1984375"/>
            <a:ext cx="3657600" cy="971550"/>
          </a:xfrm>
          <a:prstGeom prst="rect">
            <a:avLst/>
          </a:prstGeom>
          <a:noFill/>
          <a:ln w="12700" algn="ctr">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t>Needed to wire the active devices into specific circuit configuration</a:t>
            </a:r>
            <a:endParaRPr lang="en-US" altLang="en-US"/>
          </a:p>
        </p:txBody>
      </p:sp>
      <p:pic>
        <p:nvPicPr>
          <p:cNvPr id="11271" name="Picture 9">
            <a:extLst>
              <a:ext uri="{FF2B5EF4-FFF2-40B4-BE49-F238E27FC236}">
                <a16:creationId xmlns:a16="http://schemas.microsoft.com/office/drawing/2014/main" id="{DE2CE946-106E-5219-C0DB-19BAECBE5C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2164557" y="3513932"/>
            <a:ext cx="3040063"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2" name="Picture 10">
            <a:extLst>
              <a:ext uri="{FF2B5EF4-FFF2-40B4-BE49-F238E27FC236}">
                <a16:creationId xmlns:a16="http://schemas.microsoft.com/office/drawing/2014/main" id="{4D2330A4-ACBC-155F-FB9C-D84213887B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6851" y="3429001"/>
            <a:ext cx="3076575" cy="298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a:extLst>
              <a:ext uri="{FF2B5EF4-FFF2-40B4-BE49-F238E27FC236}">
                <a16:creationId xmlns:a16="http://schemas.microsoft.com/office/drawing/2014/main" id="{D203ACE2-901B-FF63-FDCD-2850BDE423ED}"/>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14C82F92-1BCC-4814-B5AC-402990E185E2}" type="slidenum">
              <a:rPr lang="en-US" altLang="en-US" sz="800"/>
              <a:pPr>
                <a:lnSpc>
                  <a:spcPct val="100000"/>
                </a:lnSpc>
                <a:spcBef>
                  <a:spcPct val="0"/>
                </a:spcBef>
                <a:buClr>
                  <a:srgbClr val="F68933"/>
                </a:buClr>
                <a:buFontTx/>
                <a:buNone/>
              </a:pPr>
              <a:t>3</a:t>
            </a:fld>
            <a:endParaRPr lang="en-US" altLang="en-US" sz="800"/>
          </a:p>
        </p:txBody>
      </p:sp>
      <p:sp>
        <p:nvSpPr>
          <p:cNvPr id="12291" name="Rectangle 2">
            <a:extLst>
              <a:ext uri="{FF2B5EF4-FFF2-40B4-BE49-F238E27FC236}">
                <a16:creationId xmlns:a16="http://schemas.microsoft.com/office/drawing/2014/main" id="{3F18D4F8-664F-2BF4-FE32-A7AFB2907207}"/>
              </a:ext>
            </a:extLst>
          </p:cNvPr>
          <p:cNvSpPr>
            <a:spLocks noGrp="1" noChangeArrowheads="1"/>
          </p:cNvSpPr>
          <p:nvPr>
            <p:ph type="title"/>
          </p:nvPr>
        </p:nvSpPr>
        <p:spPr/>
        <p:txBody>
          <a:bodyPr/>
          <a:lstStyle/>
          <a:p>
            <a:pPr eaLnBrk="1" hangingPunct="1"/>
            <a:r>
              <a:rPr lang="en-GB" altLang="en-US"/>
              <a:t>Back end elements</a:t>
            </a:r>
            <a:endParaRPr lang="en-US" altLang="en-US"/>
          </a:p>
        </p:txBody>
      </p:sp>
      <p:sp>
        <p:nvSpPr>
          <p:cNvPr id="12292" name="Rectangle 3">
            <a:extLst>
              <a:ext uri="{FF2B5EF4-FFF2-40B4-BE49-F238E27FC236}">
                <a16:creationId xmlns:a16="http://schemas.microsoft.com/office/drawing/2014/main" id="{988DDBF4-2096-99E7-B442-BE4A313AACE9}"/>
              </a:ext>
            </a:extLst>
          </p:cNvPr>
          <p:cNvSpPr>
            <a:spLocks noGrp="1" noChangeArrowheads="1"/>
          </p:cNvSpPr>
          <p:nvPr>
            <p:ph type="body" idx="1"/>
          </p:nvPr>
        </p:nvSpPr>
        <p:spPr>
          <a:xfrm>
            <a:off x="1524001" y="1238251"/>
            <a:ext cx="4581525" cy="4786313"/>
          </a:xfrm>
        </p:spPr>
        <p:txBody>
          <a:bodyPr/>
          <a:lstStyle/>
          <a:p>
            <a:pPr eaLnBrk="1" hangingPunct="1">
              <a:lnSpc>
                <a:spcPct val="85000"/>
              </a:lnSpc>
            </a:pPr>
            <a:r>
              <a:rPr lang="en-GB" altLang="en-US" sz="2000" b="1"/>
              <a:t>Local interconnects</a:t>
            </a:r>
          </a:p>
          <a:p>
            <a:pPr lvl="1" eaLnBrk="1" hangingPunct="1">
              <a:lnSpc>
                <a:spcPct val="85000"/>
              </a:lnSpc>
            </a:pPr>
            <a:r>
              <a:rPr lang="en-GB" altLang="en-US"/>
              <a:t>Silicided transistor gates</a:t>
            </a:r>
          </a:p>
          <a:p>
            <a:pPr lvl="1" eaLnBrk="1" hangingPunct="1">
              <a:lnSpc>
                <a:spcPct val="85000"/>
              </a:lnSpc>
            </a:pPr>
            <a:r>
              <a:rPr lang="en-GB" altLang="en-US"/>
              <a:t>Silicided active areas ( source and drain regions)</a:t>
            </a:r>
          </a:p>
          <a:p>
            <a:pPr eaLnBrk="1" hangingPunct="1">
              <a:lnSpc>
                <a:spcPct val="85000"/>
              </a:lnSpc>
            </a:pPr>
            <a:r>
              <a:rPr lang="en-GB" altLang="en-US" sz="2000" b="1"/>
              <a:t>Contacts</a:t>
            </a:r>
          </a:p>
          <a:p>
            <a:pPr lvl="1" eaLnBrk="1" hangingPunct="1">
              <a:lnSpc>
                <a:spcPct val="85000"/>
              </a:lnSpc>
            </a:pPr>
            <a:r>
              <a:rPr lang="en-GB" altLang="en-US"/>
              <a:t>Connecting local interconnects/active devices to first metal level</a:t>
            </a:r>
          </a:p>
          <a:p>
            <a:pPr eaLnBrk="1" hangingPunct="1">
              <a:lnSpc>
                <a:spcPct val="85000"/>
              </a:lnSpc>
            </a:pPr>
            <a:r>
              <a:rPr lang="en-GB" altLang="en-US" sz="2000" b="1"/>
              <a:t>Intermediate/Global interconnects</a:t>
            </a:r>
          </a:p>
          <a:p>
            <a:pPr lvl="1" eaLnBrk="1" hangingPunct="1">
              <a:lnSpc>
                <a:spcPct val="85000"/>
              </a:lnSpc>
            </a:pPr>
            <a:r>
              <a:rPr lang="en-GB" altLang="en-US"/>
              <a:t>Metal lines wiring active elements into circuits</a:t>
            </a:r>
          </a:p>
          <a:p>
            <a:pPr eaLnBrk="1" hangingPunct="1">
              <a:lnSpc>
                <a:spcPct val="85000"/>
              </a:lnSpc>
            </a:pPr>
            <a:r>
              <a:rPr lang="en-GB" altLang="en-US" sz="2000" b="1"/>
              <a:t>Dielectrics</a:t>
            </a:r>
            <a:r>
              <a:rPr lang="en-GB" altLang="en-US" sz="2000"/>
              <a:t> </a:t>
            </a:r>
          </a:p>
          <a:p>
            <a:pPr lvl="1" eaLnBrk="1" hangingPunct="1">
              <a:lnSpc>
                <a:spcPct val="85000"/>
              </a:lnSpc>
            </a:pPr>
            <a:r>
              <a:rPr lang="en-GB" altLang="en-US"/>
              <a:t>Insulating different metal levels and lines</a:t>
            </a:r>
          </a:p>
          <a:p>
            <a:pPr eaLnBrk="1" hangingPunct="1">
              <a:lnSpc>
                <a:spcPct val="85000"/>
              </a:lnSpc>
            </a:pPr>
            <a:r>
              <a:rPr lang="en-GB" altLang="en-US" sz="2000" b="1"/>
              <a:t>Vias</a:t>
            </a:r>
          </a:p>
          <a:p>
            <a:pPr lvl="1" eaLnBrk="1" hangingPunct="1">
              <a:lnSpc>
                <a:spcPct val="85000"/>
              </a:lnSpc>
            </a:pPr>
            <a:r>
              <a:rPr lang="en-GB" altLang="en-US"/>
              <a:t>Connecting different metal lines</a:t>
            </a:r>
          </a:p>
          <a:p>
            <a:pPr lvl="1" eaLnBrk="1" hangingPunct="1">
              <a:lnSpc>
                <a:spcPct val="85000"/>
              </a:lnSpc>
            </a:pPr>
            <a:endParaRPr lang="en-GB" altLang="en-US"/>
          </a:p>
          <a:p>
            <a:pPr lvl="1" eaLnBrk="1" hangingPunct="1">
              <a:lnSpc>
                <a:spcPct val="85000"/>
              </a:lnSpc>
            </a:pPr>
            <a:endParaRPr lang="en-US" altLang="en-US"/>
          </a:p>
        </p:txBody>
      </p:sp>
      <p:graphicFrame>
        <p:nvGraphicFramePr>
          <p:cNvPr id="12293" name="Object 5">
            <a:extLst>
              <a:ext uri="{FF2B5EF4-FFF2-40B4-BE49-F238E27FC236}">
                <a16:creationId xmlns:a16="http://schemas.microsoft.com/office/drawing/2014/main" id="{44202E48-10E3-4CFA-34DB-37DAA3D1FD8C}"/>
              </a:ext>
            </a:extLst>
          </p:cNvPr>
          <p:cNvGraphicFramePr>
            <a:graphicFrameLocks noChangeAspect="1"/>
          </p:cNvGraphicFramePr>
          <p:nvPr/>
        </p:nvGraphicFramePr>
        <p:xfrm>
          <a:off x="6530975" y="3829051"/>
          <a:ext cx="3576638" cy="2652713"/>
        </p:xfrm>
        <a:graphic>
          <a:graphicData uri="http://schemas.openxmlformats.org/presentationml/2006/ole">
            <mc:AlternateContent xmlns:mc="http://schemas.openxmlformats.org/markup-compatibility/2006">
              <mc:Choice xmlns:v="urn:schemas-microsoft-com:vml" Requires="v">
                <p:oleObj name="Document" r:id="rId2" imgW="3657600" imgH="2712720" progId="Word.Document.8">
                  <p:embed/>
                </p:oleObj>
              </mc:Choice>
              <mc:Fallback>
                <p:oleObj name="Document" r:id="rId2" imgW="3657600" imgH="2712720" progId="Word.Document.8">
                  <p:embed/>
                  <p:pic>
                    <p:nvPicPr>
                      <p:cNvPr id="12293" name="Object 5">
                        <a:extLst>
                          <a:ext uri="{FF2B5EF4-FFF2-40B4-BE49-F238E27FC236}">
                            <a16:creationId xmlns:a16="http://schemas.microsoft.com/office/drawing/2014/main" id="{44202E48-10E3-4CFA-34DB-37DAA3D1FD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0975" y="3829051"/>
                        <a:ext cx="3576638" cy="2652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2294" name="Picture 33">
            <a:extLst>
              <a:ext uri="{FF2B5EF4-FFF2-40B4-BE49-F238E27FC236}">
                <a16:creationId xmlns:a16="http://schemas.microsoft.com/office/drawing/2014/main" id="{780CF9DB-52C9-C464-D0F5-005B8251C2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0711" b="5640"/>
          <a:stretch>
            <a:fillRect/>
          </a:stretch>
        </p:blipFill>
        <p:spPr bwMode="auto">
          <a:xfrm>
            <a:off x="6096000" y="1360489"/>
            <a:ext cx="4572000"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a:extLst>
              <a:ext uri="{FF2B5EF4-FFF2-40B4-BE49-F238E27FC236}">
                <a16:creationId xmlns:a16="http://schemas.microsoft.com/office/drawing/2014/main" id="{F9235729-6B45-2ED3-07CB-3B711733C90E}"/>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3B92D549-6DC8-4651-8AFF-D062CDBE4E03}" type="slidenum">
              <a:rPr lang="en-US" altLang="en-US" sz="800"/>
              <a:pPr>
                <a:lnSpc>
                  <a:spcPct val="100000"/>
                </a:lnSpc>
                <a:spcBef>
                  <a:spcPct val="0"/>
                </a:spcBef>
                <a:buClr>
                  <a:srgbClr val="F68933"/>
                </a:buClr>
                <a:buFontTx/>
                <a:buNone/>
              </a:pPr>
              <a:t>4</a:t>
            </a:fld>
            <a:endParaRPr lang="en-US" altLang="en-US" sz="800"/>
          </a:p>
        </p:txBody>
      </p:sp>
      <p:sp>
        <p:nvSpPr>
          <p:cNvPr id="13315" name="Rectangle 2">
            <a:extLst>
              <a:ext uri="{FF2B5EF4-FFF2-40B4-BE49-F238E27FC236}">
                <a16:creationId xmlns:a16="http://schemas.microsoft.com/office/drawing/2014/main" id="{982CB419-D24A-EFBF-8AED-C6F57E03B1E2}"/>
              </a:ext>
            </a:extLst>
          </p:cNvPr>
          <p:cNvSpPr>
            <a:spLocks noGrp="1" noChangeArrowheads="1"/>
          </p:cNvSpPr>
          <p:nvPr>
            <p:ph type="title"/>
          </p:nvPr>
        </p:nvSpPr>
        <p:spPr>
          <a:xfrm>
            <a:off x="1893889" y="247650"/>
            <a:ext cx="8402637" cy="1143000"/>
          </a:xfrm>
        </p:spPr>
        <p:txBody>
          <a:bodyPr/>
          <a:lstStyle/>
          <a:p>
            <a:pPr eaLnBrk="1" hangingPunct="1"/>
            <a:r>
              <a:rPr lang="en-GB" altLang="en-US"/>
              <a:t>Local interconnects</a:t>
            </a:r>
            <a:endParaRPr lang="en-US" altLang="en-US"/>
          </a:p>
        </p:txBody>
      </p:sp>
      <p:sp>
        <p:nvSpPr>
          <p:cNvPr id="13316" name="Rectangle 3">
            <a:extLst>
              <a:ext uri="{FF2B5EF4-FFF2-40B4-BE49-F238E27FC236}">
                <a16:creationId xmlns:a16="http://schemas.microsoft.com/office/drawing/2014/main" id="{4E7A234A-2DE0-1643-3F16-B657BA03A9BD}"/>
              </a:ext>
            </a:extLst>
          </p:cNvPr>
          <p:cNvSpPr>
            <a:spLocks noGrp="1" noChangeArrowheads="1"/>
          </p:cNvSpPr>
          <p:nvPr>
            <p:ph type="body" idx="1"/>
          </p:nvPr>
        </p:nvSpPr>
        <p:spPr>
          <a:xfrm>
            <a:off x="1893889" y="1958975"/>
            <a:ext cx="8402637" cy="4114800"/>
          </a:xfrm>
        </p:spPr>
        <p:txBody>
          <a:bodyPr/>
          <a:lstStyle/>
          <a:p>
            <a:pPr eaLnBrk="1" hangingPunct="1"/>
            <a:r>
              <a:rPr lang="en-GB" altLang="en-US"/>
              <a:t>Silicides are used as or with local interconnects in three ways:</a:t>
            </a:r>
          </a:p>
          <a:p>
            <a:pPr lvl="1" eaLnBrk="1" hangingPunct="1"/>
            <a:r>
              <a:rPr lang="en-GB" altLang="en-US"/>
              <a:t>Reduce sheet resistance of poly gates (and keep the poly/SiO</a:t>
            </a:r>
            <a:r>
              <a:rPr lang="en-GB" altLang="en-US" baseline="-25000"/>
              <a:t>2</a:t>
            </a:r>
            <a:r>
              <a:rPr lang="en-GB" altLang="en-US"/>
              <a:t> interface unchanged)</a:t>
            </a:r>
          </a:p>
          <a:p>
            <a:pPr lvl="1" eaLnBrk="1" hangingPunct="1"/>
            <a:r>
              <a:rPr lang="en-GB" altLang="en-US"/>
              <a:t>Strap source/drain regions to allow for low resistance contacts</a:t>
            </a:r>
          </a:p>
          <a:p>
            <a:pPr lvl="1" eaLnBrk="1" hangingPunct="1"/>
            <a:r>
              <a:rPr lang="en-GB" altLang="en-US"/>
              <a:t>(Local interconnects below the lowest metal level)</a:t>
            </a:r>
          </a:p>
          <a:p>
            <a:pPr lvl="1" eaLnBrk="1" hangingPunct="1"/>
            <a:endParaRPr lang="en-GB" altLang="en-US"/>
          </a:p>
          <a:p>
            <a:pPr lvl="1" eaLnBrk="1" hangingPunct="1"/>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a:extLst>
              <a:ext uri="{FF2B5EF4-FFF2-40B4-BE49-F238E27FC236}">
                <a16:creationId xmlns:a16="http://schemas.microsoft.com/office/drawing/2014/main" id="{178957BC-76F6-F77F-ABB6-4471BB862179}"/>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EC5F4BD7-EDFB-4534-9927-FB55E3B55895}" type="slidenum">
              <a:rPr lang="en-US" altLang="en-US" sz="800"/>
              <a:pPr>
                <a:lnSpc>
                  <a:spcPct val="100000"/>
                </a:lnSpc>
                <a:spcBef>
                  <a:spcPct val="0"/>
                </a:spcBef>
                <a:buClr>
                  <a:srgbClr val="F68933"/>
                </a:buClr>
                <a:buFontTx/>
                <a:buNone/>
              </a:pPr>
              <a:t>5</a:t>
            </a:fld>
            <a:endParaRPr lang="en-US" altLang="en-US" sz="800"/>
          </a:p>
        </p:txBody>
      </p:sp>
      <p:sp>
        <p:nvSpPr>
          <p:cNvPr id="14339" name="Rectangle 2">
            <a:extLst>
              <a:ext uri="{FF2B5EF4-FFF2-40B4-BE49-F238E27FC236}">
                <a16:creationId xmlns:a16="http://schemas.microsoft.com/office/drawing/2014/main" id="{759A7004-1708-68D2-9A76-8193B5141FAC}"/>
              </a:ext>
            </a:extLst>
          </p:cNvPr>
          <p:cNvSpPr>
            <a:spLocks noGrp="1" noChangeArrowheads="1"/>
          </p:cNvSpPr>
          <p:nvPr>
            <p:ph type="title"/>
          </p:nvPr>
        </p:nvSpPr>
        <p:spPr>
          <a:xfrm>
            <a:off x="1893889" y="247650"/>
            <a:ext cx="8402637" cy="1143000"/>
          </a:xfrm>
        </p:spPr>
        <p:txBody>
          <a:bodyPr/>
          <a:lstStyle/>
          <a:p>
            <a:pPr eaLnBrk="1" hangingPunct="1"/>
            <a:r>
              <a:rPr lang="en-GB" altLang="en-US"/>
              <a:t>Silicides properties</a:t>
            </a:r>
            <a:endParaRPr lang="en-US" altLang="en-US"/>
          </a:p>
        </p:txBody>
      </p:sp>
      <p:sp>
        <p:nvSpPr>
          <p:cNvPr id="14340" name="Rectangle 3">
            <a:extLst>
              <a:ext uri="{FF2B5EF4-FFF2-40B4-BE49-F238E27FC236}">
                <a16:creationId xmlns:a16="http://schemas.microsoft.com/office/drawing/2014/main" id="{E9D5A608-40E0-44FF-CFC2-E575B29C1CD5}"/>
              </a:ext>
            </a:extLst>
          </p:cNvPr>
          <p:cNvSpPr>
            <a:spLocks noGrp="1" noChangeArrowheads="1"/>
          </p:cNvSpPr>
          <p:nvPr>
            <p:ph type="body" idx="1"/>
          </p:nvPr>
        </p:nvSpPr>
        <p:spPr>
          <a:xfrm>
            <a:off x="1893889" y="1958975"/>
            <a:ext cx="8402637" cy="4114800"/>
          </a:xfrm>
        </p:spPr>
        <p:txBody>
          <a:bodyPr/>
          <a:lstStyle/>
          <a:p>
            <a:pPr eaLnBrk="1" hangingPunct="1"/>
            <a:r>
              <a:rPr lang="en-GB" altLang="en-US"/>
              <a:t>Low resistivity (10/50 </a:t>
            </a:r>
            <a:r>
              <a:rPr lang="en-GB" altLang="en-US">
                <a:latin typeface="Symbol" panose="05050102010706020507" pitchFamily="18" charset="2"/>
              </a:rPr>
              <a:t>W</a:t>
            </a:r>
            <a:r>
              <a:rPr lang="en-GB" altLang="en-US"/>
              <a:t>cm)</a:t>
            </a:r>
          </a:p>
          <a:p>
            <a:pPr eaLnBrk="1" hangingPunct="1"/>
            <a:r>
              <a:rPr lang="en-GB" altLang="en-US"/>
              <a:t>High temperature stability</a:t>
            </a:r>
          </a:p>
          <a:p>
            <a:pPr eaLnBrk="1" hangingPunct="1"/>
            <a:r>
              <a:rPr lang="en-GB" altLang="en-US"/>
              <a:t>Good compatibility with silicon</a:t>
            </a:r>
          </a:p>
          <a:p>
            <a:pPr eaLnBrk="1" hangingPunct="1"/>
            <a:r>
              <a:rPr lang="en-GB" altLang="en-US"/>
              <a:t>Easy to plasma etch</a:t>
            </a:r>
          </a:p>
          <a:p>
            <a:pPr eaLnBrk="1" hangingPunct="1"/>
            <a:r>
              <a:rPr lang="en-GB" altLang="en-US"/>
              <a:t>Good compatibility/interface with other materials</a:t>
            </a:r>
          </a:p>
          <a:p>
            <a:pPr eaLnBrk="1" hangingPunct="1"/>
            <a:r>
              <a:rPr lang="en-GB" altLang="en-US"/>
              <a:t>No electromigration</a:t>
            </a:r>
          </a:p>
          <a:p>
            <a:pPr lvl="1" eaLnBrk="1" hangingPunct="1"/>
            <a:endParaRPr lang="en-GB" altLang="en-US"/>
          </a:p>
          <a:p>
            <a:pPr lvl="1" eaLnBrk="1" hangingPunct="1"/>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a:extLst>
              <a:ext uri="{FF2B5EF4-FFF2-40B4-BE49-F238E27FC236}">
                <a16:creationId xmlns:a16="http://schemas.microsoft.com/office/drawing/2014/main" id="{5C5CCC9B-5E86-069D-B572-6D2AF0D4FD03}"/>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408EF97F-760F-4036-BA81-860CF147BC56}" type="slidenum">
              <a:rPr lang="en-US" altLang="en-US" sz="800"/>
              <a:pPr>
                <a:lnSpc>
                  <a:spcPct val="100000"/>
                </a:lnSpc>
                <a:spcBef>
                  <a:spcPct val="0"/>
                </a:spcBef>
                <a:buClr>
                  <a:srgbClr val="F68933"/>
                </a:buClr>
                <a:buFontTx/>
                <a:buNone/>
              </a:pPr>
              <a:t>6</a:t>
            </a:fld>
            <a:endParaRPr lang="en-US" altLang="en-US" sz="800"/>
          </a:p>
        </p:txBody>
      </p:sp>
      <p:sp>
        <p:nvSpPr>
          <p:cNvPr id="15363" name="Rectangle 2">
            <a:extLst>
              <a:ext uri="{FF2B5EF4-FFF2-40B4-BE49-F238E27FC236}">
                <a16:creationId xmlns:a16="http://schemas.microsoft.com/office/drawing/2014/main" id="{3292B566-BCEB-A9BF-875E-9D0A1D291EC2}"/>
              </a:ext>
            </a:extLst>
          </p:cNvPr>
          <p:cNvSpPr>
            <a:spLocks noGrp="1" noChangeArrowheads="1"/>
          </p:cNvSpPr>
          <p:nvPr>
            <p:ph type="title"/>
          </p:nvPr>
        </p:nvSpPr>
        <p:spPr/>
        <p:txBody>
          <a:bodyPr/>
          <a:lstStyle/>
          <a:p>
            <a:pPr eaLnBrk="1" hangingPunct="1"/>
            <a:r>
              <a:rPr lang="en-GB" altLang="en-US"/>
              <a:t>Silicides formation methods</a:t>
            </a:r>
            <a:endParaRPr lang="en-US" altLang="en-US"/>
          </a:p>
        </p:txBody>
      </p:sp>
      <p:sp>
        <p:nvSpPr>
          <p:cNvPr id="15364" name="Rectangle 3">
            <a:extLst>
              <a:ext uri="{FF2B5EF4-FFF2-40B4-BE49-F238E27FC236}">
                <a16:creationId xmlns:a16="http://schemas.microsoft.com/office/drawing/2014/main" id="{60328358-E4AB-2B7D-C33C-16C197EC50C4}"/>
              </a:ext>
            </a:extLst>
          </p:cNvPr>
          <p:cNvSpPr>
            <a:spLocks noGrp="1" noChangeArrowheads="1"/>
          </p:cNvSpPr>
          <p:nvPr>
            <p:ph type="body" idx="1"/>
          </p:nvPr>
        </p:nvSpPr>
        <p:spPr>
          <a:xfrm>
            <a:off x="1893889" y="1371600"/>
            <a:ext cx="8402637" cy="4114800"/>
          </a:xfrm>
        </p:spPr>
        <p:txBody>
          <a:bodyPr/>
          <a:lstStyle/>
          <a:p>
            <a:pPr marL="457200" indent="-457200">
              <a:lnSpc>
                <a:spcPct val="85000"/>
              </a:lnSpc>
            </a:pPr>
            <a:r>
              <a:rPr lang="en-GB" altLang="en-US" sz="2000" b="1"/>
              <a:t>Direct deposition</a:t>
            </a:r>
          </a:p>
          <a:p>
            <a:pPr marL="581025" lvl="1" indent="-381000">
              <a:lnSpc>
                <a:spcPct val="85000"/>
              </a:lnSpc>
            </a:pPr>
            <a:r>
              <a:rPr lang="en-GB" altLang="en-US"/>
              <a:t>The silicide is directly deposited on the wafer by PVD or CVD techniques ( CVD actually used only for WSi</a:t>
            </a:r>
            <a:r>
              <a:rPr lang="en-GB" altLang="en-US" baseline="-25000"/>
              <a:t>2</a:t>
            </a:r>
            <a:r>
              <a:rPr lang="en-GB" altLang="en-US"/>
              <a:t>) .</a:t>
            </a:r>
          </a:p>
          <a:p>
            <a:pPr marL="457200" indent="-457200">
              <a:lnSpc>
                <a:spcPct val="85000"/>
              </a:lnSpc>
            </a:pPr>
            <a:endParaRPr lang="en-GB" altLang="en-US" sz="2000"/>
          </a:p>
          <a:p>
            <a:pPr marL="457200" indent="-457200">
              <a:lnSpc>
                <a:spcPct val="85000"/>
              </a:lnSpc>
            </a:pPr>
            <a:r>
              <a:rPr lang="en-GB" altLang="en-US" sz="2000" b="1"/>
              <a:t>Reaction</a:t>
            </a:r>
          </a:p>
          <a:p>
            <a:pPr marL="581025" lvl="1" indent="-381000">
              <a:lnSpc>
                <a:spcPct val="85000"/>
              </a:lnSpc>
              <a:buFontTx/>
              <a:buAutoNum type="arabicPeriod"/>
            </a:pPr>
            <a:r>
              <a:rPr lang="en-GB" altLang="en-US" b="1"/>
              <a:t>Simple reaction</a:t>
            </a:r>
          </a:p>
          <a:p>
            <a:pPr marL="800100" lvl="2" indent="-304800">
              <a:lnSpc>
                <a:spcPct val="85000"/>
              </a:lnSpc>
              <a:buFontTx/>
              <a:buChar char="–"/>
            </a:pPr>
            <a:r>
              <a:rPr lang="en-GB" altLang="en-US" sz="1400"/>
              <a:t>Metal and amorphous Si are deposited by sputtering, Si is deposited and patterned before metal deposition.</a:t>
            </a:r>
          </a:p>
          <a:p>
            <a:pPr marL="800100" lvl="2" indent="-304800">
              <a:lnSpc>
                <a:spcPct val="85000"/>
              </a:lnSpc>
              <a:buFontTx/>
              <a:buChar char="–"/>
            </a:pPr>
            <a:r>
              <a:rPr lang="en-GB" altLang="en-US" sz="1400"/>
              <a:t>An annealing allow for the reaction between metal and Si.</a:t>
            </a:r>
          </a:p>
          <a:p>
            <a:pPr marL="800100" lvl="2" indent="-304800">
              <a:lnSpc>
                <a:spcPct val="85000"/>
              </a:lnSpc>
              <a:buFontTx/>
              <a:buChar char="–"/>
            </a:pPr>
            <a:r>
              <a:rPr lang="en-GB" altLang="en-US" sz="1400"/>
              <a:t>Unreacted metal is selectively stripped off.</a:t>
            </a:r>
          </a:p>
          <a:p>
            <a:pPr marL="581025" lvl="1" indent="-381000">
              <a:lnSpc>
                <a:spcPct val="85000"/>
              </a:lnSpc>
              <a:buFontTx/>
              <a:buAutoNum type="arabicPeriod"/>
            </a:pPr>
            <a:r>
              <a:rPr lang="en-GB" altLang="en-US" b="1"/>
              <a:t>Self aligned silicide (salicide)</a:t>
            </a:r>
          </a:p>
          <a:p>
            <a:pPr marL="800100" lvl="2" indent="-304800">
              <a:lnSpc>
                <a:spcPct val="85000"/>
              </a:lnSpc>
              <a:buFontTx/>
              <a:buChar char="–"/>
            </a:pPr>
            <a:r>
              <a:rPr lang="en-GB" altLang="en-US" sz="1400"/>
              <a:t>Metal is deposited (by sputtering) directly on exposed gates and source/drain regions</a:t>
            </a:r>
          </a:p>
          <a:p>
            <a:pPr marL="800100" lvl="2" indent="-304800">
              <a:lnSpc>
                <a:spcPct val="85000"/>
              </a:lnSpc>
              <a:buFontTx/>
              <a:buChar char="–"/>
            </a:pPr>
            <a:r>
              <a:rPr lang="en-GB" altLang="en-US" sz="1400"/>
              <a:t>The wafer is annealed and the metal reacts with Si </a:t>
            </a:r>
            <a:r>
              <a:rPr lang="en-GB" altLang="en-US" sz="1400">
                <a:sym typeface="Wingdings" panose="05000000000000000000" pitchFamily="2" charset="2"/>
              </a:rPr>
              <a:t> no reaction occurs on field oxide zones</a:t>
            </a:r>
            <a:endParaRPr lang="en-GB" altLang="en-US" sz="1400"/>
          </a:p>
          <a:p>
            <a:pPr marL="800100" lvl="2" indent="-304800">
              <a:lnSpc>
                <a:spcPct val="85000"/>
              </a:lnSpc>
              <a:buFontTx/>
              <a:buChar char="–"/>
            </a:pPr>
            <a:r>
              <a:rPr lang="en-GB" altLang="en-US" sz="1400"/>
              <a:t>Unreacted metal is stripped off.</a:t>
            </a:r>
          </a:p>
          <a:p>
            <a:pPr marL="581025" lvl="1" indent="-381000">
              <a:lnSpc>
                <a:spcPct val="85000"/>
              </a:lnSpc>
              <a:buNone/>
            </a:pP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a:extLst>
              <a:ext uri="{FF2B5EF4-FFF2-40B4-BE49-F238E27FC236}">
                <a16:creationId xmlns:a16="http://schemas.microsoft.com/office/drawing/2014/main" id="{653EBCDD-0FB9-BA25-94F9-5DC7BF5C4447}"/>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66B8491A-06A4-44AA-9CF5-842C58CDCC26}" type="slidenum">
              <a:rPr lang="en-US" altLang="en-US" sz="800"/>
              <a:pPr>
                <a:lnSpc>
                  <a:spcPct val="100000"/>
                </a:lnSpc>
                <a:spcBef>
                  <a:spcPct val="0"/>
                </a:spcBef>
                <a:buClr>
                  <a:srgbClr val="F68933"/>
                </a:buClr>
                <a:buFontTx/>
                <a:buNone/>
              </a:pPr>
              <a:t>7</a:t>
            </a:fld>
            <a:endParaRPr lang="en-US" altLang="en-US" sz="800"/>
          </a:p>
        </p:txBody>
      </p:sp>
      <p:pic>
        <p:nvPicPr>
          <p:cNvPr id="16387" name="Picture 5">
            <a:extLst>
              <a:ext uri="{FF2B5EF4-FFF2-40B4-BE49-F238E27FC236}">
                <a16:creationId xmlns:a16="http://schemas.microsoft.com/office/drawing/2014/main" id="{5B8786F4-7CE8-695C-7C9C-3412FC7834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6713" y="3641725"/>
            <a:ext cx="4813300" cy="286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88" name="Rectangle 2">
            <a:extLst>
              <a:ext uri="{FF2B5EF4-FFF2-40B4-BE49-F238E27FC236}">
                <a16:creationId xmlns:a16="http://schemas.microsoft.com/office/drawing/2014/main" id="{89E1264C-5D53-E328-E147-CB85D46A365C}"/>
              </a:ext>
            </a:extLst>
          </p:cNvPr>
          <p:cNvSpPr>
            <a:spLocks noGrp="1" noChangeArrowheads="1"/>
          </p:cNvSpPr>
          <p:nvPr>
            <p:ph type="title"/>
          </p:nvPr>
        </p:nvSpPr>
        <p:spPr/>
        <p:txBody>
          <a:bodyPr/>
          <a:lstStyle/>
          <a:p>
            <a:pPr eaLnBrk="1" hangingPunct="1"/>
            <a:r>
              <a:rPr lang="en-GB" altLang="en-US"/>
              <a:t>An example: SA-TiSi</a:t>
            </a:r>
            <a:r>
              <a:rPr lang="en-GB" altLang="en-US" baseline="-25000"/>
              <a:t>2</a:t>
            </a:r>
            <a:endParaRPr lang="en-US" altLang="en-US"/>
          </a:p>
        </p:txBody>
      </p:sp>
      <p:sp>
        <p:nvSpPr>
          <p:cNvPr id="16389" name="Rectangle 3">
            <a:extLst>
              <a:ext uri="{FF2B5EF4-FFF2-40B4-BE49-F238E27FC236}">
                <a16:creationId xmlns:a16="http://schemas.microsoft.com/office/drawing/2014/main" id="{AFD0E6F0-67D5-2233-B962-9948F26F69AC}"/>
              </a:ext>
            </a:extLst>
          </p:cNvPr>
          <p:cNvSpPr>
            <a:spLocks noGrp="1" noChangeArrowheads="1"/>
          </p:cNvSpPr>
          <p:nvPr>
            <p:ph type="body" idx="1"/>
          </p:nvPr>
        </p:nvSpPr>
        <p:spPr>
          <a:xfrm>
            <a:off x="1524000" y="1098550"/>
            <a:ext cx="8402638" cy="4114800"/>
          </a:xfrm>
        </p:spPr>
        <p:txBody>
          <a:bodyPr/>
          <a:lstStyle/>
          <a:p>
            <a:pPr eaLnBrk="1" hangingPunct="1"/>
            <a:r>
              <a:rPr lang="en-GB" altLang="en-US" sz="1600"/>
              <a:t>Native or screen SiO</a:t>
            </a:r>
            <a:r>
              <a:rPr lang="en-GB" altLang="en-US" sz="1600" baseline="-25000"/>
              <a:t>2</a:t>
            </a:r>
            <a:r>
              <a:rPr lang="en-GB" altLang="en-US" sz="1600"/>
              <a:t> is removed from the wafer (HF wet etch and/or sputter etch)</a:t>
            </a:r>
          </a:p>
          <a:p>
            <a:pPr eaLnBrk="1" hangingPunct="1"/>
            <a:r>
              <a:rPr lang="en-GB" altLang="en-US" sz="1600"/>
              <a:t>Ti sputtering deposition (50/100nm)</a:t>
            </a:r>
          </a:p>
          <a:p>
            <a:pPr eaLnBrk="1" hangingPunct="1"/>
            <a:r>
              <a:rPr lang="en-GB" altLang="en-US" sz="1600"/>
              <a:t>600/700 </a:t>
            </a:r>
            <a:r>
              <a:rPr lang="en-US" altLang="en-US" sz="1600">
                <a:cs typeface="Arial" panose="020B0604020202020204" pitchFamily="34" charset="0"/>
              </a:rPr>
              <a:t>°C, 15/60 s N</a:t>
            </a:r>
            <a:r>
              <a:rPr lang="en-US" altLang="en-US" sz="1600" baseline="-25000">
                <a:cs typeface="Arial" panose="020B0604020202020204" pitchFamily="34" charset="0"/>
              </a:rPr>
              <a:t>2</a:t>
            </a:r>
            <a:r>
              <a:rPr lang="en-US" altLang="en-US" sz="1600">
                <a:cs typeface="Arial" panose="020B0604020202020204" pitchFamily="34" charset="0"/>
              </a:rPr>
              <a:t> anneal</a:t>
            </a:r>
            <a:r>
              <a:rPr lang="en-GB" altLang="en-US" sz="1600"/>
              <a:t> </a:t>
            </a:r>
          </a:p>
          <a:p>
            <a:pPr lvl="1" eaLnBrk="1" hangingPunct="1"/>
            <a:r>
              <a:rPr lang="en-GB" altLang="en-US" sz="1400"/>
              <a:t>Ti reacts with Si at the bottom, to form TiSi</a:t>
            </a:r>
            <a:r>
              <a:rPr lang="en-GB" altLang="en-US" sz="1400" baseline="-25000"/>
              <a:t>2 </a:t>
            </a:r>
            <a:r>
              <a:rPr lang="en-GB" altLang="en-US" sz="1400"/>
              <a:t>(no reaction on silicon oxide)</a:t>
            </a:r>
            <a:endParaRPr lang="en-GB" altLang="en-US" sz="1400" baseline="-25000"/>
          </a:p>
          <a:p>
            <a:pPr lvl="1" eaLnBrk="1" hangingPunct="1"/>
            <a:r>
              <a:rPr lang="en-GB" altLang="en-US" sz="1400"/>
              <a:t>Ti reacts with Nat the top, to form TiN</a:t>
            </a:r>
          </a:p>
          <a:p>
            <a:pPr lvl="1" eaLnBrk="1" hangingPunct="1"/>
            <a:r>
              <a:rPr lang="en-GB" altLang="en-US" sz="1400"/>
              <a:t>Low temperature prevents excess lateral growth ( but TiSi</a:t>
            </a:r>
            <a:r>
              <a:rPr lang="en-GB" altLang="en-US" sz="1400" baseline="-25000"/>
              <a:t>2</a:t>
            </a:r>
            <a:r>
              <a:rPr lang="en-GB" altLang="en-US" sz="1400"/>
              <a:t> is in C49 phase)</a:t>
            </a:r>
          </a:p>
          <a:p>
            <a:pPr eaLnBrk="1" hangingPunct="1"/>
            <a:r>
              <a:rPr lang="en-GB" altLang="en-US" sz="1600"/>
              <a:t>TiN and unreacted Ti are stripped off ( NH</a:t>
            </a:r>
            <a:r>
              <a:rPr lang="en-GB" altLang="en-US" sz="1600" baseline="-25000"/>
              <a:t>4</a:t>
            </a:r>
            <a:r>
              <a:rPr lang="en-GB" altLang="en-US" sz="1600"/>
              <a:t>OH:H</a:t>
            </a:r>
            <a:r>
              <a:rPr lang="en-GB" altLang="en-US" sz="1600" baseline="-25000"/>
              <a:t>2</a:t>
            </a:r>
            <a:r>
              <a:rPr lang="en-GB" altLang="en-US" sz="1600"/>
              <a:t>O</a:t>
            </a:r>
            <a:r>
              <a:rPr lang="en-GB" altLang="en-US" sz="1600" baseline="-25000"/>
              <a:t>2</a:t>
            </a:r>
            <a:r>
              <a:rPr lang="en-GB" altLang="en-US" sz="1600"/>
              <a:t>:H</a:t>
            </a:r>
            <a:r>
              <a:rPr lang="en-GB" altLang="en-US" sz="1600" baseline="-25000"/>
              <a:t>2</a:t>
            </a:r>
            <a:r>
              <a:rPr lang="en-GB" altLang="en-US" sz="1600"/>
              <a:t>O wet etch)</a:t>
            </a:r>
          </a:p>
          <a:p>
            <a:pPr eaLnBrk="1" hangingPunct="1"/>
            <a:r>
              <a:rPr lang="en-GB" altLang="en-US" sz="1600"/>
              <a:t>An 800 </a:t>
            </a:r>
            <a:r>
              <a:rPr lang="en-US" altLang="en-US" sz="1600">
                <a:cs typeface="Arial" panose="020B0604020202020204" pitchFamily="34" charset="0"/>
              </a:rPr>
              <a:t>°C converts the TiSi</a:t>
            </a:r>
            <a:r>
              <a:rPr lang="en-US" altLang="en-US" sz="1600" baseline="-25000">
                <a:cs typeface="Arial" panose="020B0604020202020204" pitchFamily="34" charset="0"/>
              </a:rPr>
              <a:t>2</a:t>
            </a:r>
            <a:r>
              <a:rPr lang="en-US" altLang="en-US" sz="1600">
                <a:cs typeface="Arial" panose="020B0604020202020204" pitchFamily="34" charset="0"/>
              </a:rPr>
              <a:t> from into C54 low resistivity phase (temperature and time must be kept as low as possible to avoid agglomeration and dopant diffusion into metal layer)</a:t>
            </a:r>
            <a:endParaRPr lang="en-GB" altLang="en-US" sz="1600"/>
          </a:p>
          <a:p>
            <a:pPr lvl="1" eaLnBrk="1" hangingPunct="1"/>
            <a:endParaRPr lang="en-US" altLang="en-US"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ABF675CA-077A-C983-052C-865EE68BF69A}"/>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E2C43927-9C6E-4335-A70D-A8E1A4AC44FE}" type="slidenum">
              <a:rPr lang="en-US" altLang="en-US" sz="800"/>
              <a:pPr>
                <a:lnSpc>
                  <a:spcPct val="100000"/>
                </a:lnSpc>
                <a:spcBef>
                  <a:spcPct val="0"/>
                </a:spcBef>
                <a:buClr>
                  <a:srgbClr val="F68933"/>
                </a:buClr>
                <a:buFontTx/>
                <a:buNone/>
              </a:pPr>
              <a:t>8</a:t>
            </a:fld>
            <a:endParaRPr lang="en-US" altLang="en-US" sz="800"/>
          </a:p>
        </p:txBody>
      </p:sp>
      <p:sp>
        <p:nvSpPr>
          <p:cNvPr id="17411" name="Rectangle 2">
            <a:extLst>
              <a:ext uri="{FF2B5EF4-FFF2-40B4-BE49-F238E27FC236}">
                <a16:creationId xmlns:a16="http://schemas.microsoft.com/office/drawing/2014/main" id="{474EADC5-7F08-7ED7-1F5C-A049E84F4833}"/>
              </a:ext>
            </a:extLst>
          </p:cNvPr>
          <p:cNvSpPr>
            <a:spLocks noGrp="1" noChangeArrowheads="1"/>
          </p:cNvSpPr>
          <p:nvPr>
            <p:ph type="title"/>
          </p:nvPr>
        </p:nvSpPr>
        <p:spPr/>
        <p:txBody>
          <a:bodyPr/>
          <a:lstStyle/>
          <a:p>
            <a:pPr eaLnBrk="1" hangingPunct="1"/>
            <a:r>
              <a:rPr lang="en-GB" altLang="en-US"/>
              <a:t>Silicides materials</a:t>
            </a:r>
            <a:endParaRPr lang="en-US" altLang="en-US"/>
          </a:p>
        </p:txBody>
      </p:sp>
      <p:graphicFrame>
        <p:nvGraphicFramePr>
          <p:cNvPr id="486542" name="Group 142">
            <a:extLst>
              <a:ext uri="{FF2B5EF4-FFF2-40B4-BE49-F238E27FC236}">
                <a16:creationId xmlns:a16="http://schemas.microsoft.com/office/drawing/2014/main" id="{119C2C41-C771-79E9-779D-0B85960F7CF5}"/>
              </a:ext>
            </a:extLst>
          </p:cNvPr>
          <p:cNvGraphicFramePr>
            <a:graphicFrameLocks noGrp="1"/>
          </p:cNvGraphicFramePr>
          <p:nvPr/>
        </p:nvGraphicFramePr>
        <p:xfrm>
          <a:off x="1681163" y="1539875"/>
          <a:ext cx="8858250" cy="4274886"/>
        </p:xfrm>
        <a:graphic>
          <a:graphicData uri="http://schemas.openxmlformats.org/drawingml/2006/table">
            <a:tbl>
              <a:tblPr/>
              <a:tblGrid>
                <a:gridCol w="1265237">
                  <a:extLst>
                    <a:ext uri="{9D8B030D-6E8A-4147-A177-3AD203B41FA5}">
                      <a16:colId xmlns:a16="http://schemas.microsoft.com/office/drawing/2014/main" val="3009982441"/>
                    </a:ext>
                  </a:extLst>
                </a:gridCol>
                <a:gridCol w="1265238">
                  <a:extLst>
                    <a:ext uri="{9D8B030D-6E8A-4147-A177-3AD203B41FA5}">
                      <a16:colId xmlns:a16="http://schemas.microsoft.com/office/drawing/2014/main" val="1378941762"/>
                    </a:ext>
                  </a:extLst>
                </a:gridCol>
                <a:gridCol w="1265237">
                  <a:extLst>
                    <a:ext uri="{9D8B030D-6E8A-4147-A177-3AD203B41FA5}">
                      <a16:colId xmlns:a16="http://schemas.microsoft.com/office/drawing/2014/main" val="3641321706"/>
                    </a:ext>
                  </a:extLst>
                </a:gridCol>
                <a:gridCol w="1266825">
                  <a:extLst>
                    <a:ext uri="{9D8B030D-6E8A-4147-A177-3AD203B41FA5}">
                      <a16:colId xmlns:a16="http://schemas.microsoft.com/office/drawing/2014/main" val="2540689071"/>
                    </a:ext>
                  </a:extLst>
                </a:gridCol>
                <a:gridCol w="1265238">
                  <a:extLst>
                    <a:ext uri="{9D8B030D-6E8A-4147-A177-3AD203B41FA5}">
                      <a16:colId xmlns:a16="http://schemas.microsoft.com/office/drawing/2014/main" val="2978219897"/>
                    </a:ext>
                  </a:extLst>
                </a:gridCol>
                <a:gridCol w="1265237">
                  <a:extLst>
                    <a:ext uri="{9D8B030D-6E8A-4147-A177-3AD203B41FA5}">
                      <a16:colId xmlns:a16="http://schemas.microsoft.com/office/drawing/2014/main" val="1234127375"/>
                    </a:ext>
                  </a:extLst>
                </a:gridCol>
                <a:gridCol w="1265238">
                  <a:extLst>
                    <a:ext uri="{9D8B030D-6E8A-4147-A177-3AD203B41FA5}">
                      <a16:colId xmlns:a16="http://schemas.microsoft.com/office/drawing/2014/main" val="3115805312"/>
                    </a:ext>
                  </a:extLst>
                </a:gridCol>
              </a:tblGrid>
              <a:tr h="873125">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Silicide</a:t>
                      </a:r>
                      <a:endParaRPr kumimoji="0" lang="en-US"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Resisitivity (</a:t>
                      </a:r>
                      <a:r>
                        <a:rPr kumimoji="0" lang="en-GB" altLang="en-US" sz="1400" b="1" i="0" u="none" strike="noStrike" cap="none" normalizeH="0" baseline="0">
                          <a:ln>
                            <a:noFill/>
                          </a:ln>
                          <a:solidFill>
                            <a:schemeClr val="accent1"/>
                          </a:solidFill>
                          <a:effectLst/>
                          <a:latin typeface="Symbol" panose="05050102010706020507" pitchFamily="18" charset="2"/>
                          <a:ea typeface="MS PGothic" panose="020B0600070205080204" pitchFamily="34" charset="-128"/>
                        </a:rPr>
                        <a:t>mW</a:t>
                      </a:r>
                      <a:r>
                        <a:rPr kumimoji="0" lang="en-GB"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cm)</a:t>
                      </a:r>
                      <a:endParaRPr kumimoji="0" lang="en-US"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Sintering temperature (</a:t>
                      </a:r>
                      <a:r>
                        <a:rPr kumimoji="0" lang="en-US"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cs typeface="Arial" panose="020B0604020202020204" pitchFamily="34"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Stable on Si up to (</a:t>
                      </a:r>
                      <a:r>
                        <a:rPr kumimoji="0" lang="en-US"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cs typeface="Arial" panose="020B0604020202020204" pitchFamily="34"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nm of Si consumed per nm of metal</a:t>
                      </a:r>
                      <a:endParaRPr kumimoji="0" lang="en-US"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Nm of silicide per nm of metal</a:t>
                      </a:r>
                      <a:endParaRPr kumimoji="0" lang="en-US"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Barrier height to n-Si (eV)</a:t>
                      </a:r>
                      <a:endParaRPr kumimoji="0" lang="en-US"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11094015"/>
                  </a:ext>
                </a:extLst>
              </a:tr>
              <a:tr h="339725">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PtSi</a:t>
                      </a:r>
                      <a:endParaRPr kumimoji="0" lang="en-US"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28-35</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250-400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750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1.12</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1.97</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0.84</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0138988"/>
                  </a:ext>
                </a:extLst>
              </a:tr>
              <a:tr h="338138">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TiSi</a:t>
                      </a:r>
                      <a:r>
                        <a:rPr kumimoji="0" lang="en-GB" altLang="en-US" sz="16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2</a:t>
                      </a:r>
                      <a:r>
                        <a:rPr kumimoji="0" lang="en-GB"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(C54)</a:t>
                      </a:r>
                      <a:endParaRPr kumimoji="0" lang="en-US"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13-16</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700-900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900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2.27</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2.51</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0.58</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54324109"/>
                  </a:ext>
                </a:extLst>
              </a:tr>
              <a:tr h="338138">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TiSi</a:t>
                      </a:r>
                      <a:r>
                        <a:rPr kumimoji="0" lang="en-GB" altLang="en-US" sz="16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2</a:t>
                      </a:r>
                      <a:r>
                        <a:rPr kumimoji="0" lang="en-GB"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(C49)</a:t>
                      </a:r>
                      <a:endParaRPr kumimoji="0" lang="en-US"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60-70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500-700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2.27</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2.51</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87531928"/>
                  </a:ext>
                </a:extLst>
              </a:tr>
              <a:tr h="339725">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WSi</a:t>
                      </a:r>
                      <a:r>
                        <a:rPr kumimoji="0" lang="en-GB" altLang="en-US" sz="16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2</a:t>
                      </a:r>
                      <a:endParaRPr kumimoji="0" lang="en-US"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30-70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1000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1000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2.53</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2.58</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0.67</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57331220"/>
                  </a:ext>
                </a:extLst>
              </a:tr>
              <a:tr h="338138">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CoSi</a:t>
                      </a:r>
                      <a:endParaRPr kumimoji="0" lang="en-US"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100-150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400-600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1.82</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2.02</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29134272"/>
                  </a:ext>
                </a:extLst>
              </a:tr>
              <a:tr h="338138">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CoSi</a:t>
                      </a:r>
                      <a:r>
                        <a:rPr kumimoji="0" lang="en-GB" altLang="en-US" sz="16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2</a:t>
                      </a:r>
                      <a:endParaRPr kumimoji="0" lang="en-US"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14-20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600-800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950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3.64</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3.52</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0.65</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81951076"/>
                  </a:ext>
                </a:extLst>
              </a:tr>
              <a:tr h="339725">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NiSi</a:t>
                      </a:r>
                      <a:endParaRPr kumimoji="0" lang="en-US"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14-20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400-600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650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1.83</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2.34</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82683832"/>
                  </a:ext>
                </a:extLst>
              </a:tr>
              <a:tr h="338138">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NiSi</a:t>
                      </a:r>
                      <a:r>
                        <a:rPr kumimoji="0" lang="en-GB" altLang="en-US" sz="16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2</a:t>
                      </a:r>
                      <a:endParaRPr kumimoji="0" lang="en-US"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40-50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600-800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3.65</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3.63</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0.66</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05401859"/>
                  </a:ext>
                </a:extLst>
              </a:tr>
              <a:tr h="304800">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MoSi</a:t>
                      </a:r>
                      <a:r>
                        <a:rPr kumimoji="0" lang="en-GB" altLang="en-US" sz="16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2</a:t>
                      </a:r>
                      <a:endParaRPr kumimoji="0" lang="en-US"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40-100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800-1000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1000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2.56</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2.59</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0.64</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08006423"/>
                  </a:ext>
                </a:extLst>
              </a:tr>
              <a:tr h="339725">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rPr>
                        <a:t>TaSi</a:t>
                      </a:r>
                      <a:r>
                        <a:rPr kumimoji="0" lang="en-GB" altLang="en-US" sz="1600" b="1" i="0" u="none" strike="noStrike" cap="none" normalizeH="0" baseline="-25000">
                          <a:ln>
                            <a:noFill/>
                          </a:ln>
                          <a:solidFill>
                            <a:srgbClr val="000000"/>
                          </a:solidFill>
                          <a:effectLst/>
                          <a:latin typeface="Arial" panose="020B0604020202020204" pitchFamily="34" charset="0"/>
                          <a:ea typeface="MS PGothic" panose="020B0600070205080204" pitchFamily="34" charset="-128"/>
                        </a:rPr>
                        <a:t>2</a:t>
                      </a:r>
                      <a:endParaRPr kumimoji="0" lang="en-US" altLang="en-US" sz="1600" b="1"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35-55</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800-1000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1000</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2.21</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2.41</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0.59</a:t>
                      </a:r>
                      <a:endParaRPr kumimoji="0" lang="en-US" altLang="en-US" sz="16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39077729"/>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a:extLst>
              <a:ext uri="{FF2B5EF4-FFF2-40B4-BE49-F238E27FC236}">
                <a16:creationId xmlns:a16="http://schemas.microsoft.com/office/drawing/2014/main" id="{45B076F6-7817-3C9A-ABE8-086756300711}"/>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538BEE35-8DC9-4B1E-A023-04B1F73E1416}" type="slidenum">
              <a:rPr lang="en-US" altLang="en-US" sz="800"/>
              <a:pPr>
                <a:lnSpc>
                  <a:spcPct val="100000"/>
                </a:lnSpc>
                <a:spcBef>
                  <a:spcPct val="0"/>
                </a:spcBef>
                <a:buClr>
                  <a:srgbClr val="F68933"/>
                </a:buClr>
                <a:buFontTx/>
                <a:buNone/>
              </a:pPr>
              <a:t>9</a:t>
            </a:fld>
            <a:endParaRPr lang="en-US" altLang="en-US" sz="800"/>
          </a:p>
        </p:txBody>
      </p:sp>
      <p:sp>
        <p:nvSpPr>
          <p:cNvPr id="18435" name="Rectangle 2">
            <a:extLst>
              <a:ext uri="{FF2B5EF4-FFF2-40B4-BE49-F238E27FC236}">
                <a16:creationId xmlns:a16="http://schemas.microsoft.com/office/drawing/2014/main" id="{8025504C-BD17-FC05-7F41-F4F95D3ED499}"/>
              </a:ext>
            </a:extLst>
          </p:cNvPr>
          <p:cNvSpPr>
            <a:spLocks noGrp="1" noChangeArrowheads="1"/>
          </p:cNvSpPr>
          <p:nvPr>
            <p:ph type="title"/>
          </p:nvPr>
        </p:nvSpPr>
        <p:spPr/>
        <p:txBody>
          <a:bodyPr/>
          <a:lstStyle/>
          <a:p>
            <a:pPr eaLnBrk="1" hangingPunct="1"/>
            <a:r>
              <a:rPr lang="en-GB" altLang="en-US"/>
              <a:t>ITRS predictions for silicides</a:t>
            </a:r>
            <a:endParaRPr lang="en-US" altLang="en-US"/>
          </a:p>
        </p:txBody>
      </p:sp>
      <p:sp>
        <p:nvSpPr>
          <p:cNvPr id="18436" name="Rectangle 3">
            <a:extLst>
              <a:ext uri="{FF2B5EF4-FFF2-40B4-BE49-F238E27FC236}">
                <a16:creationId xmlns:a16="http://schemas.microsoft.com/office/drawing/2014/main" id="{678D36EF-58A3-214E-4581-6C7B25A4CD18}"/>
              </a:ext>
            </a:extLst>
          </p:cNvPr>
          <p:cNvSpPr>
            <a:spLocks noGrp="1" noChangeArrowheads="1"/>
          </p:cNvSpPr>
          <p:nvPr>
            <p:ph type="body" idx="1"/>
          </p:nvPr>
        </p:nvSpPr>
        <p:spPr>
          <a:xfrm>
            <a:off x="1524000" y="1371600"/>
            <a:ext cx="8402638" cy="4114800"/>
          </a:xfrm>
        </p:spPr>
        <p:txBody>
          <a:bodyPr/>
          <a:lstStyle/>
          <a:p>
            <a:pPr eaLnBrk="1" hangingPunct="1">
              <a:spcBef>
                <a:spcPct val="50000"/>
              </a:spcBef>
            </a:pPr>
            <a:r>
              <a:rPr lang="en-GB" altLang="en-US"/>
              <a:t>Narrow lines salicidation and compatibility with shallow junctions are the main issues in salicidation processes</a:t>
            </a:r>
            <a:endParaRPr lang="en-US" altLang="en-US"/>
          </a:p>
          <a:p>
            <a:pPr eaLnBrk="1" hangingPunct="1"/>
            <a:endParaRPr lang="en-US" altLang="en-US"/>
          </a:p>
        </p:txBody>
      </p:sp>
      <p:pic>
        <p:nvPicPr>
          <p:cNvPr id="18437" name="Picture 6">
            <a:extLst>
              <a:ext uri="{FF2B5EF4-FFF2-40B4-BE49-F238E27FC236}">
                <a16:creationId xmlns:a16="http://schemas.microsoft.com/office/drawing/2014/main" id="{CB51A34D-66B5-FAE4-23CF-834259215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239" y="2565401"/>
            <a:ext cx="8899525"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8" name="Picture 5">
            <a:extLst>
              <a:ext uri="{FF2B5EF4-FFF2-40B4-BE49-F238E27FC236}">
                <a16:creationId xmlns:a16="http://schemas.microsoft.com/office/drawing/2014/main" id="{185ED00E-7712-C13A-6D90-0D3E9EAE39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6144"/>
          <a:stretch>
            <a:fillRect/>
          </a:stretch>
        </p:blipFill>
        <p:spPr bwMode="auto">
          <a:xfrm>
            <a:off x="1708151" y="3365501"/>
            <a:ext cx="8943975"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9" name="Text Box 9">
            <a:extLst>
              <a:ext uri="{FF2B5EF4-FFF2-40B4-BE49-F238E27FC236}">
                <a16:creationId xmlns:a16="http://schemas.microsoft.com/office/drawing/2014/main" id="{6EFE81C5-BF56-EF15-D738-EFFAA9D526C8}"/>
              </a:ext>
            </a:extLst>
          </p:cNvPr>
          <p:cNvSpPr txBox="1">
            <a:spLocks noChangeArrowheads="1"/>
          </p:cNvSpPr>
          <p:nvPr/>
        </p:nvSpPr>
        <p:spPr bwMode="auto">
          <a:xfrm>
            <a:off x="1935164" y="4419600"/>
            <a:ext cx="778827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b="1"/>
              <a:t>Ni(+Pt) silicides are the current mainstream for advanced ICs</a:t>
            </a:r>
            <a:endParaRPr lang="en-US" altLang="en-US"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a:extLst>
              <a:ext uri="{FF2B5EF4-FFF2-40B4-BE49-F238E27FC236}">
                <a16:creationId xmlns:a16="http://schemas.microsoft.com/office/drawing/2014/main" id="{31463530-8F78-1AA2-E03D-E2472FFA5510}"/>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229C3372-6F3A-4D5C-B0FE-663E9ED8B93C}" type="slidenum">
              <a:rPr lang="en-US" altLang="en-US" sz="800"/>
              <a:pPr>
                <a:lnSpc>
                  <a:spcPct val="100000"/>
                </a:lnSpc>
                <a:spcBef>
                  <a:spcPct val="0"/>
                </a:spcBef>
                <a:buClr>
                  <a:srgbClr val="F68933"/>
                </a:buClr>
                <a:buFontTx/>
                <a:buNone/>
              </a:pPr>
              <a:t>10</a:t>
            </a:fld>
            <a:endParaRPr lang="en-US" altLang="en-US" sz="800"/>
          </a:p>
        </p:txBody>
      </p:sp>
      <p:sp>
        <p:nvSpPr>
          <p:cNvPr id="19459" name="Rectangle 2">
            <a:extLst>
              <a:ext uri="{FF2B5EF4-FFF2-40B4-BE49-F238E27FC236}">
                <a16:creationId xmlns:a16="http://schemas.microsoft.com/office/drawing/2014/main" id="{D987CF01-FF46-1805-06D2-7779A35BD5B6}"/>
              </a:ext>
            </a:extLst>
          </p:cNvPr>
          <p:cNvSpPr>
            <a:spLocks noGrp="1" noChangeArrowheads="1"/>
          </p:cNvSpPr>
          <p:nvPr>
            <p:ph type="title"/>
          </p:nvPr>
        </p:nvSpPr>
        <p:spPr/>
        <p:txBody>
          <a:bodyPr/>
          <a:lstStyle/>
          <a:p>
            <a:pPr eaLnBrk="1" hangingPunct="1"/>
            <a:r>
              <a:rPr lang="en-GB" altLang="en-US"/>
              <a:t>Contacts</a:t>
            </a:r>
            <a:endParaRPr lang="en-US" altLang="en-US"/>
          </a:p>
        </p:txBody>
      </p:sp>
      <p:sp>
        <p:nvSpPr>
          <p:cNvPr id="19460" name="Rectangle 3">
            <a:extLst>
              <a:ext uri="{FF2B5EF4-FFF2-40B4-BE49-F238E27FC236}">
                <a16:creationId xmlns:a16="http://schemas.microsoft.com/office/drawing/2014/main" id="{BA4B249C-13B3-6458-675D-57D879DD843C}"/>
              </a:ext>
            </a:extLst>
          </p:cNvPr>
          <p:cNvSpPr>
            <a:spLocks noGrp="1" noChangeArrowheads="1"/>
          </p:cNvSpPr>
          <p:nvPr>
            <p:ph type="body" idx="1"/>
          </p:nvPr>
        </p:nvSpPr>
        <p:spPr/>
        <p:txBody>
          <a:bodyPr/>
          <a:lstStyle/>
          <a:p>
            <a:pPr eaLnBrk="1" hangingPunct="1"/>
            <a:r>
              <a:rPr lang="en-GB" altLang="en-US" sz="2000"/>
              <a:t>Contacts provide low resistance connections between active devices and the first metal layer.</a:t>
            </a:r>
          </a:p>
          <a:p>
            <a:pPr eaLnBrk="1" hangingPunct="1"/>
            <a:r>
              <a:rPr lang="en-GB" altLang="en-US" sz="2000"/>
              <a:t>Metal/semiconductor contacts behaviour can vary from </a:t>
            </a:r>
            <a:r>
              <a:rPr lang="en-GB" altLang="en-US" sz="2000">
                <a:solidFill>
                  <a:schemeClr val="tx2"/>
                </a:solidFill>
              </a:rPr>
              <a:t>rectifying </a:t>
            </a:r>
            <a:r>
              <a:rPr lang="en-GB" altLang="en-US" sz="2000"/>
              <a:t>to</a:t>
            </a:r>
            <a:r>
              <a:rPr lang="en-GB" altLang="en-US" sz="2000">
                <a:solidFill>
                  <a:schemeClr val="tx2"/>
                </a:solidFill>
              </a:rPr>
              <a:t> Ohmic</a:t>
            </a:r>
          </a:p>
          <a:p>
            <a:pPr eaLnBrk="1" hangingPunct="1"/>
            <a:r>
              <a:rPr lang="en-GB" altLang="en-US" sz="2000">
                <a:latin typeface="Symbol" panose="05050102010706020507" pitchFamily="18" charset="2"/>
              </a:rPr>
              <a:t>F</a:t>
            </a:r>
            <a:r>
              <a:rPr lang="en-GB" altLang="en-US" sz="2000" baseline="-25000"/>
              <a:t>b </a:t>
            </a:r>
            <a:r>
              <a:rPr lang="en-GB" altLang="en-US" sz="2000"/>
              <a:t>is n principle strongly dependent on metal work function ( but interface states tend to pin the Fermi level deep in the band gap)</a:t>
            </a:r>
          </a:p>
          <a:p>
            <a:pPr eaLnBrk="1" hangingPunct="1"/>
            <a:r>
              <a:rPr lang="en-GB" altLang="en-US" sz="2000"/>
              <a:t>High </a:t>
            </a:r>
            <a:r>
              <a:rPr lang="en-GB" altLang="en-US" sz="2000">
                <a:latin typeface="Symbol" panose="05050102010706020507" pitchFamily="18" charset="2"/>
              </a:rPr>
              <a:t>F</a:t>
            </a:r>
            <a:r>
              <a:rPr lang="en-GB" altLang="en-US" sz="2000" baseline="-25000"/>
              <a:t>b </a:t>
            </a:r>
            <a:r>
              <a:rPr lang="en-GB" altLang="en-US" sz="2000"/>
              <a:t>contacts to n-silicon, relatively low </a:t>
            </a:r>
            <a:r>
              <a:rPr lang="en-GB" altLang="en-US" sz="2000">
                <a:latin typeface="Symbol" panose="05050102010706020507" pitchFamily="18" charset="2"/>
              </a:rPr>
              <a:t>F</a:t>
            </a:r>
            <a:r>
              <a:rPr lang="en-GB" altLang="en-US" sz="2000" baseline="-25000"/>
              <a:t>b</a:t>
            </a:r>
            <a:r>
              <a:rPr lang="en-GB" altLang="en-US" sz="2000"/>
              <a:t> to p-silicon.</a:t>
            </a:r>
            <a:endParaRPr lang="en-GB" altLang="en-US" sz="2000">
              <a:latin typeface="Symbol" panose="05050102010706020507" pitchFamily="18" charset="2"/>
            </a:endParaRPr>
          </a:p>
          <a:p>
            <a:pPr eaLnBrk="1" hangingPunct="1">
              <a:buFont typeface="Times" panose="02020603050405020304" pitchFamily="18" charset="0"/>
              <a:buNone/>
            </a:pPr>
            <a:endParaRPr lang="en-US" altLang="en-US" sz="2000"/>
          </a:p>
        </p:txBody>
      </p:sp>
      <p:grpSp>
        <p:nvGrpSpPr>
          <p:cNvPr id="19461" name="Group 56">
            <a:extLst>
              <a:ext uri="{FF2B5EF4-FFF2-40B4-BE49-F238E27FC236}">
                <a16:creationId xmlns:a16="http://schemas.microsoft.com/office/drawing/2014/main" id="{D338C626-8A6B-EFBC-7323-C629A3B577C0}"/>
              </a:ext>
            </a:extLst>
          </p:cNvPr>
          <p:cNvGrpSpPr>
            <a:grpSpLocks/>
          </p:cNvGrpSpPr>
          <p:nvPr/>
        </p:nvGrpSpPr>
        <p:grpSpPr bwMode="auto">
          <a:xfrm>
            <a:off x="6096000" y="3962401"/>
            <a:ext cx="4300538" cy="2530475"/>
            <a:chOff x="374" y="2160"/>
            <a:chExt cx="2709" cy="1594"/>
          </a:xfrm>
        </p:grpSpPr>
        <p:sp>
          <p:nvSpPr>
            <p:cNvPr id="19465" name="Line 4">
              <a:extLst>
                <a:ext uri="{FF2B5EF4-FFF2-40B4-BE49-F238E27FC236}">
                  <a16:creationId xmlns:a16="http://schemas.microsoft.com/office/drawing/2014/main" id="{177D50DB-44AB-6488-B4A4-72482CFDEF8E}"/>
                </a:ext>
              </a:extLst>
            </p:cNvPr>
            <p:cNvSpPr>
              <a:spLocks noChangeShapeType="1"/>
            </p:cNvSpPr>
            <p:nvPr/>
          </p:nvSpPr>
          <p:spPr bwMode="auto">
            <a:xfrm>
              <a:off x="529" y="3125"/>
              <a:ext cx="2219" cy="0"/>
            </a:xfrm>
            <a:prstGeom prst="line">
              <a:avLst/>
            </a:prstGeom>
            <a:noFill/>
            <a:ln w="12700">
              <a:solidFill>
                <a:srgbClr val="646464"/>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19466" name="Line 5">
              <a:extLst>
                <a:ext uri="{FF2B5EF4-FFF2-40B4-BE49-F238E27FC236}">
                  <a16:creationId xmlns:a16="http://schemas.microsoft.com/office/drawing/2014/main" id="{9D12BD2A-4D2C-BBCE-E6DA-919701976136}"/>
                </a:ext>
              </a:extLst>
            </p:cNvPr>
            <p:cNvSpPr>
              <a:spLocks noChangeShapeType="1"/>
            </p:cNvSpPr>
            <p:nvPr/>
          </p:nvSpPr>
          <p:spPr bwMode="auto">
            <a:xfrm>
              <a:off x="1437" y="3007"/>
              <a:ext cx="1341" cy="0"/>
            </a:xfrm>
            <a:prstGeom prst="line">
              <a:avLst/>
            </a:prstGeom>
            <a:noFill/>
            <a:ln w="12700">
              <a:solidFill>
                <a:srgbClr val="646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19467" name="Freeform 18">
              <a:extLst>
                <a:ext uri="{FF2B5EF4-FFF2-40B4-BE49-F238E27FC236}">
                  <a16:creationId xmlns:a16="http://schemas.microsoft.com/office/drawing/2014/main" id="{4DB2D3B2-A87B-BE9C-756C-134EB068500D}"/>
                </a:ext>
              </a:extLst>
            </p:cNvPr>
            <p:cNvSpPr>
              <a:spLocks/>
            </p:cNvSpPr>
            <p:nvPr/>
          </p:nvSpPr>
          <p:spPr bwMode="auto">
            <a:xfrm>
              <a:off x="979" y="2678"/>
              <a:ext cx="471" cy="328"/>
            </a:xfrm>
            <a:custGeom>
              <a:avLst/>
              <a:gdLst>
                <a:gd name="T0" fmla="*/ 471 w 471"/>
                <a:gd name="T1" fmla="*/ 326 h 328"/>
                <a:gd name="T2" fmla="*/ 299 w 471"/>
                <a:gd name="T3" fmla="*/ 274 h 328"/>
                <a:gd name="T4" fmla="*/ 0 w 471"/>
                <a:gd name="T5" fmla="*/ 0 h 328"/>
                <a:gd name="T6" fmla="*/ 0 60000 65536"/>
                <a:gd name="T7" fmla="*/ 0 60000 65536"/>
                <a:gd name="T8" fmla="*/ 0 60000 65536"/>
              </a:gdLst>
              <a:ahLst/>
              <a:cxnLst>
                <a:cxn ang="T6">
                  <a:pos x="T0" y="T1"/>
                </a:cxn>
                <a:cxn ang="T7">
                  <a:pos x="T2" y="T3"/>
                </a:cxn>
                <a:cxn ang="T8">
                  <a:pos x="T4" y="T5"/>
                </a:cxn>
              </a:cxnLst>
              <a:rect l="0" t="0" r="r" b="b"/>
              <a:pathLst>
                <a:path w="471" h="328">
                  <a:moveTo>
                    <a:pt x="471" y="326"/>
                  </a:moveTo>
                  <a:cubicBezTo>
                    <a:pt x="442" y="317"/>
                    <a:pt x="377" y="328"/>
                    <a:pt x="299" y="274"/>
                  </a:cubicBezTo>
                  <a:cubicBezTo>
                    <a:pt x="221" y="220"/>
                    <a:pt x="62" y="57"/>
                    <a:pt x="0" y="0"/>
                  </a:cubicBezTo>
                </a:path>
              </a:pathLst>
            </a:custGeom>
            <a:noFill/>
            <a:ln w="12700" cap="flat" cmpd="sng">
              <a:solidFill>
                <a:srgbClr val="646464"/>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19468" name="Line 19">
              <a:extLst>
                <a:ext uri="{FF2B5EF4-FFF2-40B4-BE49-F238E27FC236}">
                  <a16:creationId xmlns:a16="http://schemas.microsoft.com/office/drawing/2014/main" id="{20471B2A-5D25-5D5A-859F-C38DACBFCBE8}"/>
                </a:ext>
              </a:extLst>
            </p:cNvPr>
            <p:cNvSpPr>
              <a:spLocks noChangeShapeType="1"/>
            </p:cNvSpPr>
            <p:nvPr/>
          </p:nvSpPr>
          <p:spPr bwMode="auto">
            <a:xfrm>
              <a:off x="1423" y="3563"/>
              <a:ext cx="1341" cy="0"/>
            </a:xfrm>
            <a:prstGeom prst="line">
              <a:avLst/>
            </a:prstGeom>
            <a:noFill/>
            <a:ln w="12700">
              <a:solidFill>
                <a:srgbClr val="646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19469" name="Freeform 20">
              <a:extLst>
                <a:ext uri="{FF2B5EF4-FFF2-40B4-BE49-F238E27FC236}">
                  <a16:creationId xmlns:a16="http://schemas.microsoft.com/office/drawing/2014/main" id="{7566DDFE-0397-46A8-FAFA-633E63E6FAA0}"/>
                </a:ext>
              </a:extLst>
            </p:cNvPr>
            <p:cNvSpPr>
              <a:spLocks/>
            </p:cNvSpPr>
            <p:nvPr/>
          </p:nvSpPr>
          <p:spPr bwMode="auto">
            <a:xfrm>
              <a:off x="965" y="3234"/>
              <a:ext cx="471" cy="328"/>
            </a:xfrm>
            <a:custGeom>
              <a:avLst/>
              <a:gdLst>
                <a:gd name="T0" fmla="*/ 471 w 471"/>
                <a:gd name="T1" fmla="*/ 326 h 328"/>
                <a:gd name="T2" fmla="*/ 299 w 471"/>
                <a:gd name="T3" fmla="*/ 274 h 328"/>
                <a:gd name="T4" fmla="*/ 0 w 471"/>
                <a:gd name="T5" fmla="*/ 0 h 328"/>
                <a:gd name="T6" fmla="*/ 0 60000 65536"/>
                <a:gd name="T7" fmla="*/ 0 60000 65536"/>
                <a:gd name="T8" fmla="*/ 0 60000 65536"/>
              </a:gdLst>
              <a:ahLst/>
              <a:cxnLst>
                <a:cxn ang="T6">
                  <a:pos x="T0" y="T1"/>
                </a:cxn>
                <a:cxn ang="T7">
                  <a:pos x="T2" y="T3"/>
                </a:cxn>
                <a:cxn ang="T8">
                  <a:pos x="T4" y="T5"/>
                </a:cxn>
              </a:cxnLst>
              <a:rect l="0" t="0" r="r" b="b"/>
              <a:pathLst>
                <a:path w="471" h="328">
                  <a:moveTo>
                    <a:pt x="471" y="326"/>
                  </a:moveTo>
                  <a:cubicBezTo>
                    <a:pt x="442" y="317"/>
                    <a:pt x="377" y="328"/>
                    <a:pt x="299" y="274"/>
                  </a:cubicBezTo>
                  <a:cubicBezTo>
                    <a:pt x="221" y="220"/>
                    <a:pt x="62" y="57"/>
                    <a:pt x="0" y="0"/>
                  </a:cubicBezTo>
                </a:path>
              </a:pathLst>
            </a:custGeom>
            <a:noFill/>
            <a:ln w="12700" cap="flat" cmpd="sng">
              <a:solidFill>
                <a:srgbClr val="646464"/>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19470" name="Line 22">
              <a:extLst>
                <a:ext uri="{FF2B5EF4-FFF2-40B4-BE49-F238E27FC236}">
                  <a16:creationId xmlns:a16="http://schemas.microsoft.com/office/drawing/2014/main" id="{84BAEE53-C1BB-DF5F-77E8-7DECE91B3F58}"/>
                </a:ext>
              </a:extLst>
            </p:cNvPr>
            <p:cNvSpPr>
              <a:spLocks noChangeShapeType="1"/>
            </p:cNvSpPr>
            <p:nvPr/>
          </p:nvSpPr>
          <p:spPr bwMode="auto">
            <a:xfrm>
              <a:off x="960" y="2676"/>
              <a:ext cx="10" cy="566"/>
            </a:xfrm>
            <a:prstGeom prst="line">
              <a:avLst/>
            </a:prstGeom>
            <a:noFill/>
            <a:ln w="12700">
              <a:solidFill>
                <a:srgbClr val="646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19471" name="Line 25">
              <a:extLst>
                <a:ext uri="{FF2B5EF4-FFF2-40B4-BE49-F238E27FC236}">
                  <a16:creationId xmlns:a16="http://schemas.microsoft.com/office/drawing/2014/main" id="{F8031994-D4A9-252B-77ED-11EC44123535}"/>
                </a:ext>
              </a:extLst>
            </p:cNvPr>
            <p:cNvSpPr>
              <a:spLocks noChangeShapeType="1"/>
            </p:cNvSpPr>
            <p:nvPr/>
          </p:nvSpPr>
          <p:spPr bwMode="auto">
            <a:xfrm>
              <a:off x="816" y="2678"/>
              <a:ext cx="211" cy="0"/>
            </a:xfrm>
            <a:prstGeom prst="line">
              <a:avLst/>
            </a:prstGeom>
            <a:noFill/>
            <a:ln w="12700">
              <a:solidFill>
                <a:srgbClr val="646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19472" name="Line 26">
              <a:extLst>
                <a:ext uri="{FF2B5EF4-FFF2-40B4-BE49-F238E27FC236}">
                  <a16:creationId xmlns:a16="http://schemas.microsoft.com/office/drawing/2014/main" id="{44D9578F-396A-186D-944B-DF4341272F0D}"/>
                </a:ext>
              </a:extLst>
            </p:cNvPr>
            <p:cNvSpPr>
              <a:spLocks noChangeShapeType="1"/>
            </p:cNvSpPr>
            <p:nvPr/>
          </p:nvSpPr>
          <p:spPr bwMode="auto">
            <a:xfrm>
              <a:off x="874" y="2669"/>
              <a:ext cx="0" cy="461"/>
            </a:xfrm>
            <a:prstGeom prst="line">
              <a:avLst/>
            </a:prstGeom>
            <a:noFill/>
            <a:ln w="12700">
              <a:solidFill>
                <a:srgbClr val="646464"/>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19473" name="Text Box 27">
              <a:extLst>
                <a:ext uri="{FF2B5EF4-FFF2-40B4-BE49-F238E27FC236}">
                  <a16:creationId xmlns:a16="http://schemas.microsoft.com/office/drawing/2014/main" id="{CDBDC7DF-DF07-CD89-6B9B-CD5D423EE136}"/>
                </a:ext>
              </a:extLst>
            </p:cNvPr>
            <p:cNvSpPr txBox="1">
              <a:spLocks noChangeArrowheads="1"/>
            </p:cNvSpPr>
            <p:nvPr/>
          </p:nvSpPr>
          <p:spPr bwMode="auto">
            <a:xfrm>
              <a:off x="699" y="2792"/>
              <a:ext cx="26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latin typeface="Symbol" panose="05050102010706020507" pitchFamily="18" charset="2"/>
                </a:rPr>
                <a:t>f</a:t>
              </a:r>
              <a:r>
                <a:rPr lang="en-GB" altLang="en-US" baseline="-25000"/>
                <a:t>b</a:t>
              </a:r>
              <a:endParaRPr lang="en-US" altLang="en-US">
                <a:latin typeface="Symbol" panose="05050102010706020507" pitchFamily="18" charset="2"/>
              </a:endParaRPr>
            </a:p>
          </p:txBody>
        </p:sp>
        <p:sp>
          <p:nvSpPr>
            <p:cNvPr id="19474" name="Text Box 28">
              <a:extLst>
                <a:ext uri="{FF2B5EF4-FFF2-40B4-BE49-F238E27FC236}">
                  <a16:creationId xmlns:a16="http://schemas.microsoft.com/office/drawing/2014/main" id="{0946128F-9438-E18E-AA59-EF1A0A7250C9}"/>
                </a:ext>
              </a:extLst>
            </p:cNvPr>
            <p:cNvSpPr txBox="1">
              <a:spLocks noChangeArrowheads="1"/>
            </p:cNvSpPr>
            <p:nvPr/>
          </p:nvSpPr>
          <p:spPr bwMode="auto">
            <a:xfrm>
              <a:off x="422" y="3360"/>
              <a:ext cx="557"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metal</a:t>
              </a:r>
              <a:endParaRPr lang="en-US" altLang="en-US" sz="1600"/>
            </a:p>
          </p:txBody>
        </p:sp>
        <p:sp>
          <p:nvSpPr>
            <p:cNvPr id="19475" name="Text Box 29">
              <a:extLst>
                <a:ext uri="{FF2B5EF4-FFF2-40B4-BE49-F238E27FC236}">
                  <a16:creationId xmlns:a16="http://schemas.microsoft.com/office/drawing/2014/main" id="{DFF9ABF9-6895-542D-3BA7-73480F6DCE85}"/>
                </a:ext>
              </a:extLst>
            </p:cNvPr>
            <p:cNvSpPr txBox="1">
              <a:spLocks noChangeArrowheads="1"/>
            </p:cNvSpPr>
            <p:nvPr/>
          </p:nvSpPr>
          <p:spPr bwMode="auto">
            <a:xfrm>
              <a:off x="1451" y="2710"/>
              <a:ext cx="1632"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semiconductor</a:t>
              </a:r>
              <a:endParaRPr lang="en-US" altLang="en-US" sz="1600"/>
            </a:p>
          </p:txBody>
        </p:sp>
        <p:sp>
          <p:nvSpPr>
            <p:cNvPr id="19476" name="Rectangle 30">
              <a:extLst>
                <a:ext uri="{FF2B5EF4-FFF2-40B4-BE49-F238E27FC236}">
                  <a16:creationId xmlns:a16="http://schemas.microsoft.com/office/drawing/2014/main" id="{3A0269AF-9436-0A11-3B48-291F90830F28}"/>
                </a:ext>
              </a:extLst>
            </p:cNvPr>
            <p:cNvSpPr>
              <a:spLocks noChangeArrowheads="1"/>
            </p:cNvSpPr>
            <p:nvPr/>
          </p:nvSpPr>
          <p:spPr bwMode="auto">
            <a:xfrm>
              <a:off x="374" y="2160"/>
              <a:ext cx="2506" cy="1594"/>
            </a:xfrm>
            <a:prstGeom prst="rect">
              <a:avLst/>
            </a:prstGeom>
            <a:noFill/>
            <a:ln w="12700" algn="ctr">
              <a:solidFill>
                <a:srgbClr val="646464"/>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19477" name="Text Box 31">
              <a:extLst>
                <a:ext uri="{FF2B5EF4-FFF2-40B4-BE49-F238E27FC236}">
                  <a16:creationId xmlns:a16="http://schemas.microsoft.com/office/drawing/2014/main" id="{3A4B8599-DFCF-13D0-C2C4-CEB1F61855F6}"/>
                </a:ext>
              </a:extLst>
            </p:cNvPr>
            <p:cNvSpPr txBox="1">
              <a:spLocks noChangeArrowheads="1"/>
            </p:cNvSpPr>
            <p:nvPr/>
          </p:nvSpPr>
          <p:spPr bwMode="auto">
            <a:xfrm>
              <a:off x="2736" y="3072"/>
              <a:ext cx="288"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E</a:t>
              </a:r>
              <a:r>
                <a:rPr lang="en-GB" altLang="en-US" sz="1600" baseline="-25000"/>
                <a:t>f</a:t>
              </a:r>
              <a:endParaRPr lang="en-US" altLang="en-US" sz="1600"/>
            </a:p>
          </p:txBody>
        </p:sp>
        <p:sp>
          <p:nvSpPr>
            <p:cNvPr id="19478" name="Text Box 32">
              <a:extLst>
                <a:ext uri="{FF2B5EF4-FFF2-40B4-BE49-F238E27FC236}">
                  <a16:creationId xmlns:a16="http://schemas.microsoft.com/office/drawing/2014/main" id="{F47B333D-ED9A-7D47-8194-659FCC7D720B}"/>
                </a:ext>
              </a:extLst>
            </p:cNvPr>
            <p:cNvSpPr txBox="1">
              <a:spLocks noChangeArrowheads="1"/>
            </p:cNvSpPr>
            <p:nvPr/>
          </p:nvSpPr>
          <p:spPr bwMode="auto">
            <a:xfrm>
              <a:off x="2448" y="3400"/>
              <a:ext cx="288"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E</a:t>
              </a:r>
              <a:r>
                <a:rPr lang="en-GB" altLang="en-US" sz="1600" baseline="-25000"/>
                <a:t>v</a:t>
              </a:r>
              <a:endParaRPr lang="en-US" altLang="en-US" sz="1600"/>
            </a:p>
          </p:txBody>
        </p:sp>
        <p:sp>
          <p:nvSpPr>
            <p:cNvPr id="19479" name="Text Box 33">
              <a:extLst>
                <a:ext uri="{FF2B5EF4-FFF2-40B4-BE49-F238E27FC236}">
                  <a16:creationId xmlns:a16="http://schemas.microsoft.com/office/drawing/2014/main" id="{27CED15B-7DE6-FD0F-FE12-1705B8005704}"/>
                </a:ext>
              </a:extLst>
            </p:cNvPr>
            <p:cNvSpPr txBox="1">
              <a:spLocks noChangeArrowheads="1"/>
            </p:cNvSpPr>
            <p:nvPr/>
          </p:nvSpPr>
          <p:spPr bwMode="auto">
            <a:xfrm>
              <a:off x="2458" y="2835"/>
              <a:ext cx="288"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E</a:t>
              </a:r>
              <a:r>
                <a:rPr lang="en-GB" altLang="en-US" sz="1600" baseline="-25000"/>
                <a:t>c</a:t>
              </a:r>
              <a:endParaRPr lang="en-US" altLang="en-US" sz="1600"/>
            </a:p>
          </p:txBody>
        </p:sp>
      </p:grpSp>
      <p:sp>
        <p:nvSpPr>
          <p:cNvPr id="19462" name="Text Box 57">
            <a:extLst>
              <a:ext uri="{FF2B5EF4-FFF2-40B4-BE49-F238E27FC236}">
                <a16:creationId xmlns:a16="http://schemas.microsoft.com/office/drawing/2014/main" id="{A6D4014D-B942-E5B4-CAF3-456FD6E365EF}"/>
              </a:ext>
            </a:extLst>
          </p:cNvPr>
          <p:cNvSpPr txBox="1">
            <a:spLocks noChangeArrowheads="1"/>
          </p:cNvSpPr>
          <p:nvPr/>
        </p:nvSpPr>
        <p:spPr bwMode="auto">
          <a:xfrm>
            <a:off x="2027239" y="4419600"/>
            <a:ext cx="3398837"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b="1"/>
              <a:t>Specific contact resistivity is an usual figure of merit for contacts:</a:t>
            </a:r>
            <a:endParaRPr lang="en-US" altLang="en-US" b="1"/>
          </a:p>
        </p:txBody>
      </p:sp>
      <p:graphicFrame>
        <p:nvGraphicFramePr>
          <p:cNvPr id="19463" name="Object 59">
            <a:extLst>
              <a:ext uri="{FF2B5EF4-FFF2-40B4-BE49-F238E27FC236}">
                <a16:creationId xmlns:a16="http://schemas.microsoft.com/office/drawing/2014/main" id="{25D63FF1-4F85-4D05-3539-149E34242828}"/>
              </a:ext>
            </a:extLst>
          </p:cNvPr>
          <p:cNvGraphicFramePr>
            <a:graphicFrameLocks noChangeAspect="1"/>
          </p:cNvGraphicFramePr>
          <p:nvPr/>
        </p:nvGraphicFramePr>
        <p:xfrm>
          <a:off x="2511426" y="5430838"/>
          <a:ext cx="1946275" cy="887412"/>
        </p:xfrm>
        <a:graphic>
          <a:graphicData uri="http://schemas.openxmlformats.org/presentationml/2006/ole">
            <mc:AlternateContent xmlns:mc="http://schemas.openxmlformats.org/markup-compatibility/2006">
              <mc:Choice xmlns:v="urn:schemas-microsoft-com:vml" Requires="v">
                <p:oleObj name="Equation" r:id="rId2" imgW="1167893" imgH="533169" progId="Equation.DSMT4">
                  <p:embed/>
                </p:oleObj>
              </mc:Choice>
              <mc:Fallback>
                <p:oleObj name="Equation" r:id="rId2" imgW="1167893" imgH="533169" progId="Equation.DSMT4">
                  <p:embed/>
                  <p:pic>
                    <p:nvPicPr>
                      <p:cNvPr id="19463" name="Object 59">
                        <a:extLst>
                          <a:ext uri="{FF2B5EF4-FFF2-40B4-BE49-F238E27FC236}">
                            <a16:creationId xmlns:a16="http://schemas.microsoft.com/office/drawing/2014/main" id="{25D63FF1-4F85-4D05-3539-149E342428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1426" y="5430838"/>
                        <a:ext cx="1946275" cy="887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4" name="Rectangle 60">
            <a:extLst>
              <a:ext uri="{FF2B5EF4-FFF2-40B4-BE49-F238E27FC236}">
                <a16:creationId xmlns:a16="http://schemas.microsoft.com/office/drawing/2014/main" id="{E2B9CB2B-0A55-7405-0E91-FCD26C516411}"/>
              </a:ext>
            </a:extLst>
          </p:cNvPr>
          <p:cNvSpPr>
            <a:spLocks noChangeArrowheads="1"/>
          </p:cNvSpPr>
          <p:nvPr/>
        </p:nvSpPr>
        <p:spPr bwMode="auto">
          <a:xfrm>
            <a:off x="1798638" y="4191001"/>
            <a:ext cx="3962400" cy="2225675"/>
          </a:xfrm>
          <a:prstGeom prst="rect">
            <a:avLst/>
          </a:prstGeom>
          <a:noFill/>
          <a:ln w="28575" algn="ctr">
            <a:solidFill>
              <a:srgbClr val="FF7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a:extLst>
              <a:ext uri="{FF2B5EF4-FFF2-40B4-BE49-F238E27FC236}">
                <a16:creationId xmlns:a16="http://schemas.microsoft.com/office/drawing/2014/main" id="{65F0DCAF-74E0-FA79-D17B-81A1C520D488}"/>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97A11FBB-F53B-4ACE-8AAC-0077B405CB27}" type="slidenum">
              <a:rPr lang="en-US" altLang="en-US" sz="800"/>
              <a:pPr>
                <a:lnSpc>
                  <a:spcPct val="100000"/>
                </a:lnSpc>
                <a:spcBef>
                  <a:spcPct val="0"/>
                </a:spcBef>
                <a:buClr>
                  <a:srgbClr val="F68933"/>
                </a:buClr>
                <a:buFontTx/>
                <a:buNone/>
              </a:pPr>
              <a:t>11</a:t>
            </a:fld>
            <a:endParaRPr lang="en-US" altLang="en-US" sz="800"/>
          </a:p>
        </p:txBody>
      </p:sp>
      <p:sp>
        <p:nvSpPr>
          <p:cNvPr id="20483" name="Rectangle 2">
            <a:extLst>
              <a:ext uri="{FF2B5EF4-FFF2-40B4-BE49-F238E27FC236}">
                <a16:creationId xmlns:a16="http://schemas.microsoft.com/office/drawing/2014/main" id="{AAE8F896-D6CF-FCEE-E4DD-F36D51BD16E5}"/>
              </a:ext>
            </a:extLst>
          </p:cNvPr>
          <p:cNvSpPr>
            <a:spLocks noGrp="1" noChangeArrowheads="1"/>
          </p:cNvSpPr>
          <p:nvPr>
            <p:ph type="title"/>
          </p:nvPr>
        </p:nvSpPr>
        <p:spPr/>
        <p:txBody>
          <a:bodyPr/>
          <a:lstStyle/>
          <a:p>
            <a:pPr eaLnBrk="1" hangingPunct="1"/>
            <a:r>
              <a:rPr lang="en-GB" altLang="en-US"/>
              <a:t>Contacts</a:t>
            </a:r>
            <a:endParaRPr lang="en-US" altLang="en-US"/>
          </a:p>
        </p:txBody>
      </p:sp>
      <p:sp>
        <p:nvSpPr>
          <p:cNvPr id="20484" name="Rectangle 3">
            <a:extLst>
              <a:ext uri="{FF2B5EF4-FFF2-40B4-BE49-F238E27FC236}">
                <a16:creationId xmlns:a16="http://schemas.microsoft.com/office/drawing/2014/main" id="{D615D4A8-712E-A06D-2495-23982A3DB594}"/>
              </a:ext>
            </a:extLst>
          </p:cNvPr>
          <p:cNvSpPr>
            <a:spLocks noGrp="1" noChangeArrowheads="1"/>
          </p:cNvSpPr>
          <p:nvPr>
            <p:ph type="body" idx="1"/>
          </p:nvPr>
        </p:nvSpPr>
        <p:spPr>
          <a:xfrm>
            <a:off x="1893889" y="1181100"/>
            <a:ext cx="8402637" cy="4114800"/>
          </a:xfrm>
        </p:spPr>
        <p:txBody>
          <a:bodyPr/>
          <a:lstStyle/>
          <a:p>
            <a:pPr eaLnBrk="1" hangingPunct="1"/>
            <a:r>
              <a:rPr lang="en-GB" altLang="en-US"/>
              <a:t>For a  contact dominated by thermoionic emission current:</a:t>
            </a:r>
          </a:p>
          <a:p>
            <a:pPr eaLnBrk="1" hangingPunct="1">
              <a:buFont typeface="Times" panose="02020603050405020304" pitchFamily="18" charset="0"/>
              <a:buNone/>
            </a:pPr>
            <a:endParaRPr lang="en-GB" altLang="en-US"/>
          </a:p>
          <a:p>
            <a:pPr eaLnBrk="1" hangingPunct="1">
              <a:buFont typeface="Times" panose="02020603050405020304" pitchFamily="18" charset="0"/>
              <a:buNone/>
            </a:pPr>
            <a:endParaRPr lang="en-GB" altLang="en-US">
              <a:solidFill>
                <a:schemeClr val="tx2"/>
              </a:solidFill>
            </a:endParaRPr>
          </a:p>
          <a:p>
            <a:pPr eaLnBrk="1" hangingPunct="1">
              <a:buFont typeface="Times" panose="02020603050405020304" pitchFamily="18" charset="0"/>
              <a:buNone/>
            </a:pPr>
            <a:endParaRPr lang="en-US" altLang="en-US"/>
          </a:p>
        </p:txBody>
      </p:sp>
      <p:sp>
        <p:nvSpPr>
          <p:cNvPr id="20485" name="Line 4">
            <a:extLst>
              <a:ext uri="{FF2B5EF4-FFF2-40B4-BE49-F238E27FC236}">
                <a16:creationId xmlns:a16="http://schemas.microsoft.com/office/drawing/2014/main" id="{65014F2D-EAE6-72FF-7860-A98800C27A06}"/>
              </a:ext>
            </a:extLst>
          </p:cNvPr>
          <p:cNvSpPr>
            <a:spLocks noChangeShapeType="1"/>
          </p:cNvSpPr>
          <p:nvPr/>
        </p:nvSpPr>
        <p:spPr bwMode="auto">
          <a:xfrm>
            <a:off x="1865313" y="5183188"/>
            <a:ext cx="3522662" cy="0"/>
          </a:xfrm>
          <a:prstGeom prst="line">
            <a:avLst/>
          </a:prstGeom>
          <a:noFill/>
          <a:ln w="12700">
            <a:solidFill>
              <a:srgbClr val="646464"/>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0486" name="Line 5">
            <a:extLst>
              <a:ext uri="{FF2B5EF4-FFF2-40B4-BE49-F238E27FC236}">
                <a16:creationId xmlns:a16="http://schemas.microsoft.com/office/drawing/2014/main" id="{C5555BEE-FB6A-2253-3CF1-2E1FBDF3706C}"/>
              </a:ext>
            </a:extLst>
          </p:cNvPr>
          <p:cNvSpPr>
            <a:spLocks noChangeShapeType="1"/>
          </p:cNvSpPr>
          <p:nvPr/>
        </p:nvSpPr>
        <p:spPr bwMode="auto">
          <a:xfrm>
            <a:off x="3306764" y="4995863"/>
            <a:ext cx="2128837" cy="0"/>
          </a:xfrm>
          <a:prstGeom prst="line">
            <a:avLst/>
          </a:prstGeom>
          <a:noFill/>
          <a:ln w="12700">
            <a:solidFill>
              <a:srgbClr val="646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0487" name="Freeform 6">
            <a:extLst>
              <a:ext uri="{FF2B5EF4-FFF2-40B4-BE49-F238E27FC236}">
                <a16:creationId xmlns:a16="http://schemas.microsoft.com/office/drawing/2014/main" id="{F3E8C427-A2E1-F849-D948-EB7FF6E7A03C}"/>
              </a:ext>
            </a:extLst>
          </p:cNvPr>
          <p:cNvSpPr>
            <a:spLocks/>
          </p:cNvSpPr>
          <p:nvPr/>
        </p:nvSpPr>
        <p:spPr bwMode="auto">
          <a:xfrm>
            <a:off x="2579688" y="4473575"/>
            <a:ext cx="747712" cy="520700"/>
          </a:xfrm>
          <a:custGeom>
            <a:avLst/>
            <a:gdLst>
              <a:gd name="T0" fmla="*/ 747712 w 471"/>
              <a:gd name="T1" fmla="*/ 517525 h 328"/>
              <a:gd name="T2" fmla="*/ 474662 w 471"/>
              <a:gd name="T3" fmla="*/ 434975 h 328"/>
              <a:gd name="T4" fmla="*/ 0 w 471"/>
              <a:gd name="T5" fmla="*/ 0 h 328"/>
              <a:gd name="T6" fmla="*/ 0 60000 65536"/>
              <a:gd name="T7" fmla="*/ 0 60000 65536"/>
              <a:gd name="T8" fmla="*/ 0 60000 65536"/>
            </a:gdLst>
            <a:ahLst/>
            <a:cxnLst>
              <a:cxn ang="T6">
                <a:pos x="T0" y="T1"/>
              </a:cxn>
              <a:cxn ang="T7">
                <a:pos x="T2" y="T3"/>
              </a:cxn>
              <a:cxn ang="T8">
                <a:pos x="T4" y="T5"/>
              </a:cxn>
            </a:cxnLst>
            <a:rect l="0" t="0" r="r" b="b"/>
            <a:pathLst>
              <a:path w="471" h="328">
                <a:moveTo>
                  <a:pt x="471" y="326"/>
                </a:moveTo>
                <a:cubicBezTo>
                  <a:pt x="442" y="317"/>
                  <a:pt x="377" y="328"/>
                  <a:pt x="299" y="274"/>
                </a:cubicBezTo>
                <a:cubicBezTo>
                  <a:pt x="221" y="220"/>
                  <a:pt x="62" y="57"/>
                  <a:pt x="0" y="0"/>
                </a:cubicBezTo>
              </a:path>
            </a:pathLst>
          </a:custGeom>
          <a:noFill/>
          <a:ln w="12700" cap="flat" cmpd="sng">
            <a:solidFill>
              <a:srgbClr val="646464"/>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0488" name="Line 7">
            <a:extLst>
              <a:ext uri="{FF2B5EF4-FFF2-40B4-BE49-F238E27FC236}">
                <a16:creationId xmlns:a16="http://schemas.microsoft.com/office/drawing/2014/main" id="{50F7053A-DF6A-3261-9A60-8867DCBFA320}"/>
              </a:ext>
            </a:extLst>
          </p:cNvPr>
          <p:cNvSpPr>
            <a:spLocks noChangeShapeType="1"/>
          </p:cNvSpPr>
          <p:nvPr/>
        </p:nvSpPr>
        <p:spPr bwMode="auto">
          <a:xfrm>
            <a:off x="3284539" y="5878513"/>
            <a:ext cx="2128837" cy="0"/>
          </a:xfrm>
          <a:prstGeom prst="line">
            <a:avLst/>
          </a:prstGeom>
          <a:noFill/>
          <a:ln w="12700">
            <a:solidFill>
              <a:srgbClr val="646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0489" name="Freeform 8">
            <a:extLst>
              <a:ext uri="{FF2B5EF4-FFF2-40B4-BE49-F238E27FC236}">
                <a16:creationId xmlns:a16="http://schemas.microsoft.com/office/drawing/2014/main" id="{A8DC22CF-2D54-981A-73B5-ABD43A265AB5}"/>
              </a:ext>
            </a:extLst>
          </p:cNvPr>
          <p:cNvSpPr>
            <a:spLocks/>
          </p:cNvSpPr>
          <p:nvPr/>
        </p:nvSpPr>
        <p:spPr bwMode="auto">
          <a:xfrm>
            <a:off x="2557463" y="5356225"/>
            <a:ext cx="747712" cy="520700"/>
          </a:xfrm>
          <a:custGeom>
            <a:avLst/>
            <a:gdLst>
              <a:gd name="T0" fmla="*/ 747712 w 471"/>
              <a:gd name="T1" fmla="*/ 517525 h 328"/>
              <a:gd name="T2" fmla="*/ 474662 w 471"/>
              <a:gd name="T3" fmla="*/ 434975 h 328"/>
              <a:gd name="T4" fmla="*/ 0 w 471"/>
              <a:gd name="T5" fmla="*/ 0 h 328"/>
              <a:gd name="T6" fmla="*/ 0 60000 65536"/>
              <a:gd name="T7" fmla="*/ 0 60000 65536"/>
              <a:gd name="T8" fmla="*/ 0 60000 65536"/>
            </a:gdLst>
            <a:ahLst/>
            <a:cxnLst>
              <a:cxn ang="T6">
                <a:pos x="T0" y="T1"/>
              </a:cxn>
              <a:cxn ang="T7">
                <a:pos x="T2" y="T3"/>
              </a:cxn>
              <a:cxn ang="T8">
                <a:pos x="T4" y="T5"/>
              </a:cxn>
            </a:cxnLst>
            <a:rect l="0" t="0" r="r" b="b"/>
            <a:pathLst>
              <a:path w="471" h="328">
                <a:moveTo>
                  <a:pt x="471" y="326"/>
                </a:moveTo>
                <a:cubicBezTo>
                  <a:pt x="442" y="317"/>
                  <a:pt x="377" y="328"/>
                  <a:pt x="299" y="274"/>
                </a:cubicBezTo>
                <a:cubicBezTo>
                  <a:pt x="221" y="220"/>
                  <a:pt x="62" y="57"/>
                  <a:pt x="0" y="0"/>
                </a:cubicBezTo>
              </a:path>
            </a:pathLst>
          </a:custGeom>
          <a:noFill/>
          <a:ln w="12700" cap="flat" cmpd="sng">
            <a:solidFill>
              <a:srgbClr val="646464"/>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0490" name="Line 9">
            <a:extLst>
              <a:ext uri="{FF2B5EF4-FFF2-40B4-BE49-F238E27FC236}">
                <a16:creationId xmlns:a16="http://schemas.microsoft.com/office/drawing/2014/main" id="{B2732492-F9DF-B832-2368-0BE97068118E}"/>
              </a:ext>
            </a:extLst>
          </p:cNvPr>
          <p:cNvSpPr>
            <a:spLocks noChangeShapeType="1"/>
          </p:cNvSpPr>
          <p:nvPr/>
        </p:nvSpPr>
        <p:spPr bwMode="auto">
          <a:xfrm>
            <a:off x="2549526" y="4470401"/>
            <a:ext cx="15875" cy="898525"/>
          </a:xfrm>
          <a:prstGeom prst="line">
            <a:avLst/>
          </a:prstGeom>
          <a:noFill/>
          <a:ln w="12700">
            <a:solidFill>
              <a:srgbClr val="646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0491" name="Freeform 10">
            <a:extLst>
              <a:ext uri="{FF2B5EF4-FFF2-40B4-BE49-F238E27FC236}">
                <a16:creationId xmlns:a16="http://schemas.microsoft.com/office/drawing/2014/main" id="{12EEC69C-8BF1-F013-CFA9-5EFB4D507752}"/>
              </a:ext>
            </a:extLst>
          </p:cNvPr>
          <p:cNvSpPr>
            <a:spLocks/>
          </p:cNvSpPr>
          <p:nvPr/>
        </p:nvSpPr>
        <p:spPr bwMode="auto">
          <a:xfrm>
            <a:off x="2016126" y="4235450"/>
            <a:ext cx="1020763" cy="617538"/>
          </a:xfrm>
          <a:custGeom>
            <a:avLst/>
            <a:gdLst>
              <a:gd name="T0" fmla="*/ 1020763 w 643"/>
              <a:gd name="T1" fmla="*/ 601663 h 389"/>
              <a:gd name="T2" fmla="*/ 715963 w 643"/>
              <a:gd name="T3" fmla="*/ 84138 h 389"/>
              <a:gd name="T4" fmla="*/ 274638 w 643"/>
              <a:gd name="T5" fmla="*/ 98425 h 389"/>
              <a:gd name="T6" fmla="*/ 0 w 643"/>
              <a:gd name="T7" fmla="*/ 617538 h 3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43" h="389">
                <a:moveTo>
                  <a:pt x="643" y="379"/>
                </a:moveTo>
                <a:cubicBezTo>
                  <a:pt x="586" y="242"/>
                  <a:pt x="529" y="106"/>
                  <a:pt x="451" y="53"/>
                </a:cubicBezTo>
                <a:cubicBezTo>
                  <a:pt x="373" y="0"/>
                  <a:pt x="248" y="6"/>
                  <a:pt x="173" y="62"/>
                </a:cubicBezTo>
                <a:cubicBezTo>
                  <a:pt x="98" y="118"/>
                  <a:pt x="27" y="336"/>
                  <a:pt x="0" y="389"/>
                </a:cubicBezTo>
              </a:path>
            </a:pathLst>
          </a:custGeom>
          <a:noFill/>
          <a:ln w="12700" cap="flat" cmpd="sng">
            <a:solidFill>
              <a:srgbClr val="646464"/>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0492" name="Freeform 11">
            <a:extLst>
              <a:ext uri="{FF2B5EF4-FFF2-40B4-BE49-F238E27FC236}">
                <a16:creationId xmlns:a16="http://schemas.microsoft.com/office/drawing/2014/main" id="{BE797429-33BF-0CE0-57FF-913BF9F6FF17}"/>
              </a:ext>
            </a:extLst>
          </p:cNvPr>
          <p:cNvSpPr>
            <a:spLocks/>
          </p:cNvSpPr>
          <p:nvPr/>
        </p:nvSpPr>
        <p:spPr bwMode="auto">
          <a:xfrm>
            <a:off x="1849439" y="3819526"/>
            <a:ext cx="1385887" cy="1370013"/>
          </a:xfrm>
          <a:custGeom>
            <a:avLst/>
            <a:gdLst>
              <a:gd name="T0" fmla="*/ 1385887 w 873"/>
              <a:gd name="T1" fmla="*/ 852488 h 863"/>
              <a:gd name="T2" fmla="*/ 1050925 w 873"/>
              <a:gd name="T3" fmla="*/ 182563 h 863"/>
              <a:gd name="T4" fmla="*/ 334962 w 873"/>
              <a:gd name="T5" fmla="*/ 196850 h 863"/>
              <a:gd name="T6" fmla="*/ 0 w 873"/>
              <a:gd name="T7" fmla="*/ 1370013 h 86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73" h="863">
                <a:moveTo>
                  <a:pt x="873" y="537"/>
                </a:moveTo>
                <a:cubicBezTo>
                  <a:pt x="838" y="467"/>
                  <a:pt x="772" y="184"/>
                  <a:pt x="662" y="115"/>
                </a:cubicBezTo>
                <a:cubicBezTo>
                  <a:pt x="552" y="46"/>
                  <a:pt x="321" y="0"/>
                  <a:pt x="211" y="124"/>
                </a:cubicBezTo>
                <a:cubicBezTo>
                  <a:pt x="101" y="248"/>
                  <a:pt x="44" y="709"/>
                  <a:pt x="0" y="863"/>
                </a:cubicBezTo>
              </a:path>
            </a:pathLst>
          </a:custGeom>
          <a:noFill/>
          <a:ln w="12700" cap="flat" cmpd="sng">
            <a:solidFill>
              <a:srgbClr val="646464"/>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0493" name="Line 12">
            <a:extLst>
              <a:ext uri="{FF2B5EF4-FFF2-40B4-BE49-F238E27FC236}">
                <a16:creationId xmlns:a16="http://schemas.microsoft.com/office/drawing/2014/main" id="{B1141BDE-F117-D57D-514F-76C59B8C41B8}"/>
              </a:ext>
            </a:extLst>
          </p:cNvPr>
          <p:cNvSpPr>
            <a:spLocks noChangeShapeType="1"/>
          </p:cNvSpPr>
          <p:nvPr/>
        </p:nvSpPr>
        <p:spPr bwMode="auto">
          <a:xfrm>
            <a:off x="2320926" y="4473575"/>
            <a:ext cx="334963" cy="0"/>
          </a:xfrm>
          <a:prstGeom prst="line">
            <a:avLst/>
          </a:prstGeom>
          <a:noFill/>
          <a:ln w="12700">
            <a:solidFill>
              <a:srgbClr val="646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0494" name="Line 13">
            <a:extLst>
              <a:ext uri="{FF2B5EF4-FFF2-40B4-BE49-F238E27FC236}">
                <a16:creationId xmlns:a16="http://schemas.microsoft.com/office/drawing/2014/main" id="{88F1E40A-4870-3360-65B3-BB423F6106BA}"/>
              </a:ext>
            </a:extLst>
          </p:cNvPr>
          <p:cNvSpPr>
            <a:spLocks noChangeShapeType="1"/>
          </p:cNvSpPr>
          <p:nvPr/>
        </p:nvSpPr>
        <p:spPr bwMode="auto">
          <a:xfrm>
            <a:off x="2413000" y="4459289"/>
            <a:ext cx="0" cy="731837"/>
          </a:xfrm>
          <a:prstGeom prst="line">
            <a:avLst/>
          </a:prstGeom>
          <a:noFill/>
          <a:ln w="12700">
            <a:solidFill>
              <a:srgbClr val="646464"/>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0495" name="Text Box 14">
            <a:extLst>
              <a:ext uri="{FF2B5EF4-FFF2-40B4-BE49-F238E27FC236}">
                <a16:creationId xmlns:a16="http://schemas.microsoft.com/office/drawing/2014/main" id="{BFCCE264-520F-EE6F-4BB4-7929ABD02379}"/>
              </a:ext>
            </a:extLst>
          </p:cNvPr>
          <p:cNvSpPr txBox="1">
            <a:spLocks noChangeArrowheads="1"/>
          </p:cNvSpPr>
          <p:nvPr/>
        </p:nvSpPr>
        <p:spPr bwMode="auto">
          <a:xfrm>
            <a:off x="2135188" y="4654550"/>
            <a:ext cx="425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latin typeface="Symbol" panose="05050102010706020507" pitchFamily="18" charset="2"/>
              </a:rPr>
              <a:t>f</a:t>
            </a:r>
            <a:r>
              <a:rPr lang="en-GB" altLang="en-US" baseline="-25000"/>
              <a:t>b</a:t>
            </a:r>
            <a:endParaRPr lang="en-US" altLang="en-US">
              <a:latin typeface="Symbol" panose="05050102010706020507" pitchFamily="18" charset="2"/>
            </a:endParaRPr>
          </a:p>
        </p:txBody>
      </p:sp>
      <p:sp>
        <p:nvSpPr>
          <p:cNvPr id="20496" name="Text Box 15">
            <a:extLst>
              <a:ext uri="{FF2B5EF4-FFF2-40B4-BE49-F238E27FC236}">
                <a16:creationId xmlns:a16="http://schemas.microsoft.com/office/drawing/2014/main" id="{AD3D1E04-3910-60D9-6507-EDAEFD0E0EC4}"/>
              </a:ext>
            </a:extLst>
          </p:cNvPr>
          <p:cNvSpPr txBox="1">
            <a:spLocks noChangeArrowheads="1"/>
          </p:cNvSpPr>
          <p:nvPr/>
        </p:nvSpPr>
        <p:spPr bwMode="auto">
          <a:xfrm>
            <a:off x="1695450" y="5556250"/>
            <a:ext cx="884238"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metal</a:t>
            </a:r>
            <a:endParaRPr lang="en-US" altLang="en-US" sz="1600"/>
          </a:p>
        </p:txBody>
      </p:sp>
      <p:sp>
        <p:nvSpPr>
          <p:cNvPr id="20497" name="Text Box 16">
            <a:extLst>
              <a:ext uri="{FF2B5EF4-FFF2-40B4-BE49-F238E27FC236}">
                <a16:creationId xmlns:a16="http://schemas.microsoft.com/office/drawing/2014/main" id="{E2FB4A50-20E3-421C-ABEC-A9766605C996}"/>
              </a:ext>
            </a:extLst>
          </p:cNvPr>
          <p:cNvSpPr txBox="1">
            <a:spLocks noChangeArrowheads="1"/>
          </p:cNvSpPr>
          <p:nvPr/>
        </p:nvSpPr>
        <p:spPr bwMode="auto">
          <a:xfrm>
            <a:off x="3328988" y="4524375"/>
            <a:ext cx="25908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semiconductor</a:t>
            </a:r>
            <a:endParaRPr lang="en-US" altLang="en-US" sz="1600"/>
          </a:p>
        </p:txBody>
      </p:sp>
      <p:sp>
        <p:nvSpPr>
          <p:cNvPr id="20498" name="Rectangle 17">
            <a:extLst>
              <a:ext uri="{FF2B5EF4-FFF2-40B4-BE49-F238E27FC236}">
                <a16:creationId xmlns:a16="http://schemas.microsoft.com/office/drawing/2014/main" id="{65B95C0A-D6DA-FD1A-378D-5DAB29DFF51A}"/>
              </a:ext>
            </a:extLst>
          </p:cNvPr>
          <p:cNvSpPr>
            <a:spLocks noChangeArrowheads="1"/>
          </p:cNvSpPr>
          <p:nvPr/>
        </p:nvSpPr>
        <p:spPr bwMode="auto">
          <a:xfrm>
            <a:off x="1619251" y="3651251"/>
            <a:ext cx="3978275" cy="2530475"/>
          </a:xfrm>
          <a:prstGeom prst="rect">
            <a:avLst/>
          </a:prstGeom>
          <a:noFill/>
          <a:ln w="12700" algn="ctr">
            <a:solidFill>
              <a:srgbClr val="646464"/>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0499" name="Text Box 18">
            <a:extLst>
              <a:ext uri="{FF2B5EF4-FFF2-40B4-BE49-F238E27FC236}">
                <a16:creationId xmlns:a16="http://schemas.microsoft.com/office/drawing/2014/main" id="{D2E9A48C-B72C-1628-4D6D-0E33CF7F1D08}"/>
              </a:ext>
            </a:extLst>
          </p:cNvPr>
          <p:cNvSpPr txBox="1">
            <a:spLocks noChangeArrowheads="1"/>
          </p:cNvSpPr>
          <p:nvPr/>
        </p:nvSpPr>
        <p:spPr bwMode="auto">
          <a:xfrm>
            <a:off x="5368925" y="5099050"/>
            <a:ext cx="4572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E</a:t>
            </a:r>
            <a:r>
              <a:rPr lang="en-GB" altLang="en-US" sz="1600" baseline="-25000"/>
              <a:t>f</a:t>
            </a:r>
            <a:endParaRPr lang="en-US" altLang="en-US" sz="1600"/>
          </a:p>
        </p:txBody>
      </p:sp>
      <p:sp>
        <p:nvSpPr>
          <p:cNvPr id="20500" name="Text Box 19">
            <a:extLst>
              <a:ext uri="{FF2B5EF4-FFF2-40B4-BE49-F238E27FC236}">
                <a16:creationId xmlns:a16="http://schemas.microsoft.com/office/drawing/2014/main" id="{454106D5-F297-0F1E-A3B4-41E4E46AB096}"/>
              </a:ext>
            </a:extLst>
          </p:cNvPr>
          <p:cNvSpPr txBox="1">
            <a:spLocks noChangeArrowheads="1"/>
          </p:cNvSpPr>
          <p:nvPr/>
        </p:nvSpPr>
        <p:spPr bwMode="auto">
          <a:xfrm>
            <a:off x="4911725" y="5619750"/>
            <a:ext cx="4572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E</a:t>
            </a:r>
            <a:r>
              <a:rPr lang="en-GB" altLang="en-US" sz="1600" baseline="-25000"/>
              <a:t>v</a:t>
            </a:r>
            <a:endParaRPr lang="en-US" altLang="en-US" sz="1600"/>
          </a:p>
        </p:txBody>
      </p:sp>
      <p:sp>
        <p:nvSpPr>
          <p:cNvPr id="20501" name="Text Box 20">
            <a:extLst>
              <a:ext uri="{FF2B5EF4-FFF2-40B4-BE49-F238E27FC236}">
                <a16:creationId xmlns:a16="http://schemas.microsoft.com/office/drawing/2014/main" id="{6E748D3D-C04C-2857-9792-82F2D4A89DB5}"/>
              </a:ext>
            </a:extLst>
          </p:cNvPr>
          <p:cNvSpPr txBox="1">
            <a:spLocks noChangeArrowheads="1"/>
          </p:cNvSpPr>
          <p:nvPr/>
        </p:nvSpPr>
        <p:spPr bwMode="auto">
          <a:xfrm>
            <a:off x="4927600" y="4722813"/>
            <a:ext cx="4572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E</a:t>
            </a:r>
            <a:r>
              <a:rPr lang="en-GB" altLang="en-US" sz="1600" baseline="-25000"/>
              <a:t>c</a:t>
            </a:r>
            <a:endParaRPr lang="en-US" altLang="en-US" sz="1600"/>
          </a:p>
        </p:txBody>
      </p:sp>
      <p:pic>
        <p:nvPicPr>
          <p:cNvPr id="20502" name="Picture 38">
            <a:extLst>
              <a:ext uri="{FF2B5EF4-FFF2-40B4-BE49-F238E27FC236}">
                <a16:creationId xmlns:a16="http://schemas.microsoft.com/office/drawing/2014/main" id="{1043F255-E5A4-2246-46F0-D7078AB876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5289" y="3651251"/>
            <a:ext cx="1392237" cy="118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0503" name="Object 40">
            <a:extLst>
              <a:ext uri="{FF2B5EF4-FFF2-40B4-BE49-F238E27FC236}">
                <a16:creationId xmlns:a16="http://schemas.microsoft.com/office/drawing/2014/main" id="{BA0A3F29-4010-8BFA-4CA5-92D67D657010}"/>
              </a:ext>
            </a:extLst>
          </p:cNvPr>
          <p:cNvGraphicFramePr>
            <a:graphicFrameLocks noChangeAspect="1"/>
          </p:cNvGraphicFramePr>
          <p:nvPr/>
        </p:nvGraphicFramePr>
        <p:xfrm>
          <a:off x="1852613" y="1733551"/>
          <a:ext cx="2876550" cy="1897063"/>
        </p:xfrm>
        <a:graphic>
          <a:graphicData uri="http://schemas.openxmlformats.org/presentationml/2006/ole">
            <mc:AlternateContent xmlns:mc="http://schemas.openxmlformats.org/markup-compatibility/2006">
              <mc:Choice xmlns:v="urn:schemas-microsoft-com:vml" Requires="v">
                <p:oleObj name="Equation" r:id="rId3" imgW="2387600" imgH="1574800" progId="Equation.DSMT4">
                  <p:embed/>
                </p:oleObj>
              </mc:Choice>
              <mc:Fallback>
                <p:oleObj name="Equation" r:id="rId3" imgW="2387600" imgH="1574800" progId="Equation.DSMT4">
                  <p:embed/>
                  <p:pic>
                    <p:nvPicPr>
                      <p:cNvPr id="20503" name="Object 40">
                        <a:extLst>
                          <a:ext uri="{FF2B5EF4-FFF2-40B4-BE49-F238E27FC236}">
                            <a16:creationId xmlns:a16="http://schemas.microsoft.com/office/drawing/2014/main" id="{BA0A3F29-4010-8BFA-4CA5-92D67D6570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2613" y="1733551"/>
                        <a:ext cx="2876550" cy="189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04" name="Text Box 41">
            <a:extLst>
              <a:ext uri="{FF2B5EF4-FFF2-40B4-BE49-F238E27FC236}">
                <a16:creationId xmlns:a16="http://schemas.microsoft.com/office/drawing/2014/main" id="{C25A3DA5-9121-0999-85E9-5D67BCA0A7A2}"/>
              </a:ext>
            </a:extLst>
          </p:cNvPr>
          <p:cNvSpPr txBox="1">
            <a:spLocks noChangeArrowheads="1"/>
          </p:cNvSpPr>
          <p:nvPr/>
        </p:nvSpPr>
        <p:spPr bwMode="auto">
          <a:xfrm>
            <a:off x="6324601" y="4176713"/>
            <a:ext cx="3763963"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a:t>Contact </a:t>
            </a:r>
            <a:r>
              <a:rPr lang="en-GB" altLang="en-US">
                <a:latin typeface="Symbol" panose="05050102010706020507" pitchFamily="18" charset="2"/>
              </a:rPr>
              <a:t>r</a:t>
            </a:r>
            <a:r>
              <a:rPr lang="en-GB" altLang="en-US" baseline="-25000"/>
              <a:t>s</a:t>
            </a:r>
            <a:r>
              <a:rPr lang="en-GB" altLang="en-US"/>
              <a:t> depends only on barrier height</a:t>
            </a:r>
          </a:p>
          <a:p>
            <a:pPr eaLnBrk="1" hangingPunct="1">
              <a:spcBef>
                <a:spcPct val="50000"/>
              </a:spcBef>
              <a:buFont typeface="Times" panose="02020603050405020304" pitchFamily="18" charset="0"/>
              <a:buChar char="•"/>
            </a:pPr>
            <a:r>
              <a:rPr lang="en-GB" altLang="en-US"/>
              <a:t>For most metals barrier is too high, and rectifying behaviour is observed.</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a:extLst>
              <a:ext uri="{FF2B5EF4-FFF2-40B4-BE49-F238E27FC236}">
                <a16:creationId xmlns:a16="http://schemas.microsoft.com/office/drawing/2014/main" id="{B3C09818-6448-242C-71C4-83376CCB336C}"/>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753A5297-7360-40D7-B2C8-B7ED123CE66D}" type="slidenum">
              <a:rPr lang="en-US" altLang="en-US" sz="800"/>
              <a:pPr>
                <a:lnSpc>
                  <a:spcPct val="100000"/>
                </a:lnSpc>
                <a:spcBef>
                  <a:spcPct val="0"/>
                </a:spcBef>
                <a:buClr>
                  <a:srgbClr val="F68933"/>
                </a:buClr>
                <a:buFontTx/>
                <a:buNone/>
              </a:pPr>
              <a:t>12</a:t>
            </a:fld>
            <a:endParaRPr lang="en-US" altLang="en-US" sz="800"/>
          </a:p>
        </p:txBody>
      </p:sp>
      <p:sp>
        <p:nvSpPr>
          <p:cNvPr id="21507" name="Rectangle 2">
            <a:extLst>
              <a:ext uri="{FF2B5EF4-FFF2-40B4-BE49-F238E27FC236}">
                <a16:creationId xmlns:a16="http://schemas.microsoft.com/office/drawing/2014/main" id="{D25AC8D3-9242-5914-55EA-8949F6B8E979}"/>
              </a:ext>
            </a:extLst>
          </p:cNvPr>
          <p:cNvSpPr>
            <a:spLocks noGrp="1" noChangeArrowheads="1"/>
          </p:cNvSpPr>
          <p:nvPr>
            <p:ph type="title"/>
          </p:nvPr>
        </p:nvSpPr>
        <p:spPr/>
        <p:txBody>
          <a:bodyPr/>
          <a:lstStyle/>
          <a:p>
            <a:pPr eaLnBrk="1" hangingPunct="1"/>
            <a:r>
              <a:rPr lang="en-GB" altLang="en-US"/>
              <a:t>Contacts</a:t>
            </a:r>
            <a:endParaRPr lang="en-US" altLang="en-US"/>
          </a:p>
        </p:txBody>
      </p:sp>
      <p:sp>
        <p:nvSpPr>
          <p:cNvPr id="21508" name="Rectangle 3">
            <a:extLst>
              <a:ext uri="{FF2B5EF4-FFF2-40B4-BE49-F238E27FC236}">
                <a16:creationId xmlns:a16="http://schemas.microsoft.com/office/drawing/2014/main" id="{80F08082-08B4-EA79-CC2C-1B1D9CFA39F9}"/>
              </a:ext>
            </a:extLst>
          </p:cNvPr>
          <p:cNvSpPr>
            <a:spLocks noGrp="1" noChangeArrowheads="1"/>
          </p:cNvSpPr>
          <p:nvPr>
            <p:ph type="body" idx="1"/>
          </p:nvPr>
        </p:nvSpPr>
        <p:spPr/>
        <p:txBody>
          <a:bodyPr/>
          <a:lstStyle/>
          <a:p>
            <a:pPr eaLnBrk="1" hangingPunct="1"/>
            <a:r>
              <a:rPr lang="en-GB" altLang="en-US"/>
              <a:t>Ohmic behaviour can be obtained if operating in tunnelling regimes; it can be demonstrated that:</a:t>
            </a:r>
            <a:endParaRPr lang="en-US" altLang="en-US"/>
          </a:p>
        </p:txBody>
      </p:sp>
      <p:sp>
        <p:nvSpPr>
          <p:cNvPr id="21509" name="Line 17">
            <a:extLst>
              <a:ext uri="{FF2B5EF4-FFF2-40B4-BE49-F238E27FC236}">
                <a16:creationId xmlns:a16="http://schemas.microsoft.com/office/drawing/2014/main" id="{7C72281D-2E63-8F86-9BF1-20C174B735A1}"/>
              </a:ext>
            </a:extLst>
          </p:cNvPr>
          <p:cNvSpPr>
            <a:spLocks noChangeShapeType="1"/>
          </p:cNvSpPr>
          <p:nvPr/>
        </p:nvSpPr>
        <p:spPr bwMode="auto">
          <a:xfrm>
            <a:off x="1865313" y="5054600"/>
            <a:ext cx="3522662" cy="0"/>
          </a:xfrm>
          <a:prstGeom prst="line">
            <a:avLst/>
          </a:prstGeom>
          <a:noFill/>
          <a:ln w="12700">
            <a:solidFill>
              <a:srgbClr val="646464"/>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1510" name="Line 18">
            <a:extLst>
              <a:ext uri="{FF2B5EF4-FFF2-40B4-BE49-F238E27FC236}">
                <a16:creationId xmlns:a16="http://schemas.microsoft.com/office/drawing/2014/main" id="{9059359F-075D-560C-2C8F-4D52FAFF0A2B}"/>
              </a:ext>
            </a:extLst>
          </p:cNvPr>
          <p:cNvSpPr>
            <a:spLocks noChangeShapeType="1"/>
          </p:cNvSpPr>
          <p:nvPr/>
        </p:nvSpPr>
        <p:spPr bwMode="auto">
          <a:xfrm>
            <a:off x="3306764" y="4995863"/>
            <a:ext cx="2128837" cy="0"/>
          </a:xfrm>
          <a:prstGeom prst="line">
            <a:avLst/>
          </a:prstGeom>
          <a:noFill/>
          <a:ln w="12700">
            <a:solidFill>
              <a:srgbClr val="646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1511" name="Freeform 19">
            <a:extLst>
              <a:ext uri="{FF2B5EF4-FFF2-40B4-BE49-F238E27FC236}">
                <a16:creationId xmlns:a16="http://schemas.microsoft.com/office/drawing/2014/main" id="{2D08C620-61A9-F670-26F6-2034D37B2B3D}"/>
              </a:ext>
            </a:extLst>
          </p:cNvPr>
          <p:cNvSpPr>
            <a:spLocks/>
          </p:cNvSpPr>
          <p:nvPr/>
        </p:nvSpPr>
        <p:spPr bwMode="auto">
          <a:xfrm>
            <a:off x="2538414" y="4473576"/>
            <a:ext cx="765175" cy="555625"/>
          </a:xfrm>
          <a:custGeom>
            <a:avLst/>
            <a:gdLst>
              <a:gd name="T0" fmla="*/ 765175 w 482"/>
              <a:gd name="T1" fmla="*/ 517525 h 350"/>
              <a:gd name="T2" fmla="*/ 123825 w 482"/>
              <a:gd name="T3" fmla="*/ 469900 h 350"/>
              <a:gd name="T4" fmla="*/ 17463 w 482"/>
              <a:gd name="T5" fmla="*/ 0 h 350"/>
              <a:gd name="T6" fmla="*/ 0 60000 65536"/>
              <a:gd name="T7" fmla="*/ 0 60000 65536"/>
              <a:gd name="T8" fmla="*/ 0 60000 65536"/>
            </a:gdLst>
            <a:ahLst/>
            <a:cxnLst>
              <a:cxn ang="T6">
                <a:pos x="T0" y="T1"/>
              </a:cxn>
              <a:cxn ang="T7">
                <a:pos x="T2" y="T3"/>
              </a:cxn>
              <a:cxn ang="T8">
                <a:pos x="T4" y="T5"/>
              </a:cxn>
            </a:cxnLst>
            <a:rect l="0" t="0" r="r" b="b"/>
            <a:pathLst>
              <a:path w="482" h="350">
                <a:moveTo>
                  <a:pt x="482" y="326"/>
                </a:moveTo>
                <a:cubicBezTo>
                  <a:pt x="415" y="321"/>
                  <a:pt x="156" y="350"/>
                  <a:pt x="78" y="296"/>
                </a:cubicBezTo>
                <a:cubicBezTo>
                  <a:pt x="0" y="242"/>
                  <a:pt x="25" y="62"/>
                  <a:pt x="11" y="0"/>
                </a:cubicBezTo>
              </a:path>
            </a:pathLst>
          </a:custGeom>
          <a:noFill/>
          <a:ln w="12700" cap="flat" cmpd="sng">
            <a:solidFill>
              <a:srgbClr val="646464"/>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1512" name="Line 20">
            <a:extLst>
              <a:ext uri="{FF2B5EF4-FFF2-40B4-BE49-F238E27FC236}">
                <a16:creationId xmlns:a16="http://schemas.microsoft.com/office/drawing/2014/main" id="{3B5E9112-3537-117C-F981-66B4D163F002}"/>
              </a:ext>
            </a:extLst>
          </p:cNvPr>
          <p:cNvSpPr>
            <a:spLocks noChangeShapeType="1"/>
          </p:cNvSpPr>
          <p:nvPr/>
        </p:nvSpPr>
        <p:spPr bwMode="auto">
          <a:xfrm>
            <a:off x="3284539" y="5878513"/>
            <a:ext cx="2128837" cy="0"/>
          </a:xfrm>
          <a:prstGeom prst="line">
            <a:avLst/>
          </a:prstGeom>
          <a:noFill/>
          <a:ln w="12700">
            <a:solidFill>
              <a:srgbClr val="646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1513" name="Line 22">
            <a:extLst>
              <a:ext uri="{FF2B5EF4-FFF2-40B4-BE49-F238E27FC236}">
                <a16:creationId xmlns:a16="http://schemas.microsoft.com/office/drawing/2014/main" id="{C3430F47-8776-E9B8-6B8F-9E0DFE0895EE}"/>
              </a:ext>
            </a:extLst>
          </p:cNvPr>
          <p:cNvSpPr>
            <a:spLocks noChangeShapeType="1"/>
          </p:cNvSpPr>
          <p:nvPr/>
        </p:nvSpPr>
        <p:spPr bwMode="auto">
          <a:xfrm>
            <a:off x="2549526" y="4470401"/>
            <a:ext cx="15875" cy="898525"/>
          </a:xfrm>
          <a:prstGeom prst="line">
            <a:avLst/>
          </a:prstGeom>
          <a:noFill/>
          <a:ln w="12700">
            <a:solidFill>
              <a:srgbClr val="646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1514" name="Freeform 23">
            <a:extLst>
              <a:ext uri="{FF2B5EF4-FFF2-40B4-BE49-F238E27FC236}">
                <a16:creationId xmlns:a16="http://schemas.microsoft.com/office/drawing/2014/main" id="{2DC373C4-CD2B-4018-05E9-B341F6ABF264}"/>
              </a:ext>
            </a:extLst>
          </p:cNvPr>
          <p:cNvSpPr>
            <a:spLocks/>
          </p:cNvSpPr>
          <p:nvPr/>
        </p:nvSpPr>
        <p:spPr bwMode="auto">
          <a:xfrm>
            <a:off x="2006600" y="4829176"/>
            <a:ext cx="1093788" cy="142875"/>
          </a:xfrm>
          <a:custGeom>
            <a:avLst/>
            <a:gdLst>
              <a:gd name="T0" fmla="*/ 1093788 w 689"/>
              <a:gd name="T1" fmla="*/ 142875 h 90"/>
              <a:gd name="T2" fmla="*/ 695325 w 689"/>
              <a:gd name="T3" fmla="*/ 20638 h 90"/>
              <a:gd name="T4" fmla="*/ 315913 w 689"/>
              <a:gd name="T5" fmla="*/ 20638 h 90"/>
              <a:gd name="T6" fmla="*/ 0 w 689"/>
              <a:gd name="T7" fmla="*/ 66675 h 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89" h="90">
                <a:moveTo>
                  <a:pt x="689" y="90"/>
                </a:moveTo>
                <a:cubicBezTo>
                  <a:pt x="647" y="78"/>
                  <a:pt x="520" y="26"/>
                  <a:pt x="438" y="13"/>
                </a:cubicBezTo>
                <a:cubicBezTo>
                  <a:pt x="356" y="0"/>
                  <a:pt x="272" y="8"/>
                  <a:pt x="199" y="13"/>
                </a:cubicBezTo>
                <a:cubicBezTo>
                  <a:pt x="126" y="19"/>
                  <a:pt x="41" y="37"/>
                  <a:pt x="0" y="42"/>
                </a:cubicBezTo>
              </a:path>
            </a:pathLst>
          </a:custGeom>
          <a:noFill/>
          <a:ln w="12700" cap="flat" cmpd="sng">
            <a:solidFill>
              <a:srgbClr val="646464"/>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1515" name="Freeform 24">
            <a:extLst>
              <a:ext uri="{FF2B5EF4-FFF2-40B4-BE49-F238E27FC236}">
                <a16:creationId xmlns:a16="http://schemas.microsoft.com/office/drawing/2014/main" id="{D66B8ABF-E381-F047-5401-678F3A2371FF}"/>
              </a:ext>
            </a:extLst>
          </p:cNvPr>
          <p:cNvSpPr>
            <a:spLocks/>
          </p:cNvSpPr>
          <p:nvPr/>
        </p:nvSpPr>
        <p:spPr bwMode="auto">
          <a:xfrm>
            <a:off x="1838326" y="4910139"/>
            <a:ext cx="1076325" cy="128587"/>
          </a:xfrm>
          <a:custGeom>
            <a:avLst/>
            <a:gdLst>
              <a:gd name="T0" fmla="*/ 1076325 w 870"/>
              <a:gd name="T1" fmla="*/ 22962 h 84"/>
              <a:gd name="T2" fmla="*/ 634661 w 870"/>
              <a:gd name="T3" fmla="*/ 13777 h 84"/>
              <a:gd name="T4" fmla="*/ 419396 w 870"/>
              <a:gd name="T5" fmla="*/ 18370 h 84"/>
              <a:gd name="T6" fmla="*/ 0 w 870"/>
              <a:gd name="T7" fmla="*/ 128587 h 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70" h="84">
                <a:moveTo>
                  <a:pt x="870" y="15"/>
                </a:moveTo>
                <a:cubicBezTo>
                  <a:pt x="811" y="14"/>
                  <a:pt x="601" y="9"/>
                  <a:pt x="513" y="9"/>
                </a:cubicBezTo>
                <a:cubicBezTo>
                  <a:pt x="425" y="9"/>
                  <a:pt x="424" y="0"/>
                  <a:pt x="339" y="12"/>
                </a:cubicBezTo>
                <a:cubicBezTo>
                  <a:pt x="254" y="24"/>
                  <a:pt x="71" y="69"/>
                  <a:pt x="0" y="84"/>
                </a:cubicBezTo>
              </a:path>
            </a:pathLst>
          </a:custGeom>
          <a:noFill/>
          <a:ln w="12700" cap="flat" cmpd="sng">
            <a:solidFill>
              <a:srgbClr val="646464"/>
            </a:solidFill>
            <a:prstDash val="solid"/>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1516" name="Line 25">
            <a:extLst>
              <a:ext uri="{FF2B5EF4-FFF2-40B4-BE49-F238E27FC236}">
                <a16:creationId xmlns:a16="http://schemas.microsoft.com/office/drawing/2014/main" id="{A8F163F1-1A8E-6273-9B07-E948A53E32A2}"/>
              </a:ext>
            </a:extLst>
          </p:cNvPr>
          <p:cNvSpPr>
            <a:spLocks noChangeShapeType="1"/>
          </p:cNvSpPr>
          <p:nvPr/>
        </p:nvSpPr>
        <p:spPr bwMode="auto">
          <a:xfrm>
            <a:off x="2320926" y="4473575"/>
            <a:ext cx="334963" cy="0"/>
          </a:xfrm>
          <a:prstGeom prst="line">
            <a:avLst/>
          </a:prstGeom>
          <a:noFill/>
          <a:ln w="12700">
            <a:solidFill>
              <a:srgbClr val="646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1517" name="Line 26">
            <a:extLst>
              <a:ext uri="{FF2B5EF4-FFF2-40B4-BE49-F238E27FC236}">
                <a16:creationId xmlns:a16="http://schemas.microsoft.com/office/drawing/2014/main" id="{892FFDE1-CD92-388E-FDC1-51B6189EB4E3}"/>
              </a:ext>
            </a:extLst>
          </p:cNvPr>
          <p:cNvSpPr>
            <a:spLocks noChangeShapeType="1"/>
          </p:cNvSpPr>
          <p:nvPr/>
        </p:nvSpPr>
        <p:spPr bwMode="auto">
          <a:xfrm>
            <a:off x="2413000" y="4459289"/>
            <a:ext cx="0" cy="731837"/>
          </a:xfrm>
          <a:prstGeom prst="line">
            <a:avLst/>
          </a:prstGeom>
          <a:noFill/>
          <a:ln w="12700">
            <a:solidFill>
              <a:srgbClr val="646464"/>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
        <p:nvSpPr>
          <p:cNvPr id="21518" name="Text Box 27">
            <a:extLst>
              <a:ext uri="{FF2B5EF4-FFF2-40B4-BE49-F238E27FC236}">
                <a16:creationId xmlns:a16="http://schemas.microsoft.com/office/drawing/2014/main" id="{22C70F2C-1E33-0770-C868-6F40A3316C99}"/>
              </a:ext>
            </a:extLst>
          </p:cNvPr>
          <p:cNvSpPr txBox="1">
            <a:spLocks noChangeArrowheads="1"/>
          </p:cNvSpPr>
          <p:nvPr/>
        </p:nvSpPr>
        <p:spPr bwMode="auto">
          <a:xfrm>
            <a:off x="2135188" y="4654550"/>
            <a:ext cx="425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latin typeface="Symbol" panose="05050102010706020507" pitchFamily="18" charset="2"/>
              </a:rPr>
              <a:t>f</a:t>
            </a:r>
            <a:r>
              <a:rPr lang="en-GB" altLang="en-US" baseline="-25000"/>
              <a:t>b</a:t>
            </a:r>
            <a:endParaRPr lang="en-US" altLang="en-US">
              <a:latin typeface="Symbol" panose="05050102010706020507" pitchFamily="18" charset="2"/>
            </a:endParaRPr>
          </a:p>
        </p:txBody>
      </p:sp>
      <p:sp>
        <p:nvSpPr>
          <p:cNvPr id="21519" name="Text Box 28">
            <a:extLst>
              <a:ext uri="{FF2B5EF4-FFF2-40B4-BE49-F238E27FC236}">
                <a16:creationId xmlns:a16="http://schemas.microsoft.com/office/drawing/2014/main" id="{C87584A9-DB53-F7DB-33F7-B352C7D3983D}"/>
              </a:ext>
            </a:extLst>
          </p:cNvPr>
          <p:cNvSpPr txBox="1">
            <a:spLocks noChangeArrowheads="1"/>
          </p:cNvSpPr>
          <p:nvPr/>
        </p:nvSpPr>
        <p:spPr bwMode="auto">
          <a:xfrm>
            <a:off x="1695450" y="5556250"/>
            <a:ext cx="884238"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metal</a:t>
            </a:r>
            <a:endParaRPr lang="en-US" altLang="en-US" sz="1600"/>
          </a:p>
        </p:txBody>
      </p:sp>
      <p:sp>
        <p:nvSpPr>
          <p:cNvPr id="21520" name="Text Box 29">
            <a:extLst>
              <a:ext uri="{FF2B5EF4-FFF2-40B4-BE49-F238E27FC236}">
                <a16:creationId xmlns:a16="http://schemas.microsoft.com/office/drawing/2014/main" id="{DCC87447-6576-0320-EF2B-CCC914704FFC}"/>
              </a:ext>
            </a:extLst>
          </p:cNvPr>
          <p:cNvSpPr txBox="1">
            <a:spLocks noChangeArrowheads="1"/>
          </p:cNvSpPr>
          <p:nvPr/>
        </p:nvSpPr>
        <p:spPr bwMode="auto">
          <a:xfrm>
            <a:off x="3328988" y="4524375"/>
            <a:ext cx="25908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semiconductor</a:t>
            </a:r>
            <a:endParaRPr lang="en-US" altLang="en-US" sz="1600"/>
          </a:p>
        </p:txBody>
      </p:sp>
      <p:sp>
        <p:nvSpPr>
          <p:cNvPr id="21521" name="Rectangle 30">
            <a:extLst>
              <a:ext uri="{FF2B5EF4-FFF2-40B4-BE49-F238E27FC236}">
                <a16:creationId xmlns:a16="http://schemas.microsoft.com/office/drawing/2014/main" id="{C9062F07-76E2-9B60-E5C8-37EAC2F87834}"/>
              </a:ext>
            </a:extLst>
          </p:cNvPr>
          <p:cNvSpPr>
            <a:spLocks noChangeArrowheads="1"/>
          </p:cNvSpPr>
          <p:nvPr/>
        </p:nvSpPr>
        <p:spPr bwMode="auto">
          <a:xfrm>
            <a:off x="1619251" y="3651251"/>
            <a:ext cx="3978275" cy="2530475"/>
          </a:xfrm>
          <a:prstGeom prst="rect">
            <a:avLst/>
          </a:prstGeom>
          <a:noFill/>
          <a:ln w="12700" algn="ctr">
            <a:solidFill>
              <a:srgbClr val="646464"/>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1522" name="Text Box 31">
            <a:extLst>
              <a:ext uri="{FF2B5EF4-FFF2-40B4-BE49-F238E27FC236}">
                <a16:creationId xmlns:a16="http://schemas.microsoft.com/office/drawing/2014/main" id="{5975011E-7AB0-CCE1-08FE-7A4BA2512E9C}"/>
              </a:ext>
            </a:extLst>
          </p:cNvPr>
          <p:cNvSpPr txBox="1">
            <a:spLocks noChangeArrowheads="1"/>
          </p:cNvSpPr>
          <p:nvPr/>
        </p:nvSpPr>
        <p:spPr bwMode="auto">
          <a:xfrm>
            <a:off x="5368925" y="5099050"/>
            <a:ext cx="4572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E</a:t>
            </a:r>
            <a:r>
              <a:rPr lang="en-GB" altLang="en-US" sz="1600" baseline="-25000"/>
              <a:t>f</a:t>
            </a:r>
            <a:endParaRPr lang="en-US" altLang="en-US" sz="1600"/>
          </a:p>
        </p:txBody>
      </p:sp>
      <p:sp>
        <p:nvSpPr>
          <p:cNvPr id="21523" name="Text Box 32">
            <a:extLst>
              <a:ext uri="{FF2B5EF4-FFF2-40B4-BE49-F238E27FC236}">
                <a16:creationId xmlns:a16="http://schemas.microsoft.com/office/drawing/2014/main" id="{C5D5FCC8-EE61-64E4-0367-E1E28B279987}"/>
              </a:ext>
            </a:extLst>
          </p:cNvPr>
          <p:cNvSpPr txBox="1">
            <a:spLocks noChangeArrowheads="1"/>
          </p:cNvSpPr>
          <p:nvPr/>
        </p:nvSpPr>
        <p:spPr bwMode="auto">
          <a:xfrm>
            <a:off x="4911725" y="5619750"/>
            <a:ext cx="4572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E</a:t>
            </a:r>
            <a:r>
              <a:rPr lang="en-GB" altLang="en-US" sz="1600" baseline="-25000"/>
              <a:t>v</a:t>
            </a:r>
            <a:endParaRPr lang="en-US" altLang="en-US" sz="1600"/>
          </a:p>
        </p:txBody>
      </p:sp>
      <p:sp>
        <p:nvSpPr>
          <p:cNvPr id="21524" name="Text Box 33">
            <a:extLst>
              <a:ext uri="{FF2B5EF4-FFF2-40B4-BE49-F238E27FC236}">
                <a16:creationId xmlns:a16="http://schemas.microsoft.com/office/drawing/2014/main" id="{3A89C59A-136B-46BB-612E-90FCE3130C74}"/>
              </a:ext>
            </a:extLst>
          </p:cNvPr>
          <p:cNvSpPr txBox="1">
            <a:spLocks noChangeArrowheads="1"/>
          </p:cNvSpPr>
          <p:nvPr/>
        </p:nvSpPr>
        <p:spPr bwMode="auto">
          <a:xfrm>
            <a:off x="4927600" y="4722813"/>
            <a:ext cx="4572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E</a:t>
            </a:r>
            <a:r>
              <a:rPr lang="en-GB" altLang="en-US" sz="1600" baseline="-25000"/>
              <a:t>c</a:t>
            </a:r>
            <a:endParaRPr lang="en-US" altLang="en-US" sz="1600"/>
          </a:p>
        </p:txBody>
      </p:sp>
      <p:sp>
        <p:nvSpPr>
          <p:cNvPr id="21525" name="Freeform 35">
            <a:extLst>
              <a:ext uri="{FF2B5EF4-FFF2-40B4-BE49-F238E27FC236}">
                <a16:creationId xmlns:a16="http://schemas.microsoft.com/office/drawing/2014/main" id="{0733D01A-58D2-F19B-AEDC-5357A976C1A1}"/>
              </a:ext>
            </a:extLst>
          </p:cNvPr>
          <p:cNvSpPr>
            <a:spLocks/>
          </p:cNvSpPr>
          <p:nvPr/>
        </p:nvSpPr>
        <p:spPr bwMode="auto">
          <a:xfrm>
            <a:off x="2547939" y="5359401"/>
            <a:ext cx="765175" cy="555625"/>
          </a:xfrm>
          <a:custGeom>
            <a:avLst/>
            <a:gdLst>
              <a:gd name="T0" fmla="*/ 765175 w 482"/>
              <a:gd name="T1" fmla="*/ 517525 h 350"/>
              <a:gd name="T2" fmla="*/ 123825 w 482"/>
              <a:gd name="T3" fmla="*/ 469900 h 350"/>
              <a:gd name="T4" fmla="*/ 17463 w 482"/>
              <a:gd name="T5" fmla="*/ 0 h 350"/>
              <a:gd name="T6" fmla="*/ 0 60000 65536"/>
              <a:gd name="T7" fmla="*/ 0 60000 65536"/>
              <a:gd name="T8" fmla="*/ 0 60000 65536"/>
            </a:gdLst>
            <a:ahLst/>
            <a:cxnLst>
              <a:cxn ang="T6">
                <a:pos x="T0" y="T1"/>
              </a:cxn>
              <a:cxn ang="T7">
                <a:pos x="T2" y="T3"/>
              </a:cxn>
              <a:cxn ang="T8">
                <a:pos x="T4" y="T5"/>
              </a:cxn>
            </a:cxnLst>
            <a:rect l="0" t="0" r="r" b="b"/>
            <a:pathLst>
              <a:path w="482" h="350">
                <a:moveTo>
                  <a:pt x="482" y="326"/>
                </a:moveTo>
                <a:cubicBezTo>
                  <a:pt x="415" y="321"/>
                  <a:pt x="156" y="350"/>
                  <a:pt x="78" y="296"/>
                </a:cubicBezTo>
                <a:cubicBezTo>
                  <a:pt x="0" y="242"/>
                  <a:pt x="25" y="62"/>
                  <a:pt x="11" y="0"/>
                </a:cubicBezTo>
              </a:path>
            </a:pathLst>
          </a:custGeom>
          <a:noFill/>
          <a:ln w="12700" cap="flat" cmpd="sng">
            <a:solidFill>
              <a:srgbClr val="646464"/>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graphicFrame>
        <p:nvGraphicFramePr>
          <p:cNvPr id="21526" name="Object 36">
            <a:extLst>
              <a:ext uri="{FF2B5EF4-FFF2-40B4-BE49-F238E27FC236}">
                <a16:creationId xmlns:a16="http://schemas.microsoft.com/office/drawing/2014/main" id="{C9C67787-75B0-5D5F-7123-22660E7B121A}"/>
              </a:ext>
            </a:extLst>
          </p:cNvPr>
          <p:cNvGraphicFramePr>
            <a:graphicFrameLocks noChangeAspect="1"/>
          </p:cNvGraphicFramePr>
          <p:nvPr/>
        </p:nvGraphicFramePr>
        <p:xfrm>
          <a:off x="3038476" y="2373313"/>
          <a:ext cx="2227263" cy="868362"/>
        </p:xfrm>
        <a:graphic>
          <a:graphicData uri="http://schemas.openxmlformats.org/presentationml/2006/ole">
            <mc:AlternateContent xmlns:mc="http://schemas.openxmlformats.org/markup-compatibility/2006">
              <mc:Choice xmlns:v="urn:schemas-microsoft-com:vml" Requires="v">
                <p:oleObj name="Equation" r:id="rId2" imgW="1497950" imgH="583947" progId="Equation.3">
                  <p:embed/>
                </p:oleObj>
              </mc:Choice>
              <mc:Fallback>
                <p:oleObj name="Equation" r:id="rId2" imgW="1497950" imgH="583947" progId="Equation.3">
                  <p:embed/>
                  <p:pic>
                    <p:nvPicPr>
                      <p:cNvPr id="21526" name="Object 36">
                        <a:extLst>
                          <a:ext uri="{FF2B5EF4-FFF2-40B4-BE49-F238E27FC236}">
                            <a16:creationId xmlns:a16="http://schemas.microsoft.com/office/drawing/2014/main" id="{C9C67787-75B0-5D5F-7123-22660E7B12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8476" y="2373313"/>
                        <a:ext cx="2227263" cy="868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27" name="Text Box 37">
            <a:extLst>
              <a:ext uri="{FF2B5EF4-FFF2-40B4-BE49-F238E27FC236}">
                <a16:creationId xmlns:a16="http://schemas.microsoft.com/office/drawing/2014/main" id="{83B3F662-1BAF-022C-E9AF-7B9E231E1A8D}"/>
              </a:ext>
            </a:extLst>
          </p:cNvPr>
          <p:cNvSpPr txBox="1">
            <a:spLocks noChangeArrowheads="1"/>
          </p:cNvSpPr>
          <p:nvPr/>
        </p:nvSpPr>
        <p:spPr bwMode="auto">
          <a:xfrm>
            <a:off x="6380164" y="3429001"/>
            <a:ext cx="3163887" cy="2292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a:t>Increasing surface doping lowers </a:t>
            </a:r>
            <a:r>
              <a:rPr lang="en-GB" altLang="en-US">
                <a:latin typeface="Symbol" panose="05050102010706020507" pitchFamily="18" charset="2"/>
              </a:rPr>
              <a:t>r</a:t>
            </a:r>
            <a:r>
              <a:rPr lang="en-GB" altLang="en-US" baseline="-25000"/>
              <a:t>s</a:t>
            </a:r>
            <a:r>
              <a:rPr lang="en-GB" altLang="en-US"/>
              <a:t>, since the tunnelling barrier shrinks</a:t>
            </a:r>
          </a:p>
          <a:p>
            <a:pPr eaLnBrk="1" hangingPunct="1">
              <a:spcBef>
                <a:spcPct val="50000"/>
              </a:spcBef>
              <a:buFont typeface="Times" panose="02020603050405020304" pitchFamily="18" charset="0"/>
              <a:buChar char="•"/>
            </a:pPr>
            <a:r>
              <a:rPr lang="en-GB" altLang="en-US"/>
              <a:t>Heavily doped substrates are needed to obtain an ohmic contact</a:t>
            </a:r>
            <a:endParaRPr lang="en-US" altLang="en-US"/>
          </a:p>
        </p:txBody>
      </p:sp>
      <p:sp>
        <p:nvSpPr>
          <p:cNvPr id="21528" name="AutoShape 38">
            <a:extLst>
              <a:ext uri="{FF2B5EF4-FFF2-40B4-BE49-F238E27FC236}">
                <a16:creationId xmlns:a16="http://schemas.microsoft.com/office/drawing/2014/main" id="{8D483640-35A8-34AB-8B34-2A785CB81D5E}"/>
              </a:ext>
            </a:extLst>
          </p:cNvPr>
          <p:cNvSpPr>
            <a:spLocks noChangeAspect="1" noChangeArrowheads="1" noTextEdit="1"/>
          </p:cNvSpPr>
          <p:nvPr/>
        </p:nvSpPr>
        <p:spPr bwMode="auto">
          <a:xfrm>
            <a:off x="4205289" y="3651251"/>
            <a:ext cx="1392237"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29" name="Freeform 40">
            <a:extLst>
              <a:ext uri="{FF2B5EF4-FFF2-40B4-BE49-F238E27FC236}">
                <a16:creationId xmlns:a16="http://schemas.microsoft.com/office/drawing/2014/main" id="{E49FDAF6-5FFF-0256-37EC-F08B4ED77E66}"/>
              </a:ext>
            </a:extLst>
          </p:cNvPr>
          <p:cNvSpPr>
            <a:spLocks noEditPoints="1"/>
          </p:cNvSpPr>
          <p:nvPr/>
        </p:nvSpPr>
        <p:spPr bwMode="auto">
          <a:xfrm>
            <a:off x="4762500" y="3657600"/>
            <a:ext cx="52388" cy="1163638"/>
          </a:xfrm>
          <a:custGeom>
            <a:avLst/>
            <a:gdLst>
              <a:gd name="T0" fmla="*/ 30163 w 33"/>
              <a:gd name="T1" fmla="*/ 41275 h 733"/>
              <a:gd name="T2" fmla="*/ 30163 w 33"/>
              <a:gd name="T3" fmla="*/ 1163638 h 733"/>
              <a:gd name="T4" fmla="*/ 22225 w 33"/>
              <a:gd name="T5" fmla="*/ 1163638 h 733"/>
              <a:gd name="T6" fmla="*/ 22225 w 33"/>
              <a:gd name="T7" fmla="*/ 41275 h 733"/>
              <a:gd name="T8" fmla="*/ 30163 w 33"/>
              <a:gd name="T9" fmla="*/ 41275 h 733"/>
              <a:gd name="T10" fmla="*/ 0 w 33"/>
              <a:gd name="T11" fmla="*/ 52388 h 733"/>
              <a:gd name="T12" fmla="*/ 25400 w 33"/>
              <a:gd name="T13" fmla="*/ 0 h 733"/>
              <a:gd name="T14" fmla="*/ 52388 w 33"/>
              <a:gd name="T15" fmla="*/ 52388 h 733"/>
              <a:gd name="T16" fmla="*/ 0 w 33"/>
              <a:gd name="T17" fmla="*/ 52388 h 7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733">
                <a:moveTo>
                  <a:pt x="19" y="26"/>
                </a:moveTo>
                <a:lnTo>
                  <a:pt x="19" y="733"/>
                </a:lnTo>
                <a:lnTo>
                  <a:pt x="14" y="733"/>
                </a:lnTo>
                <a:lnTo>
                  <a:pt x="14" y="26"/>
                </a:lnTo>
                <a:lnTo>
                  <a:pt x="19" y="26"/>
                </a:lnTo>
                <a:close/>
                <a:moveTo>
                  <a:pt x="0" y="33"/>
                </a:moveTo>
                <a:lnTo>
                  <a:pt x="16" y="0"/>
                </a:lnTo>
                <a:lnTo>
                  <a:pt x="33" y="33"/>
                </a:lnTo>
                <a:lnTo>
                  <a:pt x="0" y="33"/>
                </a:lnTo>
                <a:close/>
              </a:path>
            </a:pathLst>
          </a:custGeom>
          <a:solidFill>
            <a:srgbClr val="646464"/>
          </a:solidFill>
          <a:ln w="1588">
            <a:solidFill>
              <a:srgbClr val="646464"/>
            </a:solidFill>
            <a:prstDash val="solid"/>
            <a:round/>
            <a:headEnd/>
            <a:tailEnd/>
          </a:ln>
        </p:spPr>
        <p:txBody>
          <a:bodyPr/>
          <a:lstStyle/>
          <a:p>
            <a:endParaRPr lang="en-US"/>
          </a:p>
        </p:txBody>
      </p:sp>
      <p:sp>
        <p:nvSpPr>
          <p:cNvPr id="21530" name="Freeform 41">
            <a:extLst>
              <a:ext uri="{FF2B5EF4-FFF2-40B4-BE49-F238E27FC236}">
                <a16:creationId xmlns:a16="http://schemas.microsoft.com/office/drawing/2014/main" id="{2C5B96F7-FA67-C81B-4C3A-F266ED112D33}"/>
              </a:ext>
            </a:extLst>
          </p:cNvPr>
          <p:cNvSpPr>
            <a:spLocks noEditPoints="1"/>
          </p:cNvSpPr>
          <p:nvPr/>
        </p:nvSpPr>
        <p:spPr bwMode="auto">
          <a:xfrm>
            <a:off x="4210050" y="4279900"/>
            <a:ext cx="1257300" cy="52388"/>
          </a:xfrm>
          <a:custGeom>
            <a:avLst/>
            <a:gdLst>
              <a:gd name="T0" fmla="*/ 0 w 792"/>
              <a:gd name="T1" fmla="*/ 31750 h 33"/>
              <a:gd name="T2" fmla="*/ 1212850 w 792"/>
              <a:gd name="T3" fmla="*/ 20638 h 33"/>
              <a:gd name="T4" fmla="*/ 1212850 w 792"/>
              <a:gd name="T5" fmla="*/ 30163 h 33"/>
              <a:gd name="T6" fmla="*/ 0 w 792"/>
              <a:gd name="T7" fmla="*/ 39688 h 33"/>
              <a:gd name="T8" fmla="*/ 0 w 792"/>
              <a:gd name="T9" fmla="*/ 31750 h 33"/>
              <a:gd name="T10" fmla="*/ 1204913 w 792"/>
              <a:gd name="T11" fmla="*/ 0 h 33"/>
              <a:gd name="T12" fmla="*/ 1257300 w 792"/>
              <a:gd name="T13" fmla="*/ 25400 h 33"/>
              <a:gd name="T14" fmla="*/ 1204913 w 792"/>
              <a:gd name="T15" fmla="*/ 52388 h 33"/>
              <a:gd name="T16" fmla="*/ 1204913 w 792"/>
              <a:gd name="T17" fmla="*/ 0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92" h="33">
                <a:moveTo>
                  <a:pt x="0" y="20"/>
                </a:moveTo>
                <a:lnTo>
                  <a:pt x="764" y="13"/>
                </a:lnTo>
                <a:lnTo>
                  <a:pt x="764" y="19"/>
                </a:lnTo>
                <a:lnTo>
                  <a:pt x="0" y="25"/>
                </a:lnTo>
                <a:lnTo>
                  <a:pt x="0" y="20"/>
                </a:lnTo>
                <a:close/>
                <a:moveTo>
                  <a:pt x="759" y="0"/>
                </a:moveTo>
                <a:lnTo>
                  <a:pt x="792" y="16"/>
                </a:lnTo>
                <a:lnTo>
                  <a:pt x="759" y="33"/>
                </a:lnTo>
                <a:lnTo>
                  <a:pt x="759" y="0"/>
                </a:lnTo>
                <a:close/>
              </a:path>
            </a:pathLst>
          </a:custGeom>
          <a:solidFill>
            <a:srgbClr val="646464"/>
          </a:solidFill>
          <a:ln w="1588">
            <a:solidFill>
              <a:srgbClr val="646464"/>
            </a:solidFill>
            <a:prstDash val="solid"/>
            <a:round/>
            <a:headEnd/>
            <a:tailEnd/>
          </a:ln>
        </p:spPr>
        <p:txBody>
          <a:bodyPr/>
          <a:lstStyle/>
          <a:p>
            <a:endParaRPr lang="en-US"/>
          </a:p>
        </p:txBody>
      </p:sp>
      <p:sp>
        <p:nvSpPr>
          <p:cNvPr id="21531" name="Rectangle 43">
            <a:extLst>
              <a:ext uri="{FF2B5EF4-FFF2-40B4-BE49-F238E27FC236}">
                <a16:creationId xmlns:a16="http://schemas.microsoft.com/office/drawing/2014/main" id="{8506A1F2-E785-E3C1-DB1B-926E99CEFA31}"/>
              </a:ext>
            </a:extLst>
          </p:cNvPr>
          <p:cNvSpPr>
            <a:spLocks noChangeArrowheads="1"/>
          </p:cNvSpPr>
          <p:nvPr/>
        </p:nvSpPr>
        <p:spPr bwMode="auto">
          <a:xfrm>
            <a:off x="5335588" y="4411663"/>
            <a:ext cx="84960" cy="146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a:t>V</a:t>
            </a:r>
            <a:endParaRPr lang="en-US" altLang="en-US"/>
          </a:p>
        </p:txBody>
      </p:sp>
      <p:sp>
        <p:nvSpPr>
          <p:cNvPr id="21532" name="Rectangle 44">
            <a:extLst>
              <a:ext uri="{FF2B5EF4-FFF2-40B4-BE49-F238E27FC236}">
                <a16:creationId xmlns:a16="http://schemas.microsoft.com/office/drawing/2014/main" id="{9B2C3A29-9006-12F4-0BD7-E204B1D9D42D}"/>
              </a:ext>
            </a:extLst>
          </p:cNvPr>
          <p:cNvSpPr>
            <a:spLocks noChangeArrowheads="1"/>
          </p:cNvSpPr>
          <p:nvPr/>
        </p:nvSpPr>
        <p:spPr bwMode="auto">
          <a:xfrm>
            <a:off x="4651375" y="3689350"/>
            <a:ext cx="35266" cy="146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a:t>I</a:t>
            </a:r>
            <a:endParaRPr lang="en-US" altLang="en-US"/>
          </a:p>
        </p:txBody>
      </p:sp>
      <p:sp>
        <p:nvSpPr>
          <p:cNvPr id="21533" name="Freeform 45">
            <a:extLst>
              <a:ext uri="{FF2B5EF4-FFF2-40B4-BE49-F238E27FC236}">
                <a16:creationId xmlns:a16="http://schemas.microsoft.com/office/drawing/2014/main" id="{F3BE7D26-6C15-F897-79FC-9DDE602E3337}"/>
              </a:ext>
            </a:extLst>
          </p:cNvPr>
          <p:cNvSpPr>
            <a:spLocks noEditPoints="1"/>
          </p:cNvSpPr>
          <p:nvPr/>
        </p:nvSpPr>
        <p:spPr bwMode="auto">
          <a:xfrm>
            <a:off x="4762500" y="3657600"/>
            <a:ext cx="52388" cy="1163638"/>
          </a:xfrm>
          <a:custGeom>
            <a:avLst/>
            <a:gdLst>
              <a:gd name="T0" fmla="*/ 30163 w 33"/>
              <a:gd name="T1" fmla="*/ 41275 h 733"/>
              <a:gd name="T2" fmla="*/ 30163 w 33"/>
              <a:gd name="T3" fmla="*/ 1163638 h 733"/>
              <a:gd name="T4" fmla="*/ 22225 w 33"/>
              <a:gd name="T5" fmla="*/ 1163638 h 733"/>
              <a:gd name="T6" fmla="*/ 22225 w 33"/>
              <a:gd name="T7" fmla="*/ 41275 h 733"/>
              <a:gd name="T8" fmla="*/ 30163 w 33"/>
              <a:gd name="T9" fmla="*/ 41275 h 733"/>
              <a:gd name="T10" fmla="*/ 0 w 33"/>
              <a:gd name="T11" fmla="*/ 52388 h 733"/>
              <a:gd name="T12" fmla="*/ 25400 w 33"/>
              <a:gd name="T13" fmla="*/ 0 h 733"/>
              <a:gd name="T14" fmla="*/ 52388 w 33"/>
              <a:gd name="T15" fmla="*/ 52388 h 733"/>
              <a:gd name="T16" fmla="*/ 0 w 33"/>
              <a:gd name="T17" fmla="*/ 52388 h 7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3" h="733">
                <a:moveTo>
                  <a:pt x="19" y="26"/>
                </a:moveTo>
                <a:lnTo>
                  <a:pt x="19" y="733"/>
                </a:lnTo>
                <a:lnTo>
                  <a:pt x="14" y="733"/>
                </a:lnTo>
                <a:lnTo>
                  <a:pt x="14" y="26"/>
                </a:lnTo>
                <a:lnTo>
                  <a:pt x="19" y="26"/>
                </a:lnTo>
                <a:close/>
                <a:moveTo>
                  <a:pt x="0" y="33"/>
                </a:moveTo>
                <a:lnTo>
                  <a:pt x="16" y="0"/>
                </a:lnTo>
                <a:lnTo>
                  <a:pt x="33" y="33"/>
                </a:lnTo>
                <a:lnTo>
                  <a:pt x="0" y="33"/>
                </a:lnTo>
                <a:close/>
              </a:path>
            </a:pathLst>
          </a:custGeom>
          <a:solidFill>
            <a:srgbClr val="646464"/>
          </a:solidFill>
          <a:ln w="1588">
            <a:solidFill>
              <a:srgbClr val="646464"/>
            </a:solidFill>
            <a:prstDash val="solid"/>
            <a:round/>
            <a:headEnd/>
            <a:tailEnd/>
          </a:ln>
        </p:spPr>
        <p:txBody>
          <a:bodyPr/>
          <a:lstStyle/>
          <a:p>
            <a:endParaRPr lang="en-US"/>
          </a:p>
        </p:txBody>
      </p:sp>
      <p:sp>
        <p:nvSpPr>
          <p:cNvPr id="21534" name="Freeform 46">
            <a:extLst>
              <a:ext uri="{FF2B5EF4-FFF2-40B4-BE49-F238E27FC236}">
                <a16:creationId xmlns:a16="http://schemas.microsoft.com/office/drawing/2014/main" id="{3AABC244-9D88-A176-A5F2-1251AEF64B58}"/>
              </a:ext>
            </a:extLst>
          </p:cNvPr>
          <p:cNvSpPr>
            <a:spLocks noEditPoints="1"/>
          </p:cNvSpPr>
          <p:nvPr/>
        </p:nvSpPr>
        <p:spPr bwMode="auto">
          <a:xfrm>
            <a:off x="4210050" y="4279900"/>
            <a:ext cx="1257300" cy="52388"/>
          </a:xfrm>
          <a:custGeom>
            <a:avLst/>
            <a:gdLst>
              <a:gd name="T0" fmla="*/ 0 w 792"/>
              <a:gd name="T1" fmla="*/ 31750 h 33"/>
              <a:gd name="T2" fmla="*/ 1212850 w 792"/>
              <a:gd name="T3" fmla="*/ 20638 h 33"/>
              <a:gd name="T4" fmla="*/ 1212850 w 792"/>
              <a:gd name="T5" fmla="*/ 30163 h 33"/>
              <a:gd name="T6" fmla="*/ 0 w 792"/>
              <a:gd name="T7" fmla="*/ 39688 h 33"/>
              <a:gd name="T8" fmla="*/ 0 w 792"/>
              <a:gd name="T9" fmla="*/ 31750 h 33"/>
              <a:gd name="T10" fmla="*/ 1204913 w 792"/>
              <a:gd name="T11" fmla="*/ 0 h 33"/>
              <a:gd name="T12" fmla="*/ 1257300 w 792"/>
              <a:gd name="T13" fmla="*/ 25400 h 33"/>
              <a:gd name="T14" fmla="*/ 1204913 w 792"/>
              <a:gd name="T15" fmla="*/ 52388 h 33"/>
              <a:gd name="T16" fmla="*/ 1204913 w 792"/>
              <a:gd name="T17" fmla="*/ 0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92" h="33">
                <a:moveTo>
                  <a:pt x="0" y="20"/>
                </a:moveTo>
                <a:lnTo>
                  <a:pt x="764" y="13"/>
                </a:lnTo>
                <a:lnTo>
                  <a:pt x="764" y="19"/>
                </a:lnTo>
                <a:lnTo>
                  <a:pt x="0" y="25"/>
                </a:lnTo>
                <a:lnTo>
                  <a:pt x="0" y="20"/>
                </a:lnTo>
                <a:close/>
                <a:moveTo>
                  <a:pt x="759" y="0"/>
                </a:moveTo>
                <a:lnTo>
                  <a:pt x="792" y="16"/>
                </a:lnTo>
                <a:lnTo>
                  <a:pt x="759" y="33"/>
                </a:lnTo>
                <a:lnTo>
                  <a:pt x="759" y="0"/>
                </a:lnTo>
                <a:close/>
              </a:path>
            </a:pathLst>
          </a:custGeom>
          <a:solidFill>
            <a:srgbClr val="646464"/>
          </a:solidFill>
          <a:ln w="1588">
            <a:solidFill>
              <a:srgbClr val="646464"/>
            </a:solidFill>
            <a:prstDash val="solid"/>
            <a:round/>
            <a:headEnd/>
            <a:tailEnd/>
          </a:ln>
        </p:spPr>
        <p:txBody>
          <a:bodyPr/>
          <a:lstStyle/>
          <a:p>
            <a:endParaRPr lang="en-US"/>
          </a:p>
        </p:txBody>
      </p:sp>
      <p:sp>
        <p:nvSpPr>
          <p:cNvPr id="21535" name="Rectangle 48">
            <a:extLst>
              <a:ext uri="{FF2B5EF4-FFF2-40B4-BE49-F238E27FC236}">
                <a16:creationId xmlns:a16="http://schemas.microsoft.com/office/drawing/2014/main" id="{EF462616-7CC7-66D9-6DC7-F2E7788273C6}"/>
              </a:ext>
            </a:extLst>
          </p:cNvPr>
          <p:cNvSpPr>
            <a:spLocks noChangeArrowheads="1"/>
          </p:cNvSpPr>
          <p:nvPr/>
        </p:nvSpPr>
        <p:spPr bwMode="auto">
          <a:xfrm>
            <a:off x="5335588" y="4411663"/>
            <a:ext cx="84960" cy="146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a:t>V</a:t>
            </a:r>
            <a:endParaRPr lang="en-US" altLang="en-US"/>
          </a:p>
        </p:txBody>
      </p:sp>
      <p:sp>
        <p:nvSpPr>
          <p:cNvPr id="21536" name="Rectangle 49">
            <a:extLst>
              <a:ext uri="{FF2B5EF4-FFF2-40B4-BE49-F238E27FC236}">
                <a16:creationId xmlns:a16="http://schemas.microsoft.com/office/drawing/2014/main" id="{C908550C-408D-7020-DDD1-E366BC2AE89E}"/>
              </a:ext>
            </a:extLst>
          </p:cNvPr>
          <p:cNvSpPr>
            <a:spLocks noChangeArrowheads="1"/>
          </p:cNvSpPr>
          <p:nvPr/>
        </p:nvSpPr>
        <p:spPr bwMode="auto">
          <a:xfrm>
            <a:off x="4651375" y="3689350"/>
            <a:ext cx="35266" cy="146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a:t>I</a:t>
            </a:r>
            <a:endParaRPr lang="en-US" altLang="en-US"/>
          </a:p>
        </p:txBody>
      </p:sp>
      <p:sp>
        <p:nvSpPr>
          <p:cNvPr id="21537" name="Line 50">
            <a:extLst>
              <a:ext uri="{FF2B5EF4-FFF2-40B4-BE49-F238E27FC236}">
                <a16:creationId xmlns:a16="http://schemas.microsoft.com/office/drawing/2014/main" id="{D887DF8B-565A-837A-6573-064CD03EF2FF}"/>
              </a:ext>
            </a:extLst>
          </p:cNvPr>
          <p:cNvSpPr>
            <a:spLocks noChangeShapeType="1"/>
          </p:cNvSpPr>
          <p:nvPr/>
        </p:nvSpPr>
        <p:spPr bwMode="auto">
          <a:xfrm flipV="1">
            <a:off x="4462464" y="3673476"/>
            <a:ext cx="688975" cy="1154113"/>
          </a:xfrm>
          <a:prstGeom prst="line">
            <a:avLst/>
          </a:prstGeom>
          <a:noFill/>
          <a:ln w="12700">
            <a:solidFill>
              <a:srgbClr val="64646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a:extLst>
              <a:ext uri="{FF2B5EF4-FFF2-40B4-BE49-F238E27FC236}">
                <a16:creationId xmlns:a16="http://schemas.microsoft.com/office/drawing/2014/main" id="{A8785A22-6059-556C-17ED-5E67941BCF8C}"/>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B20D55E5-49D8-4E5E-A9D5-FB5DF2AC2541}" type="slidenum">
              <a:rPr lang="en-US" altLang="en-US" sz="800"/>
              <a:pPr>
                <a:lnSpc>
                  <a:spcPct val="100000"/>
                </a:lnSpc>
                <a:spcBef>
                  <a:spcPct val="0"/>
                </a:spcBef>
                <a:buClr>
                  <a:srgbClr val="F68933"/>
                </a:buClr>
                <a:buFontTx/>
                <a:buNone/>
              </a:pPr>
              <a:t>13</a:t>
            </a:fld>
            <a:endParaRPr lang="en-US" altLang="en-US" sz="800"/>
          </a:p>
        </p:txBody>
      </p:sp>
      <p:pic>
        <p:nvPicPr>
          <p:cNvPr id="22531" name="Picture 4">
            <a:extLst>
              <a:ext uri="{FF2B5EF4-FFF2-40B4-BE49-F238E27FC236}">
                <a16:creationId xmlns:a16="http://schemas.microsoft.com/office/drawing/2014/main" id="{E635391A-9183-ABEF-FFA3-C5C835E101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8126" y="3629025"/>
            <a:ext cx="8943975" cy="1214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32" name="Rectangle 2">
            <a:extLst>
              <a:ext uri="{FF2B5EF4-FFF2-40B4-BE49-F238E27FC236}">
                <a16:creationId xmlns:a16="http://schemas.microsoft.com/office/drawing/2014/main" id="{340D062C-9E02-146A-CF96-32FC683DFBA4}"/>
              </a:ext>
            </a:extLst>
          </p:cNvPr>
          <p:cNvSpPr>
            <a:spLocks noGrp="1" noChangeArrowheads="1"/>
          </p:cNvSpPr>
          <p:nvPr>
            <p:ph type="title"/>
          </p:nvPr>
        </p:nvSpPr>
        <p:spPr/>
        <p:txBody>
          <a:bodyPr/>
          <a:lstStyle/>
          <a:p>
            <a:pPr eaLnBrk="1" hangingPunct="1"/>
            <a:r>
              <a:rPr lang="en-GB" altLang="en-US"/>
              <a:t>Contact resistance</a:t>
            </a:r>
            <a:endParaRPr lang="en-US" altLang="en-US"/>
          </a:p>
        </p:txBody>
      </p:sp>
      <p:sp>
        <p:nvSpPr>
          <p:cNvPr id="22533" name="Rectangle 3">
            <a:extLst>
              <a:ext uri="{FF2B5EF4-FFF2-40B4-BE49-F238E27FC236}">
                <a16:creationId xmlns:a16="http://schemas.microsoft.com/office/drawing/2014/main" id="{68DD5812-B2C9-43A6-3BE6-903A969EEB58}"/>
              </a:ext>
            </a:extLst>
          </p:cNvPr>
          <p:cNvSpPr>
            <a:spLocks noGrp="1" noChangeArrowheads="1"/>
          </p:cNvSpPr>
          <p:nvPr>
            <p:ph type="body" idx="1"/>
          </p:nvPr>
        </p:nvSpPr>
        <p:spPr>
          <a:xfrm>
            <a:off x="1893889" y="1371600"/>
            <a:ext cx="8402637" cy="4114800"/>
          </a:xfrm>
        </p:spPr>
        <p:txBody>
          <a:bodyPr/>
          <a:lstStyle/>
          <a:p>
            <a:pPr eaLnBrk="1" hangingPunct="1"/>
            <a:r>
              <a:rPr lang="en-GB" altLang="en-US"/>
              <a:t>Contact resistance can be roughly estimated by dividing </a:t>
            </a:r>
            <a:r>
              <a:rPr lang="en-GB" altLang="en-US">
                <a:latin typeface="Symbol" panose="05050102010706020507" pitchFamily="18" charset="2"/>
              </a:rPr>
              <a:t>r</a:t>
            </a:r>
            <a:r>
              <a:rPr lang="en-GB" altLang="en-US" baseline="-25000"/>
              <a:t>s </a:t>
            </a:r>
            <a:r>
              <a:rPr lang="en-GB" altLang="en-US"/>
              <a:t>by the contact area (</a:t>
            </a:r>
            <a:r>
              <a:rPr lang="en-GB" altLang="en-US">
                <a:sym typeface="Wingdings" panose="05000000000000000000" pitchFamily="2" charset="2"/>
              </a:rPr>
              <a:t> contact resistance is one of the technology scaling issues)</a:t>
            </a:r>
            <a:endParaRPr lang="en-GB" altLang="en-US"/>
          </a:p>
          <a:p>
            <a:pPr eaLnBrk="1" hangingPunct="1"/>
            <a:r>
              <a:rPr lang="en-GB" altLang="en-US"/>
              <a:t>Other effects must also be taken into account, e.g. current crowding.</a:t>
            </a:r>
          </a:p>
          <a:p>
            <a:pPr eaLnBrk="1" hangingPunct="1"/>
            <a:endParaRPr lang="en-GB" altLang="en-US"/>
          </a:p>
          <a:p>
            <a:pPr eaLnBrk="1" hangingPunct="1"/>
            <a:endParaRPr lang="en-US" altLang="en-US"/>
          </a:p>
        </p:txBody>
      </p:sp>
      <p:pic>
        <p:nvPicPr>
          <p:cNvPr id="22534" name="Picture 5">
            <a:extLst>
              <a:ext uri="{FF2B5EF4-FFF2-40B4-BE49-F238E27FC236}">
                <a16:creationId xmlns:a16="http://schemas.microsoft.com/office/drawing/2014/main" id="{13FE8F94-F896-29FD-A1E5-7EF9C8E972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6864" y="3597276"/>
            <a:ext cx="8899525" cy="90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a:extLst>
              <a:ext uri="{FF2B5EF4-FFF2-40B4-BE49-F238E27FC236}">
                <a16:creationId xmlns:a16="http://schemas.microsoft.com/office/drawing/2014/main" id="{EA493125-4F9C-0F4E-28FC-B30B2A02AF97}"/>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8FD9CD05-E080-4F4C-82A0-2B4021B14A69}" type="slidenum">
              <a:rPr lang="en-US" altLang="en-US" sz="800"/>
              <a:pPr>
                <a:lnSpc>
                  <a:spcPct val="100000"/>
                </a:lnSpc>
                <a:spcBef>
                  <a:spcPct val="0"/>
                </a:spcBef>
                <a:buClr>
                  <a:srgbClr val="F68933"/>
                </a:buClr>
                <a:buFontTx/>
                <a:buNone/>
              </a:pPr>
              <a:t>14</a:t>
            </a:fld>
            <a:endParaRPr lang="en-US" altLang="en-US" sz="800"/>
          </a:p>
        </p:txBody>
      </p:sp>
      <p:sp>
        <p:nvSpPr>
          <p:cNvPr id="23555" name="Rectangle 2">
            <a:extLst>
              <a:ext uri="{FF2B5EF4-FFF2-40B4-BE49-F238E27FC236}">
                <a16:creationId xmlns:a16="http://schemas.microsoft.com/office/drawing/2014/main" id="{128E7DDD-5F5A-2DED-8FCB-0DAF912A915E}"/>
              </a:ext>
            </a:extLst>
          </p:cNvPr>
          <p:cNvSpPr>
            <a:spLocks noGrp="1" noChangeArrowheads="1"/>
          </p:cNvSpPr>
          <p:nvPr>
            <p:ph type="title"/>
          </p:nvPr>
        </p:nvSpPr>
        <p:spPr/>
        <p:txBody>
          <a:bodyPr/>
          <a:lstStyle/>
          <a:p>
            <a:pPr eaLnBrk="1" hangingPunct="1"/>
            <a:r>
              <a:rPr lang="en-GB" altLang="en-US"/>
              <a:t>Contacts</a:t>
            </a:r>
            <a:endParaRPr lang="en-US" altLang="en-US"/>
          </a:p>
        </p:txBody>
      </p:sp>
      <p:sp>
        <p:nvSpPr>
          <p:cNvPr id="23556" name="Rectangle 3">
            <a:extLst>
              <a:ext uri="{FF2B5EF4-FFF2-40B4-BE49-F238E27FC236}">
                <a16:creationId xmlns:a16="http://schemas.microsoft.com/office/drawing/2014/main" id="{BCEE8D70-448C-0351-4425-D747242356AE}"/>
              </a:ext>
            </a:extLst>
          </p:cNvPr>
          <p:cNvSpPr>
            <a:spLocks noGrp="1" noChangeArrowheads="1"/>
          </p:cNvSpPr>
          <p:nvPr>
            <p:ph type="body" idx="1"/>
          </p:nvPr>
        </p:nvSpPr>
        <p:spPr>
          <a:xfrm>
            <a:off x="2265363" y="1795463"/>
            <a:ext cx="7339012" cy="4114800"/>
          </a:xfrm>
        </p:spPr>
        <p:txBody>
          <a:bodyPr/>
          <a:lstStyle/>
          <a:p>
            <a:pPr eaLnBrk="1" hangingPunct="1"/>
            <a:r>
              <a:rPr lang="en-GB" altLang="en-US" sz="2800"/>
              <a:t>Contacts materials must guarantee:</a:t>
            </a:r>
          </a:p>
          <a:p>
            <a:pPr lvl="1" eaLnBrk="1" hangingPunct="1"/>
            <a:r>
              <a:rPr lang="en-GB" altLang="en-US" sz="2400"/>
              <a:t>Ohmic electrical contact</a:t>
            </a:r>
          </a:p>
          <a:p>
            <a:pPr lvl="1" eaLnBrk="1" hangingPunct="1"/>
            <a:r>
              <a:rPr lang="en-GB" altLang="en-US" sz="2400"/>
              <a:t>Low resistivity</a:t>
            </a:r>
          </a:p>
          <a:p>
            <a:pPr lvl="1" eaLnBrk="1" hangingPunct="1"/>
            <a:r>
              <a:rPr lang="en-GB" altLang="en-US" sz="2400"/>
              <a:t>Thermal stability during the process flow</a:t>
            </a:r>
          </a:p>
          <a:p>
            <a:pPr lvl="1" eaLnBrk="1" hangingPunct="1">
              <a:buFontTx/>
              <a:buNone/>
            </a:pPr>
            <a:endParaRPr lang="en-GB" altLang="en-US"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a:extLst>
              <a:ext uri="{FF2B5EF4-FFF2-40B4-BE49-F238E27FC236}">
                <a16:creationId xmlns:a16="http://schemas.microsoft.com/office/drawing/2014/main" id="{F62B9151-EDE4-13BA-C961-A6E755CB15F2}"/>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3F169C34-8578-4D0B-80F5-7D89AC88D7EF}" type="slidenum">
              <a:rPr lang="en-US" altLang="en-US" sz="800"/>
              <a:pPr>
                <a:lnSpc>
                  <a:spcPct val="100000"/>
                </a:lnSpc>
                <a:spcBef>
                  <a:spcPct val="0"/>
                </a:spcBef>
                <a:buClr>
                  <a:srgbClr val="F68933"/>
                </a:buClr>
                <a:buFontTx/>
                <a:buNone/>
              </a:pPr>
              <a:t>15</a:t>
            </a:fld>
            <a:endParaRPr lang="en-US" altLang="en-US" sz="800"/>
          </a:p>
        </p:txBody>
      </p:sp>
      <p:sp>
        <p:nvSpPr>
          <p:cNvPr id="24579" name="Rectangle 2">
            <a:extLst>
              <a:ext uri="{FF2B5EF4-FFF2-40B4-BE49-F238E27FC236}">
                <a16:creationId xmlns:a16="http://schemas.microsoft.com/office/drawing/2014/main" id="{3AD0E55D-E2D0-777A-4372-8AEFB264068A}"/>
              </a:ext>
            </a:extLst>
          </p:cNvPr>
          <p:cNvSpPr>
            <a:spLocks noGrp="1" noChangeArrowheads="1"/>
          </p:cNvSpPr>
          <p:nvPr>
            <p:ph type="title"/>
          </p:nvPr>
        </p:nvSpPr>
        <p:spPr/>
        <p:txBody>
          <a:bodyPr/>
          <a:lstStyle/>
          <a:p>
            <a:pPr eaLnBrk="1" hangingPunct="1"/>
            <a:r>
              <a:rPr lang="en-GB" altLang="en-US"/>
              <a:t>Contacts</a:t>
            </a:r>
            <a:endParaRPr lang="en-US" altLang="en-US"/>
          </a:p>
        </p:txBody>
      </p:sp>
      <p:sp>
        <p:nvSpPr>
          <p:cNvPr id="24580" name="Rectangle 3">
            <a:extLst>
              <a:ext uri="{FF2B5EF4-FFF2-40B4-BE49-F238E27FC236}">
                <a16:creationId xmlns:a16="http://schemas.microsoft.com/office/drawing/2014/main" id="{D79DA7DD-F075-1892-8E54-2F31CEBF5369}"/>
              </a:ext>
            </a:extLst>
          </p:cNvPr>
          <p:cNvSpPr>
            <a:spLocks noGrp="1" noChangeArrowheads="1"/>
          </p:cNvSpPr>
          <p:nvPr>
            <p:ph type="body" idx="1"/>
          </p:nvPr>
        </p:nvSpPr>
        <p:spPr/>
        <p:txBody>
          <a:bodyPr/>
          <a:lstStyle/>
          <a:p>
            <a:pPr eaLnBrk="1" hangingPunct="1"/>
            <a:r>
              <a:rPr lang="en-GB" altLang="en-US"/>
              <a:t>In early devices, contact/interconnects were made of Al in direct contact with Si.</a:t>
            </a:r>
            <a:endParaRPr lang="en-US" altLang="en-US"/>
          </a:p>
        </p:txBody>
      </p:sp>
      <p:graphicFrame>
        <p:nvGraphicFramePr>
          <p:cNvPr id="24581" name="Object 4">
            <a:extLst>
              <a:ext uri="{FF2B5EF4-FFF2-40B4-BE49-F238E27FC236}">
                <a16:creationId xmlns:a16="http://schemas.microsoft.com/office/drawing/2014/main" id="{A8F48DBE-CBD1-124E-83CF-4804D9348D17}"/>
              </a:ext>
            </a:extLst>
          </p:cNvPr>
          <p:cNvGraphicFramePr>
            <a:graphicFrameLocks noChangeAspect="1"/>
          </p:cNvGraphicFramePr>
          <p:nvPr/>
        </p:nvGraphicFramePr>
        <p:xfrm>
          <a:off x="1566863" y="2371726"/>
          <a:ext cx="2755900" cy="1228725"/>
        </p:xfrm>
        <a:graphic>
          <a:graphicData uri="http://schemas.openxmlformats.org/presentationml/2006/ole">
            <mc:AlternateContent xmlns:mc="http://schemas.openxmlformats.org/markup-compatibility/2006">
              <mc:Choice xmlns:v="urn:schemas-microsoft-com:vml" Requires="v">
                <p:oleObj name="Document" r:id="rId3" imgW="2755392" imgH="1228344" progId="Word.Document.8">
                  <p:embed/>
                </p:oleObj>
              </mc:Choice>
              <mc:Fallback>
                <p:oleObj name="Document" r:id="rId3" imgW="2755392" imgH="1228344" progId="Word.Document.8">
                  <p:embed/>
                  <p:pic>
                    <p:nvPicPr>
                      <p:cNvPr id="24581" name="Object 4">
                        <a:extLst>
                          <a:ext uri="{FF2B5EF4-FFF2-40B4-BE49-F238E27FC236}">
                            <a16:creationId xmlns:a16="http://schemas.microsoft.com/office/drawing/2014/main" id="{A8F48DBE-CBD1-124E-83CF-4804D9348D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6863" y="2371726"/>
                        <a:ext cx="2755900" cy="1228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2" name="Text Box 5">
            <a:extLst>
              <a:ext uri="{FF2B5EF4-FFF2-40B4-BE49-F238E27FC236}">
                <a16:creationId xmlns:a16="http://schemas.microsoft.com/office/drawing/2014/main" id="{B46B023D-170E-4F56-200F-C88EA6F95483}"/>
              </a:ext>
            </a:extLst>
          </p:cNvPr>
          <p:cNvSpPr txBox="1">
            <a:spLocks noChangeArrowheads="1"/>
          </p:cNvSpPr>
          <p:nvPr/>
        </p:nvSpPr>
        <p:spPr bwMode="auto">
          <a:xfrm>
            <a:off x="4972050" y="2473326"/>
            <a:ext cx="49466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a:t> Al reduces SiO</a:t>
            </a:r>
            <a:r>
              <a:rPr lang="en-GB" altLang="en-US" baseline="-25000"/>
              <a:t>2 </a:t>
            </a:r>
            <a:r>
              <a:rPr lang="en-GB" altLang="en-US"/>
              <a:t>(H</a:t>
            </a:r>
            <a:r>
              <a:rPr lang="en-GB" altLang="en-US" baseline="-25000"/>
              <a:t>2</a:t>
            </a:r>
            <a:r>
              <a:rPr lang="en-GB" altLang="en-US"/>
              <a:t> anneal at 450</a:t>
            </a:r>
            <a:r>
              <a:rPr lang="en-US" altLang="en-US">
                <a:cs typeface="Arial" panose="020B0604020202020204" pitchFamily="34" charset="0"/>
              </a:rPr>
              <a:t>°C)</a:t>
            </a:r>
          </a:p>
          <a:p>
            <a:pPr eaLnBrk="1" hangingPunct="1">
              <a:spcBef>
                <a:spcPct val="50000"/>
              </a:spcBef>
              <a:buFont typeface="Times" panose="02020603050405020304" pitchFamily="18" charset="0"/>
              <a:buChar char="•"/>
            </a:pPr>
            <a:r>
              <a:rPr lang="en-GB" altLang="en-US"/>
              <a:t>Good adhesion to Si</a:t>
            </a:r>
            <a:endParaRPr lang="en-US" altLang="en-US"/>
          </a:p>
        </p:txBody>
      </p:sp>
      <p:sp>
        <p:nvSpPr>
          <p:cNvPr id="24583" name="Text Box 6">
            <a:extLst>
              <a:ext uri="{FF2B5EF4-FFF2-40B4-BE49-F238E27FC236}">
                <a16:creationId xmlns:a16="http://schemas.microsoft.com/office/drawing/2014/main" id="{EC3ED278-BD84-6366-4028-FD374307AAAA}"/>
              </a:ext>
            </a:extLst>
          </p:cNvPr>
          <p:cNvSpPr txBox="1">
            <a:spLocks noChangeArrowheads="1"/>
          </p:cNvSpPr>
          <p:nvPr/>
        </p:nvSpPr>
        <p:spPr bwMode="auto">
          <a:xfrm>
            <a:off x="5376863" y="3429001"/>
            <a:ext cx="1903412"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3200">
                <a:solidFill>
                  <a:schemeClr val="tx2"/>
                </a:solidFill>
              </a:rPr>
              <a:t>But…</a:t>
            </a:r>
            <a:endParaRPr lang="en-US" altLang="en-US" sz="3200">
              <a:solidFill>
                <a:schemeClr val="tx2"/>
              </a:solidFill>
            </a:endParaRPr>
          </a:p>
        </p:txBody>
      </p:sp>
      <p:sp>
        <p:nvSpPr>
          <p:cNvPr id="24584" name="Rectangle 7">
            <a:extLst>
              <a:ext uri="{FF2B5EF4-FFF2-40B4-BE49-F238E27FC236}">
                <a16:creationId xmlns:a16="http://schemas.microsoft.com/office/drawing/2014/main" id="{2D20F4F0-1F0B-8F45-C0F2-D57E8E72BD06}"/>
              </a:ext>
            </a:extLst>
          </p:cNvPr>
          <p:cNvSpPr>
            <a:spLocks noChangeArrowheads="1"/>
          </p:cNvSpPr>
          <p:nvPr/>
        </p:nvSpPr>
        <p:spPr bwMode="auto">
          <a:xfrm>
            <a:off x="1524000" y="4405314"/>
            <a:ext cx="4572000" cy="1550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447675" indent="-2476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638175" indent="-142875">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876300" indent="-200025">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1085850" indent="-17145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15430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0002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24574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29146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r>
              <a:rPr lang="en-GB" altLang="en-US" sz="2000"/>
              <a:t>Si is soluble in Al (1% at 500 </a:t>
            </a:r>
            <a:r>
              <a:rPr lang="en-US" altLang="en-US" sz="2000"/>
              <a:t>°C)</a:t>
            </a:r>
            <a:r>
              <a:rPr lang="en-US" altLang="en-US" sz="2000">
                <a:sym typeface="Wingdings" panose="05000000000000000000" pitchFamily="2" charset="2"/>
              </a:rPr>
              <a:t> Al spiking into Si substrate and junction depth limitation.</a:t>
            </a:r>
          </a:p>
          <a:p>
            <a:pPr lvl="1" eaLnBrk="1" hangingPunct="1"/>
            <a:r>
              <a:rPr lang="en-GB" altLang="en-US" sz="1800">
                <a:sym typeface="Wingdings" panose="05000000000000000000" pitchFamily="2" charset="2"/>
              </a:rPr>
              <a:t>Al +Si metal material</a:t>
            </a:r>
          </a:p>
          <a:p>
            <a:pPr lvl="1" eaLnBrk="1" hangingPunct="1"/>
            <a:r>
              <a:rPr lang="en-GB" altLang="en-US" sz="1800">
                <a:sym typeface="Wingdings" panose="05000000000000000000" pitchFamily="2" charset="2"/>
              </a:rPr>
              <a:t>Barrier layers (e.g., Ti, TiN)</a:t>
            </a:r>
            <a:endParaRPr lang="en-US" altLang="en-US" sz="1800">
              <a:sym typeface="Wingdings" panose="05000000000000000000" pitchFamily="2" charset="2"/>
            </a:endParaRPr>
          </a:p>
          <a:p>
            <a:pPr eaLnBrk="1" hangingPunct="1"/>
            <a:r>
              <a:rPr lang="en-GB" altLang="en-US" sz="2000">
                <a:sym typeface="Wingdings" panose="05000000000000000000" pitchFamily="2" charset="2"/>
              </a:rPr>
              <a:t>Planarity is an issue</a:t>
            </a:r>
            <a:endParaRPr lang="en-US" altLang="en-US" sz="2000"/>
          </a:p>
          <a:p>
            <a:pPr eaLnBrk="1" hangingPunct="1"/>
            <a:endParaRPr lang="en-US" altLang="en-US" sz="2000"/>
          </a:p>
        </p:txBody>
      </p:sp>
      <p:graphicFrame>
        <p:nvGraphicFramePr>
          <p:cNvPr id="24585" name="Object 8">
            <a:extLst>
              <a:ext uri="{FF2B5EF4-FFF2-40B4-BE49-F238E27FC236}">
                <a16:creationId xmlns:a16="http://schemas.microsoft.com/office/drawing/2014/main" id="{59B2990E-84BD-1F70-8DF8-0E53F9D3886B}"/>
              </a:ext>
            </a:extLst>
          </p:cNvPr>
          <p:cNvGraphicFramePr>
            <a:graphicFrameLocks noChangeAspect="1"/>
          </p:cNvGraphicFramePr>
          <p:nvPr/>
        </p:nvGraphicFramePr>
        <p:xfrm>
          <a:off x="6446838" y="4460876"/>
          <a:ext cx="3657600" cy="1630363"/>
        </p:xfrm>
        <a:graphic>
          <a:graphicData uri="http://schemas.openxmlformats.org/presentationml/2006/ole">
            <mc:AlternateContent xmlns:mc="http://schemas.openxmlformats.org/markup-compatibility/2006">
              <mc:Choice xmlns:v="urn:schemas-microsoft-com:vml" Requires="v">
                <p:oleObj name="Document" r:id="rId5" imgW="2767584" imgH="1234440" progId="Word.Document.8">
                  <p:embed/>
                </p:oleObj>
              </mc:Choice>
              <mc:Fallback>
                <p:oleObj name="Document" r:id="rId5" imgW="2767584" imgH="1234440" progId="Word.Document.8">
                  <p:embed/>
                  <p:pic>
                    <p:nvPicPr>
                      <p:cNvPr id="24585" name="Object 8">
                        <a:extLst>
                          <a:ext uri="{FF2B5EF4-FFF2-40B4-BE49-F238E27FC236}">
                            <a16:creationId xmlns:a16="http://schemas.microsoft.com/office/drawing/2014/main" id="{59B2990E-84BD-1F70-8DF8-0E53F9D388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6838" y="4460876"/>
                        <a:ext cx="3657600" cy="163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6" name="Oval 9">
            <a:extLst>
              <a:ext uri="{FF2B5EF4-FFF2-40B4-BE49-F238E27FC236}">
                <a16:creationId xmlns:a16="http://schemas.microsoft.com/office/drawing/2014/main" id="{1843B07B-FF34-F9E7-5D32-431B0B8635A2}"/>
              </a:ext>
            </a:extLst>
          </p:cNvPr>
          <p:cNvSpPr>
            <a:spLocks noChangeArrowheads="1"/>
          </p:cNvSpPr>
          <p:nvPr/>
        </p:nvSpPr>
        <p:spPr bwMode="auto">
          <a:xfrm>
            <a:off x="7489825" y="5172076"/>
            <a:ext cx="825500" cy="449263"/>
          </a:xfrm>
          <a:prstGeom prst="ellipse">
            <a:avLst/>
          </a:prstGeom>
          <a:noFill/>
          <a:ln w="12700" algn="ctr">
            <a:solidFill>
              <a:srgbClr val="FF7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
        <p:nvSpPr>
          <p:cNvPr id="24587" name="Oval 10">
            <a:extLst>
              <a:ext uri="{FF2B5EF4-FFF2-40B4-BE49-F238E27FC236}">
                <a16:creationId xmlns:a16="http://schemas.microsoft.com/office/drawing/2014/main" id="{702FC99F-9027-34F2-B439-B8F9625AB81A}"/>
              </a:ext>
            </a:extLst>
          </p:cNvPr>
          <p:cNvSpPr>
            <a:spLocks noChangeArrowheads="1"/>
          </p:cNvSpPr>
          <p:nvPr/>
        </p:nvSpPr>
        <p:spPr bwMode="auto">
          <a:xfrm>
            <a:off x="7205663" y="4241801"/>
            <a:ext cx="1738312" cy="690563"/>
          </a:xfrm>
          <a:prstGeom prst="ellipse">
            <a:avLst/>
          </a:prstGeom>
          <a:noFill/>
          <a:ln w="12700" algn="ctr">
            <a:solidFill>
              <a:srgbClr val="FF7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a:extLst>
              <a:ext uri="{FF2B5EF4-FFF2-40B4-BE49-F238E27FC236}">
                <a16:creationId xmlns:a16="http://schemas.microsoft.com/office/drawing/2014/main" id="{B97A8BCC-99B7-3C51-C64A-7E0CE30F2269}"/>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028B3E47-A441-42FA-B8EB-4331D34014EC}" type="slidenum">
              <a:rPr lang="en-US" altLang="en-US" sz="800"/>
              <a:pPr>
                <a:lnSpc>
                  <a:spcPct val="100000"/>
                </a:lnSpc>
                <a:spcBef>
                  <a:spcPct val="0"/>
                </a:spcBef>
                <a:buClr>
                  <a:srgbClr val="F68933"/>
                </a:buClr>
                <a:buFontTx/>
                <a:buNone/>
              </a:pPr>
              <a:t>16</a:t>
            </a:fld>
            <a:endParaRPr lang="en-US" altLang="en-US" sz="800"/>
          </a:p>
        </p:txBody>
      </p:sp>
      <p:sp>
        <p:nvSpPr>
          <p:cNvPr id="26627" name="Rectangle 2">
            <a:extLst>
              <a:ext uri="{FF2B5EF4-FFF2-40B4-BE49-F238E27FC236}">
                <a16:creationId xmlns:a16="http://schemas.microsoft.com/office/drawing/2014/main" id="{642E9D41-54A5-9C60-9992-23F193258427}"/>
              </a:ext>
            </a:extLst>
          </p:cNvPr>
          <p:cNvSpPr>
            <a:spLocks noGrp="1" noChangeArrowheads="1"/>
          </p:cNvSpPr>
          <p:nvPr>
            <p:ph type="title"/>
          </p:nvPr>
        </p:nvSpPr>
        <p:spPr/>
        <p:txBody>
          <a:bodyPr/>
          <a:lstStyle/>
          <a:p>
            <a:pPr eaLnBrk="1" hangingPunct="1"/>
            <a:r>
              <a:rPr lang="en-GB" altLang="en-US"/>
              <a:t>Contacts process flow</a:t>
            </a:r>
            <a:endParaRPr lang="en-US" altLang="en-US"/>
          </a:p>
        </p:txBody>
      </p:sp>
      <p:sp>
        <p:nvSpPr>
          <p:cNvPr id="26628" name="Rectangle 3">
            <a:extLst>
              <a:ext uri="{FF2B5EF4-FFF2-40B4-BE49-F238E27FC236}">
                <a16:creationId xmlns:a16="http://schemas.microsoft.com/office/drawing/2014/main" id="{CFF38A96-2906-782B-9B90-14FBCA7D648E}"/>
              </a:ext>
            </a:extLst>
          </p:cNvPr>
          <p:cNvSpPr>
            <a:spLocks noGrp="1" noChangeArrowheads="1"/>
          </p:cNvSpPr>
          <p:nvPr>
            <p:ph type="body" idx="1"/>
          </p:nvPr>
        </p:nvSpPr>
        <p:spPr>
          <a:xfrm>
            <a:off x="1873251" y="1084263"/>
            <a:ext cx="8443913" cy="4114800"/>
          </a:xfrm>
        </p:spPr>
        <p:txBody>
          <a:bodyPr/>
          <a:lstStyle/>
          <a:p>
            <a:pPr eaLnBrk="1" hangingPunct="1"/>
            <a:r>
              <a:rPr lang="en-GB" altLang="en-US" b="1"/>
              <a:t>Contacts are now typically realized as W plugs:</a:t>
            </a:r>
          </a:p>
          <a:p>
            <a:pPr lvl="1" eaLnBrk="1" hangingPunct="1"/>
            <a:r>
              <a:rPr lang="en-GB" altLang="en-US" sz="1600"/>
              <a:t>Pre metal dielectric is deposited ( and planarized)</a:t>
            </a:r>
          </a:p>
          <a:p>
            <a:pPr lvl="1" eaLnBrk="1" hangingPunct="1"/>
            <a:r>
              <a:rPr lang="en-GB" altLang="en-US" sz="1600"/>
              <a:t>Contact plug is etched into the dielectric</a:t>
            </a:r>
          </a:p>
          <a:p>
            <a:pPr lvl="1" eaLnBrk="1" hangingPunct="1"/>
            <a:r>
              <a:rPr lang="en-GB" altLang="en-US" sz="1600"/>
              <a:t>Ti and TiN layers are deposited:</a:t>
            </a:r>
          </a:p>
          <a:p>
            <a:pPr lvl="2" eaLnBrk="1" hangingPunct="1"/>
            <a:r>
              <a:rPr lang="en-GB" altLang="en-US" sz="1200"/>
              <a:t>Ti improves adhesion</a:t>
            </a:r>
          </a:p>
          <a:p>
            <a:pPr lvl="2" eaLnBrk="1" hangingPunct="1"/>
            <a:r>
              <a:rPr lang="en-GB" altLang="en-US" sz="1200"/>
              <a:t>TiN acts as a barrier to prevent WF</a:t>
            </a:r>
            <a:r>
              <a:rPr lang="en-GB" altLang="en-US" sz="1200" baseline="-25000"/>
              <a:t>6</a:t>
            </a:r>
            <a:r>
              <a:rPr lang="en-GB" altLang="en-US" sz="1200"/>
              <a:t> diffusion into silicon during W deposition</a:t>
            </a:r>
          </a:p>
          <a:p>
            <a:pPr lvl="1" eaLnBrk="1" hangingPunct="1"/>
            <a:r>
              <a:rPr lang="en-GB" altLang="en-US" sz="1600"/>
              <a:t>W is deposited by CVD and/or PVD techniques</a:t>
            </a:r>
          </a:p>
          <a:p>
            <a:pPr lvl="1" eaLnBrk="1" hangingPunct="1"/>
            <a:r>
              <a:rPr lang="en-GB" altLang="en-US" sz="1600"/>
              <a:t>A W etch-back or CMP guarantees the appropriate degree of planarity.</a:t>
            </a:r>
          </a:p>
          <a:p>
            <a:pPr lvl="2" eaLnBrk="1" hangingPunct="1"/>
            <a:endParaRPr lang="en-GB" altLang="en-US" sz="1200"/>
          </a:p>
          <a:p>
            <a:pPr lvl="1" eaLnBrk="1" hangingPunct="1"/>
            <a:endParaRPr lang="en-US" altLang="en-US" sz="1600"/>
          </a:p>
        </p:txBody>
      </p:sp>
      <p:graphicFrame>
        <p:nvGraphicFramePr>
          <p:cNvPr id="26629" name="Object 11">
            <a:extLst>
              <a:ext uri="{FF2B5EF4-FFF2-40B4-BE49-F238E27FC236}">
                <a16:creationId xmlns:a16="http://schemas.microsoft.com/office/drawing/2014/main" id="{D3951536-25BA-0E57-2428-91FA73C09C8D}"/>
              </a:ext>
            </a:extLst>
          </p:cNvPr>
          <p:cNvGraphicFramePr>
            <a:graphicFrameLocks noChangeAspect="1"/>
          </p:cNvGraphicFramePr>
          <p:nvPr/>
        </p:nvGraphicFramePr>
        <p:xfrm>
          <a:off x="3197225" y="3640139"/>
          <a:ext cx="4808538" cy="2759075"/>
        </p:xfrm>
        <a:graphic>
          <a:graphicData uri="http://schemas.openxmlformats.org/presentationml/2006/ole">
            <mc:AlternateContent xmlns:mc="http://schemas.openxmlformats.org/markup-compatibility/2006">
              <mc:Choice xmlns:v="urn:schemas-microsoft-com:vml" Requires="v">
                <p:oleObj name="Document" r:id="rId2" imgW="5486400" imgH="3148584" progId="Word.Document.8">
                  <p:embed/>
                </p:oleObj>
              </mc:Choice>
              <mc:Fallback>
                <p:oleObj name="Document" r:id="rId2" imgW="5486400" imgH="3148584" progId="Word.Document.8">
                  <p:embed/>
                  <p:pic>
                    <p:nvPicPr>
                      <p:cNvPr id="26629" name="Object 11">
                        <a:extLst>
                          <a:ext uri="{FF2B5EF4-FFF2-40B4-BE49-F238E27FC236}">
                            <a16:creationId xmlns:a16="http://schemas.microsoft.com/office/drawing/2014/main" id="{D3951536-25BA-0E57-2428-91FA73C09C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7225" y="3640139"/>
                        <a:ext cx="4808538" cy="275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a:extLst>
              <a:ext uri="{FF2B5EF4-FFF2-40B4-BE49-F238E27FC236}">
                <a16:creationId xmlns:a16="http://schemas.microsoft.com/office/drawing/2014/main" id="{208DBA83-6DEC-1B78-0D4F-5BA7154C07DD}"/>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BAC42379-424D-4B75-AF8F-05E6D6DF7F45}" type="slidenum">
              <a:rPr lang="en-US" altLang="en-US" sz="800"/>
              <a:pPr>
                <a:lnSpc>
                  <a:spcPct val="100000"/>
                </a:lnSpc>
                <a:spcBef>
                  <a:spcPct val="0"/>
                </a:spcBef>
                <a:buClr>
                  <a:srgbClr val="F68933"/>
                </a:buClr>
                <a:buFontTx/>
                <a:buNone/>
              </a:pPr>
              <a:t>17</a:t>
            </a:fld>
            <a:endParaRPr lang="en-US" altLang="en-US" sz="800"/>
          </a:p>
        </p:txBody>
      </p:sp>
      <p:sp>
        <p:nvSpPr>
          <p:cNvPr id="27651" name="Rectangle 2">
            <a:extLst>
              <a:ext uri="{FF2B5EF4-FFF2-40B4-BE49-F238E27FC236}">
                <a16:creationId xmlns:a16="http://schemas.microsoft.com/office/drawing/2014/main" id="{069296FA-3B6C-225F-57A9-BBF938457292}"/>
              </a:ext>
            </a:extLst>
          </p:cNvPr>
          <p:cNvSpPr>
            <a:spLocks noGrp="1" noChangeArrowheads="1"/>
          </p:cNvSpPr>
          <p:nvPr>
            <p:ph type="title"/>
          </p:nvPr>
        </p:nvSpPr>
        <p:spPr/>
        <p:txBody>
          <a:bodyPr/>
          <a:lstStyle/>
          <a:p>
            <a:pPr eaLnBrk="1" hangingPunct="1"/>
            <a:r>
              <a:rPr lang="en-GB" altLang="en-US"/>
              <a:t>Interconnects: general properties</a:t>
            </a:r>
            <a:endParaRPr lang="en-US" altLang="en-US"/>
          </a:p>
        </p:txBody>
      </p:sp>
      <p:sp>
        <p:nvSpPr>
          <p:cNvPr id="27652" name="Rectangle 3">
            <a:extLst>
              <a:ext uri="{FF2B5EF4-FFF2-40B4-BE49-F238E27FC236}">
                <a16:creationId xmlns:a16="http://schemas.microsoft.com/office/drawing/2014/main" id="{C64F6B59-C76B-2539-78A5-C5FE8FEFC6B2}"/>
              </a:ext>
            </a:extLst>
          </p:cNvPr>
          <p:cNvSpPr>
            <a:spLocks noGrp="1" noChangeArrowheads="1"/>
          </p:cNvSpPr>
          <p:nvPr>
            <p:ph type="body" idx="1"/>
          </p:nvPr>
        </p:nvSpPr>
        <p:spPr>
          <a:xfrm>
            <a:off x="1893889" y="2043113"/>
            <a:ext cx="8402637" cy="4114800"/>
          </a:xfrm>
        </p:spPr>
        <p:txBody>
          <a:bodyPr/>
          <a:lstStyle/>
          <a:p>
            <a:pPr eaLnBrk="1" hangingPunct="1">
              <a:buFont typeface="Times" panose="02020603050405020304" pitchFamily="18" charset="0"/>
              <a:buNone/>
            </a:pPr>
            <a:r>
              <a:rPr lang="en-GB" altLang="en-US"/>
              <a:t>Requirements on interconnects are:</a:t>
            </a:r>
          </a:p>
          <a:p>
            <a:pPr eaLnBrk="1" hangingPunct="1"/>
            <a:r>
              <a:rPr lang="en-GB" altLang="en-US"/>
              <a:t>Low resistivity</a:t>
            </a:r>
          </a:p>
          <a:p>
            <a:pPr eaLnBrk="1" hangingPunct="1"/>
            <a:r>
              <a:rPr lang="en-GB" altLang="en-US"/>
              <a:t>Good adhesion to underlying films</a:t>
            </a:r>
          </a:p>
          <a:p>
            <a:pPr eaLnBrk="1" hangingPunct="1"/>
            <a:r>
              <a:rPr lang="en-GB" altLang="en-US"/>
              <a:t>Stability during processing and circuit operation</a:t>
            </a:r>
          </a:p>
          <a:p>
            <a:pPr eaLnBrk="1" hangingPunct="1"/>
            <a:r>
              <a:rPr lang="en-GB" altLang="en-US"/>
              <a:t>Ability of being deposited and etched</a:t>
            </a:r>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a:extLst>
              <a:ext uri="{FF2B5EF4-FFF2-40B4-BE49-F238E27FC236}">
                <a16:creationId xmlns:a16="http://schemas.microsoft.com/office/drawing/2014/main" id="{00398613-54E6-5C71-8392-BA0C62260339}"/>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4E3DC3CD-50E9-401D-B62B-DCBCAB12D88D}" type="slidenum">
              <a:rPr lang="en-US" altLang="en-US" sz="800"/>
              <a:pPr>
                <a:lnSpc>
                  <a:spcPct val="100000"/>
                </a:lnSpc>
                <a:spcBef>
                  <a:spcPct val="0"/>
                </a:spcBef>
                <a:buClr>
                  <a:srgbClr val="F68933"/>
                </a:buClr>
                <a:buFontTx/>
                <a:buNone/>
              </a:pPr>
              <a:t>18</a:t>
            </a:fld>
            <a:endParaRPr lang="en-US" altLang="en-US" sz="800"/>
          </a:p>
        </p:txBody>
      </p:sp>
      <p:sp>
        <p:nvSpPr>
          <p:cNvPr id="28675" name="Rectangle 2">
            <a:extLst>
              <a:ext uri="{FF2B5EF4-FFF2-40B4-BE49-F238E27FC236}">
                <a16:creationId xmlns:a16="http://schemas.microsoft.com/office/drawing/2014/main" id="{D819789E-3BFE-FDBA-1551-29D7F1871830}"/>
              </a:ext>
            </a:extLst>
          </p:cNvPr>
          <p:cNvSpPr>
            <a:spLocks noGrp="1" noChangeArrowheads="1"/>
          </p:cNvSpPr>
          <p:nvPr>
            <p:ph type="title"/>
          </p:nvPr>
        </p:nvSpPr>
        <p:spPr/>
        <p:txBody>
          <a:bodyPr/>
          <a:lstStyle/>
          <a:p>
            <a:pPr eaLnBrk="1" hangingPunct="1"/>
            <a:r>
              <a:rPr lang="en-GB" altLang="en-US"/>
              <a:t>Interconnects materials</a:t>
            </a:r>
            <a:endParaRPr lang="en-US" altLang="en-US"/>
          </a:p>
        </p:txBody>
      </p:sp>
      <p:graphicFrame>
        <p:nvGraphicFramePr>
          <p:cNvPr id="529442" name="Group 34">
            <a:extLst>
              <a:ext uri="{FF2B5EF4-FFF2-40B4-BE49-F238E27FC236}">
                <a16:creationId xmlns:a16="http://schemas.microsoft.com/office/drawing/2014/main" id="{3EDA1418-E5B8-F6A6-8589-1DDF63EB97A0}"/>
              </a:ext>
            </a:extLst>
          </p:cNvPr>
          <p:cNvGraphicFramePr>
            <a:graphicFrameLocks noGrp="1"/>
          </p:cNvGraphicFramePr>
          <p:nvPr/>
        </p:nvGraphicFramePr>
        <p:xfrm>
          <a:off x="2863850" y="1397000"/>
          <a:ext cx="6096000" cy="4064000"/>
        </p:xfrm>
        <a:graphic>
          <a:graphicData uri="http://schemas.openxmlformats.org/drawingml/2006/table">
            <a:tbl>
              <a:tblPr/>
              <a:tblGrid>
                <a:gridCol w="2032000">
                  <a:extLst>
                    <a:ext uri="{9D8B030D-6E8A-4147-A177-3AD203B41FA5}">
                      <a16:colId xmlns:a16="http://schemas.microsoft.com/office/drawing/2014/main" val="1520733960"/>
                    </a:ext>
                  </a:extLst>
                </a:gridCol>
                <a:gridCol w="2032000">
                  <a:extLst>
                    <a:ext uri="{9D8B030D-6E8A-4147-A177-3AD203B41FA5}">
                      <a16:colId xmlns:a16="http://schemas.microsoft.com/office/drawing/2014/main" val="3385913129"/>
                    </a:ext>
                  </a:extLst>
                </a:gridCol>
                <a:gridCol w="2032000">
                  <a:extLst>
                    <a:ext uri="{9D8B030D-6E8A-4147-A177-3AD203B41FA5}">
                      <a16:colId xmlns:a16="http://schemas.microsoft.com/office/drawing/2014/main" val="7655536"/>
                    </a:ext>
                  </a:extLst>
                </a:gridCol>
              </a:tblGrid>
              <a:tr h="677863">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Material</a:t>
                      </a:r>
                      <a:endParaRPr kumimoji="0" lang="en-US"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Resistivity (</a:t>
                      </a:r>
                      <a:r>
                        <a:rPr kumimoji="0" lang="en-GB" altLang="en-US" sz="1400" b="1" i="0" u="none" strike="noStrike" cap="none" normalizeH="0" baseline="0">
                          <a:ln>
                            <a:noFill/>
                          </a:ln>
                          <a:solidFill>
                            <a:schemeClr val="accent1"/>
                          </a:solidFill>
                          <a:effectLst/>
                          <a:latin typeface="Symbol" panose="05050102010706020507" pitchFamily="18" charset="2"/>
                          <a:ea typeface="MS PGothic" panose="020B0600070205080204" pitchFamily="34" charset="-128"/>
                        </a:rPr>
                        <a:t>mW</a:t>
                      </a:r>
                      <a:r>
                        <a:rPr kumimoji="0" lang="en-GB"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cm)</a:t>
                      </a:r>
                      <a:endParaRPr kumimoji="0" lang="en-US"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rPr>
                        <a:t>Melting point (</a:t>
                      </a:r>
                      <a:r>
                        <a:rPr kumimoji="0" lang="en-US" altLang="en-US" sz="1400" b="1" i="0" u="none" strike="noStrike" cap="none" normalizeH="0" baseline="0">
                          <a:ln>
                            <a:noFill/>
                          </a:ln>
                          <a:solidFill>
                            <a:schemeClr val="accent1"/>
                          </a:solidFill>
                          <a:effectLst/>
                          <a:latin typeface="Arial" panose="020B0604020202020204" pitchFamily="34" charset="0"/>
                          <a:ea typeface="MS PGothic" panose="020B0600070205080204" pitchFamily="34" charset="-128"/>
                          <a:cs typeface="Arial" panose="020B0604020202020204" pitchFamily="34" charset="0"/>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12376365"/>
                  </a:ext>
                </a:extLst>
              </a:tr>
              <a:tr h="676275">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Al</a:t>
                      </a:r>
                      <a:endPar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2.7/3.0</a:t>
                      </a:r>
                      <a:endPar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660</a:t>
                      </a:r>
                      <a:endPar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46483241"/>
                  </a:ext>
                </a:extLst>
              </a:tr>
              <a:tr h="677863">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W</a:t>
                      </a:r>
                      <a:endPar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8/15</a:t>
                      </a:r>
                      <a:endPar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3410</a:t>
                      </a:r>
                      <a:endPar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43134097"/>
                  </a:ext>
                </a:extLst>
              </a:tr>
              <a:tr h="677863">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Cu</a:t>
                      </a:r>
                      <a:endPar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1.7/2.0</a:t>
                      </a:r>
                      <a:endPar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1084</a:t>
                      </a:r>
                      <a:endPar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17118439"/>
                  </a:ext>
                </a:extLst>
              </a:tr>
              <a:tr h="676275">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Ti</a:t>
                      </a:r>
                      <a:endPar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40/70</a:t>
                      </a:r>
                      <a:endPar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1670</a:t>
                      </a:r>
                      <a:endPar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49607003"/>
                  </a:ext>
                </a:extLst>
              </a:tr>
              <a:tr h="677863">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TiN</a:t>
                      </a:r>
                      <a:endPar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50/150</a:t>
                      </a:r>
                      <a:endPar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defRPr>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defRPr sz="14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defRPr sz="14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defRPr sz="1400">
                          <a:solidFill>
                            <a:srgbClr val="000000"/>
                          </a:solidFill>
                          <a:latin typeface="Arial" panose="020B0604020202020204" pitchFamily="34" charset="0"/>
                          <a:ea typeface="MS PGothic"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Arial" panose="020B0604020202020204" pitchFamily="34" charset="0"/>
                        </a:rPr>
                        <a:t>~</a:t>
                      </a:r>
                      <a:r>
                        <a:rPr kumimoji="0" lang="en-GB"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rPr>
                        <a:t>2950</a:t>
                      </a:r>
                      <a:endParaRPr kumimoji="0" lang="en-US" altLang="en-US" sz="14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132088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a:extLst>
              <a:ext uri="{FF2B5EF4-FFF2-40B4-BE49-F238E27FC236}">
                <a16:creationId xmlns:a16="http://schemas.microsoft.com/office/drawing/2014/main" id="{CCD724EE-9C4E-5C32-89BA-644B07473E67}"/>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647899AC-D6E5-4DFA-9114-F366B7FAC002}" type="slidenum">
              <a:rPr lang="en-US" altLang="en-US" sz="800"/>
              <a:pPr>
                <a:lnSpc>
                  <a:spcPct val="100000"/>
                </a:lnSpc>
                <a:spcBef>
                  <a:spcPct val="0"/>
                </a:spcBef>
                <a:buClr>
                  <a:srgbClr val="F68933"/>
                </a:buClr>
                <a:buFontTx/>
                <a:buNone/>
              </a:pPr>
              <a:t>19</a:t>
            </a:fld>
            <a:endParaRPr lang="en-US" altLang="en-US" sz="800"/>
          </a:p>
        </p:txBody>
      </p:sp>
      <p:sp>
        <p:nvSpPr>
          <p:cNvPr id="29699" name="Rectangle 2">
            <a:extLst>
              <a:ext uri="{FF2B5EF4-FFF2-40B4-BE49-F238E27FC236}">
                <a16:creationId xmlns:a16="http://schemas.microsoft.com/office/drawing/2014/main" id="{885E1813-6A8A-C21F-E98D-182116A634E8}"/>
              </a:ext>
            </a:extLst>
          </p:cNvPr>
          <p:cNvSpPr>
            <a:spLocks noGrp="1" noChangeArrowheads="1"/>
          </p:cNvSpPr>
          <p:nvPr>
            <p:ph type="title"/>
          </p:nvPr>
        </p:nvSpPr>
        <p:spPr/>
        <p:txBody>
          <a:bodyPr/>
          <a:lstStyle/>
          <a:p>
            <a:pPr eaLnBrk="1" hangingPunct="1"/>
            <a:r>
              <a:rPr lang="en-GB" altLang="en-US"/>
              <a:t>Al interconnects</a:t>
            </a:r>
            <a:endParaRPr lang="en-US" altLang="en-US"/>
          </a:p>
        </p:txBody>
      </p:sp>
      <p:sp>
        <p:nvSpPr>
          <p:cNvPr id="29700" name="Rectangle 3">
            <a:extLst>
              <a:ext uri="{FF2B5EF4-FFF2-40B4-BE49-F238E27FC236}">
                <a16:creationId xmlns:a16="http://schemas.microsoft.com/office/drawing/2014/main" id="{DF8DF598-A4A3-1F66-F183-AF79AB08748E}"/>
              </a:ext>
            </a:extLst>
          </p:cNvPr>
          <p:cNvSpPr>
            <a:spLocks noGrp="1" noChangeArrowheads="1"/>
          </p:cNvSpPr>
          <p:nvPr>
            <p:ph type="body" idx="1"/>
          </p:nvPr>
        </p:nvSpPr>
        <p:spPr/>
        <p:txBody>
          <a:bodyPr/>
          <a:lstStyle/>
          <a:p>
            <a:pPr eaLnBrk="1" hangingPunct="1"/>
            <a:r>
              <a:rPr lang="en-GB" altLang="en-US"/>
              <a:t>Al has been the mainstream material for interconnects:</a:t>
            </a:r>
          </a:p>
          <a:p>
            <a:pPr lvl="1" eaLnBrk="1" hangingPunct="1"/>
            <a:r>
              <a:rPr lang="en-GB" altLang="en-US"/>
              <a:t>Relatively low resistivity</a:t>
            </a:r>
          </a:p>
          <a:p>
            <a:pPr lvl="1" eaLnBrk="1" hangingPunct="1"/>
            <a:r>
              <a:rPr lang="en-GB" altLang="en-US"/>
              <a:t>Good adhesion</a:t>
            </a:r>
          </a:p>
          <a:p>
            <a:pPr lvl="1" eaLnBrk="1" hangingPunct="1"/>
            <a:r>
              <a:rPr lang="en-GB" altLang="en-US"/>
              <a:t>Relatively easy deposition and etching</a:t>
            </a:r>
          </a:p>
          <a:p>
            <a:pPr lvl="1" eaLnBrk="1" hangingPunct="1">
              <a:buFontTx/>
              <a:buNone/>
            </a:pPr>
            <a:endParaRPr lang="en-GB" altLang="en-US"/>
          </a:p>
          <a:p>
            <a:pPr lvl="2" eaLnBrk="1" hangingPunct="1">
              <a:buFontTx/>
              <a:buNone/>
            </a:pPr>
            <a:endParaRPr lang="en-US" altLang="en-US"/>
          </a:p>
        </p:txBody>
      </p:sp>
      <p:sp>
        <p:nvSpPr>
          <p:cNvPr id="29701" name="Text Box 4">
            <a:extLst>
              <a:ext uri="{FF2B5EF4-FFF2-40B4-BE49-F238E27FC236}">
                <a16:creationId xmlns:a16="http://schemas.microsoft.com/office/drawing/2014/main" id="{DCE80077-14F4-7F40-4ECF-15EB3E99609D}"/>
              </a:ext>
            </a:extLst>
          </p:cNvPr>
          <p:cNvSpPr txBox="1">
            <a:spLocks noChangeArrowheads="1"/>
          </p:cNvSpPr>
          <p:nvPr/>
        </p:nvSpPr>
        <p:spPr bwMode="auto">
          <a:xfrm>
            <a:off x="5394325" y="3657600"/>
            <a:ext cx="14033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b="1">
                <a:solidFill>
                  <a:schemeClr val="accent1"/>
                </a:solidFill>
              </a:rPr>
              <a:t>BUT…</a:t>
            </a:r>
            <a:endParaRPr lang="en-US" altLang="en-US" b="1">
              <a:solidFill>
                <a:schemeClr val="accent1"/>
              </a:solidFill>
            </a:endParaRPr>
          </a:p>
        </p:txBody>
      </p:sp>
      <p:sp>
        <p:nvSpPr>
          <p:cNvPr id="29702" name="Text Box 6">
            <a:extLst>
              <a:ext uri="{FF2B5EF4-FFF2-40B4-BE49-F238E27FC236}">
                <a16:creationId xmlns:a16="http://schemas.microsoft.com/office/drawing/2014/main" id="{22C0AFC1-2AB4-8266-7513-4247FBCDC6AA}"/>
              </a:ext>
            </a:extLst>
          </p:cNvPr>
          <p:cNvSpPr txBox="1">
            <a:spLocks noChangeArrowheads="1"/>
          </p:cNvSpPr>
          <p:nvPr/>
        </p:nvSpPr>
        <p:spPr bwMode="auto">
          <a:xfrm>
            <a:off x="1935163" y="4694239"/>
            <a:ext cx="6934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a:t>Thermal expansion coefficient for Al: 23 10</a:t>
            </a:r>
            <a:r>
              <a:rPr lang="en-GB" altLang="en-US" baseline="30000"/>
              <a:t>-6</a:t>
            </a:r>
            <a:r>
              <a:rPr lang="en-GB" altLang="en-US"/>
              <a:t> </a:t>
            </a:r>
            <a:r>
              <a:rPr lang="en-US" altLang="en-US"/>
              <a:t>°C</a:t>
            </a:r>
            <a:r>
              <a:rPr lang="en-US" altLang="en-US" baseline="30000"/>
              <a:t>-1</a:t>
            </a:r>
          </a:p>
          <a:p>
            <a:pPr eaLnBrk="1" hangingPunct="1">
              <a:spcBef>
                <a:spcPct val="50000"/>
              </a:spcBef>
              <a:buFont typeface="Times" panose="02020603050405020304" pitchFamily="18" charset="0"/>
              <a:buChar char="•"/>
            </a:pPr>
            <a:r>
              <a:rPr lang="en-GB" altLang="en-US"/>
              <a:t>Thermal expansion coefficient for Si: 2.6 10</a:t>
            </a:r>
            <a:r>
              <a:rPr lang="en-GB" altLang="en-US" baseline="30000"/>
              <a:t>-6</a:t>
            </a:r>
            <a:r>
              <a:rPr lang="en-GB" altLang="en-US"/>
              <a:t> </a:t>
            </a:r>
            <a:r>
              <a:rPr lang="en-US" altLang="en-US"/>
              <a:t>°C</a:t>
            </a:r>
            <a:r>
              <a:rPr lang="en-US" altLang="en-US" baseline="30000"/>
              <a:t>-1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a:extLst>
              <a:ext uri="{FF2B5EF4-FFF2-40B4-BE49-F238E27FC236}">
                <a16:creationId xmlns:a16="http://schemas.microsoft.com/office/drawing/2014/main" id="{D46C0BDE-5155-17D6-5F80-77C9FDA9DF88}"/>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72B6AFEB-2A77-4B6C-B0F9-E75391831CED}" type="slidenum">
              <a:rPr lang="en-US" altLang="en-US" sz="800"/>
              <a:pPr>
                <a:lnSpc>
                  <a:spcPct val="100000"/>
                </a:lnSpc>
                <a:spcBef>
                  <a:spcPct val="0"/>
                </a:spcBef>
                <a:buClr>
                  <a:srgbClr val="F68933"/>
                </a:buClr>
                <a:buFontTx/>
                <a:buNone/>
              </a:pPr>
              <a:t>20</a:t>
            </a:fld>
            <a:endParaRPr lang="en-US" altLang="en-US" sz="800"/>
          </a:p>
        </p:txBody>
      </p:sp>
      <p:sp>
        <p:nvSpPr>
          <p:cNvPr id="30723" name="Rectangle 2">
            <a:extLst>
              <a:ext uri="{FF2B5EF4-FFF2-40B4-BE49-F238E27FC236}">
                <a16:creationId xmlns:a16="http://schemas.microsoft.com/office/drawing/2014/main" id="{E80C7A0F-59C0-0579-CF73-9C9642CEFFC4}"/>
              </a:ext>
            </a:extLst>
          </p:cNvPr>
          <p:cNvSpPr>
            <a:spLocks noGrp="1" noChangeArrowheads="1"/>
          </p:cNvSpPr>
          <p:nvPr>
            <p:ph type="title"/>
          </p:nvPr>
        </p:nvSpPr>
        <p:spPr/>
        <p:txBody>
          <a:bodyPr/>
          <a:lstStyle/>
          <a:p>
            <a:pPr eaLnBrk="1" hangingPunct="1"/>
            <a:r>
              <a:rPr lang="en-GB" altLang="en-US"/>
              <a:t>Al Interconnects: hillocks and voids</a:t>
            </a:r>
            <a:endParaRPr lang="en-US" altLang="en-US"/>
          </a:p>
        </p:txBody>
      </p:sp>
      <p:graphicFrame>
        <p:nvGraphicFramePr>
          <p:cNvPr id="30724" name="Object 5">
            <a:extLst>
              <a:ext uri="{FF2B5EF4-FFF2-40B4-BE49-F238E27FC236}">
                <a16:creationId xmlns:a16="http://schemas.microsoft.com/office/drawing/2014/main" id="{8798B1C1-F83A-70AF-E82C-47213922F200}"/>
              </a:ext>
            </a:extLst>
          </p:cNvPr>
          <p:cNvGraphicFramePr>
            <a:graphicFrameLocks noChangeAspect="1"/>
          </p:cNvGraphicFramePr>
          <p:nvPr/>
        </p:nvGraphicFramePr>
        <p:xfrm>
          <a:off x="2971801" y="4144963"/>
          <a:ext cx="5580063" cy="2157412"/>
        </p:xfrm>
        <a:graphic>
          <a:graphicData uri="http://schemas.openxmlformats.org/presentationml/2006/ole">
            <mc:AlternateContent xmlns:mc="http://schemas.openxmlformats.org/markup-compatibility/2006">
              <mc:Choice xmlns:v="urn:schemas-microsoft-com:vml" Requires="v">
                <p:oleObj name="Document" r:id="rId2" imgW="5269992" imgH="1944624" progId="Word.Document.8">
                  <p:embed/>
                </p:oleObj>
              </mc:Choice>
              <mc:Fallback>
                <p:oleObj name="Document" r:id="rId2" imgW="5269992" imgH="1944624" progId="Word.Document.8">
                  <p:embed/>
                  <p:pic>
                    <p:nvPicPr>
                      <p:cNvPr id="30724" name="Object 5">
                        <a:extLst>
                          <a:ext uri="{FF2B5EF4-FFF2-40B4-BE49-F238E27FC236}">
                            <a16:creationId xmlns:a16="http://schemas.microsoft.com/office/drawing/2014/main" id="{8798B1C1-F83A-70AF-E82C-47213922F2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1" y="4144963"/>
                        <a:ext cx="5580063" cy="2157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5" name="Text Box 7">
            <a:extLst>
              <a:ext uri="{FF2B5EF4-FFF2-40B4-BE49-F238E27FC236}">
                <a16:creationId xmlns:a16="http://schemas.microsoft.com/office/drawing/2014/main" id="{7962EA0B-0544-A12E-4AB0-FA46F3D67B70}"/>
              </a:ext>
            </a:extLst>
          </p:cNvPr>
          <p:cNvSpPr txBox="1">
            <a:spLocks noChangeArrowheads="1"/>
          </p:cNvSpPr>
          <p:nvPr/>
        </p:nvSpPr>
        <p:spPr bwMode="auto">
          <a:xfrm>
            <a:off x="2038350" y="1403351"/>
            <a:ext cx="8115300" cy="271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447675" indent="-2476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638175" indent="-142875">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876300" indent="-200025">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1085850" indent="-17145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15430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0002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24574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29146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r>
              <a:rPr lang="en-US" altLang="en-US"/>
              <a:t> Hillocks and voids form because of stress and diffusion in Al films. </a:t>
            </a:r>
          </a:p>
          <a:p>
            <a:pPr eaLnBrk="1" hangingPunct="1"/>
            <a:r>
              <a:rPr lang="en-US" altLang="en-US"/>
              <a:t> Heating places Al under compression causing hillocks. </a:t>
            </a:r>
          </a:p>
          <a:p>
            <a:pPr eaLnBrk="1" hangingPunct="1"/>
            <a:r>
              <a:rPr lang="en-US" altLang="en-US"/>
              <a:t>Cooling back down can place Al under tension </a:t>
            </a:r>
            <a:r>
              <a:rPr lang="en-US" altLang="en-US">
                <a:sym typeface="Symbol" panose="05050102010706020507" pitchFamily="18" charset="2"/>
              </a:rPr>
              <a:t></a:t>
            </a:r>
            <a:r>
              <a:rPr lang="en-US" altLang="en-US"/>
              <a:t> voids.</a:t>
            </a:r>
          </a:p>
          <a:p>
            <a:pPr eaLnBrk="1" hangingPunct="1"/>
            <a:r>
              <a:rPr lang="en-US" altLang="en-US"/>
              <a:t> Adding a few % Cu stabilizes grain boundaries and minimizes hillock formation.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a:extLst>
              <a:ext uri="{FF2B5EF4-FFF2-40B4-BE49-F238E27FC236}">
                <a16:creationId xmlns:a16="http://schemas.microsoft.com/office/drawing/2014/main" id="{010F6B30-5A9B-3EA9-3D59-0DFB02BD56ED}"/>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0B4BE733-A6C1-425E-9FCF-0CFE396FFDE6}" type="slidenum">
              <a:rPr lang="en-US" altLang="en-US" sz="800"/>
              <a:pPr>
                <a:lnSpc>
                  <a:spcPct val="100000"/>
                </a:lnSpc>
                <a:spcBef>
                  <a:spcPct val="0"/>
                </a:spcBef>
                <a:buClr>
                  <a:srgbClr val="F68933"/>
                </a:buClr>
                <a:buFontTx/>
                <a:buNone/>
              </a:pPr>
              <a:t>21</a:t>
            </a:fld>
            <a:endParaRPr lang="en-US" altLang="en-US" sz="800"/>
          </a:p>
        </p:txBody>
      </p:sp>
      <p:sp>
        <p:nvSpPr>
          <p:cNvPr id="31747" name="Rectangle 2">
            <a:extLst>
              <a:ext uri="{FF2B5EF4-FFF2-40B4-BE49-F238E27FC236}">
                <a16:creationId xmlns:a16="http://schemas.microsoft.com/office/drawing/2014/main" id="{6709FBAB-E816-B66C-8A80-39AE37574F73}"/>
              </a:ext>
            </a:extLst>
          </p:cNvPr>
          <p:cNvSpPr>
            <a:spLocks noGrp="1" noChangeArrowheads="1"/>
          </p:cNvSpPr>
          <p:nvPr>
            <p:ph type="title"/>
          </p:nvPr>
        </p:nvSpPr>
        <p:spPr/>
        <p:txBody>
          <a:bodyPr/>
          <a:lstStyle/>
          <a:p>
            <a:pPr eaLnBrk="1" hangingPunct="1"/>
            <a:r>
              <a:rPr lang="en-GB" altLang="en-US"/>
              <a:t>Al interconnects: electromigration</a:t>
            </a:r>
            <a:endParaRPr lang="en-US" altLang="en-US"/>
          </a:p>
        </p:txBody>
      </p:sp>
      <p:graphicFrame>
        <p:nvGraphicFramePr>
          <p:cNvPr id="31748" name="Object 5">
            <a:extLst>
              <a:ext uri="{FF2B5EF4-FFF2-40B4-BE49-F238E27FC236}">
                <a16:creationId xmlns:a16="http://schemas.microsoft.com/office/drawing/2014/main" id="{0B786309-9CF0-652F-29E1-E4687E60A5D1}"/>
              </a:ext>
            </a:extLst>
          </p:cNvPr>
          <p:cNvGraphicFramePr>
            <a:graphicFrameLocks noChangeAspect="1"/>
          </p:cNvGraphicFramePr>
          <p:nvPr/>
        </p:nvGraphicFramePr>
        <p:xfrm>
          <a:off x="1524000" y="3429001"/>
          <a:ext cx="4343400" cy="1776413"/>
        </p:xfrm>
        <a:graphic>
          <a:graphicData uri="http://schemas.openxmlformats.org/presentationml/2006/ole">
            <mc:AlternateContent xmlns:mc="http://schemas.openxmlformats.org/markup-compatibility/2006">
              <mc:Choice xmlns:v="urn:schemas-microsoft-com:vml" Requires="v">
                <p:oleObj name="Document" r:id="rId2" imgW="4572000" imgH="1776984" progId="Word.Document.8">
                  <p:embed/>
                </p:oleObj>
              </mc:Choice>
              <mc:Fallback>
                <p:oleObj name="Document" r:id="rId2" imgW="4572000" imgH="1776984" progId="Word.Document.8">
                  <p:embed/>
                  <p:pic>
                    <p:nvPicPr>
                      <p:cNvPr id="31748" name="Object 5">
                        <a:extLst>
                          <a:ext uri="{FF2B5EF4-FFF2-40B4-BE49-F238E27FC236}">
                            <a16:creationId xmlns:a16="http://schemas.microsoft.com/office/drawing/2014/main" id="{0B786309-9CF0-652F-29E1-E4687E60A5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429001"/>
                        <a:ext cx="4343400" cy="177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49" name="Text Box 6">
            <a:extLst>
              <a:ext uri="{FF2B5EF4-FFF2-40B4-BE49-F238E27FC236}">
                <a16:creationId xmlns:a16="http://schemas.microsoft.com/office/drawing/2014/main" id="{D945B32C-3FA8-5B11-FEA1-BE3341FCDA9F}"/>
              </a:ext>
            </a:extLst>
          </p:cNvPr>
          <p:cNvSpPr txBox="1">
            <a:spLocks noChangeArrowheads="1"/>
          </p:cNvSpPr>
          <p:nvPr/>
        </p:nvSpPr>
        <p:spPr bwMode="auto">
          <a:xfrm>
            <a:off x="2011363" y="1249363"/>
            <a:ext cx="8462962" cy="256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447675" indent="-2476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638175" indent="-142875">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876300" indent="-200025">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1085850" indent="-17145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15430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0002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24574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2914650" indent="-17145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r>
              <a:rPr lang="en-US" altLang="en-US" sz="1800"/>
              <a:t> High current density(0.1-0.5 MA/cm2) causes movement of Al atoms in direction of electron flow. </a:t>
            </a:r>
          </a:p>
          <a:p>
            <a:pPr eaLnBrk="1" hangingPunct="1"/>
            <a:r>
              <a:rPr lang="en-US" altLang="en-US" sz="1800"/>
              <a:t>Can cause hillocks and voids, leading to shorts or opens in the circuit. </a:t>
            </a:r>
          </a:p>
          <a:p>
            <a:pPr eaLnBrk="1" hangingPunct="1"/>
            <a:r>
              <a:rPr lang="en-US" altLang="en-US" sz="1800"/>
              <a:t>Adding Cu (0.5-4 weight %) can also inhibit electromigration.</a:t>
            </a:r>
          </a:p>
          <a:p>
            <a:pPr eaLnBrk="1" hangingPunct="1"/>
            <a:r>
              <a:rPr lang="en-US" altLang="en-US" sz="1800"/>
              <a:t> Thus Al is commonly deposited with 1-2 wt % Si and 0.5-4 wt % Cu.</a:t>
            </a:r>
          </a:p>
        </p:txBody>
      </p:sp>
      <p:sp>
        <p:nvSpPr>
          <p:cNvPr id="31750" name="Text Box 7">
            <a:extLst>
              <a:ext uri="{FF2B5EF4-FFF2-40B4-BE49-F238E27FC236}">
                <a16:creationId xmlns:a16="http://schemas.microsoft.com/office/drawing/2014/main" id="{9819371B-4E2B-1CEA-CD8C-69474BB96C3B}"/>
              </a:ext>
            </a:extLst>
          </p:cNvPr>
          <p:cNvSpPr txBox="1">
            <a:spLocks noChangeArrowheads="1"/>
          </p:cNvSpPr>
          <p:nvPr/>
        </p:nvSpPr>
        <p:spPr bwMode="auto">
          <a:xfrm>
            <a:off x="6292850" y="3079750"/>
            <a:ext cx="4114800" cy="3390900"/>
          </a:xfrm>
          <a:prstGeom prst="rect">
            <a:avLst/>
          </a:prstGeom>
          <a:noFill/>
          <a:ln w="28575" algn="ctr">
            <a:solidFill>
              <a:srgbClr val="FF7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b="1"/>
              <a:t>Multi-layer stacks like Ti +TiN + Al(Cu) + TiN are used :</a:t>
            </a:r>
          </a:p>
          <a:p>
            <a:pPr eaLnBrk="1" hangingPunct="1">
              <a:spcBef>
                <a:spcPct val="50000"/>
              </a:spcBef>
              <a:buFont typeface="Times" panose="02020603050405020304" pitchFamily="18" charset="0"/>
              <a:buChar char="•"/>
            </a:pPr>
            <a:r>
              <a:rPr lang="en-GB" altLang="en-US" sz="1600" b="1"/>
              <a:t>Ti helps controlling the Al grain texture (reduces electromigration effects)</a:t>
            </a:r>
          </a:p>
          <a:p>
            <a:pPr eaLnBrk="1" hangingPunct="1">
              <a:spcBef>
                <a:spcPct val="50000"/>
              </a:spcBef>
              <a:buFont typeface="Times" panose="02020603050405020304" pitchFamily="18" charset="0"/>
              <a:buChar char="•"/>
            </a:pPr>
            <a:r>
              <a:rPr lang="en-GB" altLang="en-US" sz="1600" b="1"/>
              <a:t>TiN acts as a barrier for WF</a:t>
            </a:r>
            <a:r>
              <a:rPr lang="en-GB" altLang="en-US" sz="1600" b="1" baseline="-25000"/>
              <a:t>6</a:t>
            </a:r>
            <a:r>
              <a:rPr lang="en-GB" altLang="en-US" sz="1600" b="1"/>
              <a:t> during via processing</a:t>
            </a:r>
          </a:p>
          <a:p>
            <a:pPr eaLnBrk="1" hangingPunct="1">
              <a:spcBef>
                <a:spcPct val="50000"/>
              </a:spcBef>
              <a:buFont typeface="Times" panose="02020603050405020304" pitchFamily="18" charset="0"/>
              <a:buChar char="•"/>
            </a:pPr>
            <a:r>
              <a:rPr lang="en-GB" altLang="en-US" sz="1600" b="1"/>
              <a:t>Ti or TiN can shunt the metal line in case of voids or cracks formation.</a:t>
            </a:r>
          </a:p>
          <a:p>
            <a:pPr eaLnBrk="1" hangingPunct="1">
              <a:spcBef>
                <a:spcPct val="50000"/>
              </a:spcBef>
              <a:buFont typeface="Times" panose="02020603050405020304" pitchFamily="18" charset="0"/>
              <a:buChar char="•"/>
            </a:pPr>
            <a:r>
              <a:rPr lang="en-GB" altLang="en-US" sz="1600" b="1"/>
              <a:t>They can prevent electromigration by containing stress induced deformation of Al lines.</a:t>
            </a:r>
            <a:endParaRPr lang="en-US" altLang="en-US" sz="1600"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a:extLst>
              <a:ext uri="{FF2B5EF4-FFF2-40B4-BE49-F238E27FC236}">
                <a16:creationId xmlns:a16="http://schemas.microsoft.com/office/drawing/2014/main" id="{C82D662B-01DC-0006-D99E-4AA476383A5D}"/>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05BD938E-55F0-44E2-ABE5-E398E59C77C1}" type="slidenum">
              <a:rPr lang="en-US" altLang="en-US" sz="800"/>
              <a:pPr>
                <a:lnSpc>
                  <a:spcPct val="100000"/>
                </a:lnSpc>
                <a:spcBef>
                  <a:spcPct val="0"/>
                </a:spcBef>
                <a:buClr>
                  <a:srgbClr val="F68933"/>
                </a:buClr>
                <a:buFontTx/>
                <a:buNone/>
              </a:pPr>
              <a:t>22</a:t>
            </a:fld>
            <a:endParaRPr lang="en-US" altLang="en-US" sz="800"/>
          </a:p>
        </p:txBody>
      </p:sp>
      <p:sp>
        <p:nvSpPr>
          <p:cNvPr id="32771" name="Rectangle 2">
            <a:extLst>
              <a:ext uri="{FF2B5EF4-FFF2-40B4-BE49-F238E27FC236}">
                <a16:creationId xmlns:a16="http://schemas.microsoft.com/office/drawing/2014/main" id="{A15EA567-ACB7-5CA9-2E1B-17A0E4D3EE1E}"/>
              </a:ext>
            </a:extLst>
          </p:cNvPr>
          <p:cNvSpPr>
            <a:spLocks noGrp="1" noChangeArrowheads="1"/>
          </p:cNvSpPr>
          <p:nvPr>
            <p:ph type="title"/>
          </p:nvPr>
        </p:nvSpPr>
        <p:spPr/>
        <p:txBody>
          <a:bodyPr/>
          <a:lstStyle/>
          <a:p>
            <a:pPr eaLnBrk="1" hangingPunct="1"/>
            <a:r>
              <a:rPr lang="en-GB" altLang="en-US"/>
              <a:t>Dielectrics</a:t>
            </a:r>
            <a:endParaRPr lang="en-US" altLang="en-US"/>
          </a:p>
        </p:txBody>
      </p:sp>
      <p:sp>
        <p:nvSpPr>
          <p:cNvPr id="32772" name="Rectangle 3">
            <a:extLst>
              <a:ext uri="{FF2B5EF4-FFF2-40B4-BE49-F238E27FC236}">
                <a16:creationId xmlns:a16="http://schemas.microsoft.com/office/drawing/2014/main" id="{288D0D51-9014-0132-7E3E-F22C4FD956BF}"/>
              </a:ext>
            </a:extLst>
          </p:cNvPr>
          <p:cNvSpPr>
            <a:spLocks noGrp="1" noChangeArrowheads="1"/>
          </p:cNvSpPr>
          <p:nvPr>
            <p:ph type="body" idx="1"/>
          </p:nvPr>
        </p:nvSpPr>
        <p:spPr/>
        <p:txBody>
          <a:bodyPr/>
          <a:lstStyle/>
          <a:p>
            <a:pPr eaLnBrk="1" hangingPunct="1"/>
            <a:r>
              <a:rPr lang="en-GB" altLang="en-US"/>
              <a:t>General requirements for back end dielectrics:</a:t>
            </a:r>
          </a:p>
          <a:p>
            <a:pPr lvl="1" eaLnBrk="1" hangingPunct="1"/>
            <a:r>
              <a:rPr lang="en-GB" altLang="en-US"/>
              <a:t>Good electrical isolation</a:t>
            </a:r>
          </a:p>
          <a:p>
            <a:pPr lvl="1" eaLnBrk="1" hangingPunct="1"/>
            <a:r>
              <a:rPr lang="en-GB" altLang="en-US"/>
              <a:t>Low dielectric constant</a:t>
            </a:r>
          </a:p>
          <a:p>
            <a:pPr lvl="1" eaLnBrk="1" hangingPunct="1"/>
            <a:r>
              <a:rPr lang="en-GB" altLang="en-US"/>
              <a:t>High breakdown electric field (&gt;5 MV/cm)</a:t>
            </a:r>
          </a:p>
          <a:p>
            <a:pPr lvl="1" eaLnBrk="1" hangingPunct="1"/>
            <a:r>
              <a:rPr lang="en-GB" altLang="en-US"/>
              <a:t>Good adhesion</a:t>
            </a:r>
          </a:p>
          <a:p>
            <a:pPr lvl="1" eaLnBrk="1" hangingPunct="1"/>
            <a:r>
              <a:rPr lang="en-GB" altLang="en-US"/>
              <a:t>Good stability </a:t>
            </a:r>
          </a:p>
          <a:p>
            <a:pPr lvl="1" eaLnBrk="1" hangingPunct="1"/>
            <a:r>
              <a:rPr lang="en-GB" altLang="en-US"/>
              <a:t>Good structural density</a:t>
            </a:r>
          </a:p>
          <a:p>
            <a:pPr lvl="1" eaLnBrk="1" hangingPunct="1"/>
            <a:r>
              <a:rPr lang="en-GB" altLang="en-US"/>
              <a:t>No contaminants</a:t>
            </a:r>
          </a:p>
          <a:p>
            <a:pPr lvl="1" eaLnBrk="1" hangingPunct="1"/>
            <a:r>
              <a:rPr lang="en-GB" altLang="en-US"/>
              <a:t>Permeable to hydrogen</a:t>
            </a:r>
          </a:p>
          <a:p>
            <a:pPr lvl="1" eaLnBrk="1" hangingPunct="1">
              <a:buFontTx/>
              <a:buNone/>
            </a:pPr>
            <a:endParaRPr lang="en-GB" altLang="en-US"/>
          </a:p>
          <a:p>
            <a:pPr lvl="1" eaLnBrk="1" hangingPunct="1"/>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a:extLst>
              <a:ext uri="{FF2B5EF4-FFF2-40B4-BE49-F238E27FC236}">
                <a16:creationId xmlns:a16="http://schemas.microsoft.com/office/drawing/2014/main" id="{06240C34-6B78-0A55-D3AA-1F034A48EF4F}"/>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BDF8FF91-185D-40BD-A82A-025509DDCC1A}" type="slidenum">
              <a:rPr lang="en-US" altLang="en-US" sz="800"/>
              <a:pPr>
                <a:lnSpc>
                  <a:spcPct val="100000"/>
                </a:lnSpc>
                <a:spcBef>
                  <a:spcPct val="0"/>
                </a:spcBef>
                <a:buClr>
                  <a:srgbClr val="F68933"/>
                </a:buClr>
                <a:buFontTx/>
                <a:buNone/>
              </a:pPr>
              <a:t>23</a:t>
            </a:fld>
            <a:endParaRPr lang="en-US" altLang="en-US" sz="800"/>
          </a:p>
        </p:txBody>
      </p:sp>
      <p:sp>
        <p:nvSpPr>
          <p:cNvPr id="33795" name="Rectangle 2">
            <a:extLst>
              <a:ext uri="{FF2B5EF4-FFF2-40B4-BE49-F238E27FC236}">
                <a16:creationId xmlns:a16="http://schemas.microsoft.com/office/drawing/2014/main" id="{D8C55858-4146-C539-299A-024A6FC0BBC0}"/>
              </a:ext>
            </a:extLst>
          </p:cNvPr>
          <p:cNvSpPr>
            <a:spLocks noGrp="1" noChangeArrowheads="1"/>
          </p:cNvSpPr>
          <p:nvPr>
            <p:ph type="title"/>
          </p:nvPr>
        </p:nvSpPr>
        <p:spPr/>
        <p:txBody>
          <a:bodyPr/>
          <a:lstStyle/>
          <a:p>
            <a:pPr eaLnBrk="1" hangingPunct="1"/>
            <a:r>
              <a:rPr lang="en-GB" altLang="en-US"/>
              <a:t>Dielectrics</a:t>
            </a:r>
            <a:endParaRPr lang="en-US" altLang="en-US"/>
          </a:p>
        </p:txBody>
      </p:sp>
      <p:graphicFrame>
        <p:nvGraphicFramePr>
          <p:cNvPr id="528504" name="Group 120">
            <a:extLst>
              <a:ext uri="{FF2B5EF4-FFF2-40B4-BE49-F238E27FC236}">
                <a16:creationId xmlns:a16="http://schemas.microsoft.com/office/drawing/2014/main" id="{505E930E-2064-DEF2-9680-6B3D87086B57}"/>
              </a:ext>
            </a:extLst>
          </p:cNvPr>
          <p:cNvGraphicFramePr>
            <a:graphicFrameLocks noGrp="1"/>
          </p:cNvGraphicFramePr>
          <p:nvPr/>
        </p:nvGraphicFramePr>
        <p:xfrm>
          <a:off x="1835150" y="1220789"/>
          <a:ext cx="7818438" cy="3463925"/>
        </p:xfrm>
        <a:graphic>
          <a:graphicData uri="http://schemas.openxmlformats.org/drawingml/2006/table">
            <a:tbl>
              <a:tblPr/>
              <a:tblGrid>
                <a:gridCol w="1954213">
                  <a:extLst>
                    <a:ext uri="{9D8B030D-6E8A-4147-A177-3AD203B41FA5}">
                      <a16:colId xmlns:a16="http://schemas.microsoft.com/office/drawing/2014/main" val="4148782207"/>
                    </a:ext>
                  </a:extLst>
                </a:gridCol>
                <a:gridCol w="1955800">
                  <a:extLst>
                    <a:ext uri="{9D8B030D-6E8A-4147-A177-3AD203B41FA5}">
                      <a16:colId xmlns:a16="http://schemas.microsoft.com/office/drawing/2014/main" val="1220507893"/>
                    </a:ext>
                  </a:extLst>
                </a:gridCol>
                <a:gridCol w="1954212">
                  <a:extLst>
                    <a:ext uri="{9D8B030D-6E8A-4147-A177-3AD203B41FA5}">
                      <a16:colId xmlns:a16="http://schemas.microsoft.com/office/drawing/2014/main" val="3907167251"/>
                    </a:ext>
                  </a:extLst>
                </a:gridCol>
                <a:gridCol w="1954213">
                  <a:extLst>
                    <a:ext uri="{9D8B030D-6E8A-4147-A177-3AD203B41FA5}">
                      <a16:colId xmlns:a16="http://schemas.microsoft.com/office/drawing/2014/main" val="1304779675"/>
                    </a:ext>
                  </a:extLst>
                </a:gridCol>
              </a:tblGrid>
              <a:tr h="554634">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1" i="0" u="none" strike="noStrike" cap="none" normalizeH="0" baseline="0">
                          <a:ln>
                            <a:noFill/>
                          </a:ln>
                          <a:solidFill>
                            <a:schemeClr val="accent1"/>
                          </a:solidFill>
                          <a:effectLst/>
                          <a:latin typeface="Arial" panose="020B0604020202020204" pitchFamily="34" charset="0"/>
                          <a:ea typeface="ＭＳ Ｐゴシック" panose="020B0600070205080204" pitchFamily="34" charset="-128"/>
                        </a:rPr>
                        <a:t>Material class</a:t>
                      </a:r>
                      <a:endParaRPr kumimoji="0" lang="en-US" altLang="en-US" sz="1600" b="1" i="0" u="none" strike="noStrike" cap="none" normalizeH="0" baseline="0">
                        <a:ln>
                          <a:noFill/>
                        </a:ln>
                        <a:solidFill>
                          <a:schemeClr val="accent1"/>
                        </a:solidFill>
                        <a:effectLst/>
                        <a:latin typeface="Arial" panose="020B0604020202020204" pitchFamily="34" charset="0"/>
                        <a:ea typeface="ＭＳ Ｐゴシック" panose="020B0600070205080204" pitchFamily="34" charset="-128"/>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1" i="0" u="none" strike="noStrike" cap="none" normalizeH="0" baseline="0">
                          <a:ln>
                            <a:noFill/>
                          </a:ln>
                          <a:solidFill>
                            <a:schemeClr val="accent1"/>
                          </a:solidFill>
                          <a:effectLst/>
                          <a:latin typeface="Arial" panose="020B0604020202020204" pitchFamily="34" charset="0"/>
                          <a:ea typeface="ＭＳ Ｐゴシック" panose="020B0600070205080204" pitchFamily="34" charset="-128"/>
                        </a:rPr>
                        <a:t>Material</a:t>
                      </a:r>
                      <a:endParaRPr kumimoji="0" lang="en-US" altLang="en-US" sz="1600" b="1" i="0" u="none" strike="noStrike" cap="none" normalizeH="0" baseline="0">
                        <a:ln>
                          <a:noFill/>
                        </a:ln>
                        <a:solidFill>
                          <a:schemeClr val="accent1"/>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1" i="0" u="none" strike="noStrike" cap="none" normalizeH="0" baseline="0">
                          <a:ln>
                            <a:noFill/>
                          </a:ln>
                          <a:solidFill>
                            <a:schemeClr val="accent1"/>
                          </a:solidFill>
                          <a:effectLst/>
                          <a:latin typeface="Arial" panose="020B0604020202020204" pitchFamily="34" charset="0"/>
                          <a:ea typeface="ＭＳ Ｐゴシック" panose="020B0600070205080204" pitchFamily="34" charset="-128"/>
                        </a:rPr>
                        <a:t>K</a:t>
                      </a:r>
                      <a:endParaRPr kumimoji="0" lang="en-US" altLang="en-US" sz="1600" b="1" i="0" u="none" strike="noStrike" cap="none" normalizeH="0" baseline="0">
                        <a:ln>
                          <a:noFill/>
                        </a:ln>
                        <a:solidFill>
                          <a:schemeClr val="accent1"/>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600" b="1" i="0" u="none" strike="noStrike" cap="none" normalizeH="0" baseline="0">
                          <a:ln>
                            <a:noFill/>
                          </a:ln>
                          <a:solidFill>
                            <a:schemeClr val="accent1"/>
                          </a:solidFill>
                          <a:effectLst/>
                          <a:latin typeface="Arial" panose="020B0604020202020204" pitchFamily="34" charset="0"/>
                          <a:ea typeface="ＭＳ Ｐゴシック" panose="020B0600070205080204" pitchFamily="34" charset="-128"/>
                        </a:rPr>
                        <a:t>Deposition technique</a:t>
                      </a:r>
                      <a:endParaRPr kumimoji="0" lang="en-US" altLang="en-US" sz="1600" b="1" i="0" u="none" strike="noStrike" cap="none" normalizeH="0" baseline="0">
                        <a:ln>
                          <a:noFill/>
                        </a:ln>
                        <a:solidFill>
                          <a:schemeClr val="accent1"/>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93185610"/>
                  </a:ext>
                </a:extLst>
              </a:tr>
              <a:tr h="438831">
                <a:tc rowSpan="4">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Inorganic</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SiO</a:t>
                      </a:r>
                      <a:r>
                        <a:rPr kumimoji="0" lang="en-GB" altLang="en-US" sz="1200" b="0" i="0" u="none" strike="noStrike" cap="none" normalizeH="0" baseline="-25000">
                          <a:ln>
                            <a:noFill/>
                          </a:ln>
                          <a:solidFill>
                            <a:srgbClr val="000000"/>
                          </a:solidFill>
                          <a:effectLst/>
                          <a:latin typeface="Arial" panose="020B0604020202020204" pitchFamily="34" charset="0"/>
                          <a:ea typeface="ＭＳ Ｐゴシック" panose="020B0600070205080204" pitchFamily="34" charset="-128"/>
                        </a:rPr>
                        <a:t>2 </a:t>
                      </a: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(including PSG, BPSG)</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3.9/5.0</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CVD, HDP</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8821911"/>
                  </a:ext>
                </a:extLst>
              </a:tr>
              <a:tr h="338076">
                <a:tc vMerge="1">
                  <a:txBody>
                    <a:bodyPr/>
                    <a:lstStyle/>
                    <a:p>
                      <a:endParaRPr lang="en-US"/>
                    </a:p>
                  </a:txBody>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FSG</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CVD, HDP</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19466403"/>
                  </a:ext>
                </a:extLst>
              </a:tr>
              <a:tr h="338076">
                <a:tc vMerge="1">
                  <a:txBody>
                    <a:bodyPr/>
                    <a:lstStyle/>
                    <a:p>
                      <a:endParaRPr lang="en-US"/>
                    </a:p>
                  </a:txBody>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Spin on glass</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3.9/5.0</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SOD</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47237443"/>
                  </a:ext>
                </a:extLst>
              </a:tr>
              <a:tr h="438831">
                <a:tc vMerge="1">
                  <a:txBody>
                    <a:bodyPr/>
                    <a:lstStyle/>
                    <a:p>
                      <a:endParaRPr lang="en-US"/>
                    </a:p>
                  </a:txBody>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Si</a:t>
                      </a:r>
                      <a:r>
                        <a:rPr kumimoji="0" lang="en-GB" altLang="en-US" sz="1200" b="0" i="0" u="none" strike="noStrike" cap="none" normalizeH="0" baseline="-25000">
                          <a:ln>
                            <a:noFill/>
                          </a:ln>
                          <a:solidFill>
                            <a:srgbClr val="000000"/>
                          </a:solidFill>
                          <a:effectLst/>
                          <a:latin typeface="Arial" panose="020B0604020202020204" pitchFamily="34" charset="0"/>
                          <a:ea typeface="ＭＳ Ｐゴシック" panose="020B0600070205080204" pitchFamily="34" charset="-128"/>
                        </a:rPr>
                        <a:t>3</a:t>
                      </a: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N</a:t>
                      </a:r>
                      <a:r>
                        <a:rPr kumimoji="0" lang="en-GB" altLang="en-US" sz="1200" b="0" i="0" u="none" strike="noStrike" cap="none" normalizeH="0" baseline="-25000">
                          <a:ln>
                            <a:noFill/>
                          </a:ln>
                          <a:solidFill>
                            <a:srgbClr val="000000"/>
                          </a:solidFill>
                          <a:effectLst/>
                          <a:latin typeface="Arial" panose="020B0604020202020204" pitchFamily="34" charset="0"/>
                          <a:ea typeface="ＭＳ Ｐゴシック" panose="020B0600070205080204" pitchFamily="34" charset="-128"/>
                        </a:rPr>
                        <a:t>4</a:t>
                      </a: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 (only in multi-layer structures)</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5.8/6.1</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CVD/PE-CVD</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10335510"/>
                  </a:ext>
                </a:extLst>
              </a:tr>
              <a:tr h="339663">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Organic</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Polymides</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2.9/3.9</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SOD/CVD</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74750065"/>
                  </a:ext>
                </a:extLst>
              </a:tr>
              <a:tr h="338076">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Hybrids</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Si-O-C polymers </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2.0/3.8</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SOD/CVD</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31348937"/>
                  </a:ext>
                </a:extLst>
              </a:tr>
              <a:tr h="338076">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Aerogels</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Porous SiO</a:t>
                      </a:r>
                      <a:r>
                        <a:rPr kumimoji="0" lang="en-GB" altLang="en-US" sz="1200" b="0" i="0" u="none" strike="noStrike" cap="none" normalizeH="0" baseline="-25000">
                          <a:ln>
                            <a:noFill/>
                          </a:ln>
                          <a:solidFill>
                            <a:srgbClr val="000000"/>
                          </a:solidFill>
                          <a:effectLst/>
                          <a:latin typeface="Arial" panose="020B0604020202020204" pitchFamily="34" charset="0"/>
                          <a:ea typeface="ＭＳ Ｐゴシック" panose="020B0600070205080204" pitchFamily="34" charset="-128"/>
                        </a:rPr>
                        <a:t>2</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1.2/1.8</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SOD</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25490363"/>
                  </a:ext>
                </a:extLst>
              </a:tr>
              <a:tr h="339663">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Air bridge</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r>
                        <a:rPr kumimoji="0" lang="en-GB"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rPr>
                        <a:t>1.0/1.2</a:t>
                      </a: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sz="2000">
                          <a:solidFill>
                            <a:srgbClr val="000000"/>
                          </a:solidFill>
                          <a:latin typeface="Arial" panose="020B0604020202020204" pitchFamily="34" charset="0"/>
                          <a:ea typeface="ＭＳ Ｐゴシック" panose="020B0600070205080204" pitchFamily="34" charset="-128"/>
                        </a:defRPr>
                      </a:lvl1pPr>
                      <a:lvl2pPr marL="200025">
                        <a:defRPr>
                          <a:solidFill>
                            <a:srgbClr val="000000"/>
                          </a:solidFill>
                          <a:latin typeface="Arial" panose="020B0604020202020204" pitchFamily="34" charset="0"/>
                          <a:ea typeface="ＭＳ Ｐゴシック" panose="020B0600070205080204" pitchFamily="34" charset="-128"/>
                        </a:defRPr>
                      </a:lvl2pPr>
                      <a:lvl3pPr marL="495300">
                        <a:defRPr sz="1400">
                          <a:solidFill>
                            <a:srgbClr val="000000"/>
                          </a:solidFill>
                          <a:latin typeface="Arial" panose="020B0604020202020204" pitchFamily="34" charset="0"/>
                          <a:ea typeface="ＭＳ Ｐゴシック" panose="020B0600070205080204" pitchFamily="34" charset="-128"/>
                        </a:defRPr>
                      </a:lvl3pPr>
                      <a:lvl4pPr marL="676275">
                        <a:spcBef>
                          <a:spcPct val="20000"/>
                        </a:spcBef>
                        <a:defRPr sz="1400">
                          <a:solidFill>
                            <a:srgbClr val="000000"/>
                          </a:solidFill>
                          <a:latin typeface="Arial" panose="020B0604020202020204" pitchFamily="34" charset="0"/>
                          <a:ea typeface="ＭＳ Ｐゴシック" panose="020B0600070205080204" pitchFamily="34" charset="-128"/>
                        </a:defRPr>
                      </a:lvl4pPr>
                      <a:lvl5pPr marL="914400">
                        <a:spcBef>
                          <a:spcPct val="20000"/>
                        </a:spcBef>
                        <a:defRPr sz="1400">
                          <a:solidFill>
                            <a:srgbClr val="000000"/>
                          </a:solidFill>
                          <a:latin typeface="Arial" panose="020B0604020202020204" pitchFamily="34" charset="0"/>
                          <a:ea typeface="ＭＳ Ｐゴシック" panose="020B0600070205080204" pitchFamily="34" charset="-128"/>
                        </a:defRPr>
                      </a:lvl5pPr>
                      <a:lvl6pPr marL="13716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6pPr>
                      <a:lvl7pPr marL="18288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7pPr>
                      <a:lvl8pPr marL="22860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8pPr>
                      <a:lvl9pPr marL="2743200" fontAlgn="base">
                        <a:spcBef>
                          <a:spcPct val="20000"/>
                        </a:spcBef>
                        <a:spcAft>
                          <a:spcPct val="0"/>
                        </a:spcAft>
                        <a:buClr>
                          <a:schemeClr val="tx2"/>
                        </a:buClr>
                        <a:defRPr sz="1400">
                          <a:solidFill>
                            <a:srgbClr val="000000"/>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95000"/>
                        </a:lnSpc>
                        <a:spcBef>
                          <a:spcPct val="35000"/>
                        </a:spcBef>
                        <a:spcAft>
                          <a:spcPct val="0"/>
                        </a:spcAft>
                        <a:buClr>
                          <a:schemeClr val="tx2"/>
                        </a:buClr>
                        <a:buSzTx/>
                        <a:buFont typeface="Times" panose="02020603050405020304" pitchFamily="18" charset="0"/>
                        <a:buNone/>
                        <a:tabLst/>
                      </a:pPr>
                      <a:endParaRPr kumimoji="0" lang="en-US" altLang="en-US" sz="1200" b="0" i="0" u="none" strike="noStrike" cap="none" normalizeH="0" baseline="0">
                        <a:ln>
                          <a:noFill/>
                        </a:ln>
                        <a:solidFill>
                          <a:srgbClr val="000000"/>
                        </a:solidFill>
                        <a:effectLst/>
                        <a:latin typeface="Arial" panose="020B0604020202020204" pitchFamily="34" charset="0"/>
                        <a:ea typeface="ＭＳ Ｐゴシック" panose="020B0600070205080204" pitchFamily="34" charset="-128"/>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039381"/>
                  </a:ext>
                </a:extLst>
              </a:tr>
            </a:tbl>
          </a:graphicData>
        </a:graphic>
      </p:graphicFrame>
      <p:sp>
        <p:nvSpPr>
          <p:cNvPr id="33845" name="Text Box 109">
            <a:extLst>
              <a:ext uri="{FF2B5EF4-FFF2-40B4-BE49-F238E27FC236}">
                <a16:creationId xmlns:a16="http://schemas.microsoft.com/office/drawing/2014/main" id="{93F5D200-4A9B-1679-4126-B983E57ABAE1}"/>
              </a:ext>
            </a:extLst>
          </p:cNvPr>
          <p:cNvSpPr txBox="1">
            <a:spLocks noChangeArrowheads="1"/>
          </p:cNvSpPr>
          <p:nvPr/>
        </p:nvSpPr>
        <p:spPr bwMode="auto">
          <a:xfrm>
            <a:off x="2598739" y="4922838"/>
            <a:ext cx="6994525" cy="1422400"/>
          </a:xfrm>
          <a:prstGeom prst="rect">
            <a:avLst/>
          </a:prstGeom>
          <a:noFill/>
          <a:ln w="12700" algn="ctr">
            <a:solidFill>
              <a:srgbClr val="FF7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Char char="•"/>
            </a:pPr>
            <a:r>
              <a:rPr lang="en-GB" altLang="en-US" sz="1800" b="1"/>
              <a:t>Dielectric planarization is needed before contacts/metal lines/vias patterning:</a:t>
            </a:r>
          </a:p>
          <a:p>
            <a:pPr lvl="1" eaLnBrk="1" hangingPunct="1">
              <a:spcBef>
                <a:spcPct val="50000"/>
              </a:spcBef>
              <a:buFont typeface="Times" panose="02020603050405020304" pitchFamily="18" charset="0"/>
              <a:buChar char="•"/>
            </a:pPr>
            <a:r>
              <a:rPr lang="en-GB" altLang="en-US" sz="1800" b="1"/>
              <a:t> Formerly obtained by reflow (BPSG, PSG) or etch back</a:t>
            </a:r>
          </a:p>
          <a:p>
            <a:pPr lvl="1" eaLnBrk="1" hangingPunct="1">
              <a:spcBef>
                <a:spcPct val="50000"/>
              </a:spcBef>
              <a:buFont typeface="Times" panose="02020603050405020304" pitchFamily="18" charset="0"/>
              <a:buChar char="•"/>
            </a:pPr>
            <a:r>
              <a:rPr lang="en-GB" altLang="en-US" sz="1800" b="1"/>
              <a:t> Now CMP is the mainstream approach</a:t>
            </a:r>
            <a:endParaRPr lang="en-US" altLang="en-US" sz="1800" b="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a:extLst>
              <a:ext uri="{FF2B5EF4-FFF2-40B4-BE49-F238E27FC236}">
                <a16:creationId xmlns:a16="http://schemas.microsoft.com/office/drawing/2014/main" id="{88E58042-C155-E85F-2CA0-A7CFF6D1112C}"/>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74A5D421-80FE-4616-B34A-092CD934E91F}" type="slidenum">
              <a:rPr lang="en-US" altLang="en-US" sz="800"/>
              <a:pPr>
                <a:lnSpc>
                  <a:spcPct val="100000"/>
                </a:lnSpc>
                <a:spcBef>
                  <a:spcPct val="0"/>
                </a:spcBef>
                <a:buClr>
                  <a:srgbClr val="F68933"/>
                </a:buClr>
                <a:buFontTx/>
                <a:buNone/>
              </a:pPr>
              <a:t>24</a:t>
            </a:fld>
            <a:endParaRPr lang="en-US" altLang="en-US" sz="800"/>
          </a:p>
        </p:txBody>
      </p:sp>
      <p:sp>
        <p:nvSpPr>
          <p:cNvPr id="34819" name="Rectangle 2">
            <a:extLst>
              <a:ext uri="{FF2B5EF4-FFF2-40B4-BE49-F238E27FC236}">
                <a16:creationId xmlns:a16="http://schemas.microsoft.com/office/drawing/2014/main" id="{B9652B58-7959-78A6-0149-A786AE859F6D}"/>
              </a:ext>
            </a:extLst>
          </p:cNvPr>
          <p:cNvSpPr>
            <a:spLocks noGrp="1" noChangeArrowheads="1"/>
          </p:cNvSpPr>
          <p:nvPr>
            <p:ph type="title"/>
          </p:nvPr>
        </p:nvSpPr>
        <p:spPr/>
        <p:txBody>
          <a:bodyPr/>
          <a:lstStyle/>
          <a:p>
            <a:pPr eaLnBrk="1" hangingPunct="1"/>
            <a:r>
              <a:rPr lang="en-GB" altLang="en-US"/>
              <a:t>Back end features vs technology scaling</a:t>
            </a:r>
            <a:endParaRPr lang="en-US" altLang="en-US"/>
          </a:p>
        </p:txBody>
      </p:sp>
      <p:graphicFrame>
        <p:nvGraphicFramePr>
          <p:cNvPr id="34820" name="Object 3">
            <a:extLst>
              <a:ext uri="{FF2B5EF4-FFF2-40B4-BE49-F238E27FC236}">
                <a16:creationId xmlns:a16="http://schemas.microsoft.com/office/drawing/2014/main" id="{BCDBC6E6-BB6A-4DA0-2FB1-9E93CDF20BB3}"/>
              </a:ext>
            </a:extLst>
          </p:cNvPr>
          <p:cNvGraphicFramePr>
            <a:graphicFrameLocks noChangeAspect="1"/>
          </p:cNvGraphicFramePr>
          <p:nvPr/>
        </p:nvGraphicFramePr>
        <p:xfrm>
          <a:off x="1844675" y="1143000"/>
          <a:ext cx="3733800" cy="2286000"/>
        </p:xfrm>
        <a:graphic>
          <a:graphicData uri="http://schemas.openxmlformats.org/presentationml/2006/ole">
            <mc:AlternateContent xmlns:mc="http://schemas.openxmlformats.org/markup-compatibility/2006">
              <mc:Choice xmlns:v="urn:schemas-microsoft-com:vml" Requires="v">
                <p:oleObj name="Document" r:id="rId2" imgW="3733800" imgH="2286000" progId="Word.Document.8">
                  <p:embed/>
                </p:oleObj>
              </mc:Choice>
              <mc:Fallback>
                <p:oleObj name="Document" r:id="rId2" imgW="3733800" imgH="2286000" progId="Word.Document.8">
                  <p:embed/>
                  <p:pic>
                    <p:nvPicPr>
                      <p:cNvPr id="34820" name="Object 3">
                        <a:extLst>
                          <a:ext uri="{FF2B5EF4-FFF2-40B4-BE49-F238E27FC236}">
                            <a16:creationId xmlns:a16="http://schemas.microsoft.com/office/drawing/2014/main" id="{BCDBC6E6-BB6A-4DA0-2FB1-9E93CDF20B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4675" y="1143000"/>
                        <a:ext cx="3733800" cy="228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1" name="Text Box 4">
            <a:extLst>
              <a:ext uri="{FF2B5EF4-FFF2-40B4-BE49-F238E27FC236}">
                <a16:creationId xmlns:a16="http://schemas.microsoft.com/office/drawing/2014/main" id="{FB200498-01C6-10A8-DCE3-DFCC67F54A75}"/>
              </a:ext>
            </a:extLst>
          </p:cNvPr>
          <p:cNvSpPr txBox="1">
            <a:spLocks noChangeArrowheads="1"/>
          </p:cNvSpPr>
          <p:nvPr/>
        </p:nvSpPr>
        <p:spPr bwMode="auto">
          <a:xfrm>
            <a:off x="6340476" y="1706563"/>
            <a:ext cx="4327525"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t>The time delay of a signal transmitted over a metal line can be estimated as:</a:t>
            </a:r>
            <a:endParaRPr lang="en-US" altLang="en-US"/>
          </a:p>
        </p:txBody>
      </p:sp>
      <p:graphicFrame>
        <p:nvGraphicFramePr>
          <p:cNvPr id="34822" name="Object 5">
            <a:extLst>
              <a:ext uri="{FF2B5EF4-FFF2-40B4-BE49-F238E27FC236}">
                <a16:creationId xmlns:a16="http://schemas.microsoft.com/office/drawing/2014/main" id="{86358E3A-045D-EF61-A147-93EBCF232866}"/>
              </a:ext>
            </a:extLst>
          </p:cNvPr>
          <p:cNvGraphicFramePr>
            <a:graphicFrameLocks noChangeAspect="1"/>
          </p:cNvGraphicFramePr>
          <p:nvPr/>
        </p:nvGraphicFramePr>
        <p:xfrm>
          <a:off x="7391401" y="2836864"/>
          <a:ext cx="1476375" cy="344487"/>
        </p:xfrm>
        <a:graphic>
          <a:graphicData uri="http://schemas.openxmlformats.org/presentationml/2006/ole">
            <mc:AlternateContent xmlns:mc="http://schemas.openxmlformats.org/markup-compatibility/2006">
              <mc:Choice xmlns:v="urn:schemas-microsoft-com:vml" Requires="v">
                <p:oleObj name="Equation" r:id="rId4" imgW="761669" imgH="177723" progId="Equation.3">
                  <p:embed/>
                </p:oleObj>
              </mc:Choice>
              <mc:Fallback>
                <p:oleObj name="Equation" r:id="rId4" imgW="761669" imgH="177723" progId="Equation.3">
                  <p:embed/>
                  <p:pic>
                    <p:nvPicPr>
                      <p:cNvPr id="34822" name="Object 5">
                        <a:extLst>
                          <a:ext uri="{FF2B5EF4-FFF2-40B4-BE49-F238E27FC236}">
                            <a16:creationId xmlns:a16="http://schemas.microsoft.com/office/drawing/2014/main" id="{86358E3A-045D-EF61-A147-93EBCF2328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1401" y="2836864"/>
                        <a:ext cx="1476375" cy="344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3" name="Text Box 6">
            <a:extLst>
              <a:ext uri="{FF2B5EF4-FFF2-40B4-BE49-F238E27FC236}">
                <a16:creationId xmlns:a16="http://schemas.microsoft.com/office/drawing/2014/main" id="{D8A47DFB-4B8C-E1F4-DA9C-9AEB80D684D2}"/>
              </a:ext>
            </a:extLst>
          </p:cNvPr>
          <p:cNvSpPr txBox="1">
            <a:spLocks noChangeArrowheads="1"/>
          </p:cNvSpPr>
          <p:nvPr/>
        </p:nvSpPr>
        <p:spPr bwMode="auto">
          <a:xfrm>
            <a:off x="1768475" y="3657600"/>
            <a:ext cx="8320088"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t>Let’s express </a:t>
            </a:r>
            <a:r>
              <a:rPr lang="en-GB" altLang="en-US">
                <a:latin typeface="Symbol" panose="05050102010706020507" pitchFamily="18" charset="2"/>
              </a:rPr>
              <a:t>t</a:t>
            </a:r>
            <a:r>
              <a:rPr lang="en-GB" altLang="en-US"/>
              <a:t> as a function of back end features</a:t>
            </a:r>
            <a:endParaRPr lang="en-US" altLang="en-US"/>
          </a:p>
        </p:txBody>
      </p:sp>
      <p:graphicFrame>
        <p:nvGraphicFramePr>
          <p:cNvPr id="34824" name="Object 7">
            <a:extLst>
              <a:ext uri="{FF2B5EF4-FFF2-40B4-BE49-F238E27FC236}">
                <a16:creationId xmlns:a16="http://schemas.microsoft.com/office/drawing/2014/main" id="{ED48DC5B-7D91-CD25-8D13-72BFE70176B0}"/>
              </a:ext>
            </a:extLst>
          </p:cNvPr>
          <p:cNvGraphicFramePr>
            <a:graphicFrameLocks noChangeAspect="1"/>
          </p:cNvGraphicFramePr>
          <p:nvPr/>
        </p:nvGraphicFramePr>
        <p:xfrm>
          <a:off x="1827213" y="4237039"/>
          <a:ext cx="3776662" cy="1354137"/>
        </p:xfrm>
        <a:graphic>
          <a:graphicData uri="http://schemas.openxmlformats.org/presentationml/2006/ole">
            <mc:AlternateContent xmlns:mc="http://schemas.openxmlformats.org/markup-compatibility/2006">
              <mc:Choice xmlns:v="urn:schemas-microsoft-com:vml" Requires="v">
                <p:oleObj name="Equation" r:id="rId6" imgW="2336800" imgH="838200" progId="Equation.3">
                  <p:embed/>
                </p:oleObj>
              </mc:Choice>
              <mc:Fallback>
                <p:oleObj name="Equation" r:id="rId6" imgW="2336800" imgH="838200" progId="Equation.3">
                  <p:embed/>
                  <p:pic>
                    <p:nvPicPr>
                      <p:cNvPr id="34824" name="Object 7">
                        <a:extLst>
                          <a:ext uri="{FF2B5EF4-FFF2-40B4-BE49-F238E27FC236}">
                            <a16:creationId xmlns:a16="http://schemas.microsoft.com/office/drawing/2014/main" id="{ED48DC5B-7D91-CD25-8D13-72BFE70176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7213" y="4237039"/>
                        <a:ext cx="3776662" cy="1354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5" name="Text Box 8">
            <a:extLst>
              <a:ext uri="{FF2B5EF4-FFF2-40B4-BE49-F238E27FC236}">
                <a16:creationId xmlns:a16="http://schemas.microsoft.com/office/drawing/2014/main" id="{CEF68899-CDBF-8503-E926-B9BDE945A802}"/>
              </a:ext>
            </a:extLst>
          </p:cNvPr>
          <p:cNvSpPr txBox="1">
            <a:spLocks noChangeArrowheads="1"/>
          </p:cNvSpPr>
          <p:nvPr/>
        </p:nvSpPr>
        <p:spPr bwMode="auto">
          <a:xfrm>
            <a:off x="1755776" y="5734051"/>
            <a:ext cx="434022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800"/>
              <a:t>With </a:t>
            </a:r>
            <a:r>
              <a:rPr lang="en-GB" altLang="en-US" sz="1800">
                <a:latin typeface="Symbol" panose="05050102010706020507" pitchFamily="18" charset="2"/>
              </a:rPr>
              <a:t>r</a:t>
            </a:r>
            <a:r>
              <a:rPr lang="en-GB" altLang="en-US" sz="1800"/>
              <a:t>=metal resistivity, K</a:t>
            </a:r>
            <a:r>
              <a:rPr lang="en-GB" altLang="en-US" sz="1800" baseline="-25000"/>
              <a:t>ox</a:t>
            </a:r>
            <a:r>
              <a:rPr lang="en-GB" altLang="en-US" sz="1800"/>
              <a:t>= oxide dielectric constant  </a:t>
            </a:r>
            <a:endParaRPr lang="en-US" altLang="en-US" sz="1800"/>
          </a:p>
        </p:txBody>
      </p:sp>
      <p:sp>
        <p:nvSpPr>
          <p:cNvPr id="34826" name="AutoShape 9">
            <a:extLst>
              <a:ext uri="{FF2B5EF4-FFF2-40B4-BE49-F238E27FC236}">
                <a16:creationId xmlns:a16="http://schemas.microsoft.com/office/drawing/2014/main" id="{50732C23-D0BB-145F-C62B-6CF1E3F04585}"/>
              </a:ext>
            </a:extLst>
          </p:cNvPr>
          <p:cNvSpPr>
            <a:spLocks noChangeArrowheads="1"/>
          </p:cNvSpPr>
          <p:nvPr/>
        </p:nvSpPr>
        <p:spPr bwMode="auto">
          <a:xfrm>
            <a:off x="5824539" y="4741864"/>
            <a:ext cx="542925" cy="434975"/>
          </a:xfrm>
          <a:prstGeom prst="rightArrow">
            <a:avLst>
              <a:gd name="adj1" fmla="val 50000"/>
              <a:gd name="adj2" fmla="val 31204"/>
            </a:avLst>
          </a:prstGeom>
          <a:solidFill>
            <a:schemeClr val="tx2"/>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graphicFrame>
        <p:nvGraphicFramePr>
          <p:cNvPr id="34827" name="Object 10">
            <a:extLst>
              <a:ext uri="{FF2B5EF4-FFF2-40B4-BE49-F238E27FC236}">
                <a16:creationId xmlns:a16="http://schemas.microsoft.com/office/drawing/2014/main" id="{8EC89879-BEF2-AFFD-EAD3-40C0C50D153D}"/>
              </a:ext>
            </a:extLst>
          </p:cNvPr>
          <p:cNvGraphicFramePr>
            <a:graphicFrameLocks noChangeAspect="1"/>
          </p:cNvGraphicFramePr>
          <p:nvPr/>
        </p:nvGraphicFramePr>
        <p:xfrm>
          <a:off x="6669088" y="4627563"/>
          <a:ext cx="3448050" cy="781050"/>
        </p:xfrm>
        <a:graphic>
          <a:graphicData uri="http://schemas.openxmlformats.org/presentationml/2006/ole">
            <mc:AlternateContent xmlns:mc="http://schemas.openxmlformats.org/markup-compatibility/2006">
              <mc:Choice xmlns:v="urn:schemas-microsoft-com:vml" Requires="v">
                <p:oleObj name="Equation" r:id="rId8" imgW="2133600" imgH="482600" progId="Equation.DSMT4">
                  <p:embed/>
                </p:oleObj>
              </mc:Choice>
              <mc:Fallback>
                <p:oleObj name="Equation" r:id="rId8" imgW="2133600" imgH="482600" progId="Equation.DSMT4">
                  <p:embed/>
                  <p:pic>
                    <p:nvPicPr>
                      <p:cNvPr id="34827" name="Object 10">
                        <a:extLst>
                          <a:ext uri="{FF2B5EF4-FFF2-40B4-BE49-F238E27FC236}">
                            <a16:creationId xmlns:a16="http://schemas.microsoft.com/office/drawing/2014/main" id="{8EC89879-BEF2-AFFD-EAD3-40C0C50D153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69088" y="4627563"/>
                        <a:ext cx="3448050"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8" name="Text Box 11">
            <a:extLst>
              <a:ext uri="{FF2B5EF4-FFF2-40B4-BE49-F238E27FC236}">
                <a16:creationId xmlns:a16="http://schemas.microsoft.com/office/drawing/2014/main" id="{826639AF-B92B-4887-DA4C-F82F2A812A45}"/>
              </a:ext>
            </a:extLst>
          </p:cNvPr>
          <p:cNvSpPr txBox="1">
            <a:spLocks noChangeArrowheads="1"/>
          </p:cNvSpPr>
          <p:nvPr/>
        </p:nvSpPr>
        <p:spPr bwMode="auto">
          <a:xfrm>
            <a:off x="6296026" y="5808664"/>
            <a:ext cx="4340225"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800"/>
              <a:t>K</a:t>
            </a:r>
            <a:r>
              <a:rPr lang="en-GB" altLang="en-US" sz="1800" baseline="-25000"/>
              <a:t>i</a:t>
            </a:r>
            <a:r>
              <a:rPr lang="en-GB" altLang="en-US" sz="1800">
                <a:cs typeface="Arial" panose="020B0604020202020204" pitchFamily="34" charset="0"/>
              </a:rPr>
              <a:t>≈2</a:t>
            </a:r>
            <a:r>
              <a:rPr lang="en-GB" altLang="en-US" sz="1800"/>
              <a:t> takes into account fringing fields effect and other metal layers   </a:t>
            </a:r>
            <a:endParaRPr lang="en-US" altLang="en-US" sz="1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a:extLst>
              <a:ext uri="{FF2B5EF4-FFF2-40B4-BE49-F238E27FC236}">
                <a16:creationId xmlns:a16="http://schemas.microsoft.com/office/drawing/2014/main" id="{26196E14-41C9-35E3-929E-45ADADA85260}"/>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9C77BF54-E701-43C3-9D49-011FCF976EFD}" type="slidenum">
              <a:rPr lang="en-US" altLang="en-US" sz="800"/>
              <a:pPr>
                <a:lnSpc>
                  <a:spcPct val="100000"/>
                </a:lnSpc>
                <a:spcBef>
                  <a:spcPct val="0"/>
                </a:spcBef>
                <a:buClr>
                  <a:srgbClr val="F68933"/>
                </a:buClr>
                <a:buFontTx/>
                <a:buNone/>
              </a:pPr>
              <a:t>25</a:t>
            </a:fld>
            <a:endParaRPr lang="en-US" altLang="en-US" sz="800"/>
          </a:p>
        </p:txBody>
      </p:sp>
      <p:sp>
        <p:nvSpPr>
          <p:cNvPr id="35843" name="Rectangle 2">
            <a:extLst>
              <a:ext uri="{FF2B5EF4-FFF2-40B4-BE49-F238E27FC236}">
                <a16:creationId xmlns:a16="http://schemas.microsoft.com/office/drawing/2014/main" id="{38CBEE70-D789-B69A-EC9B-00D1C806DC2A}"/>
              </a:ext>
            </a:extLst>
          </p:cNvPr>
          <p:cNvSpPr>
            <a:spLocks noGrp="1" noChangeArrowheads="1"/>
          </p:cNvSpPr>
          <p:nvPr>
            <p:ph type="title"/>
          </p:nvPr>
        </p:nvSpPr>
        <p:spPr/>
        <p:txBody>
          <a:bodyPr/>
          <a:lstStyle/>
          <a:p>
            <a:pPr eaLnBrk="1" hangingPunct="1"/>
            <a:r>
              <a:rPr lang="en-GB" altLang="en-US"/>
              <a:t>Back end features vs technology scaling</a:t>
            </a:r>
            <a:endParaRPr lang="en-US" altLang="en-US"/>
          </a:p>
        </p:txBody>
      </p:sp>
      <p:graphicFrame>
        <p:nvGraphicFramePr>
          <p:cNvPr id="35844" name="Object 3">
            <a:extLst>
              <a:ext uri="{FF2B5EF4-FFF2-40B4-BE49-F238E27FC236}">
                <a16:creationId xmlns:a16="http://schemas.microsoft.com/office/drawing/2014/main" id="{E3D3E0E5-923B-9821-D364-8F258D4EFDB7}"/>
              </a:ext>
            </a:extLst>
          </p:cNvPr>
          <p:cNvGraphicFramePr>
            <a:graphicFrameLocks noChangeAspect="1"/>
          </p:cNvGraphicFramePr>
          <p:nvPr/>
        </p:nvGraphicFramePr>
        <p:xfrm>
          <a:off x="1844675" y="1143000"/>
          <a:ext cx="3733800" cy="2286000"/>
        </p:xfrm>
        <a:graphic>
          <a:graphicData uri="http://schemas.openxmlformats.org/presentationml/2006/ole">
            <mc:AlternateContent xmlns:mc="http://schemas.openxmlformats.org/markup-compatibility/2006">
              <mc:Choice xmlns:v="urn:schemas-microsoft-com:vml" Requires="v">
                <p:oleObj name="Document" r:id="rId2" imgW="3733800" imgH="2286000" progId="Word.Document.8">
                  <p:embed/>
                </p:oleObj>
              </mc:Choice>
              <mc:Fallback>
                <p:oleObj name="Document" r:id="rId2" imgW="3733800" imgH="2286000" progId="Word.Document.8">
                  <p:embed/>
                  <p:pic>
                    <p:nvPicPr>
                      <p:cNvPr id="35844" name="Object 3">
                        <a:extLst>
                          <a:ext uri="{FF2B5EF4-FFF2-40B4-BE49-F238E27FC236}">
                            <a16:creationId xmlns:a16="http://schemas.microsoft.com/office/drawing/2014/main" id="{E3D3E0E5-923B-9821-D364-8F258D4EFD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4675" y="1143000"/>
                        <a:ext cx="3733800" cy="228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5" name="Object 4">
            <a:extLst>
              <a:ext uri="{FF2B5EF4-FFF2-40B4-BE49-F238E27FC236}">
                <a16:creationId xmlns:a16="http://schemas.microsoft.com/office/drawing/2014/main" id="{15BA123E-CB5E-3FFA-9089-669162A9E756}"/>
              </a:ext>
            </a:extLst>
          </p:cNvPr>
          <p:cNvGraphicFramePr>
            <a:graphicFrameLocks noChangeAspect="1"/>
          </p:cNvGraphicFramePr>
          <p:nvPr/>
        </p:nvGraphicFramePr>
        <p:xfrm>
          <a:off x="6456363" y="1655763"/>
          <a:ext cx="3448050" cy="781050"/>
        </p:xfrm>
        <a:graphic>
          <a:graphicData uri="http://schemas.openxmlformats.org/presentationml/2006/ole">
            <mc:AlternateContent xmlns:mc="http://schemas.openxmlformats.org/markup-compatibility/2006">
              <mc:Choice xmlns:v="urn:schemas-microsoft-com:vml" Requires="v">
                <p:oleObj name="Equation" r:id="rId4" imgW="2133600" imgH="482600" progId="Equation.DSMT4">
                  <p:embed/>
                </p:oleObj>
              </mc:Choice>
              <mc:Fallback>
                <p:oleObj name="Equation" r:id="rId4" imgW="2133600" imgH="482600" progId="Equation.DSMT4">
                  <p:embed/>
                  <p:pic>
                    <p:nvPicPr>
                      <p:cNvPr id="35845" name="Object 4">
                        <a:extLst>
                          <a:ext uri="{FF2B5EF4-FFF2-40B4-BE49-F238E27FC236}">
                            <a16:creationId xmlns:a16="http://schemas.microsoft.com/office/drawing/2014/main" id="{15BA123E-CB5E-3FFA-9089-669162A9E7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6363" y="1655763"/>
                        <a:ext cx="3448050"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846" name="Group 5">
            <a:extLst>
              <a:ext uri="{FF2B5EF4-FFF2-40B4-BE49-F238E27FC236}">
                <a16:creationId xmlns:a16="http://schemas.microsoft.com/office/drawing/2014/main" id="{21CA0E02-191D-AE9B-ABBD-3D6448F16405}"/>
              </a:ext>
            </a:extLst>
          </p:cNvPr>
          <p:cNvGrpSpPr>
            <a:grpSpLocks/>
          </p:cNvGrpSpPr>
          <p:nvPr/>
        </p:nvGrpSpPr>
        <p:grpSpPr bwMode="auto">
          <a:xfrm>
            <a:off x="1733551" y="3767138"/>
            <a:ext cx="4251325" cy="2457450"/>
            <a:chOff x="202" y="2333"/>
            <a:chExt cx="2678" cy="1548"/>
          </a:xfrm>
        </p:grpSpPr>
        <p:sp>
          <p:nvSpPr>
            <p:cNvPr id="35849" name="Text Box 6">
              <a:extLst>
                <a:ext uri="{FF2B5EF4-FFF2-40B4-BE49-F238E27FC236}">
                  <a16:creationId xmlns:a16="http://schemas.microsoft.com/office/drawing/2014/main" id="{353FCCEB-DD24-C712-DC6C-F3F2A54A3F26}"/>
                </a:ext>
              </a:extLst>
            </p:cNvPr>
            <p:cNvSpPr txBox="1">
              <a:spLocks noChangeArrowheads="1"/>
            </p:cNvSpPr>
            <p:nvPr/>
          </p:nvSpPr>
          <p:spPr bwMode="auto">
            <a:xfrm>
              <a:off x="202" y="2333"/>
              <a:ext cx="2678" cy="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b="1"/>
                <a:t>As technology scales down</a:t>
              </a:r>
              <a:r>
                <a:rPr lang="en-GB" altLang="en-US"/>
                <a:t>:</a:t>
              </a:r>
            </a:p>
            <a:p>
              <a:pPr eaLnBrk="1" hangingPunct="1">
                <a:spcBef>
                  <a:spcPct val="50000"/>
                </a:spcBef>
                <a:buFont typeface="Times" panose="02020603050405020304" pitchFamily="18" charset="0"/>
                <a:buChar char="•"/>
              </a:pPr>
              <a:r>
                <a:rPr lang="en-GB" altLang="en-US"/>
                <a:t>H,W,x</a:t>
              </a:r>
              <a:r>
                <a:rPr lang="en-GB" altLang="en-US" baseline="-25000"/>
                <a:t>ox</a:t>
              </a:r>
              <a:r>
                <a:rPr lang="en-GB" altLang="en-US"/>
                <a:t> and L</a:t>
              </a:r>
              <a:r>
                <a:rPr lang="en-GB" altLang="en-US" baseline="-25000"/>
                <a:t>s</a:t>
              </a:r>
              <a:r>
                <a:rPr lang="en-GB" altLang="en-US"/>
                <a:t> all scale down as F</a:t>
              </a:r>
              <a:r>
                <a:rPr lang="en-GB" altLang="en-US" baseline="-25000"/>
                <a:t>min</a:t>
              </a:r>
            </a:p>
            <a:p>
              <a:pPr eaLnBrk="1" hangingPunct="1">
                <a:spcBef>
                  <a:spcPct val="50000"/>
                </a:spcBef>
                <a:buFont typeface="Times" panose="02020603050405020304" pitchFamily="18" charset="0"/>
                <a:buChar char="•"/>
              </a:pPr>
              <a:r>
                <a:rPr lang="en-GB" altLang="en-US"/>
                <a:t>               ,A= chip area, usually increases with scaling</a:t>
              </a:r>
              <a:endParaRPr lang="en-GB" altLang="en-US" baseline="-25000"/>
            </a:p>
            <a:p>
              <a:pPr eaLnBrk="1" hangingPunct="1">
                <a:spcBef>
                  <a:spcPct val="50000"/>
                </a:spcBef>
                <a:buFont typeface="Times" panose="02020603050405020304" pitchFamily="18" charset="0"/>
                <a:buChar char="•"/>
              </a:pPr>
              <a:endParaRPr lang="en-GB" altLang="en-US" baseline="-25000"/>
            </a:p>
            <a:p>
              <a:pPr eaLnBrk="1" hangingPunct="1">
                <a:spcBef>
                  <a:spcPct val="50000"/>
                </a:spcBef>
                <a:buFont typeface="Times" panose="02020603050405020304" pitchFamily="18" charset="0"/>
                <a:buChar char="•"/>
              </a:pPr>
              <a:endParaRPr lang="en-GB" altLang="en-US" baseline="-25000"/>
            </a:p>
          </p:txBody>
        </p:sp>
        <p:graphicFrame>
          <p:nvGraphicFramePr>
            <p:cNvPr id="35850" name="Object 7">
              <a:extLst>
                <a:ext uri="{FF2B5EF4-FFF2-40B4-BE49-F238E27FC236}">
                  <a16:creationId xmlns:a16="http://schemas.microsoft.com/office/drawing/2014/main" id="{4BAE7640-FEA0-FB15-7FC0-7BA7CC81F1C8}"/>
                </a:ext>
              </a:extLst>
            </p:cNvPr>
            <p:cNvGraphicFramePr>
              <a:graphicFrameLocks noChangeAspect="1"/>
            </p:cNvGraphicFramePr>
            <p:nvPr/>
          </p:nvGraphicFramePr>
          <p:xfrm>
            <a:off x="368" y="2990"/>
            <a:ext cx="600" cy="358"/>
          </p:xfrm>
          <a:graphic>
            <a:graphicData uri="http://schemas.openxmlformats.org/presentationml/2006/ole">
              <mc:AlternateContent xmlns:mc="http://schemas.openxmlformats.org/markup-compatibility/2006">
                <mc:Choice xmlns:v="urn:schemas-microsoft-com:vml" Requires="v">
                  <p:oleObj name="Equation" r:id="rId6" imgW="723586" imgH="431613" progId="Equation.3">
                    <p:embed/>
                  </p:oleObj>
                </mc:Choice>
                <mc:Fallback>
                  <p:oleObj name="Equation" r:id="rId6" imgW="723586" imgH="431613" progId="Equation.3">
                    <p:embed/>
                    <p:pic>
                      <p:nvPicPr>
                        <p:cNvPr id="35850" name="Object 7">
                          <a:extLst>
                            <a:ext uri="{FF2B5EF4-FFF2-40B4-BE49-F238E27FC236}">
                              <a16:creationId xmlns:a16="http://schemas.microsoft.com/office/drawing/2014/main" id="{4BAE7640-FEA0-FB15-7FC0-7BA7CC81F1C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8" y="2990"/>
                          <a:ext cx="600" cy="3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5847" name="Object 8">
            <a:extLst>
              <a:ext uri="{FF2B5EF4-FFF2-40B4-BE49-F238E27FC236}">
                <a16:creationId xmlns:a16="http://schemas.microsoft.com/office/drawing/2014/main" id="{7633BF1B-20F8-57EE-6370-2F490DA0AAF7}"/>
              </a:ext>
            </a:extLst>
          </p:cNvPr>
          <p:cNvGraphicFramePr>
            <a:graphicFrameLocks noChangeAspect="1"/>
          </p:cNvGraphicFramePr>
          <p:nvPr/>
        </p:nvGraphicFramePr>
        <p:xfrm>
          <a:off x="6518275" y="3429001"/>
          <a:ext cx="3441700" cy="1038225"/>
        </p:xfrm>
        <a:graphic>
          <a:graphicData uri="http://schemas.openxmlformats.org/presentationml/2006/ole">
            <mc:AlternateContent xmlns:mc="http://schemas.openxmlformats.org/markup-compatibility/2006">
              <mc:Choice xmlns:v="urn:schemas-microsoft-com:vml" Requires="v">
                <p:oleObj name="Equation" r:id="rId8" imgW="1473200" imgH="444500" progId="Equation.3">
                  <p:embed/>
                </p:oleObj>
              </mc:Choice>
              <mc:Fallback>
                <p:oleObj name="Equation" r:id="rId8" imgW="1473200" imgH="444500" progId="Equation.3">
                  <p:embed/>
                  <p:pic>
                    <p:nvPicPr>
                      <p:cNvPr id="35847" name="Object 8">
                        <a:extLst>
                          <a:ext uri="{FF2B5EF4-FFF2-40B4-BE49-F238E27FC236}">
                            <a16:creationId xmlns:a16="http://schemas.microsoft.com/office/drawing/2014/main" id="{7633BF1B-20F8-57EE-6370-2F490DA0AAF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18275" y="3429001"/>
                        <a:ext cx="3441700" cy="1038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8" name="Text Box 9">
            <a:extLst>
              <a:ext uri="{FF2B5EF4-FFF2-40B4-BE49-F238E27FC236}">
                <a16:creationId xmlns:a16="http://schemas.microsoft.com/office/drawing/2014/main" id="{541A257E-9329-7554-C074-EBEAB3485045}"/>
              </a:ext>
            </a:extLst>
          </p:cNvPr>
          <p:cNvSpPr txBox="1">
            <a:spLocks noChangeArrowheads="1"/>
          </p:cNvSpPr>
          <p:nvPr/>
        </p:nvSpPr>
        <p:spPr bwMode="auto">
          <a:xfrm>
            <a:off x="6159500" y="5491163"/>
            <a:ext cx="4281488" cy="698500"/>
          </a:xfrm>
          <a:prstGeom prst="rect">
            <a:avLst/>
          </a:prstGeom>
          <a:noFill/>
          <a:ln w="28575" algn="ctr">
            <a:solidFill>
              <a:srgbClr val="FF7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t>Need to act on material properties to keep </a:t>
            </a:r>
            <a:r>
              <a:rPr lang="en-GB" altLang="en-US">
                <a:latin typeface="Symbol" panose="05050102010706020507" pitchFamily="18" charset="2"/>
              </a:rPr>
              <a:t>t </a:t>
            </a:r>
            <a:r>
              <a:rPr lang="en-GB" altLang="en-US"/>
              <a:t>under control</a:t>
            </a: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3">
            <a:extLst>
              <a:ext uri="{FF2B5EF4-FFF2-40B4-BE49-F238E27FC236}">
                <a16:creationId xmlns:a16="http://schemas.microsoft.com/office/drawing/2014/main" id="{15658FB5-88B3-95CC-3142-343B0C77B0C1}"/>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B2A1AFE1-9E4B-4DF9-9D2C-483D7488FAFC}" type="slidenum">
              <a:rPr lang="en-US" altLang="en-US" sz="800"/>
              <a:pPr>
                <a:lnSpc>
                  <a:spcPct val="100000"/>
                </a:lnSpc>
                <a:spcBef>
                  <a:spcPct val="0"/>
                </a:spcBef>
                <a:buClr>
                  <a:srgbClr val="F68933"/>
                </a:buClr>
                <a:buFontTx/>
                <a:buNone/>
              </a:pPr>
              <a:t>26</a:t>
            </a:fld>
            <a:endParaRPr lang="en-US" altLang="en-US" sz="800"/>
          </a:p>
        </p:txBody>
      </p:sp>
      <p:sp>
        <p:nvSpPr>
          <p:cNvPr id="36867" name="Rectangle 2">
            <a:extLst>
              <a:ext uri="{FF2B5EF4-FFF2-40B4-BE49-F238E27FC236}">
                <a16:creationId xmlns:a16="http://schemas.microsoft.com/office/drawing/2014/main" id="{048B8E38-F9EE-8EA0-43DA-86C53F9EC9B3}"/>
              </a:ext>
            </a:extLst>
          </p:cNvPr>
          <p:cNvSpPr>
            <a:spLocks noGrp="1" noChangeArrowheads="1"/>
          </p:cNvSpPr>
          <p:nvPr>
            <p:ph type="title"/>
          </p:nvPr>
        </p:nvSpPr>
        <p:spPr/>
        <p:txBody>
          <a:bodyPr/>
          <a:lstStyle/>
          <a:p>
            <a:pPr eaLnBrk="1" hangingPunct="1"/>
            <a:r>
              <a:rPr lang="en-GB" altLang="en-US"/>
              <a:t>Back end features vs technology scaling</a:t>
            </a:r>
            <a:endParaRPr lang="en-US" altLang="en-US"/>
          </a:p>
        </p:txBody>
      </p:sp>
      <p:pic>
        <p:nvPicPr>
          <p:cNvPr id="36868" name="Picture 3">
            <a:extLst>
              <a:ext uri="{FF2B5EF4-FFF2-40B4-BE49-F238E27FC236}">
                <a16:creationId xmlns:a16="http://schemas.microsoft.com/office/drawing/2014/main" id="{28A66A92-FDC5-82F7-03ED-246CF2E0F7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5800" y="1130301"/>
            <a:ext cx="7837488" cy="497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a:extLst>
              <a:ext uri="{FF2B5EF4-FFF2-40B4-BE49-F238E27FC236}">
                <a16:creationId xmlns:a16="http://schemas.microsoft.com/office/drawing/2014/main" id="{87242831-7656-66A9-4D11-EFF3EA8EBBEC}"/>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11F1074B-0DE1-4DEF-8951-8EDA59CA8A20}" type="slidenum">
              <a:rPr lang="en-US" altLang="en-US" sz="800"/>
              <a:pPr>
                <a:lnSpc>
                  <a:spcPct val="100000"/>
                </a:lnSpc>
                <a:spcBef>
                  <a:spcPct val="0"/>
                </a:spcBef>
                <a:buClr>
                  <a:srgbClr val="F68933"/>
                </a:buClr>
                <a:buFontTx/>
                <a:buNone/>
              </a:pPr>
              <a:t>27</a:t>
            </a:fld>
            <a:endParaRPr lang="en-US" altLang="en-US" sz="800"/>
          </a:p>
        </p:txBody>
      </p:sp>
      <p:sp>
        <p:nvSpPr>
          <p:cNvPr id="37891" name="Rectangle 2">
            <a:extLst>
              <a:ext uri="{FF2B5EF4-FFF2-40B4-BE49-F238E27FC236}">
                <a16:creationId xmlns:a16="http://schemas.microsoft.com/office/drawing/2014/main" id="{D6DC6702-36E5-27CB-B0DA-0CCE4032EBBA}"/>
              </a:ext>
            </a:extLst>
          </p:cNvPr>
          <p:cNvSpPr>
            <a:spLocks noGrp="1" noChangeArrowheads="1"/>
          </p:cNvSpPr>
          <p:nvPr>
            <p:ph type="title"/>
          </p:nvPr>
        </p:nvSpPr>
        <p:spPr/>
        <p:txBody>
          <a:bodyPr/>
          <a:lstStyle/>
          <a:p>
            <a:pPr eaLnBrk="1" hangingPunct="1"/>
            <a:r>
              <a:rPr lang="en-GB" altLang="en-US"/>
              <a:t>Back end features vs technology scaling</a:t>
            </a:r>
            <a:endParaRPr lang="en-US" altLang="en-US"/>
          </a:p>
        </p:txBody>
      </p:sp>
      <p:pic>
        <p:nvPicPr>
          <p:cNvPr id="37892" name="Picture 3">
            <a:extLst>
              <a:ext uri="{FF2B5EF4-FFF2-40B4-BE49-F238E27FC236}">
                <a16:creationId xmlns:a16="http://schemas.microsoft.com/office/drawing/2014/main" id="{46075191-B7B0-C570-6C05-705244740D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3014" y="1014414"/>
            <a:ext cx="7164387" cy="544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a:extLst>
              <a:ext uri="{FF2B5EF4-FFF2-40B4-BE49-F238E27FC236}">
                <a16:creationId xmlns:a16="http://schemas.microsoft.com/office/drawing/2014/main" id="{48319F1C-4BDB-9D74-79D5-F5E6BF44C94C}"/>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F404F6D0-1471-4678-B711-CBC6D86E0FE0}" type="slidenum">
              <a:rPr lang="en-US" altLang="en-US" sz="800"/>
              <a:pPr>
                <a:lnSpc>
                  <a:spcPct val="100000"/>
                </a:lnSpc>
                <a:spcBef>
                  <a:spcPct val="0"/>
                </a:spcBef>
                <a:buClr>
                  <a:srgbClr val="F68933"/>
                </a:buClr>
                <a:buFontTx/>
                <a:buNone/>
              </a:pPr>
              <a:t>28</a:t>
            </a:fld>
            <a:endParaRPr lang="en-US" altLang="en-US" sz="800"/>
          </a:p>
        </p:txBody>
      </p:sp>
      <p:sp>
        <p:nvSpPr>
          <p:cNvPr id="38915" name="Rectangle 2">
            <a:extLst>
              <a:ext uri="{FF2B5EF4-FFF2-40B4-BE49-F238E27FC236}">
                <a16:creationId xmlns:a16="http://schemas.microsoft.com/office/drawing/2014/main" id="{6C5E4881-6FA1-C1D6-61B7-6B0E0184F16B}"/>
              </a:ext>
            </a:extLst>
          </p:cNvPr>
          <p:cNvSpPr>
            <a:spLocks noGrp="1" noChangeArrowheads="1"/>
          </p:cNvSpPr>
          <p:nvPr>
            <p:ph type="title"/>
          </p:nvPr>
        </p:nvSpPr>
        <p:spPr/>
        <p:txBody>
          <a:bodyPr/>
          <a:lstStyle/>
          <a:p>
            <a:pPr eaLnBrk="1" hangingPunct="1"/>
            <a:r>
              <a:rPr lang="en-GB" altLang="en-US"/>
              <a:t>Copper process</a:t>
            </a:r>
            <a:endParaRPr lang="en-US" altLang="en-US"/>
          </a:p>
        </p:txBody>
      </p:sp>
      <p:sp>
        <p:nvSpPr>
          <p:cNvPr id="38916" name="Rectangle 3">
            <a:extLst>
              <a:ext uri="{FF2B5EF4-FFF2-40B4-BE49-F238E27FC236}">
                <a16:creationId xmlns:a16="http://schemas.microsoft.com/office/drawing/2014/main" id="{A6145927-ACC7-0868-07FD-8E3A569CC28B}"/>
              </a:ext>
            </a:extLst>
          </p:cNvPr>
          <p:cNvSpPr>
            <a:spLocks noGrp="1" noChangeArrowheads="1"/>
          </p:cNvSpPr>
          <p:nvPr>
            <p:ph type="body" idx="1"/>
          </p:nvPr>
        </p:nvSpPr>
        <p:spPr>
          <a:xfrm>
            <a:off x="1893889" y="1798638"/>
            <a:ext cx="8402637" cy="4114800"/>
          </a:xfrm>
        </p:spPr>
        <p:txBody>
          <a:bodyPr/>
          <a:lstStyle/>
          <a:p>
            <a:pPr eaLnBrk="1" hangingPunct="1"/>
            <a:r>
              <a:rPr lang="en-GB" altLang="en-US"/>
              <a:t>Cu is now widely used in most of advanced ICs </a:t>
            </a:r>
          </a:p>
          <a:p>
            <a:pPr eaLnBrk="1" hangingPunct="1"/>
            <a:r>
              <a:rPr lang="en-GB" altLang="en-US"/>
              <a:t>Low K dielectrics have also been introduced in MC, ASICS and DRAMs to minimize RC.</a:t>
            </a:r>
          </a:p>
          <a:p>
            <a:pPr eaLnBrk="1" hangingPunct="1"/>
            <a:endParaRPr lang="en-GB" altLang="en-US"/>
          </a:p>
          <a:p>
            <a:pPr eaLnBrk="1" hangingPunct="1"/>
            <a:r>
              <a:rPr lang="en-GB" altLang="en-US" b="1">
                <a:solidFill>
                  <a:schemeClr val="accent1"/>
                </a:solidFill>
              </a:rPr>
              <a:t>Copper cannot be dry etched (etch by-products are not volatile) : it requires a damascene approach!</a:t>
            </a:r>
            <a:endParaRPr lang="en-US" altLang="en-US" b="1">
              <a:solidFill>
                <a:schemeClr val="accen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a:extLst>
              <a:ext uri="{FF2B5EF4-FFF2-40B4-BE49-F238E27FC236}">
                <a16:creationId xmlns:a16="http://schemas.microsoft.com/office/drawing/2014/main" id="{C6AD2BC7-337F-87D2-948A-8123AF55ADED}"/>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7156E20A-8DA8-4D97-BDAE-8AC658BBA6AD}" type="slidenum">
              <a:rPr lang="en-US" altLang="en-US" sz="800"/>
              <a:pPr>
                <a:lnSpc>
                  <a:spcPct val="100000"/>
                </a:lnSpc>
                <a:spcBef>
                  <a:spcPct val="0"/>
                </a:spcBef>
                <a:buClr>
                  <a:srgbClr val="F68933"/>
                </a:buClr>
                <a:buFontTx/>
                <a:buNone/>
              </a:pPr>
              <a:t>29</a:t>
            </a:fld>
            <a:endParaRPr lang="en-US" altLang="en-US" sz="800"/>
          </a:p>
        </p:txBody>
      </p:sp>
      <p:sp>
        <p:nvSpPr>
          <p:cNvPr id="39939" name="Rectangle 2">
            <a:extLst>
              <a:ext uri="{FF2B5EF4-FFF2-40B4-BE49-F238E27FC236}">
                <a16:creationId xmlns:a16="http://schemas.microsoft.com/office/drawing/2014/main" id="{E9389B48-CF04-EE61-413F-54517307F4EB}"/>
              </a:ext>
            </a:extLst>
          </p:cNvPr>
          <p:cNvSpPr>
            <a:spLocks noGrp="1" noChangeArrowheads="1"/>
          </p:cNvSpPr>
          <p:nvPr>
            <p:ph type="title"/>
          </p:nvPr>
        </p:nvSpPr>
        <p:spPr/>
        <p:txBody>
          <a:bodyPr/>
          <a:lstStyle/>
          <a:p>
            <a:pPr eaLnBrk="1" hangingPunct="1"/>
            <a:r>
              <a:rPr lang="en-GB" altLang="en-US"/>
              <a:t>Copper process</a:t>
            </a:r>
            <a:endParaRPr lang="en-US" altLang="en-US"/>
          </a:p>
        </p:txBody>
      </p:sp>
      <p:pic>
        <p:nvPicPr>
          <p:cNvPr id="39940" name="Picture 4">
            <a:extLst>
              <a:ext uri="{FF2B5EF4-FFF2-40B4-BE49-F238E27FC236}">
                <a16:creationId xmlns:a16="http://schemas.microsoft.com/office/drawing/2014/main" id="{9E4D87DA-8A75-33BC-492F-B536AD91A9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825" y="3868738"/>
            <a:ext cx="8134350" cy="243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941" name="Text Box 5">
            <a:extLst>
              <a:ext uri="{FF2B5EF4-FFF2-40B4-BE49-F238E27FC236}">
                <a16:creationId xmlns:a16="http://schemas.microsoft.com/office/drawing/2014/main" id="{5875E0FB-8299-2CF6-D55E-10F3E6BCFF14}"/>
              </a:ext>
            </a:extLst>
          </p:cNvPr>
          <p:cNvSpPr txBox="1">
            <a:spLocks noChangeArrowheads="1"/>
          </p:cNvSpPr>
          <p:nvPr/>
        </p:nvSpPr>
        <p:spPr bwMode="auto">
          <a:xfrm>
            <a:off x="1768475" y="1524001"/>
            <a:ext cx="8199438"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a:t>After standard contact formation:</a:t>
            </a:r>
          </a:p>
          <a:p>
            <a:pPr eaLnBrk="1" hangingPunct="1">
              <a:spcBef>
                <a:spcPct val="50000"/>
              </a:spcBef>
              <a:buFont typeface="Times" panose="02020603050405020304" pitchFamily="18" charset="0"/>
              <a:buChar char="•"/>
            </a:pPr>
            <a:r>
              <a:rPr lang="en-GB" altLang="en-US"/>
              <a:t>Nitride or low-K SiCN deposition (PE-CVD/CVD) [etch stopping layer]</a:t>
            </a:r>
          </a:p>
          <a:p>
            <a:pPr eaLnBrk="1" hangingPunct="1">
              <a:spcBef>
                <a:spcPct val="50000"/>
              </a:spcBef>
              <a:buFont typeface="Times" panose="02020603050405020304" pitchFamily="18" charset="0"/>
              <a:buChar char="•"/>
            </a:pPr>
            <a:r>
              <a:rPr lang="en-GB" altLang="en-US"/>
              <a:t>Low K dielectric deposition (FSG or SiOC)</a:t>
            </a:r>
          </a:p>
          <a:p>
            <a:pPr eaLnBrk="1" hangingPunct="1">
              <a:spcBef>
                <a:spcPct val="50000"/>
              </a:spcBef>
            </a:pPr>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a:extLst>
              <a:ext uri="{FF2B5EF4-FFF2-40B4-BE49-F238E27FC236}">
                <a16:creationId xmlns:a16="http://schemas.microsoft.com/office/drawing/2014/main" id="{05D78E4D-F473-0C26-8213-7ED0C4D78421}"/>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7CF627FB-91F4-4E22-8842-62BCEE2026EC}" type="slidenum">
              <a:rPr lang="en-US" altLang="en-US" sz="800"/>
              <a:pPr>
                <a:lnSpc>
                  <a:spcPct val="100000"/>
                </a:lnSpc>
                <a:spcBef>
                  <a:spcPct val="0"/>
                </a:spcBef>
                <a:buClr>
                  <a:srgbClr val="F68933"/>
                </a:buClr>
                <a:buFontTx/>
                <a:buNone/>
              </a:pPr>
              <a:t>30</a:t>
            </a:fld>
            <a:endParaRPr lang="en-US" altLang="en-US" sz="800"/>
          </a:p>
        </p:txBody>
      </p:sp>
      <p:sp>
        <p:nvSpPr>
          <p:cNvPr id="40963" name="Rectangle 2">
            <a:extLst>
              <a:ext uri="{FF2B5EF4-FFF2-40B4-BE49-F238E27FC236}">
                <a16:creationId xmlns:a16="http://schemas.microsoft.com/office/drawing/2014/main" id="{A841E1D5-C5C8-F5FE-A91F-AF413E0DE491}"/>
              </a:ext>
            </a:extLst>
          </p:cNvPr>
          <p:cNvSpPr>
            <a:spLocks noGrp="1" noChangeArrowheads="1"/>
          </p:cNvSpPr>
          <p:nvPr>
            <p:ph type="title"/>
          </p:nvPr>
        </p:nvSpPr>
        <p:spPr/>
        <p:txBody>
          <a:bodyPr/>
          <a:lstStyle/>
          <a:p>
            <a:pPr eaLnBrk="1" hangingPunct="1"/>
            <a:r>
              <a:rPr lang="en-GB" altLang="en-US"/>
              <a:t>Copper process</a:t>
            </a:r>
            <a:endParaRPr lang="en-US" altLang="en-US"/>
          </a:p>
        </p:txBody>
      </p:sp>
      <p:pic>
        <p:nvPicPr>
          <p:cNvPr id="40964" name="Picture 4">
            <a:extLst>
              <a:ext uri="{FF2B5EF4-FFF2-40B4-BE49-F238E27FC236}">
                <a16:creationId xmlns:a16="http://schemas.microsoft.com/office/drawing/2014/main" id="{3759D54D-7031-740F-BB8B-9F04AF01EF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9913" y="3429000"/>
            <a:ext cx="8134350" cy="290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65" name="Text Box 5">
            <a:extLst>
              <a:ext uri="{FF2B5EF4-FFF2-40B4-BE49-F238E27FC236}">
                <a16:creationId xmlns:a16="http://schemas.microsoft.com/office/drawing/2014/main" id="{71164C5D-4F1F-BB82-E903-2F8AF82465DF}"/>
              </a:ext>
            </a:extLst>
          </p:cNvPr>
          <p:cNvSpPr txBox="1">
            <a:spLocks noChangeArrowheads="1"/>
          </p:cNvSpPr>
          <p:nvPr/>
        </p:nvSpPr>
        <p:spPr bwMode="auto">
          <a:xfrm>
            <a:off x="1768475" y="1401764"/>
            <a:ext cx="8199438"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endParaRPr lang="en-GB" altLang="en-US"/>
          </a:p>
          <a:p>
            <a:pPr eaLnBrk="1" hangingPunct="1">
              <a:spcBef>
                <a:spcPct val="50000"/>
              </a:spcBef>
              <a:buFont typeface="Times" panose="02020603050405020304" pitchFamily="18" charset="0"/>
              <a:buChar char="•"/>
            </a:pPr>
            <a:r>
              <a:rPr lang="en-GB" altLang="en-US"/>
              <a:t>Line 1 lithography </a:t>
            </a:r>
          </a:p>
          <a:p>
            <a:pPr eaLnBrk="1" hangingPunct="1">
              <a:spcBef>
                <a:spcPct val="50000"/>
              </a:spcBef>
              <a:buFont typeface="Times" panose="02020603050405020304" pitchFamily="18" charset="0"/>
              <a:buChar char="•"/>
            </a:pPr>
            <a:r>
              <a:rPr lang="en-GB" altLang="en-US"/>
              <a:t>Line1 etching </a:t>
            </a:r>
          </a:p>
          <a:p>
            <a:pPr eaLnBrk="1" hangingPunct="1">
              <a:spcBef>
                <a:spcPct val="50000"/>
              </a:spcBef>
            </a:pPr>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a:extLst>
              <a:ext uri="{FF2B5EF4-FFF2-40B4-BE49-F238E27FC236}">
                <a16:creationId xmlns:a16="http://schemas.microsoft.com/office/drawing/2014/main" id="{946A49A7-7C80-728F-626B-A6E01DDC700B}"/>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50A87331-F826-467B-879C-A16BC387045E}" type="slidenum">
              <a:rPr lang="en-US" altLang="en-US" sz="800"/>
              <a:pPr>
                <a:lnSpc>
                  <a:spcPct val="100000"/>
                </a:lnSpc>
                <a:spcBef>
                  <a:spcPct val="0"/>
                </a:spcBef>
                <a:buClr>
                  <a:srgbClr val="F68933"/>
                </a:buClr>
                <a:buFontTx/>
                <a:buNone/>
              </a:pPr>
              <a:t>31</a:t>
            </a:fld>
            <a:endParaRPr lang="en-US" altLang="en-US" sz="800"/>
          </a:p>
        </p:txBody>
      </p:sp>
      <p:sp>
        <p:nvSpPr>
          <p:cNvPr id="41987" name="Rectangle 2">
            <a:extLst>
              <a:ext uri="{FF2B5EF4-FFF2-40B4-BE49-F238E27FC236}">
                <a16:creationId xmlns:a16="http://schemas.microsoft.com/office/drawing/2014/main" id="{EB28AB0D-E3B1-FDE9-E0C0-85FA1E0F4B12}"/>
              </a:ext>
            </a:extLst>
          </p:cNvPr>
          <p:cNvSpPr>
            <a:spLocks noGrp="1" noChangeArrowheads="1"/>
          </p:cNvSpPr>
          <p:nvPr>
            <p:ph type="title"/>
          </p:nvPr>
        </p:nvSpPr>
        <p:spPr/>
        <p:txBody>
          <a:bodyPr/>
          <a:lstStyle/>
          <a:p>
            <a:pPr eaLnBrk="1" hangingPunct="1"/>
            <a:r>
              <a:rPr lang="en-GB" altLang="en-US"/>
              <a:t>Copper process</a:t>
            </a:r>
            <a:endParaRPr lang="en-US" altLang="en-US"/>
          </a:p>
        </p:txBody>
      </p:sp>
      <p:sp>
        <p:nvSpPr>
          <p:cNvPr id="41988" name="Rectangle 3">
            <a:extLst>
              <a:ext uri="{FF2B5EF4-FFF2-40B4-BE49-F238E27FC236}">
                <a16:creationId xmlns:a16="http://schemas.microsoft.com/office/drawing/2014/main" id="{B973894B-53B5-8569-11E9-88361DC44BE8}"/>
              </a:ext>
            </a:extLst>
          </p:cNvPr>
          <p:cNvSpPr>
            <a:spLocks noGrp="1" noChangeArrowheads="1"/>
          </p:cNvSpPr>
          <p:nvPr>
            <p:ph type="body" idx="1"/>
          </p:nvPr>
        </p:nvSpPr>
        <p:spPr>
          <a:xfrm>
            <a:off x="1879600" y="1524001"/>
            <a:ext cx="8402638" cy="2462213"/>
          </a:xfrm>
          <a:noFill/>
          <a:extLst>
            <a:ext uri="{91240B29-F687-4F45-9708-019B960494DF}">
              <a14:hiddenLine xmlns:a14="http://schemas.microsoft.com/office/drawing/2010/main" w="12700" cap="flat" cmpd="sng" algn="ctr">
                <a:solidFill>
                  <a:srgbClr val="646464"/>
                </a:solidFill>
                <a:prstDash val="solid"/>
                <a:miter lim="800000"/>
                <a:headEnd/>
                <a:tailEnd/>
              </a14:hiddenLine>
            </a:ext>
          </a:extLst>
        </p:spPr>
        <p:txBody>
          <a:bodyPr>
            <a:spAutoFit/>
          </a:bodyPr>
          <a:lstStyle/>
          <a:p>
            <a:pPr eaLnBrk="1" hangingPunct="1">
              <a:spcBef>
                <a:spcPct val="50000"/>
              </a:spcBef>
            </a:pPr>
            <a:r>
              <a:rPr lang="en-GB" altLang="en-US" sz="2000"/>
              <a:t>Reactive pre clean (sputter etch) to reduce native oxide</a:t>
            </a:r>
          </a:p>
          <a:p>
            <a:pPr eaLnBrk="1" hangingPunct="1">
              <a:spcBef>
                <a:spcPct val="50000"/>
              </a:spcBef>
            </a:pPr>
            <a:r>
              <a:rPr lang="en-GB" altLang="en-US" sz="2000"/>
              <a:t>Barrier deposition: TaN/Ta (effective in preventing Cu contamination in front end structures)</a:t>
            </a:r>
          </a:p>
          <a:p>
            <a:pPr eaLnBrk="1" hangingPunct="1">
              <a:spcBef>
                <a:spcPct val="50000"/>
              </a:spcBef>
            </a:pPr>
            <a:r>
              <a:rPr lang="en-GB" altLang="en-US" sz="2000"/>
              <a:t>Cu seed deposition</a:t>
            </a:r>
          </a:p>
          <a:p>
            <a:pPr eaLnBrk="1" hangingPunct="1">
              <a:spcBef>
                <a:spcPct val="50000"/>
              </a:spcBef>
            </a:pPr>
            <a:r>
              <a:rPr lang="en-GB" altLang="en-US" sz="2000"/>
              <a:t>Cu electroplating </a:t>
            </a:r>
          </a:p>
          <a:p>
            <a:pPr eaLnBrk="1" hangingPunct="1">
              <a:spcBef>
                <a:spcPct val="50000"/>
              </a:spcBef>
            </a:pPr>
            <a:endParaRPr lang="en-US" altLang="en-US" sz="2000"/>
          </a:p>
        </p:txBody>
      </p:sp>
      <p:pic>
        <p:nvPicPr>
          <p:cNvPr id="41989" name="Picture 4">
            <a:extLst>
              <a:ext uri="{FF2B5EF4-FFF2-40B4-BE49-F238E27FC236}">
                <a16:creationId xmlns:a16="http://schemas.microsoft.com/office/drawing/2014/main" id="{F5387B4A-4EB3-C634-DA91-0F94626007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4375" y="3429000"/>
            <a:ext cx="8223250" cy="281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EA8A90B9-6C81-0336-DC81-73181FC79DE0}"/>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C4BEE436-9D10-4873-AF85-36DDBC83A72B}" type="slidenum">
              <a:rPr lang="en-US" altLang="en-US" sz="800"/>
              <a:pPr>
                <a:lnSpc>
                  <a:spcPct val="100000"/>
                </a:lnSpc>
                <a:spcBef>
                  <a:spcPct val="0"/>
                </a:spcBef>
                <a:buClr>
                  <a:srgbClr val="F68933"/>
                </a:buClr>
                <a:buFontTx/>
                <a:buNone/>
              </a:pPr>
              <a:t>32</a:t>
            </a:fld>
            <a:endParaRPr lang="en-US" altLang="en-US" sz="800"/>
          </a:p>
        </p:txBody>
      </p:sp>
      <p:sp>
        <p:nvSpPr>
          <p:cNvPr id="43011" name="Rectangle 2">
            <a:extLst>
              <a:ext uri="{FF2B5EF4-FFF2-40B4-BE49-F238E27FC236}">
                <a16:creationId xmlns:a16="http://schemas.microsoft.com/office/drawing/2014/main" id="{BC54068A-4ACB-FD3E-F186-EDDC6B364CBC}"/>
              </a:ext>
            </a:extLst>
          </p:cNvPr>
          <p:cNvSpPr>
            <a:spLocks noGrp="1" noChangeArrowheads="1"/>
          </p:cNvSpPr>
          <p:nvPr>
            <p:ph type="title"/>
          </p:nvPr>
        </p:nvSpPr>
        <p:spPr/>
        <p:txBody>
          <a:bodyPr/>
          <a:lstStyle/>
          <a:p>
            <a:pPr eaLnBrk="1" hangingPunct="1"/>
            <a:r>
              <a:rPr lang="en-GB" altLang="en-US"/>
              <a:t>Copper process</a:t>
            </a:r>
            <a:endParaRPr lang="en-US" altLang="en-US"/>
          </a:p>
        </p:txBody>
      </p:sp>
      <p:sp>
        <p:nvSpPr>
          <p:cNvPr id="43012" name="Rectangle 3">
            <a:extLst>
              <a:ext uri="{FF2B5EF4-FFF2-40B4-BE49-F238E27FC236}">
                <a16:creationId xmlns:a16="http://schemas.microsoft.com/office/drawing/2014/main" id="{4FAEC53F-D345-9AB9-D93C-D1E765065553}"/>
              </a:ext>
            </a:extLst>
          </p:cNvPr>
          <p:cNvSpPr>
            <a:spLocks noGrp="1" noChangeArrowheads="1"/>
          </p:cNvSpPr>
          <p:nvPr>
            <p:ph type="body" idx="1"/>
          </p:nvPr>
        </p:nvSpPr>
        <p:spPr>
          <a:xfrm>
            <a:off x="1879600" y="1524001"/>
            <a:ext cx="8402638" cy="307777"/>
          </a:xfrm>
          <a:noFill/>
          <a:extLst>
            <a:ext uri="{91240B29-F687-4F45-9708-019B960494DF}">
              <a14:hiddenLine xmlns:a14="http://schemas.microsoft.com/office/drawing/2010/main" w="12700" cap="flat" cmpd="sng" algn="ctr">
                <a:solidFill>
                  <a:srgbClr val="646464"/>
                </a:solidFill>
                <a:prstDash val="solid"/>
                <a:miter lim="800000"/>
                <a:headEnd/>
                <a:tailEnd/>
              </a14:hiddenLine>
            </a:ext>
          </a:extLst>
        </p:spPr>
        <p:txBody>
          <a:bodyPr>
            <a:spAutoFit/>
          </a:bodyPr>
          <a:lstStyle/>
          <a:p>
            <a:pPr eaLnBrk="1" hangingPunct="1">
              <a:spcBef>
                <a:spcPct val="50000"/>
              </a:spcBef>
            </a:pPr>
            <a:r>
              <a:rPr lang="en-GB" altLang="en-US" sz="2000"/>
              <a:t>Cu-CMP</a:t>
            </a:r>
            <a:endParaRPr lang="en-US" altLang="en-US" sz="2000"/>
          </a:p>
        </p:txBody>
      </p:sp>
      <p:pic>
        <p:nvPicPr>
          <p:cNvPr id="43013" name="Picture 5">
            <a:extLst>
              <a:ext uri="{FF2B5EF4-FFF2-40B4-BE49-F238E27FC236}">
                <a16:creationId xmlns:a16="http://schemas.microsoft.com/office/drawing/2014/main" id="{4477A76C-F005-4015-096A-D0737ACF84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3401" y="3429001"/>
            <a:ext cx="8583613" cy="244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a:extLst>
              <a:ext uri="{FF2B5EF4-FFF2-40B4-BE49-F238E27FC236}">
                <a16:creationId xmlns:a16="http://schemas.microsoft.com/office/drawing/2014/main" id="{36FB27B4-9CAB-0FD9-B5B7-845FBCA0A382}"/>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F0B9FFA9-36C7-42FB-932C-A583B42F94DC}" type="slidenum">
              <a:rPr lang="en-US" altLang="en-US" sz="800"/>
              <a:pPr>
                <a:lnSpc>
                  <a:spcPct val="100000"/>
                </a:lnSpc>
                <a:spcBef>
                  <a:spcPct val="0"/>
                </a:spcBef>
                <a:buClr>
                  <a:srgbClr val="F68933"/>
                </a:buClr>
                <a:buFontTx/>
                <a:buNone/>
              </a:pPr>
              <a:t>33</a:t>
            </a:fld>
            <a:endParaRPr lang="en-US" altLang="en-US" sz="800"/>
          </a:p>
        </p:txBody>
      </p:sp>
      <p:sp>
        <p:nvSpPr>
          <p:cNvPr id="44035" name="Rectangle 2">
            <a:extLst>
              <a:ext uri="{FF2B5EF4-FFF2-40B4-BE49-F238E27FC236}">
                <a16:creationId xmlns:a16="http://schemas.microsoft.com/office/drawing/2014/main" id="{5EAA8E01-DF98-B58B-4DD9-7AD88BCE48C8}"/>
              </a:ext>
            </a:extLst>
          </p:cNvPr>
          <p:cNvSpPr>
            <a:spLocks noGrp="1" noChangeArrowheads="1"/>
          </p:cNvSpPr>
          <p:nvPr>
            <p:ph type="title"/>
          </p:nvPr>
        </p:nvSpPr>
        <p:spPr/>
        <p:txBody>
          <a:bodyPr/>
          <a:lstStyle/>
          <a:p>
            <a:pPr eaLnBrk="1" hangingPunct="1"/>
            <a:r>
              <a:rPr lang="en-GB" altLang="en-US"/>
              <a:t>Copper process</a:t>
            </a:r>
            <a:endParaRPr lang="en-US" altLang="en-US"/>
          </a:p>
        </p:txBody>
      </p:sp>
      <p:sp>
        <p:nvSpPr>
          <p:cNvPr id="44036" name="Rectangle 3">
            <a:extLst>
              <a:ext uri="{FF2B5EF4-FFF2-40B4-BE49-F238E27FC236}">
                <a16:creationId xmlns:a16="http://schemas.microsoft.com/office/drawing/2014/main" id="{4AB0D9B9-83D7-4BC5-268D-B0BBEDBC77B7}"/>
              </a:ext>
            </a:extLst>
          </p:cNvPr>
          <p:cNvSpPr>
            <a:spLocks noGrp="1" noChangeArrowheads="1"/>
          </p:cNvSpPr>
          <p:nvPr>
            <p:ph type="body" idx="1"/>
          </p:nvPr>
        </p:nvSpPr>
        <p:spPr>
          <a:xfrm>
            <a:off x="1879600" y="1524001"/>
            <a:ext cx="8402638" cy="769441"/>
          </a:xfrm>
          <a:noFill/>
          <a:extLst>
            <a:ext uri="{91240B29-F687-4F45-9708-019B960494DF}">
              <a14:hiddenLine xmlns:a14="http://schemas.microsoft.com/office/drawing/2010/main" w="12700" cap="flat" cmpd="sng" algn="ctr">
                <a:solidFill>
                  <a:srgbClr val="646464"/>
                </a:solidFill>
                <a:prstDash val="solid"/>
                <a:miter lim="800000"/>
                <a:headEnd/>
                <a:tailEnd/>
              </a14:hiddenLine>
            </a:ext>
          </a:extLst>
        </p:spPr>
        <p:txBody>
          <a:bodyPr>
            <a:spAutoFit/>
          </a:bodyPr>
          <a:lstStyle/>
          <a:p>
            <a:pPr eaLnBrk="1" hangingPunct="1">
              <a:spcBef>
                <a:spcPct val="50000"/>
              </a:spcBef>
            </a:pPr>
            <a:r>
              <a:rPr lang="en-GB" altLang="en-US" sz="2000"/>
              <a:t>Stopping nitride (or SiCN) deposition</a:t>
            </a:r>
          </a:p>
          <a:p>
            <a:pPr eaLnBrk="1" hangingPunct="1">
              <a:spcBef>
                <a:spcPct val="50000"/>
              </a:spcBef>
            </a:pPr>
            <a:r>
              <a:rPr lang="en-GB" altLang="en-US" sz="2000"/>
              <a:t>Low K dielectric (FSG or SiOC) deposition</a:t>
            </a:r>
            <a:endParaRPr lang="en-US" altLang="en-US" sz="2000"/>
          </a:p>
        </p:txBody>
      </p:sp>
      <p:pic>
        <p:nvPicPr>
          <p:cNvPr id="44037" name="Picture 5">
            <a:extLst>
              <a:ext uri="{FF2B5EF4-FFF2-40B4-BE49-F238E27FC236}">
                <a16:creationId xmlns:a16="http://schemas.microsoft.com/office/drawing/2014/main" id="{AEE8EDD7-5958-64F0-1D7F-D8D33F4515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5014" y="3063876"/>
            <a:ext cx="8180387" cy="312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a:extLst>
              <a:ext uri="{FF2B5EF4-FFF2-40B4-BE49-F238E27FC236}">
                <a16:creationId xmlns:a16="http://schemas.microsoft.com/office/drawing/2014/main" id="{80803DB1-7E1B-8E96-EE69-E5AD087CEE87}"/>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C5A09493-8E25-4FD7-8A09-A6C609F6534A}" type="slidenum">
              <a:rPr lang="en-US" altLang="en-US" sz="800"/>
              <a:pPr>
                <a:lnSpc>
                  <a:spcPct val="100000"/>
                </a:lnSpc>
                <a:spcBef>
                  <a:spcPct val="0"/>
                </a:spcBef>
                <a:buClr>
                  <a:srgbClr val="F68933"/>
                </a:buClr>
                <a:buFontTx/>
                <a:buNone/>
              </a:pPr>
              <a:t>34</a:t>
            </a:fld>
            <a:endParaRPr lang="en-US" altLang="en-US" sz="800"/>
          </a:p>
        </p:txBody>
      </p:sp>
      <p:sp>
        <p:nvSpPr>
          <p:cNvPr id="45059" name="Rectangle 2">
            <a:extLst>
              <a:ext uri="{FF2B5EF4-FFF2-40B4-BE49-F238E27FC236}">
                <a16:creationId xmlns:a16="http://schemas.microsoft.com/office/drawing/2014/main" id="{8693997B-E4E2-E414-8973-5236E97F7BB6}"/>
              </a:ext>
            </a:extLst>
          </p:cNvPr>
          <p:cNvSpPr>
            <a:spLocks noGrp="1" noChangeArrowheads="1"/>
          </p:cNvSpPr>
          <p:nvPr>
            <p:ph type="title"/>
          </p:nvPr>
        </p:nvSpPr>
        <p:spPr/>
        <p:txBody>
          <a:bodyPr/>
          <a:lstStyle/>
          <a:p>
            <a:pPr eaLnBrk="1" hangingPunct="1"/>
            <a:r>
              <a:rPr lang="en-GB" altLang="en-US"/>
              <a:t>Copper process</a:t>
            </a:r>
            <a:endParaRPr lang="en-US" altLang="en-US"/>
          </a:p>
        </p:txBody>
      </p:sp>
      <p:sp>
        <p:nvSpPr>
          <p:cNvPr id="45060" name="Rectangle 3">
            <a:extLst>
              <a:ext uri="{FF2B5EF4-FFF2-40B4-BE49-F238E27FC236}">
                <a16:creationId xmlns:a16="http://schemas.microsoft.com/office/drawing/2014/main" id="{31BD3727-9478-C196-CBE4-67B33793B7D7}"/>
              </a:ext>
            </a:extLst>
          </p:cNvPr>
          <p:cNvSpPr>
            <a:spLocks noGrp="1" noChangeArrowheads="1"/>
          </p:cNvSpPr>
          <p:nvPr>
            <p:ph type="body" idx="1"/>
          </p:nvPr>
        </p:nvSpPr>
        <p:spPr>
          <a:xfrm>
            <a:off x="1879600" y="1524001"/>
            <a:ext cx="8402638" cy="307777"/>
          </a:xfrm>
          <a:noFill/>
          <a:extLst>
            <a:ext uri="{91240B29-F687-4F45-9708-019B960494DF}">
              <a14:hiddenLine xmlns:a14="http://schemas.microsoft.com/office/drawing/2010/main" w="12700" cap="flat" cmpd="sng" algn="ctr">
                <a:solidFill>
                  <a:srgbClr val="646464"/>
                </a:solidFill>
                <a:prstDash val="solid"/>
                <a:miter lim="800000"/>
                <a:headEnd/>
                <a:tailEnd/>
              </a14:hiddenLine>
            </a:ext>
          </a:extLst>
        </p:spPr>
        <p:txBody>
          <a:bodyPr>
            <a:spAutoFit/>
          </a:bodyPr>
          <a:lstStyle/>
          <a:p>
            <a:pPr eaLnBrk="1" hangingPunct="1">
              <a:spcBef>
                <a:spcPct val="50000"/>
              </a:spcBef>
            </a:pPr>
            <a:r>
              <a:rPr lang="en-GB" altLang="en-US" sz="2000"/>
              <a:t>VIAS litho and etching</a:t>
            </a:r>
            <a:endParaRPr lang="en-US" altLang="en-US" sz="2000"/>
          </a:p>
        </p:txBody>
      </p:sp>
      <p:pic>
        <p:nvPicPr>
          <p:cNvPr id="45061" name="Picture 5">
            <a:extLst>
              <a:ext uri="{FF2B5EF4-FFF2-40B4-BE49-F238E27FC236}">
                <a16:creationId xmlns:a16="http://schemas.microsoft.com/office/drawing/2014/main" id="{D543A455-DAE7-BBDC-5669-C5FD668FF4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4375" y="2763839"/>
            <a:ext cx="8223250"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3">
            <a:extLst>
              <a:ext uri="{FF2B5EF4-FFF2-40B4-BE49-F238E27FC236}">
                <a16:creationId xmlns:a16="http://schemas.microsoft.com/office/drawing/2014/main" id="{B00DD685-0684-3D63-7F86-28D3FA3F619A}"/>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13BF8FBD-F249-4E27-B59D-9D7743D51B83}" type="slidenum">
              <a:rPr lang="en-US" altLang="en-US" sz="800"/>
              <a:pPr>
                <a:lnSpc>
                  <a:spcPct val="100000"/>
                </a:lnSpc>
                <a:spcBef>
                  <a:spcPct val="0"/>
                </a:spcBef>
                <a:buClr>
                  <a:srgbClr val="F68933"/>
                </a:buClr>
                <a:buFontTx/>
                <a:buNone/>
              </a:pPr>
              <a:t>35</a:t>
            </a:fld>
            <a:endParaRPr lang="en-US" altLang="en-US" sz="800"/>
          </a:p>
        </p:txBody>
      </p:sp>
      <p:sp>
        <p:nvSpPr>
          <p:cNvPr id="46083" name="Rectangle 2">
            <a:extLst>
              <a:ext uri="{FF2B5EF4-FFF2-40B4-BE49-F238E27FC236}">
                <a16:creationId xmlns:a16="http://schemas.microsoft.com/office/drawing/2014/main" id="{67C9F5F9-EED5-52FC-DF82-6230593A9A72}"/>
              </a:ext>
            </a:extLst>
          </p:cNvPr>
          <p:cNvSpPr>
            <a:spLocks noGrp="1" noChangeArrowheads="1"/>
          </p:cNvSpPr>
          <p:nvPr>
            <p:ph type="title"/>
          </p:nvPr>
        </p:nvSpPr>
        <p:spPr/>
        <p:txBody>
          <a:bodyPr/>
          <a:lstStyle/>
          <a:p>
            <a:pPr eaLnBrk="1" hangingPunct="1"/>
            <a:r>
              <a:rPr lang="en-GB" altLang="en-US"/>
              <a:t>Copper process</a:t>
            </a:r>
            <a:endParaRPr lang="en-US" altLang="en-US"/>
          </a:p>
        </p:txBody>
      </p:sp>
      <p:sp>
        <p:nvSpPr>
          <p:cNvPr id="46084" name="Rectangle 3">
            <a:extLst>
              <a:ext uri="{FF2B5EF4-FFF2-40B4-BE49-F238E27FC236}">
                <a16:creationId xmlns:a16="http://schemas.microsoft.com/office/drawing/2014/main" id="{D705E1B6-AC69-3F9C-72A0-20453EEA3B0C}"/>
              </a:ext>
            </a:extLst>
          </p:cNvPr>
          <p:cNvSpPr>
            <a:spLocks noGrp="1" noChangeArrowheads="1"/>
          </p:cNvSpPr>
          <p:nvPr>
            <p:ph type="body" idx="1"/>
          </p:nvPr>
        </p:nvSpPr>
        <p:spPr>
          <a:xfrm>
            <a:off x="1879600" y="1524001"/>
            <a:ext cx="8402638" cy="307777"/>
          </a:xfrm>
          <a:noFill/>
          <a:extLst>
            <a:ext uri="{91240B29-F687-4F45-9708-019B960494DF}">
              <a14:hiddenLine xmlns:a14="http://schemas.microsoft.com/office/drawing/2010/main" w="12700" cap="flat" cmpd="sng" algn="ctr">
                <a:solidFill>
                  <a:srgbClr val="646464"/>
                </a:solidFill>
                <a:prstDash val="solid"/>
                <a:miter lim="800000"/>
                <a:headEnd/>
                <a:tailEnd/>
              </a14:hiddenLine>
            </a:ext>
          </a:extLst>
        </p:spPr>
        <p:txBody>
          <a:bodyPr>
            <a:spAutoFit/>
          </a:bodyPr>
          <a:lstStyle/>
          <a:p>
            <a:pPr eaLnBrk="1" hangingPunct="1">
              <a:spcBef>
                <a:spcPct val="50000"/>
              </a:spcBef>
            </a:pPr>
            <a:r>
              <a:rPr lang="en-GB" altLang="en-US" sz="2000"/>
              <a:t>Line 2 lithography ( BARC protects vias from Line etchin)</a:t>
            </a:r>
            <a:endParaRPr lang="en-US" altLang="en-US" sz="2000"/>
          </a:p>
        </p:txBody>
      </p:sp>
      <p:pic>
        <p:nvPicPr>
          <p:cNvPr id="46085" name="Picture 5">
            <a:extLst>
              <a:ext uri="{FF2B5EF4-FFF2-40B4-BE49-F238E27FC236}">
                <a16:creationId xmlns:a16="http://schemas.microsoft.com/office/drawing/2014/main" id="{0E2CCFE2-3C32-DEB5-A59F-A502034E58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722564"/>
            <a:ext cx="8674100" cy="371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3">
            <a:extLst>
              <a:ext uri="{FF2B5EF4-FFF2-40B4-BE49-F238E27FC236}">
                <a16:creationId xmlns:a16="http://schemas.microsoft.com/office/drawing/2014/main" id="{AF262DF3-F87E-74FA-0602-DFCA1BDA4D27}"/>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E1C93E95-0EEB-4C4B-851F-0094DD5F62F4}" type="slidenum">
              <a:rPr lang="en-US" altLang="en-US" sz="800"/>
              <a:pPr>
                <a:lnSpc>
                  <a:spcPct val="100000"/>
                </a:lnSpc>
                <a:spcBef>
                  <a:spcPct val="0"/>
                </a:spcBef>
                <a:buClr>
                  <a:srgbClr val="F68933"/>
                </a:buClr>
                <a:buFontTx/>
                <a:buNone/>
              </a:pPr>
              <a:t>36</a:t>
            </a:fld>
            <a:endParaRPr lang="en-US" altLang="en-US" sz="800"/>
          </a:p>
        </p:txBody>
      </p:sp>
      <p:sp>
        <p:nvSpPr>
          <p:cNvPr id="47107" name="Rectangle 2">
            <a:extLst>
              <a:ext uri="{FF2B5EF4-FFF2-40B4-BE49-F238E27FC236}">
                <a16:creationId xmlns:a16="http://schemas.microsoft.com/office/drawing/2014/main" id="{D743DE52-BE16-217D-CC56-4989E811479A}"/>
              </a:ext>
            </a:extLst>
          </p:cNvPr>
          <p:cNvSpPr>
            <a:spLocks noGrp="1" noChangeArrowheads="1"/>
          </p:cNvSpPr>
          <p:nvPr>
            <p:ph type="title"/>
          </p:nvPr>
        </p:nvSpPr>
        <p:spPr/>
        <p:txBody>
          <a:bodyPr/>
          <a:lstStyle/>
          <a:p>
            <a:pPr eaLnBrk="1" hangingPunct="1"/>
            <a:r>
              <a:rPr lang="en-GB" altLang="en-US"/>
              <a:t>Copper process</a:t>
            </a:r>
            <a:endParaRPr lang="en-US" altLang="en-US"/>
          </a:p>
        </p:txBody>
      </p:sp>
      <p:sp>
        <p:nvSpPr>
          <p:cNvPr id="47108" name="Rectangle 3">
            <a:extLst>
              <a:ext uri="{FF2B5EF4-FFF2-40B4-BE49-F238E27FC236}">
                <a16:creationId xmlns:a16="http://schemas.microsoft.com/office/drawing/2014/main" id="{062E8E8C-0D55-C771-A7D7-3E86FD3C8123}"/>
              </a:ext>
            </a:extLst>
          </p:cNvPr>
          <p:cNvSpPr>
            <a:spLocks noGrp="1" noChangeArrowheads="1"/>
          </p:cNvSpPr>
          <p:nvPr>
            <p:ph type="body" idx="1"/>
          </p:nvPr>
        </p:nvSpPr>
        <p:spPr>
          <a:xfrm>
            <a:off x="1879600" y="1524001"/>
            <a:ext cx="8402638" cy="307777"/>
          </a:xfrm>
          <a:noFill/>
          <a:extLst>
            <a:ext uri="{91240B29-F687-4F45-9708-019B960494DF}">
              <a14:hiddenLine xmlns:a14="http://schemas.microsoft.com/office/drawing/2010/main" w="12700" cap="flat" cmpd="sng" algn="ctr">
                <a:solidFill>
                  <a:srgbClr val="646464"/>
                </a:solidFill>
                <a:prstDash val="solid"/>
                <a:miter lim="800000"/>
                <a:headEnd/>
                <a:tailEnd/>
              </a14:hiddenLine>
            </a:ext>
          </a:extLst>
        </p:spPr>
        <p:txBody>
          <a:bodyPr>
            <a:spAutoFit/>
          </a:bodyPr>
          <a:lstStyle/>
          <a:p>
            <a:pPr eaLnBrk="1" hangingPunct="1">
              <a:spcBef>
                <a:spcPct val="50000"/>
              </a:spcBef>
            </a:pPr>
            <a:r>
              <a:rPr lang="en-GB" altLang="en-US" sz="2000"/>
              <a:t>Line 2 etching</a:t>
            </a:r>
            <a:endParaRPr lang="en-US" altLang="en-US" sz="2000"/>
          </a:p>
        </p:txBody>
      </p:sp>
      <p:pic>
        <p:nvPicPr>
          <p:cNvPr id="47109" name="Picture 5">
            <a:extLst>
              <a:ext uri="{FF2B5EF4-FFF2-40B4-BE49-F238E27FC236}">
                <a16:creationId xmlns:a16="http://schemas.microsoft.com/office/drawing/2014/main" id="{7978F413-FD8D-0889-DBEC-2E7404B643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6600" y="3179764"/>
            <a:ext cx="8178800" cy="308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3">
            <a:extLst>
              <a:ext uri="{FF2B5EF4-FFF2-40B4-BE49-F238E27FC236}">
                <a16:creationId xmlns:a16="http://schemas.microsoft.com/office/drawing/2014/main" id="{C4155805-9AC1-190B-0ECB-DB60D3ADAB04}"/>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C2AA5FD9-F30F-44AD-8388-CA6090322E9D}" type="slidenum">
              <a:rPr lang="en-US" altLang="en-US" sz="800"/>
              <a:pPr>
                <a:lnSpc>
                  <a:spcPct val="100000"/>
                </a:lnSpc>
                <a:spcBef>
                  <a:spcPct val="0"/>
                </a:spcBef>
                <a:buClr>
                  <a:srgbClr val="F68933"/>
                </a:buClr>
                <a:buFontTx/>
                <a:buNone/>
              </a:pPr>
              <a:t>37</a:t>
            </a:fld>
            <a:endParaRPr lang="en-US" altLang="en-US" sz="800"/>
          </a:p>
        </p:txBody>
      </p:sp>
      <p:sp>
        <p:nvSpPr>
          <p:cNvPr id="48131" name="Rectangle 2">
            <a:extLst>
              <a:ext uri="{FF2B5EF4-FFF2-40B4-BE49-F238E27FC236}">
                <a16:creationId xmlns:a16="http://schemas.microsoft.com/office/drawing/2014/main" id="{8C0F579C-17AF-083D-2F1E-E3A7A9C2B58C}"/>
              </a:ext>
            </a:extLst>
          </p:cNvPr>
          <p:cNvSpPr>
            <a:spLocks noGrp="1" noChangeArrowheads="1"/>
          </p:cNvSpPr>
          <p:nvPr>
            <p:ph type="title"/>
          </p:nvPr>
        </p:nvSpPr>
        <p:spPr/>
        <p:txBody>
          <a:bodyPr/>
          <a:lstStyle/>
          <a:p>
            <a:pPr eaLnBrk="1" hangingPunct="1"/>
            <a:r>
              <a:rPr lang="en-GB" altLang="en-US"/>
              <a:t>Copper process</a:t>
            </a:r>
            <a:endParaRPr lang="en-US" altLang="en-US"/>
          </a:p>
        </p:txBody>
      </p:sp>
      <p:sp>
        <p:nvSpPr>
          <p:cNvPr id="48132" name="Rectangle 3">
            <a:extLst>
              <a:ext uri="{FF2B5EF4-FFF2-40B4-BE49-F238E27FC236}">
                <a16:creationId xmlns:a16="http://schemas.microsoft.com/office/drawing/2014/main" id="{19D249BA-BF06-3096-248E-E932878AD8E3}"/>
              </a:ext>
            </a:extLst>
          </p:cNvPr>
          <p:cNvSpPr>
            <a:spLocks noGrp="1" noChangeArrowheads="1"/>
          </p:cNvSpPr>
          <p:nvPr>
            <p:ph type="body" idx="1"/>
          </p:nvPr>
        </p:nvSpPr>
        <p:spPr>
          <a:xfrm>
            <a:off x="1879600" y="1524000"/>
            <a:ext cx="8402638" cy="1263650"/>
          </a:xfrm>
          <a:noFill/>
          <a:extLst>
            <a:ext uri="{91240B29-F687-4F45-9708-019B960494DF}">
              <a14:hiddenLine xmlns:a14="http://schemas.microsoft.com/office/drawing/2010/main" w="12700" cap="flat" cmpd="sng" algn="ctr">
                <a:solidFill>
                  <a:srgbClr val="646464"/>
                </a:solidFill>
                <a:prstDash val="solid"/>
                <a:miter lim="800000"/>
                <a:headEnd/>
                <a:tailEnd/>
              </a14:hiddenLine>
            </a:ext>
          </a:extLst>
        </p:spPr>
        <p:txBody>
          <a:bodyPr>
            <a:spAutoFit/>
          </a:bodyPr>
          <a:lstStyle/>
          <a:p>
            <a:pPr eaLnBrk="1" hangingPunct="1">
              <a:spcBef>
                <a:spcPct val="50000"/>
              </a:spcBef>
            </a:pPr>
            <a:r>
              <a:rPr lang="en-GB" altLang="en-US" sz="2000"/>
              <a:t>Barrier deposition (TaN/Ta)</a:t>
            </a:r>
          </a:p>
          <a:p>
            <a:pPr eaLnBrk="1" hangingPunct="1">
              <a:spcBef>
                <a:spcPct val="50000"/>
              </a:spcBef>
            </a:pPr>
            <a:r>
              <a:rPr lang="en-GB" altLang="en-US" sz="2000"/>
              <a:t>Cu seed deposition + electroplating</a:t>
            </a:r>
          </a:p>
          <a:p>
            <a:pPr eaLnBrk="1" hangingPunct="1">
              <a:spcBef>
                <a:spcPct val="50000"/>
              </a:spcBef>
            </a:pPr>
            <a:r>
              <a:rPr lang="en-GB" altLang="en-US" sz="2000"/>
              <a:t>Cu-CMP</a:t>
            </a:r>
            <a:endParaRPr lang="en-US" altLang="en-US" sz="2000"/>
          </a:p>
        </p:txBody>
      </p:sp>
      <p:pic>
        <p:nvPicPr>
          <p:cNvPr id="48133" name="Picture 5">
            <a:extLst>
              <a:ext uri="{FF2B5EF4-FFF2-40B4-BE49-F238E27FC236}">
                <a16:creationId xmlns:a16="http://schemas.microsoft.com/office/drawing/2014/main" id="{345B30A9-9BD3-EBB3-0BAA-EA6002A660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6114" y="3240089"/>
            <a:ext cx="8358187" cy="2992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3">
            <a:extLst>
              <a:ext uri="{FF2B5EF4-FFF2-40B4-BE49-F238E27FC236}">
                <a16:creationId xmlns:a16="http://schemas.microsoft.com/office/drawing/2014/main" id="{73807B26-E004-1B90-D013-9E3A6A17DECB}"/>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77D51EE1-7C52-4E65-A88E-B3761D737F08}" type="slidenum">
              <a:rPr lang="en-US" altLang="en-US" sz="800"/>
              <a:pPr>
                <a:lnSpc>
                  <a:spcPct val="100000"/>
                </a:lnSpc>
                <a:spcBef>
                  <a:spcPct val="0"/>
                </a:spcBef>
                <a:buClr>
                  <a:srgbClr val="F68933"/>
                </a:buClr>
                <a:buFontTx/>
                <a:buNone/>
              </a:pPr>
              <a:t>38</a:t>
            </a:fld>
            <a:endParaRPr lang="en-US" altLang="en-US" sz="800"/>
          </a:p>
        </p:txBody>
      </p:sp>
      <p:sp>
        <p:nvSpPr>
          <p:cNvPr id="49155" name="Rectangle 2">
            <a:extLst>
              <a:ext uri="{FF2B5EF4-FFF2-40B4-BE49-F238E27FC236}">
                <a16:creationId xmlns:a16="http://schemas.microsoft.com/office/drawing/2014/main" id="{1BDA3F4B-35A7-B109-7E49-A5F2D1851D09}"/>
              </a:ext>
            </a:extLst>
          </p:cNvPr>
          <p:cNvSpPr>
            <a:spLocks noGrp="1" noChangeArrowheads="1"/>
          </p:cNvSpPr>
          <p:nvPr>
            <p:ph type="title"/>
          </p:nvPr>
        </p:nvSpPr>
        <p:spPr/>
        <p:txBody>
          <a:bodyPr/>
          <a:lstStyle/>
          <a:p>
            <a:pPr eaLnBrk="1" hangingPunct="1"/>
            <a:r>
              <a:rPr lang="en-GB" altLang="en-US"/>
              <a:t>Cu main issues</a:t>
            </a:r>
            <a:endParaRPr lang="en-US" altLang="en-US"/>
          </a:p>
        </p:txBody>
      </p:sp>
      <p:pic>
        <p:nvPicPr>
          <p:cNvPr id="49156" name="Picture 4">
            <a:extLst>
              <a:ext uri="{FF2B5EF4-FFF2-40B4-BE49-F238E27FC236}">
                <a16:creationId xmlns:a16="http://schemas.microsoft.com/office/drawing/2014/main" id="{E0D27B98-1282-CFA0-F536-1DA9DFE09B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944563"/>
            <a:ext cx="5170488" cy="309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157" name="Picture 5">
            <a:extLst>
              <a:ext uri="{FF2B5EF4-FFF2-40B4-BE49-F238E27FC236}">
                <a16:creationId xmlns:a16="http://schemas.microsoft.com/office/drawing/2014/main" id="{C6102643-B40A-979C-C2E7-D80052CF49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1664" y="5024438"/>
            <a:ext cx="8448675" cy="1192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158" name="Text Box 6">
            <a:extLst>
              <a:ext uri="{FF2B5EF4-FFF2-40B4-BE49-F238E27FC236}">
                <a16:creationId xmlns:a16="http://schemas.microsoft.com/office/drawing/2014/main" id="{19E4EAB2-032F-B03C-8458-474E9425FA1F}"/>
              </a:ext>
            </a:extLst>
          </p:cNvPr>
          <p:cNvSpPr txBox="1">
            <a:spLocks noChangeArrowheads="1"/>
          </p:cNvSpPr>
          <p:nvPr/>
        </p:nvSpPr>
        <p:spPr bwMode="auto">
          <a:xfrm>
            <a:off x="2255839" y="4511675"/>
            <a:ext cx="46942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b="1"/>
              <a:t>CMP effects</a:t>
            </a:r>
            <a:endParaRPr lang="en-US" altLang="en-US" b="1"/>
          </a:p>
        </p:txBody>
      </p:sp>
      <p:pic>
        <p:nvPicPr>
          <p:cNvPr id="49159" name="Picture 8">
            <a:extLst>
              <a:ext uri="{FF2B5EF4-FFF2-40B4-BE49-F238E27FC236}">
                <a16:creationId xmlns:a16="http://schemas.microsoft.com/office/drawing/2014/main" id="{B5D9583B-8141-C6F4-E2FA-37A86B3FE0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8425" y="1549400"/>
            <a:ext cx="3951288"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3">
            <a:extLst>
              <a:ext uri="{FF2B5EF4-FFF2-40B4-BE49-F238E27FC236}">
                <a16:creationId xmlns:a16="http://schemas.microsoft.com/office/drawing/2014/main" id="{5F75DA2C-ABA4-BE6D-B62A-D086B388C3A0}"/>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1F40BC75-B520-4DF4-A0A2-C17C5B01D297}" type="slidenum">
              <a:rPr lang="en-US" altLang="en-US" sz="800"/>
              <a:pPr>
                <a:lnSpc>
                  <a:spcPct val="100000"/>
                </a:lnSpc>
                <a:spcBef>
                  <a:spcPct val="0"/>
                </a:spcBef>
                <a:buClr>
                  <a:srgbClr val="F68933"/>
                </a:buClr>
                <a:buFontTx/>
                <a:buNone/>
              </a:pPr>
              <a:t>39</a:t>
            </a:fld>
            <a:endParaRPr lang="en-US" altLang="en-US" sz="800"/>
          </a:p>
        </p:txBody>
      </p:sp>
      <p:sp>
        <p:nvSpPr>
          <p:cNvPr id="50179" name="Rectangle 2">
            <a:extLst>
              <a:ext uri="{FF2B5EF4-FFF2-40B4-BE49-F238E27FC236}">
                <a16:creationId xmlns:a16="http://schemas.microsoft.com/office/drawing/2014/main" id="{98FEC8CB-B88B-6C64-0192-F7FBB549A833}"/>
              </a:ext>
            </a:extLst>
          </p:cNvPr>
          <p:cNvSpPr>
            <a:spLocks noGrp="1" noChangeArrowheads="1"/>
          </p:cNvSpPr>
          <p:nvPr>
            <p:ph type="title"/>
          </p:nvPr>
        </p:nvSpPr>
        <p:spPr/>
        <p:txBody>
          <a:bodyPr/>
          <a:lstStyle/>
          <a:p>
            <a:pPr eaLnBrk="1" hangingPunct="1"/>
            <a:r>
              <a:rPr lang="en-GB" altLang="en-US"/>
              <a:t>Cu main issues</a:t>
            </a:r>
            <a:endParaRPr lang="en-US" altLang="en-US"/>
          </a:p>
        </p:txBody>
      </p:sp>
      <p:pic>
        <p:nvPicPr>
          <p:cNvPr id="50180" name="Picture 6">
            <a:extLst>
              <a:ext uri="{FF2B5EF4-FFF2-40B4-BE49-F238E27FC236}">
                <a16:creationId xmlns:a16="http://schemas.microsoft.com/office/drawing/2014/main" id="{39DCB74D-67AA-7E1C-9C9A-6C22A55491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3264" y="2162175"/>
            <a:ext cx="5703887" cy="383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181" name="Text Box 7">
            <a:extLst>
              <a:ext uri="{FF2B5EF4-FFF2-40B4-BE49-F238E27FC236}">
                <a16:creationId xmlns:a16="http://schemas.microsoft.com/office/drawing/2014/main" id="{9510E2A2-EE2F-1A2C-7CCC-D5DF98E3362E}"/>
              </a:ext>
            </a:extLst>
          </p:cNvPr>
          <p:cNvSpPr txBox="1">
            <a:spLocks noChangeArrowheads="1"/>
          </p:cNvSpPr>
          <p:nvPr/>
        </p:nvSpPr>
        <p:spPr bwMode="auto">
          <a:xfrm>
            <a:off x="2255839" y="1387475"/>
            <a:ext cx="67516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b="1"/>
              <a:t>Barrier and seed thickness scaling</a:t>
            </a:r>
            <a:endParaRPr lang="en-US" altLang="en-US" b="1"/>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3">
            <a:extLst>
              <a:ext uri="{FF2B5EF4-FFF2-40B4-BE49-F238E27FC236}">
                <a16:creationId xmlns:a16="http://schemas.microsoft.com/office/drawing/2014/main" id="{F243B6FF-18BD-7739-CAE5-631C76849692}"/>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B4BD0619-8136-4C00-A4C1-846B6057CA60}" type="slidenum">
              <a:rPr lang="en-US" altLang="en-US" sz="800"/>
              <a:pPr>
                <a:lnSpc>
                  <a:spcPct val="100000"/>
                </a:lnSpc>
                <a:spcBef>
                  <a:spcPct val="0"/>
                </a:spcBef>
                <a:buClr>
                  <a:srgbClr val="F68933"/>
                </a:buClr>
                <a:buFontTx/>
                <a:buNone/>
              </a:pPr>
              <a:t>40</a:t>
            </a:fld>
            <a:endParaRPr lang="en-US" altLang="en-US" sz="800"/>
          </a:p>
        </p:txBody>
      </p:sp>
      <p:sp>
        <p:nvSpPr>
          <p:cNvPr id="51203" name="Rectangle 2">
            <a:extLst>
              <a:ext uri="{FF2B5EF4-FFF2-40B4-BE49-F238E27FC236}">
                <a16:creationId xmlns:a16="http://schemas.microsoft.com/office/drawing/2014/main" id="{AF876A5F-4CD1-7871-3372-5FD3D919F43F}"/>
              </a:ext>
            </a:extLst>
          </p:cNvPr>
          <p:cNvSpPr>
            <a:spLocks noGrp="1" noChangeArrowheads="1"/>
          </p:cNvSpPr>
          <p:nvPr>
            <p:ph type="title"/>
          </p:nvPr>
        </p:nvSpPr>
        <p:spPr/>
        <p:txBody>
          <a:bodyPr/>
          <a:lstStyle/>
          <a:p>
            <a:pPr eaLnBrk="1" hangingPunct="1"/>
            <a:r>
              <a:rPr lang="en-GB" altLang="en-US"/>
              <a:t>Future</a:t>
            </a:r>
            <a:endParaRPr lang="en-US" altLang="en-US"/>
          </a:p>
        </p:txBody>
      </p:sp>
      <p:sp>
        <p:nvSpPr>
          <p:cNvPr id="51204" name="Rectangle 3">
            <a:extLst>
              <a:ext uri="{FF2B5EF4-FFF2-40B4-BE49-F238E27FC236}">
                <a16:creationId xmlns:a16="http://schemas.microsoft.com/office/drawing/2014/main" id="{D72E6393-33E7-FD6A-1618-5E9D760754E5}"/>
              </a:ext>
            </a:extLst>
          </p:cNvPr>
          <p:cNvSpPr>
            <a:spLocks noGrp="1" noChangeArrowheads="1"/>
          </p:cNvSpPr>
          <p:nvPr>
            <p:ph type="body" idx="1"/>
          </p:nvPr>
        </p:nvSpPr>
        <p:spPr>
          <a:xfrm>
            <a:off x="2071689" y="1266825"/>
            <a:ext cx="8402637" cy="4114800"/>
          </a:xfrm>
        </p:spPr>
        <p:txBody>
          <a:bodyPr/>
          <a:lstStyle/>
          <a:p>
            <a:pPr eaLnBrk="1" hangingPunct="1">
              <a:buFont typeface="Times" panose="02020603050405020304" pitchFamily="18" charset="0"/>
              <a:buNone/>
            </a:pPr>
            <a:r>
              <a:rPr lang="en-GB" altLang="en-US"/>
              <a:t>Attending to ITRS considerations, in the future more than 80% of power in a chip will be dissipated by interconnects</a:t>
            </a:r>
          </a:p>
          <a:p>
            <a:pPr eaLnBrk="1" hangingPunct="1">
              <a:buFont typeface="Times" panose="02020603050405020304" pitchFamily="18" charset="0"/>
              <a:buNone/>
            </a:pPr>
            <a:r>
              <a:rPr lang="en-GB" altLang="en-US"/>
              <a:t>New radical solution might be required to overcome this problem.</a:t>
            </a:r>
            <a:endParaRPr lang="en-US" altLang="en-US"/>
          </a:p>
        </p:txBody>
      </p:sp>
      <p:pic>
        <p:nvPicPr>
          <p:cNvPr id="51205" name="Picture 4">
            <a:extLst>
              <a:ext uri="{FF2B5EF4-FFF2-40B4-BE49-F238E27FC236}">
                <a16:creationId xmlns:a16="http://schemas.microsoft.com/office/drawing/2014/main" id="{2F5B4A4E-A553-3E78-51A1-02537E1F7F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66964"/>
            <a:ext cx="5619750" cy="383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06" name="Rectangle 5">
            <a:extLst>
              <a:ext uri="{FF2B5EF4-FFF2-40B4-BE49-F238E27FC236}">
                <a16:creationId xmlns:a16="http://schemas.microsoft.com/office/drawing/2014/main" id="{4D67FC8F-9018-7756-7E2F-0E267FAEA30D}"/>
              </a:ext>
            </a:extLst>
          </p:cNvPr>
          <p:cNvSpPr>
            <a:spLocks noChangeArrowheads="1"/>
          </p:cNvSpPr>
          <p:nvPr/>
        </p:nvSpPr>
        <p:spPr bwMode="auto">
          <a:xfrm>
            <a:off x="3549650" y="565150"/>
            <a:ext cx="1150938" cy="141288"/>
          </a:xfrm>
          <a:prstGeom prst="rect">
            <a:avLst/>
          </a:prstGeom>
          <a:solidFill>
            <a:schemeClr val="bg1"/>
          </a:solidFill>
          <a:ln w="12700"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endParaRPr lang="en-US" altLang="en-US"/>
          </a:p>
        </p:txBody>
      </p:sp>
      <p:pic>
        <p:nvPicPr>
          <p:cNvPr id="51207" name="Picture 1">
            <a:extLst>
              <a:ext uri="{FF2B5EF4-FFF2-40B4-BE49-F238E27FC236}">
                <a16:creationId xmlns:a16="http://schemas.microsoft.com/office/drawing/2014/main" id="{D282831F-8CE8-700E-4ED0-C0AA6C5F250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45213" y="4718050"/>
            <a:ext cx="4449762" cy="132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8" name="Picture 2">
            <a:extLst>
              <a:ext uri="{FF2B5EF4-FFF2-40B4-BE49-F238E27FC236}">
                <a16:creationId xmlns:a16="http://schemas.microsoft.com/office/drawing/2014/main" id="{B81373F8-9D94-F498-FE90-3A64B5DB62D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97614" y="3938589"/>
            <a:ext cx="4124325"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9" name="TextBox 3">
            <a:extLst>
              <a:ext uri="{FF2B5EF4-FFF2-40B4-BE49-F238E27FC236}">
                <a16:creationId xmlns:a16="http://schemas.microsoft.com/office/drawing/2014/main" id="{9DBF3271-BCFB-7F3F-27E2-6E6399BBFEDE}"/>
              </a:ext>
            </a:extLst>
          </p:cNvPr>
          <p:cNvSpPr txBox="1">
            <a:spLocks noChangeArrowheads="1"/>
          </p:cNvSpPr>
          <p:nvPr/>
        </p:nvSpPr>
        <p:spPr bwMode="auto">
          <a:xfrm>
            <a:off x="7551739" y="3530601"/>
            <a:ext cx="153352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r>
              <a:rPr lang="en-US" altLang="en-US"/>
              <a:t>IEDM 2017</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03D6D43C-2920-6131-110B-AF0D928BA5AA}"/>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9FC950C2-37EC-4346-AD8A-24C70158EB24}" type="slidenum">
              <a:rPr lang="en-US" altLang="en-US" sz="800"/>
              <a:pPr>
                <a:lnSpc>
                  <a:spcPct val="100000"/>
                </a:lnSpc>
                <a:spcBef>
                  <a:spcPct val="0"/>
                </a:spcBef>
                <a:buClr>
                  <a:srgbClr val="F68933"/>
                </a:buClr>
                <a:buFontTx/>
                <a:buNone/>
              </a:pPr>
              <a:t>41</a:t>
            </a:fld>
            <a:endParaRPr lang="en-US" altLang="en-US" sz="800"/>
          </a:p>
        </p:txBody>
      </p:sp>
      <p:sp>
        <p:nvSpPr>
          <p:cNvPr id="52227" name="Rectangle 2">
            <a:extLst>
              <a:ext uri="{FF2B5EF4-FFF2-40B4-BE49-F238E27FC236}">
                <a16:creationId xmlns:a16="http://schemas.microsoft.com/office/drawing/2014/main" id="{A50754AF-E6E0-EE93-AF4A-04E80F21F892}"/>
              </a:ext>
            </a:extLst>
          </p:cNvPr>
          <p:cNvSpPr>
            <a:spLocks noGrp="1" noChangeArrowheads="1"/>
          </p:cNvSpPr>
          <p:nvPr>
            <p:ph type="title"/>
          </p:nvPr>
        </p:nvSpPr>
        <p:spPr/>
        <p:txBody>
          <a:bodyPr/>
          <a:lstStyle/>
          <a:p>
            <a:pPr eaLnBrk="1" hangingPunct="1"/>
            <a:r>
              <a:rPr lang="en-GB" altLang="en-US"/>
              <a:t>Ta and COLTAN…</a:t>
            </a:r>
            <a:endParaRPr lang="en-US" altLang="en-US"/>
          </a:p>
        </p:txBody>
      </p:sp>
      <p:sp>
        <p:nvSpPr>
          <p:cNvPr id="52228" name="Rectangle 4">
            <a:extLst>
              <a:ext uri="{FF2B5EF4-FFF2-40B4-BE49-F238E27FC236}">
                <a16:creationId xmlns:a16="http://schemas.microsoft.com/office/drawing/2014/main" id="{2091382D-F9EC-74F5-6573-0AA1CC6FDFE1}"/>
              </a:ext>
            </a:extLst>
          </p:cNvPr>
          <p:cNvSpPr>
            <a:spLocks noChangeArrowheads="1"/>
          </p:cNvSpPr>
          <p:nvPr/>
        </p:nvSpPr>
        <p:spPr bwMode="auto">
          <a:xfrm>
            <a:off x="1524000" y="1516063"/>
            <a:ext cx="4148138"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r>
              <a:rPr lang="en-US" altLang="en-US" sz="1600"/>
              <a:t>http://www.peacelink.it/kimbau/a/10997.html</a:t>
            </a:r>
          </a:p>
        </p:txBody>
      </p:sp>
      <p:sp>
        <p:nvSpPr>
          <p:cNvPr id="52229" name="Rectangle 5">
            <a:extLst>
              <a:ext uri="{FF2B5EF4-FFF2-40B4-BE49-F238E27FC236}">
                <a16:creationId xmlns:a16="http://schemas.microsoft.com/office/drawing/2014/main" id="{4542AFEC-3B87-097A-73D0-6455F61434AC}"/>
              </a:ext>
            </a:extLst>
          </p:cNvPr>
          <p:cNvSpPr>
            <a:spLocks noChangeArrowheads="1"/>
          </p:cNvSpPr>
          <p:nvPr/>
        </p:nvSpPr>
        <p:spPr bwMode="auto">
          <a:xfrm>
            <a:off x="1524000" y="1887539"/>
            <a:ext cx="487045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800">
                <a:solidFill>
                  <a:schemeClr val="tx1"/>
                </a:solidFill>
              </a:rPr>
              <a:t>Quando le nuove tecnologie grondano sangue</a:t>
            </a:r>
            <a:endParaRPr lang="en-US" altLang="en-US" sz="1800" b="1">
              <a:solidFill>
                <a:schemeClr val="tx1"/>
              </a:solidFill>
            </a:endParaRPr>
          </a:p>
          <a:p>
            <a:pPr>
              <a:lnSpc>
                <a:spcPct val="100000"/>
              </a:lnSpc>
              <a:spcBef>
                <a:spcPct val="0"/>
              </a:spcBef>
              <a:buClrTx/>
              <a:buFontTx/>
              <a:buNone/>
            </a:pPr>
            <a:r>
              <a:rPr lang="en-US" altLang="en-US" sz="1800" b="1">
                <a:solidFill>
                  <a:schemeClr val="tx1"/>
                </a:solidFill>
              </a:rPr>
              <a:t>Il Congo e la drammatica corsa al Coltan</a:t>
            </a:r>
          </a:p>
          <a:p>
            <a:pPr>
              <a:lnSpc>
                <a:spcPct val="100000"/>
              </a:lnSpc>
              <a:spcBef>
                <a:spcPct val="0"/>
              </a:spcBef>
              <a:buClrTx/>
              <a:buFontTx/>
              <a:buNone/>
            </a:pPr>
            <a:endParaRPr lang="en-US" altLang="en-US" sz="1800">
              <a:solidFill>
                <a:schemeClr val="tx1"/>
              </a:solidFill>
            </a:endParaRPr>
          </a:p>
        </p:txBody>
      </p:sp>
      <p:pic>
        <p:nvPicPr>
          <p:cNvPr id="52230" name="Picture 6">
            <a:extLst>
              <a:ext uri="{FF2B5EF4-FFF2-40B4-BE49-F238E27FC236}">
                <a16:creationId xmlns:a16="http://schemas.microsoft.com/office/drawing/2014/main" id="{4AF9B9F2-237D-08BE-91BC-5BA17F5025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924175"/>
            <a:ext cx="1905000"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2231" name="Rectangle 23">
            <a:extLst>
              <a:ext uri="{FF2B5EF4-FFF2-40B4-BE49-F238E27FC236}">
                <a16:creationId xmlns:a16="http://schemas.microsoft.com/office/drawing/2014/main" id="{277266E3-17F0-0BCD-0505-B8A6D2206858}"/>
              </a:ext>
            </a:extLst>
          </p:cNvPr>
          <p:cNvSpPr>
            <a:spLocks noChangeArrowheads="1"/>
          </p:cNvSpPr>
          <p:nvPr/>
        </p:nvSpPr>
        <p:spPr bwMode="auto">
          <a:xfrm>
            <a:off x="1524000" y="3906839"/>
            <a:ext cx="45720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it-IT" altLang="en-US" sz="2800" b="1"/>
              <a:t>La guerra del coltan</a:t>
            </a:r>
            <a:endParaRPr lang="it-IT" altLang="en-US" sz="2800"/>
          </a:p>
        </p:txBody>
      </p:sp>
      <p:sp>
        <p:nvSpPr>
          <p:cNvPr id="52232" name="Rectangle 24">
            <a:extLst>
              <a:ext uri="{FF2B5EF4-FFF2-40B4-BE49-F238E27FC236}">
                <a16:creationId xmlns:a16="http://schemas.microsoft.com/office/drawing/2014/main" id="{307F4141-2013-F6D7-90FE-FE4F5E346340}"/>
              </a:ext>
            </a:extLst>
          </p:cNvPr>
          <p:cNvSpPr>
            <a:spLocks noChangeArrowheads="1"/>
          </p:cNvSpPr>
          <p:nvPr/>
        </p:nvSpPr>
        <p:spPr bwMode="auto">
          <a:xfrm>
            <a:off x="1524000" y="4244975"/>
            <a:ext cx="4217988" cy="501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r>
              <a:rPr lang="en-US" altLang="en-US" sz="1400"/>
              <a:t>http://it.peacereporter.net/articolo/12650/La+guerra+del+coltan</a:t>
            </a:r>
          </a:p>
        </p:txBody>
      </p:sp>
      <p:sp>
        <p:nvSpPr>
          <p:cNvPr id="52233" name="Rectangle 25">
            <a:extLst>
              <a:ext uri="{FF2B5EF4-FFF2-40B4-BE49-F238E27FC236}">
                <a16:creationId xmlns:a16="http://schemas.microsoft.com/office/drawing/2014/main" id="{980B8EAF-69EC-ACA3-15E7-4C7C90EB561F}"/>
              </a:ext>
            </a:extLst>
          </p:cNvPr>
          <p:cNvSpPr>
            <a:spLocks noChangeArrowheads="1"/>
          </p:cNvSpPr>
          <p:nvPr/>
        </p:nvSpPr>
        <p:spPr bwMode="auto">
          <a:xfrm>
            <a:off x="2063750" y="5483225"/>
            <a:ext cx="3779838"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b="1"/>
              <a:t>Africa: dopo i diamanti insanguinati il coltan</a:t>
            </a:r>
          </a:p>
          <a:p>
            <a:pPr>
              <a:lnSpc>
                <a:spcPct val="100000"/>
              </a:lnSpc>
              <a:spcBef>
                <a:spcPct val="0"/>
              </a:spcBef>
              <a:buClrTx/>
              <a:buFontTx/>
              <a:buNone/>
            </a:pPr>
            <a:endParaRPr lang="en-US" altLang="en-US" sz="2400">
              <a:solidFill>
                <a:schemeClr val="tx1"/>
              </a:solidFill>
            </a:endParaRPr>
          </a:p>
        </p:txBody>
      </p:sp>
      <p:sp>
        <p:nvSpPr>
          <p:cNvPr id="52234" name="Rectangle 26">
            <a:extLst>
              <a:ext uri="{FF2B5EF4-FFF2-40B4-BE49-F238E27FC236}">
                <a16:creationId xmlns:a16="http://schemas.microsoft.com/office/drawing/2014/main" id="{B93A837F-24E0-11A2-0D8B-0E7AC6031539}"/>
              </a:ext>
            </a:extLst>
          </p:cNvPr>
          <p:cNvSpPr>
            <a:spLocks noChangeArrowheads="1"/>
          </p:cNvSpPr>
          <p:nvPr/>
        </p:nvSpPr>
        <p:spPr bwMode="auto">
          <a:xfrm>
            <a:off x="1757364" y="4967288"/>
            <a:ext cx="4098925" cy="501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r>
              <a:rPr lang="en-US" altLang="en-US" sz="1400"/>
              <a:t>http://pace-sviluppo.megablog.it/item/africa-dopo-i-diamanti-insanguinati-il-coltan</a:t>
            </a:r>
          </a:p>
        </p:txBody>
      </p:sp>
      <p:sp>
        <p:nvSpPr>
          <p:cNvPr id="52235" name="Rectangle 27">
            <a:extLst>
              <a:ext uri="{FF2B5EF4-FFF2-40B4-BE49-F238E27FC236}">
                <a16:creationId xmlns:a16="http://schemas.microsoft.com/office/drawing/2014/main" id="{9AFCDBD8-C743-473F-8B88-142FFA70D88D}"/>
              </a:ext>
            </a:extLst>
          </p:cNvPr>
          <p:cNvSpPr>
            <a:spLocks noChangeArrowheads="1"/>
          </p:cNvSpPr>
          <p:nvPr/>
        </p:nvSpPr>
        <p:spPr bwMode="auto">
          <a:xfrm>
            <a:off x="3892550" y="3244851"/>
            <a:ext cx="6775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r>
              <a:rPr lang="en-US" altLang="en-US" sz="1800" b="1"/>
              <a:t>Computer Industry Impacts on the Environment and Society </a:t>
            </a:r>
          </a:p>
        </p:txBody>
      </p:sp>
      <p:sp>
        <p:nvSpPr>
          <p:cNvPr id="52236" name="Rectangle 28">
            <a:extLst>
              <a:ext uri="{FF2B5EF4-FFF2-40B4-BE49-F238E27FC236}">
                <a16:creationId xmlns:a16="http://schemas.microsoft.com/office/drawing/2014/main" id="{CE1760DE-0E0C-6BC7-A284-B661B187DF55}"/>
              </a:ext>
            </a:extLst>
          </p:cNvPr>
          <p:cNvSpPr>
            <a:spLocks noChangeArrowheads="1"/>
          </p:cNvSpPr>
          <p:nvPr/>
        </p:nvSpPr>
        <p:spPr bwMode="auto">
          <a:xfrm>
            <a:off x="3949701" y="3005139"/>
            <a:ext cx="5718175" cy="236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173038" indent="-173038">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eaLnBrk="1" hangingPunct="1"/>
            <a:r>
              <a:rPr lang="en-US" altLang="en-US" sz="1000"/>
              <a:t>http://sitemaker.umich.edu/section002group3/coltan_mining_in_democratic_republic_of_the_congo</a:t>
            </a:r>
          </a:p>
        </p:txBody>
      </p:sp>
      <p:pic>
        <p:nvPicPr>
          <p:cNvPr id="52237" name="Picture 29">
            <a:extLst>
              <a:ext uri="{FF2B5EF4-FFF2-40B4-BE49-F238E27FC236}">
                <a16:creationId xmlns:a16="http://schemas.microsoft.com/office/drawing/2014/main" id="{561DA993-DFFB-EAFC-E7BF-20FB2F214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802063"/>
            <a:ext cx="417195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3E4C98B4-9CFD-672A-0C27-0C254BD3FC8F}"/>
              </a:ext>
            </a:extLst>
          </p:cNvPr>
          <p:cNvSpPr>
            <a:spLocks noGrp="1" noChangeArrowheads="1"/>
          </p:cNvSpPr>
          <p:nvPr>
            <p:ph type="title"/>
          </p:nvPr>
        </p:nvSpPr>
        <p:spPr>
          <a:xfrm>
            <a:off x="2084389" y="200025"/>
            <a:ext cx="8402637" cy="1143000"/>
          </a:xfrm>
        </p:spPr>
        <p:txBody>
          <a:bodyPr/>
          <a:lstStyle/>
          <a:p>
            <a:pPr eaLnBrk="1" hangingPunct="1"/>
            <a:r>
              <a:rPr lang="en-GB" altLang="en-US" sz="2400"/>
              <a:t>Sn  and Cassiterite, W and Wolframite, gold…</a:t>
            </a:r>
            <a:endParaRPr lang="en-US" altLang="en-US" sz="2400"/>
          </a:p>
        </p:txBody>
      </p:sp>
      <p:sp>
        <p:nvSpPr>
          <p:cNvPr id="53251" name="Rectangle 2">
            <a:extLst>
              <a:ext uri="{FF2B5EF4-FFF2-40B4-BE49-F238E27FC236}">
                <a16:creationId xmlns:a16="http://schemas.microsoft.com/office/drawing/2014/main" id="{40E8CEAE-68D4-0D00-48C1-B6D033C4D7E2}"/>
              </a:ext>
            </a:extLst>
          </p:cNvPr>
          <p:cNvSpPr>
            <a:spLocks noChangeArrowheads="1"/>
          </p:cNvSpPr>
          <p:nvPr/>
        </p:nvSpPr>
        <p:spPr bwMode="auto">
          <a:xfrm>
            <a:off x="3551239" y="1100566"/>
            <a:ext cx="18473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br>
              <a:rPr lang="en-US" altLang="en-US" sz="2400">
                <a:solidFill>
                  <a:schemeClr val="tx1"/>
                </a:solidFill>
              </a:rPr>
            </a:br>
            <a:endParaRPr lang="en-US" altLang="en-US" sz="2400">
              <a:solidFill>
                <a:schemeClr val="tx1"/>
              </a:solidFill>
            </a:endParaRPr>
          </a:p>
        </p:txBody>
      </p:sp>
      <p:sp>
        <p:nvSpPr>
          <p:cNvPr id="53252" name="Rectangle 3">
            <a:extLst>
              <a:ext uri="{FF2B5EF4-FFF2-40B4-BE49-F238E27FC236}">
                <a16:creationId xmlns:a16="http://schemas.microsoft.com/office/drawing/2014/main" id="{71FDD9C7-A048-6B22-5563-2ABE7D143CD4}"/>
              </a:ext>
            </a:extLst>
          </p:cNvPr>
          <p:cNvSpPr>
            <a:spLocks noChangeArrowheads="1"/>
          </p:cNvSpPr>
          <p:nvPr/>
        </p:nvSpPr>
        <p:spPr bwMode="auto">
          <a:xfrm>
            <a:off x="3551239" y="1100566"/>
            <a:ext cx="18473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Tx/>
              <a:buFontTx/>
              <a:buNone/>
            </a:pPr>
            <a:br>
              <a:rPr lang="en-US" altLang="en-US" sz="2400">
                <a:solidFill>
                  <a:schemeClr val="tx1"/>
                </a:solidFill>
              </a:rPr>
            </a:br>
            <a:endParaRPr lang="en-US" altLang="en-US" sz="2400">
              <a:solidFill>
                <a:schemeClr val="tx1"/>
              </a:solidFill>
            </a:endParaRPr>
          </a:p>
        </p:txBody>
      </p:sp>
      <p:pic>
        <p:nvPicPr>
          <p:cNvPr id="53253" name="Picture 9">
            <a:extLst>
              <a:ext uri="{FF2B5EF4-FFF2-40B4-BE49-F238E27FC236}">
                <a16:creationId xmlns:a16="http://schemas.microsoft.com/office/drawing/2014/main" id="{F117D4B5-836E-5E61-8144-B78FCD90D0F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76464" y="3903663"/>
            <a:ext cx="8218487" cy="226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Picture 10">
            <a:extLst>
              <a:ext uri="{FF2B5EF4-FFF2-40B4-BE49-F238E27FC236}">
                <a16:creationId xmlns:a16="http://schemas.microsoft.com/office/drawing/2014/main" id="{77EF0F89-574A-2BAF-7E71-06782B526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45388" y="4602163"/>
            <a:ext cx="3122612"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Picture 11">
            <a:extLst>
              <a:ext uri="{FF2B5EF4-FFF2-40B4-BE49-F238E27FC236}">
                <a16:creationId xmlns:a16="http://schemas.microsoft.com/office/drawing/2014/main" id="{4F28E856-C505-9F71-DFD9-3999A1905A06}"/>
              </a:ext>
            </a:extLst>
          </p:cNvPr>
          <p:cNvPicPr>
            <a:picLocks noChangeAspect="1"/>
          </p:cNvPicPr>
          <p:nvPr/>
        </p:nvPicPr>
        <p:blipFill>
          <a:blip r:embed="rId4">
            <a:extLst>
              <a:ext uri="{28A0092B-C50C-407E-A947-70E740481C1C}">
                <a14:useLocalDpi xmlns:a14="http://schemas.microsoft.com/office/drawing/2010/main" val="0"/>
              </a:ext>
            </a:extLst>
          </a:blip>
          <a:srcRect l="43637" t="20837"/>
          <a:stretch>
            <a:fillRect/>
          </a:stretch>
        </p:blipFill>
        <p:spPr bwMode="auto">
          <a:xfrm>
            <a:off x="1668463" y="1343026"/>
            <a:ext cx="3048000" cy="317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6" name="Picture 13">
            <a:extLst>
              <a:ext uri="{FF2B5EF4-FFF2-40B4-BE49-F238E27FC236}">
                <a16:creationId xmlns:a16="http://schemas.microsoft.com/office/drawing/2014/main" id="{F4241C0E-123F-4E4C-E6B4-08326D3C7838}"/>
              </a:ext>
            </a:extLst>
          </p:cNvPr>
          <p:cNvPicPr>
            <a:picLocks noChangeAspect="1"/>
          </p:cNvPicPr>
          <p:nvPr/>
        </p:nvPicPr>
        <p:blipFill>
          <a:blip r:embed="rId4">
            <a:extLst>
              <a:ext uri="{28A0092B-C50C-407E-A947-70E740481C1C}">
                <a14:useLocalDpi xmlns:a14="http://schemas.microsoft.com/office/drawing/2010/main" val="0"/>
              </a:ext>
            </a:extLst>
          </a:blip>
          <a:srcRect t="-128" r="75926" b="94655"/>
          <a:stretch>
            <a:fillRect/>
          </a:stretch>
        </p:blipFill>
        <p:spPr bwMode="auto">
          <a:xfrm>
            <a:off x="1600201" y="912814"/>
            <a:ext cx="220186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3">
            <a:extLst>
              <a:ext uri="{FF2B5EF4-FFF2-40B4-BE49-F238E27FC236}">
                <a16:creationId xmlns:a16="http://schemas.microsoft.com/office/drawing/2014/main" id="{2A4098F5-CEE4-F40E-DE7F-969B96C6AC77}"/>
              </a:ext>
            </a:extLst>
          </p:cNvPr>
          <p:cNvSpPr>
            <a:spLocks noGrp="1"/>
          </p:cNvSpPr>
          <p:nvPr>
            <p:ph type="sldNum" sz="quarter" idx="10"/>
          </p:nvPr>
        </p:nvSpPr>
        <p:spPr>
          <a:noFill/>
        </p:spPr>
        <p:txBody>
          <a:bodyPr/>
          <a:lstStyle>
            <a:lvl1pPr>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3pPr>
            <a:lvl4pPr marL="16002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4pPr>
            <a:lvl5pPr marL="2057400" indent="-228600">
              <a:lnSpc>
                <a:spcPct val="95000"/>
              </a:lnSpc>
              <a:spcBef>
                <a:spcPct val="35000"/>
              </a:spcBef>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5pPr>
            <a:lvl6pPr marL="25146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6pPr>
            <a:lvl7pPr marL="29718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7pPr>
            <a:lvl8pPr marL="34290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8pPr>
            <a:lvl9pPr marL="3886200" indent="-228600" eaLnBrk="0" fontAlgn="base" hangingPunct="0">
              <a:lnSpc>
                <a:spcPct val="95000"/>
              </a:lnSpc>
              <a:spcBef>
                <a:spcPct val="35000"/>
              </a:spcBef>
              <a:spcAft>
                <a:spcPct val="0"/>
              </a:spcAft>
              <a:buClr>
                <a:schemeClr val="tx2"/>
              </a:buClr>
              <a:buFont typeface="Times" panose="02020603050405020304" pitchFamily="18" charset="0"/>
              <a:defRPr sz="20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FC2D9B2C-3A1B-41C7-849C-A2B65B0A8C83}" type="slidenum">
              <a:rPr lang="en-US" altLang="en-US" sz="800"/>
              <a:pPr>
                <a:lnSpc>
                  <a:spcPct val="100000"/>
                </a:lnSpc>
                <a:spcBef>
                  <a:spcPct val="0"/>
                </a:spcBef>
                <a:buClr>
                  <a:srgbClr val="F68933"/>
                </a:buClr>
                <a:buFontTx/>
                <a:buNone/>
              </a:pPr>
              <a:t>43</a:t>
            </a:fld>
            <a:endParaRPr lang="en-US" altLang="en-US" sz="800"/>
          </a:p>
        </p:txBody>
      </p:sp>
      <p:sp>
        <p:nvSpPr>
          <p:cNvPr id="54275" name="Rectangle 2">
            <a:extLst>
              <a:ext uri="{FF2B5EF4-FFF2-40B4-BE49-F238E27FC236}">
                <a16:creationId xmlns:a16="http://schemas.microsoft.com/office/drawing/2014/main" id="{91FB9924-C4FF-C53D-91B8-6DFB67B0585C}"/>
              </a:ext>
            </a:extLst>
          </p:cNvPr>
          <p:cNvSpPr>
            <a:spLocks noGrp="1" noChangeArrowheads="1"/>
          </p:cNvSpPr>
          <p:nvPr>
            <p:ph type="title"/>
          </p:nvPr>
        </p:nvSpPr>
        <p:spPr/>
        <p:txBody>
          <a:bodyPr/>
          <a:lstStyle/>
          <a:p>
            <a:pPr eaLnBrk="1" hangingPunct="1"/>
            <a:r>
              <a:rPr lang="en-GB" altLang="en-US"/>
              <a:t>Bibliography for this lesson</a:t>
            </a:r>
            <a:endParaRPr lang="en-US" altLang="en-US"/>
          </a:p>
        </p:txBody>
      </p:sp>
      <p:sp>
        <p:nvSpPr>
          <p:cNvPr id="54276" name="Rectangle 3">
            <a:extLst>
              <a:ext uri="{FF2B5EF4-FFF2-40B4-BE49-F238E27FC236}">
                <a16:creationId xmlns:a16="http://schemas.microsoft.com/office/drawing/2014/main" id="{49C87FB4-66EE-AB1C-ED48-66E724A354E4}"/>
              </a:ext>
            </a:extLst>
          </p:cNvPr>
          <p:cNvSpPr>
            <a:spLocks noGrp="1" noChangeArrowheads="1"/>
          </p:cNvSpPr>
          <p:nvPr>
            <p:ph type="body" idx="1"/>
          </p:nvPr>
        </p:nvSpPr>
        <p:spPr/>
        <p:txBody>
          <a:bodyPr/>
          <a:lstStyle/>
          <a:p>
            <a:pPr eaLnBrk="1" hangingPunct="1"/>
            <a:r>
              <a:rPr lang="en-GB" altLang="en-US"/>
              <a:t>J.D. Plummer, “Silicon VLSI technology. Fundamentals, practice and modeling” , Prentice Hall 2000</a:t>
            </a:r>
          </a:p>
          <a:p>
            <a:pPr eaLnBrk="1" hangingPunct="1"/>
            <a:r>
              <a:rPr lang="en-GB" altLang="en-US"/>
              <a:t>V. Cusi, “Thin films”; ST Microelectronics internal course, unpublished</a:t>
            </a:r>
          </a:p>
          <a:p>
            <a:pPr eaLnBrk="1" hangingPunct="1"/>
            <a:r>
              <a:rPr lang="en-GB" altLang="en-US"/>
              <a:t>C. Cupeta, “Back end and metal reliability”, ST Microelectronics internal course, unpublished</a:t>
            </a:r>
          </a:p>
          <a:p>
            <a:pPr eaLnBrk="1" hangingPunct="1"/>
            <a:r>
              <a:rPr lang="en-GB" altLang="en-US"/>
              <a:t>S.M. Sze, K.K. Ng, “Physics of Semiconductor Devices", Wiley 2007</a:t>
            </a:r>
          </a:p>
          <a:p>
            <a:pPr eaLnBrk="1" hangingPunct="1"/>
            <a:r>
              <a:rPr lang="en-GB" altLang="en-US"/>
              <a:t>“ITRS 2007, Front End Processes”, available at http://www.itrs.net/Links/2007ITRS/2007_Chapters/2007_FEP.pdf</a:t>
            </a:r>
          </a:p>
          <a:p>
            <a:pPr eaLnBrk="1" hangingPunct="1"/>
            <a:r>
              <a:rPr lang="en-GB" altLang="en-US"/>
              <a:t>“ITRS 2007, Interconnect”, available at http://www.itrs.net/Links/2007ITRS/2007_Chapters/2007_Interconnect.pdf</a:t>
            </a:r>
          </a:p>
          <a:p>
            <a:pPr eaLnBrk="1" hangingPunct="1"/>
            <a:endParaRPr lang="en-US" altLang="en-US"/>
          </a:p>
        </p:txBody>
      </p:sp>
    </p:spTree>
  </p:cSld>
  <p:clrMapOvr>
    <a:masterClrMapping/>
  </p:clrMapOvr>
</p:sld>
</file>

<file path=ppt/theme/theme1.xml><?xml version="1.0" encoding="utf-8"?>
<a:theme xmlns:a="http://schemas.openxmlformats.org/drawingml/2006/main" name="Micron">
  <a:themeElements>
    <a:clrScheme name="Custom 1">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99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Blank.pptx" id="{2E5F151F-97D2-4DD4-8DAD-E3CD0A6F382A}" vid="{C72134E5-D970-4521-AA44-C9918EA35CF6}"/>
    </a:ext>
  </a:extLst>
</a:theme>
</file>

<file path=ppt/theme/theme2.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A5B3B-FC7C-6B4A-9F92-50D5BA24EF06}">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1454C6C4DF484BB7E354F0133B2527" ma:contentTypeVersion="15" ma:contentTypeDescription="Create a new document." ma:contentTypeScope="" ma:versionID="3d797868a652486800ab0a8d76ea5ba2">
  <xsd:schema xmlns:xsd="http://www.w3.org/2001/XMLSchema" xmlns:xs="http://www.w3.org/2001/XMLSchema" xmlns:p="http://schemas.microsoft.com/office/2006/metadata/properties" xmlns:ns2="373dee95-3004-4e58-b400-fc9a330598fa" xmlns:ns3="f6b577cd-6e64-4f00-a024-38a5e216943f" targetNamespace="http://schemas.microsoft.com/office/2006/metadata/properties" ma:root="true" ma:fieldsID="a51a2154010bb654d69a56a30ab7fc95" ns2:_="" ns3:_="">
    <xsd:import namespace="373dee95-3004-4e58-b400-fc9a330598fa"/>
    <xsd:import namespace="f6b577cd-6e64-4f00-a024-38a5e2169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3dee95-3004-4e58-b400-fc9a330598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b577cd-6e64-4f00-a024-38a5e2169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401ee5e-f1c1-480f-96b5-a2a1844dc208}" ma:internalName="TaxCatchAll" ma:showField="CatchAllData" ma:web="f6b577cd-6e64-4f00-a024-38a5e216943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6b577cd-6e64-4f00-a024-38a5e216943f" xsi:nil="true"/>
    <lcf76f155ced4ddcb4097134ff3c332f xmlns="373dee95-3004-4e58-b400-fc9a330598f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93BE600-4354-4A1D-8E62-CDEA956B72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3dee95-3004-4e58-b400-fc9a330598fa"/>
    <ds:schemaRef ds:uri="f6b577cd-6e64-4f00-a024-38a5e2169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F7D784-B287-493B-96EC-6DAAC458EB36}">
  <ds:schemaRefs>
    <ds:schemaRef ds:uri="http://schemas.microsoft.com/sharepoint/v3/contenttype/forms"/>
  </ds:schemaRefs>
</ds:datastoreItem>
</file>

<file path=customXml/itemProps3.xml><?xml version="1.0" encoding="utf-8"?>
<ds:datastoreItem xmlns:ds="http://schemas.openxmlformats.org/officeDocument/2006/customXml" ds:itemID="{C210B64C-2D98-49DF-A0BE-639DCBC582D6}">
  <ds:schemaRefs>
    <ds:schemaRef ds:uri="f6b577cd-6e64-4f00-a024-38a5e216943f"/>
    <ds:schemaRef ds:uri="http://schemas.microsoft.com/office/infopath/2007/PartnerControls"/>
    <ds:schemaRef ds:uri="http://purl.org/dc/elements/1.1/"/>
    <ds:schemaRef ds:uri="http://schemas.microsoft.com/office/2006/metadata/properties"/>
    <ds:schemaRef ds:uri="http://purl.org/dc/terms/"/>
    <ds:schemaRef ds:uri="373dee95-3004-4e58-b400-fc9a330598fa"/>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blank</Template>
  <TotalTime>71</TotalTime>
  <Words>2069</Words>
  <Application>Microsoft Office PowerPoint</Application>
  <PresentationFormat>Widescreen</PresentationFormat>
  <Paragraphs>402</Paragraphs>
  <Slides>43</Slides>
  <Notes>2</Notes>
  <HiddenSlides>1</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43</vt:i4>
      </vt:variant>
    </vt:vector>
  </HeadingPairs>
  <TitlesOfParts>
    <vt:vector size="51" baseType="lpstr">
      <vt:lpstr>Arial</vt:lpstr>
      <vt:lpstr>Symbol</vt:lpstr>
      <vt:lpstr>Times</vt:lpstr>
      <vt:lpstr>Verdana</vt:lpstr>
      <vt:lpstr>Wingdings</vt:lpstr>
      <vt:lpstr>Micron</vt:lpstr>
      <vt:lpstr>Document</vt:lpstr>
      <vt:lpstr>Equation</vt:lpstr>
      <vt:lpstr>Interconnections</vt:lpstr>
      <vt:lpstr>Introduction</vt:lpstr>
      <vt:lpstr>Back end elements</vt:lpstr>
      <vt:lpstr>Local interconnects</vt:lpstr>
      <vt:lpstr>Silicides properties</vt:lpstr>
      <vt:lpstr>Silicides formation methods</vt:lpstr>
      <vt:lpstr>An example: SA-TiSi2</vt:lpstr>
      <vt:lpstr>Silicides materials</vt:lpstr>
      <vt:lpstr>ITRS predictions for silicides</vt:lpstr>
      <vt:lpstr>Contacts</vt:lpstr>
      <vt:lpstr>Contacts</vt:lpstr>
      <vt:lpstr>Contacts</vt:lpstr>
      <vt:lpstr>Contact resistance</vt:lpstr>
      <vt:lpstr>Contacts</vt:lpstr>
      <vt:lpstr>Contacts</vt:lpstr>
      <vt:lpstr>Contacts process flow</vt:lpstr>
      <vt:lpstr>Interconnects: general properties</vt:lpstr>
      <vt:lpstr>Interconnects materials</vt:lpstr>
      <vt:lpstr>Al interconnects</vt:lpstr>
      <vt:lpstr>Al Interconnects: hillocks and voids</vt:lpstr>
      <vt:lpstr>Al interconnects: electromigration</vt:lpstr>
      <vt:lpstr>Dielectrics</vt:lpstr>
      <vt:lpstr>Dielectrics</vt:lpstr>
      <vt:lpstr>Back end features vs technology scaling</vt:lpstr>
      <vt:lpstr>Back end features vs technology scaling</vt:lpstr>
      <vt:lpstr>Back end features vs technology scaling</vt:lpstr>
      <vt:lpstr>Back end features vs technology scaling</vt:lpstr>
      <vt:lpstr>Copper process</vt:lpstr>
      <vt:lpstr>Copper process</vt:lpstr>
      <vt:lpstr>Copper process</vt:lpstr>
      <vt:lpstr>Copper process</vt:lpstr>
      <vt:lpstr>Copper process</vt:lpstr>
      <vt:lpstr>Copper process</vt:lpstr>
      <vt:lpstr>Copper process</vt:lpstr>
      <vt:lpstr>Copper process</vt:lpstr>
      <vt:lpstr>Copper process</vt:lpstr>
      <vt:lpstr>Copper process</vt:lpstr>
      <vt:lpstr>Cu main issues</vt:lpstr>
      <vt:lpstr>Cu main issues</vt:lpstr>
      <vt:lpstr>Future</vt:lpstr>
      <vt:lpstr>Ta and COLTAN…</vt:lpstr>
      <vt:lpstr>Sn  and Cassiterite, W and Wolframite, gold…</vt:lpstr>
      <vt:lpstr>Bibliography for this lesson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Marcello Mariani</dc:creator>
  <cp:keywords/>
  <dc:description/>
  <cp:lastModifiedBy>Marcello Mariani</cp:lastModifiedBy>
  <cp:revision>9</cp:revision>
  <dcterms:created xsi:type="dcterms:W3CDTF">2025-02-14T08:32:36Z</dcterms:created>
  <dcterms:modified xsi:type="dcterms:W3CDTF">2025-02-14T09:50:27Z</dcterms:modified>
  <cp:category/>
  <cp:version>01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0x010100BE1454C6C4DF484BB7E354F0133B2527</vt:lpwstr>
  </property>
  <property fmtid="{D5CDD505-2E9C-101B-9397-08002B2CF9AE}" pid="3" name="MediaServiceImageTags">
    <vt:lpwstr/>
  </property>
  <property fmtid="{D5CDD505-2E9C-101B-9397-08002B2CF9AE}" pid="4" name="MSIP_Label_8e19d756-792e-42a1-bcad-4cb9051ddd2d_Enabled">
    <vt:lpwstr>true</vt:lpwstr>
  </property>
  <property fmtid="{D5CDD505-2E9C-101B-9397-08002B2CF9AE}" pid="5" name="MSIP_Label_8e19d756-792e-42a1-bcad-4cb9051ddd2d_SetDate">
    <vt:lpwstr>2025-01-07T15:51:17Z</vt:lpwstr>
  </property>
  <property fmtid="{D5CDD505-2E9C-101B-9397-08002B2CF9AE}" pid="6" name="MSIP_Label_8e19d756-792e-42a1-bcad-4cb9051ddd2d_Method">
    <vt:lpwstr>Standard</vt:lpwstr>
  </property>
  <property fmtid="{D5CDD505-2E9C-101B-9397-08002B2CF9AE}" pid="7" name="MSIP_Label_8e19d756-792e-42a1-bcad-4cb9051ddd2d_Name">
    <vt:lpwstr>Confidential</vt:lpwstr>
  </property>
  <property fmtid="{D5CDD505-2E9C-101B-9397-08002B2CF9AE}" pid="8" name="MSIP_Label_8e19d756-792e-42a1-bcad-4cb9051ddd2d_SiteId">
    <vt:lpwstr>41eb501a-f671-4ce0-a5bf-b64168c3705f</vt:lpwstr>
  </property>
  <property fmtid="{D5CDD505-2E9C-101B-9397-08002B2CF9AE}" pid="9" name="MSIP_Label_8e19d756-792e-42a1-bcad-4cb9051ddd2d_ActionId">
    <vt:lpwstr>f41914a7-38f9-4a23-8387-8a0d10a90b2a</vt:lpwstr>
  </property>
  <property fmtid="{D5CDD505-2E9C-101B-9397-08002B2CF9AE}" pid="10" name="MSIP_Label_8e19d756-792e-42a1-bcad-4cb9051ddd2d_ContentBits">
    <vt:lpwstr>2</vt:lpwstr>
  </property>
  <property fmtid="{D5CDD505-2E9C-101B-9397-08002B2CF9AE}" pid="11" name="MSIP_Label_6fdea275-d6f3-438f-b8d8-013cab2023d3_Enabled">
    <vt:lpwstr>true</vt:lpwstr>
  </property>
  <property fmtid="{D5CDD505-2E9C-101B-9397-08002B2CF9AE}" pid="12" name="MSIP_Label_6fdea275-d6f3-438f-b8d8-013cab2023d3_SetDate">
    <vt:lpwstr>2025-02-14T09:36:18Z</vt:lpwstr>
  </property>
  <property fmtid="{D5CDD505-2E9C-101B-9397-08002B2CF9AE}" pid="13" name="MSIP_Label_6fdea275-d6f3-438f-b8d8-013cab2023d3_Method">
    <vt:lpwstr>Privileged</vt:lpwstr>
  </property>
  <property fmtid="{D5CDD505-2E9C-101B-9397-08002B2CF9AE}" pid="14" name="MSIP_Label_6fdea275-d6f3-438f-b8d8-013cab2023d3_Name">
    <vt:lpwstr>Public</vt:lpwstr>
  </property>
  <property fmtid="{D5CDD505-2E9C-101B-9397-08002B2CF9AE}" pid="15" name="MSIP_Label_6fdea275-d6f3-438f-b8d8-013cab2023d3_SiteId">
    <vt:lpwstr>f38a5ecd-2813-4862-b11b-ac1d563c806f</vt:lpwstr>
  </property>
  <property fmtid="{D5CDD505-2E9C-101B-9397-08002B2CF9AE}" pid="16" name="MSIP_Label_6fdea275-d6f3-438f-b8d8-013cab2023d3_ActionId">
    <vt:lpwstr>5d76563d-5019-43e5-a5d1-52ad9552008a</vt:lpwstr>
  </property>
  <property fmtid="{D5CDD505-2E9C-101B-9397-08002B2CF9AE}" pid="17" name="MSIP_Label_6fdea275-d6f3-438f-b8d8-013cab2023d3_ContentBits">
    <vt:lpwstr>0</vt:lpwstr>
  </property>
</Properties>
</file>