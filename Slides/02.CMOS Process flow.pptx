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66"/>
  </p:notesMasterIdLst>
  <p:handoutMasterIdLst>
    <p:handoutMasterId r:id="rId67"/>
  </p:handoutMasterIdLst>
  <p:sldIdLst>
    <p:sldId id="564" r:id="rId5"/>
    <p:sldId id="504" r:id="rId6"/>
    <p:sldId id="568" r:id="rId7"/>
    <p:sldId id="507" r:id="rId8"/>
    <p:sldId id="505" r:id="rId9"/>
    <p:sldId id="506" r:id="rId10"/>
    <p:sldId id="508" r:id="rId11"/>
    <p:sldId id="510" r:id="rId12"/>
    <p:sldId id="511" r:id="rId13"/>
    <p:sldId id="512" r:id="rId14"/>
    <p:sldId id="513" r:id="rId15"/>
    <p:sldId id="514" r:id="rId16"/>
    <p:sldId id="515" r:id="rId17"/>
    <p:sldId id="863" r:id="rId18"/>
    <p:sldId id="516" r:id="rId19"/>
    <p:sldId id="517" r:id="rId20"/>
    <p:sldId id="518" r:id="rId21"/>
    <p:sldId id="519" r:id="rId22"/>
    <p:sldId id="520" r:id="rId23"/>
    <p:sldId id="521" r:id="rId24"/>
    <p:sldId id="522" r:id="rId25"/>
    <p:sldId id="524" r:id="rId26"/>
    <p:sldId id="525" r:id="rId27"/>
    <p:sldId id="526" r:id="rId28"/>
    <p:sldId id="527" r:id="rId29"/>
    <p:sldId id="528" r:id="rId30"/>
    <p:sldId id="529" r:id="rId31"/>
    <p:sldId id="531" r:id="rId32"/>
    <p:sldId id="530" r:id="rId33"/>
    <p:sldId id="533" r:id="rId34"/>
    <p:sldId id="532" r:id="rId35"/>
    <p:sldId id="534" r:id="rId36"/>
    <p:sldId id="536" r:id="rId37"/>
    <p:sldId id="537" r:id="rId38"/>
    <p:sldId id="538" r:id="rId39"/>
    <p:sldId id="539" r:id="rId40"/>
    <p:sldId id="541" r:id="rId41"/>
    <p:sldId id="540" r:id="rId42"/>
    <p:sldId id="542" r:id="rId43"/>
    <p:sldId id="543" r:id="rId44"/>
    <p:sldId id="544" r:id="rId45"/>
    <p:sldId id="545" r:id="rId46"/>
    <p:sldId id="546" r:id="rId47"/>
    <p:sldId id="547" r:id="rId48"/>
    <p:sldId id="549" r:id="rId49"/>
    <p:sldId id="548" r:id="rId50"/>
    <p:sldId id="550" r:id="rId51"/>
    <p:sldId id="551" r:id="rId52"/>
    <p:sldId id="552" r:id="rId53"/>
    <p:sldId id="553" r:id="rId54"/>
    <p:sldId id="554" r:id="rId55"/>
    <p:sldId id="555" r:id="rId56"/>
    <p:sldId id="556" r:id="rId57"/>
    <p:sldId id="558" r:id="rId58"/>
    <p:sldId id="560" r:id="rId59"/>
    <p:sldId id="561" r:id="rId60"/>
    <p:sldId id="562" r:id="rId61"/>
    <p:sldId id="563" r:id="rId62"/>
    <p:sldId id="503" r:id="rId63"/>
    <p:sldId id="861" r:id="rId64"/>
    <p:sldId id="862"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5C24D9-AF28-45F6-9FA0-AC4BBD992896}" v="1" dt="2025-02-14T09:24:05.782"/>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18" autoAdjust="0"/>
  </p:normalViewPr>
  <p:slideViewPr>
    <p:cSldViewPr snapToGrid="0" showGuides="1">
      <p:cViewPr varScale="1">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C85C24D9-AF28-45F6-9FA0-AC4BBD992896}"/>
    <pc:docChg chg="addSld delSld modSld">
      <pc:chgData name="Marcello Mariani" userId="1e342699-93ad-4e2e-93b0-0f6a2c00c4b8" providerId="ADAL" clId="{C85C24D9-AF28-45F6-9FA0-AC4BBD992896}" dt="2025-02-14T09:29:16.807" v="7" actId="1076"/>
      <pc:docMkLst>
        <pc:docMk/>
      </pc:docMkLst>
      <pc:sldChg chg="add del">
        <pc:chgData name="Marcello Mariani" userId="1e342699-93ad-4e2e-93b0-0f6a2c00c4b8" providerId="ADAL" clId="{C85C24D9-AF28-45F6-9FA0-AC4BBD992896}" dt="2025-02-14T09:27:45.654" v="2" actId="47"/>
        <pc:sldMkLst>
          <pc:docMk/>
          <pc:sldMk cId="0" sldId="310"/>
        </pc:sldMkLst>
      </pc:sldChg>
      <pc:sldChg chg="add del">
        <pc:chgData name="Marcello Mariani" userId="1e342699-93ad-4e2e-93b0-0f6a2c00c4b8" providerId="ADAL" clId="{C85C24D9-AF28-45F6-9FA0-AC4BBD992896}" dt="2025-02-14T09:27:45.654" v="2" actId="47"/>
        <pc:sldMkLst>
          <pc:docMk/>
          <pc:sldMk cId="0" sldId="311"/>
        </pc:sldMkLst>
      </pc:sldChg>
      <pc:sldChg chg="add del">
        <pc:chgData name="Marcello Mariani" userId="1e342699-93ad-4e2e-93b0-0f6a2c00c4b8" providerId="ADAL" clId="{C85C24D9-AF28-45F6-9FA0-AC4BBD992896}" dt="2025-02-14T09:27:45.654" v="2" actId="47"/>
        <pc:sldMkLst>
          <pc:docMk/>
          <pc:sldMk cId="0" sldId="312"/>
        </pc:sldMkLst>
      </pc:sldChg>
      <pc:sldChg chg="add del">
        <pc:chgData name="Marcello Mariani" userId="1e342699-93ad-4e2e-93b0-0f6a2c00c4b8" providerId="ADAL" clId="{C85C24D9-AF28-45F6-9FA0-AC4BBD992896}" dt="2025-02-14T09:27:45.654" v="2" actId="47"/>
        <pc:sldMkLst>
          <pc:docMk/>
          <pc:sldMk cId="0" sldId="313"/>
        </pc:sldMkLst>
      </pc:sldChg>
      <pc:sldChg chg="add del">
        <pc:chgData name="Marcello Mariani" userId="1e342699-93ad-4e2e-93b0-0f6a2c00c4b8" providerId="ADAL" clId="{C85C24D9-AF28-45F6-9FA0-AC4BBD992896}" dt="2025-02-14T09:27:45.654" v="2" actId="47"/>
        <pc:sldMkLst>
          <pc:docMk/>
          <pc:sldMk cId="0" sldId="314"/>
        </pc:sldMkLst>
      </pc:sldChg>
      <pc:sldChg chg="add del">
        <pc:chgData name="Marcello Mariani" userId="1e342699-93ad-4e2e-93b0-0f6a2c00c4b8" providerId="ADAL" clId="{C85C24D9-AF28-45F6-9FA0-AC4BBD992896}" dt="2025-02-14T09:27:45.654" v="2" actId="47"/>
        <pc:sldMkLst>
          <pc:docMk/>
          <pc:sldMk cId="0" sldId="315"/>
        </pc:sldMkLst>
      </pc:sldChg>
      <pc:sldChg chg="add del">
        <pc:chgData name="Marcello Mariani" userId="1e342699-93ad-4e2e-93b0-0f6a2c00c4b8" providerId="ADAL" clId="{C85C24D9-AF28-45F6-9FA0-AC4BBD992896}" dt="2025-02-14T09:27:45.654" v="2" actId="47"/>
        <pc:sldMkLst>
          <pc:docMk/>
          <pc:sldMk cId="0" sldId="318"/>
        </pc:sldMkLst>
      </pc:sldChg>
      <pc:sldChg chg="add del">
        <pc:chgData name="Marcello Mariani" userId="1e342699-93ad-4e2e-93b0-0f6a2c00c4b8" providerId="ADAL" clId="{C85C24D9-AF28-45F6-9FA0-AC4BBD992896}" dt="2025-02-14T09:27:45.654" v="2" actId="47"/>
        <pc:sldMkLst>
          <pc:docMk/>
          <pc:sldMk cId="0" sldId="320"/>
        </pc:sldMkLst>
      </pc:sldChg>
      <pc:sldChg chg="add del">
        <pc:chgData name="Marcello Mariani" userId="1e342699-93ad-4e2e-93b0-0f6a2c00c4b8" providerId="ADAL" clId="{C85C24D9-AF28-45F6-9FA0-AC4BBD992896}" dt="2025-02-14T09:27:45.654" v="2" actId="47"/>
        <pc:sldMkLst>
          <pc:docMk/>
          <pc:sldMk cId="0" sldId="322"/>
        </pc:sldMkLst>
      </pc:sldChg>
      <pc:sldChg chg="add del">
        <pc:chgData name="Marcello Mariani" userId="1e342699-93ad-4e2e-93b0-0f6a2c00c4b8" providerId="ADAL" clId="{C85C24D9-AF28-45F6-9FA0-AC4BBD992896}" dt="2025-02-14T09:27:45.654" v="2" actId="47"/>
        <pc:sldMkLst>
          <pc:docMk/>
          <pc:sldMk cId="0" sldId="323"/>
        </pc:sldMkLst>
      </pc:sldChg>
      <pc:sldChg chg="add del">
        <pc:chgData name="Marcello Mariani" userId="1e342699-93ad-4e2e-93b0-0f6a2c00c4b8" providerId="ADAL" clId="{C85C24D9-AF28-45F6-9FA0-AC4BBD992896}" dt="2025-02-14T09:27:45.654" v="2" actId="47"/>
        <pc:sldMkLst>
          <pc:docMk/>
          <pc:sldMk cId="0" sldId="324"/>
        </pc:sldMkLst>
      </pc:sldChg>
      <pc:sldChg chg="add del">
        <pc:chgData name="Marcello Mariani" userId="1e342699-93ad-4e2e-93b0-0f6a2c00c4b8" providerId="ADAL" clId="{C85C24D9-AF28-45F6-9FA0-AC4BBD992896}" dt="2025-02-14T09:27:45.654" v="2" actId="47"/>
        <pc:sldMkLst>
          <pc:docMk/>
          <pc:sldMk cId="0" sldId="325"/>
        </pc:sldMkLst>
      </pc:sldChg>
      <pc:sldChg chg="add del">
        <pc:chgData name="Marcello Mariani" userId="1e342699-93ad-4e2e-93b0-0f6a2c00c4b8" providerId="ADAL" clId="{C85C24D9-AF28-45F6-9FA0-AC4BBD992896}" dt="2025-02-14T09:27:45.654" v="2" actId="47"/>
        <pc:sldMkLst>
          <pc:docMk/>
          <pc:sldMk cId="0" sldId="327"/>
        </pc:sldMkLst>
      </pc:sldChg>
      <pc:sldChg chg="add del">
        <pc:chgData name="Marcello Mariani" userId="1e342699-93ad-4e2e-93b0-0f6a2c00c4b8" providerId="ADAL" clId="{C85C24D9-AF28-45F6-9FA0-AC4BBD992896}" dt="2025-02-14T09:27:45.654" v="2" actId="47"/>
        <pc:sldMkLst>
          <pc:docMk/>
          <pc:sldMk cId="0" sldId="328"/>
        </pc:sldMkLst>
      </pc:sldChg>
      <pc:sldChg chg="add del">
        <pc:chgData name="Marcello Mariani" userId="1e342699-93ad-4e2e-93b0-0f6a2c00c4b8" providerId="ADAL" clId="{C85C24D9-AF28-45F6-9FA0-AC4BBD992896}" dt="2025-02-14T09:27:45.654" v="2" actId="47"/>
        <pc:sldMkLst>
          <pc:docMk/>
          <pc:sldMk cId="0" sldId="329"/>
        </pc:sldMkLst>
      </pc:sldChg>
      <pc:sldChg chg="add del">
        <pc:chgData name="Marcello Mariani" userId="1e342699-93ad-4e2e-93b0-0f6a2c00c4b8" providerId="ADAL" clId="{C85C24D9-AF28-45F6-9FA0-AC4BBD992896}" dt="2025-02-14T09:27:45.654" v="2" actId="47"/>
        <pc:sldMkLst>
          <pc:docMk/>
          <pc:sldMk cId="0" sldId="331"/>
        </pc:sldMkLst>
      </pc:sldChg>
      <pc:sldChg chg="add del">
        <pc:chgData name="Marcello Mariani" userId="1e342699-93ad-4e2e-93b0-0f6a2c00c4b8" providerId="ADAL" clId="{C85C24D9-AF28-45F6-9FA0-AC4BBD992896}" dt="2025-02-14T09:27:45.654" v="2" actId="47"/>
        <pc:sldMkLst>
          <pc:docMk/>
          <pc:sldMk cId="0" sldId="332"/>
        </pc:sldMkLst>
      </pc:sldChg>
      <pc:sldChg chg="add del">
        <pc:chgData name="Marcello Mariani" userId="1e342699-93ad-4e2e-93b0-0f6a2c00c4b8" providerId="ADAL" clId="{C85C24D9-AF28-45F6-9FA0-AC4BBD992896}" dt="2025-02-14T09:27:45.654" v="2" actId="47"/>
        <pc:sldMkLst>
          <pc:docMk/>
          <pc:sldMk cId="0" sldId="333"/>
        </pc:sldMkLst>
      </pc:sldChg>
      <pc:sldChg chg="add del">
        <pc:chgData name="Marcello Mariani" userId="1e342699-93ad-4e2e-93b0-0f6a2c00c4b8" providerId="ADAL" clId="{C85C24D9-AF28-45F6-9FA0-AC4BBD992896}" dt="2025-02-14T09:27:45.654" v="2" actId="47"/>
        <pc:sldMkLst>
          <pc:docMk/>
          <pc:sldMk cId="0" sldId="334"/>
        </pc:sldMkLst>
      </pc:sldChg>
      <pc:sldChg chg="add del">
        <pc:chgData name="Marcello Mariani" userId="1e342699-93ad-4e2e-93b0-0f6a2c00c4b8" providerId="ADAL" clId="{C85C24D9-AF28-45F6-9FA0-AC4BBD992896}" dt="2025-02-14T09:27:45.654" v="2" actId="47"/>
        <pc:sldMkLst>
          <pc:docMk/>
          <pc:sldMk cId="0" sldId="335"/>
        </pc:sldMkLst>
      </pc:sldChg>
      <pc:sldChg chg="add del">
        <pc:chgData name="Marcello Mariani" userId="1e342699-93ad-4e2e-93b0-0f6a2c00c4b8" providerId="ADAL" clId="{C85C24D9-AF28-45F6-9FA0-AC4BBD992896}" dt="2025-02-14T09:27:45.654" v="2" actId="47"/>
        <pc:sldMkLst>
          <pc:docMk/>
          <pc:sldMk cId="0" sldId="336"/>
        </pc:sldMkLst>
      </pc:sldChg>
      <pc:sldChg chg="add del">
        <pc:chgData name="Marcello Mariani" userId="1e342699-93ad-4e2e-93b0-0f6a2c00c4b8" providerId="ADAL" clId="{C85C24D9-AF28-45F6-9FA0-AC4BBD992896}" dt="2025-02-14T09:27:45.654" v="2" actId="47"/>
        <pc:sldMkLst>
          <pc:docMk/>
          <pc:sldMk cId="0" sldId="337"/>
        </pc:sldMkLst>
      </pc:sldChg>
      <pc:sldChg chg="add del">
        <pc:chgData name="Marcello Mariani" userId="1e342699-93ad-4e2e-93b0-0f6a2c00c4b8" providerId="ADAL" clId="{C85C24D9-AF28-45F6-9FA0-AC4BBD992896}" dt="2025-02-14T09:27:45.654" v="2" actId="47"/>
        <pc:sldMkLst>
          <pc:docMk/>
          <pc:sldMk cId="0" sldId="338"/>
        </pc:sldMkLst>
      </pc:sldChg>
      <pc:sldChg chg="add del">
        <pc:chgData name="Marcello Mariani" userId="1e342699-93ad-4e2e-93b0-0f6a2c00c4b8" providerId="ADAL" clId="{C85C24D9-AF28-45F6-9FA0-AC4BBD992896}" dt="2025-02-14T09:27:45.654" v="2" actId="47"/>
        <pc:sldMkLst>
          <pc:docMk/>
          <pc:sldMk cId="0" sldId="339"/>
        </pc:sldMkLst>
      </pc:sldChg>
      <pc:sldChg chg="add del">
        <pc:chgData name="Marcello Mariani" userId="1e342699-93ad-4e2e-93b0-0f6a2c00c4b8" providerId="ADAL" clId="{C85C24D9-AF28-45F6-9FA0-AC4BBD992896}" dt="2025-02-14T09:27:45.654" v="2" actId="47"/>
        <pc:sldMkLst>
          <pc:docMk/>
          <pc:sldMk cId="0" sldId="340"/>
        </pc:sldMkLst>
      </pc:sldChg>
      <pc:sldChg chg="add del">
        <pc:chgData name="Marcello Mariani" userId="1e342699-93ad-4e2e-93b0-0f6a2c00c4b8" providerId="ADAL" clId="{C85C24D9-AF28-45F6-9FA0-AC4BBD992896}" dt="2025-02-14T09:27:45.654" v="2" actId="47"/>
        <pc:sldMkLst>
          <pc:docMk/>
          <pc:sldMk cId="0" sldId="341"/>
        </pc:sldMkLst>
      </pc:sldChg>
      <pc:sldChg chg="add del">
        <pc:chgData name="Marcello Mariani" userId="1e342699-93ad-4e2e-93b0-0f6a2c00c4b8" providerId="ADAL" clId="{C85C24D9-AF28-45F6-9FA0-AC4BBD992896}" dt="2025-02-14T09:27:45.654" v="2" actId="47"/>
        <pc:sldMkLst>
          <pc:docMk/>
          <pc:sldMk cId="0" sldId="342"/>
        </pc:sldMkLst>
      </pc:sldChg>
      <pc:sldChg chg="add del">
        <pc:chgData name="Marcello Mariani" userId="1e342699-93ad-4e2e-93b0-0f6a2c00c4b8" providerId="ADAL" clId="{C85C24D9-AF28-45F6-9FA0-AC4BBD992896}" dt="2025-02-14T09:27:45.654" v="2" actId="47"/>
        <pc:sldMkLst>
          <pc:docMk/>
          <pc:sldMk cId="0" sldId="343"/>
        </pc:sldMkLst>
      </pc:sldChg>
      <pc:sldChg chg="add del">
        <pc:chgData name="Marcello Mariani" userId="1e342699-93ad-4e2e-93b0-0f6a2c00c4b8" providerId="ADAL" clId="{C85C24D9-AF28-45F6-9FA0-AC4BBD992896}" dt="2025-02-14T09:27:45.654" v="2" actId="47"/>
        <pc:sldMkLst>
          <pc:docMk/>
          <pc:sldMk cId="0" sldId="344"/>
        </pc:sldMkLst>
      </pc:sldChg>
      <pc:sldChg chg="add del">
        <pc:chgData name="Marcello Mariani" userId="1e342699-93ad-4e2e-93b0-0f6a2c00c4b8" providerId="ADAL" clId="{C85C24D9-AF28-45F6-9FA0-AC4BBD992896}" dt="2025-02-14T09:27:45.654" v="2" actId="47"/>
        <pc:sldMkLst>
          <pc:docMk/>
          <pc:sldMk cId="0" sldId="345"/>
        </pc:sldMkLst>
      </pc:sldChg>
      <pc:sldChg chg="add del">
        <pc:chgData name="Marcello Mariani" userId="1e342699-93ad-4e2e-93b0-0f6a2c00c4b8" providerId="ADAL" clId="{C85C24D9-AF28-45F6-9FA0-AC4BBD992896}" dt="2025-02-14T09:27:45.654" v="2" actId="47"/>
        <pc:sldMkLst>
          <pc:docMk/>
          <pc:sldMk cId="0" sldId="346"/>
        </pc:sldMkLst>
      </pc:sldChg>
      <pc:sldChg chg="add del">
        <pc:chgData name="Marcello Mariani" userId="1e342699-93ad-4e2e-93b0-0f6a2c00c4b8" providerId="ADAL" clId="{C85C24D9-AF28-45F6-9FA0-AC4BBD992896}" dt="2025-02-14T09:27:45.654" v="2" actId="47"/>
        <pc:sldMkLst>
          <pc:docMk/>
          <pc:sldMk cId="0" sldId="347"/>
        </pc:sldMkLst>
      </pc:sldChg>
      <pc:sldChg chg="add del">
        <pc:chgData name="Marcello Mariani" userId="1e342699-93ad-4e2e-93b0-0f6a2c00c4b8" providerId="ADAL" clId="{C85C24D9-AF28-45F6-9FA0-AC4BBD992896}" dt="2025-02-14T09:27:45.654" v="2" actId="47"/>
        <pc:sldMkLst>
          <pc:docMk/>
          <pc:sldMk cId="0" sldId="348"/>
        </pc:sldMkLst>
      </pc:sldChg>
      <pc:sldChg chg="add del">
        <pc:chgData name="Marcello Mariani" userId="1e342699-93ad-4e2e-93b0-0f6a2c00c4b8" providerId="ADAL" clId="{C85C24D9-AF28-45F6-9FA0-AC4BBD992896}" dt="2025-02-14T09:27:45.654" v="2" actId="47"/>
        <pc:sldMkLst>
          <pc:docMk/>
          <pc:sldMk cId="0" sldId="349"/>
        </pc:sldMkLst>
      </pc:sldChg>
      <pc:sldChg chg="add del">
        <pc:chgData name="Marcello Mariani" userId="1e342699-93ad-4e2e-93b0-0f6a2c00c4b8" providerId="ADAL" clId="{C85C24D9-AF28-45F6-9FA0-AC4BBD992896}" dt="2025-02-14T09:27:45.654" v="2" actId="47"/>
        <pc:sldMkLst>
          <pc:docMk/>
          <pc:sldMk cId="0" sldId="350"/>
        </pc:sldMkLst>
      </pc:sldChg>
      <pc:sldChg chg="add del">
        <pc:chgData name="Marcello Mariani" userId="1e342699-93ad-4e2e-93b0-0f6a2c00c4b8" providerId="ADAL" clId="{C85C24D9-AF28-45F6-9FA0-AC4BBD992896}" dt="2025-02-14T09:27:45.654" v="2" actId="47"/>
        <pc:sldMkLst>
          <pc:docMk/>
          <pc:sldMk cId="0" sldId="351"/>
        </pc:sldMkLst>
      </pc:sldChg>
      <pc:sldChg chg="add del">
        <pc:chgData name="Marcello Mariani" userId="1e342699-93ad-4e2e-93b0-0f6a2c00c4b8" providerId="ADAL" clId="{C85C24D9-AF28-45F6-9FA0-AC4BBD992896}" dt="2025-02-14T09:27:45.654" v="2" actId="47"/>
        <pc:sldMkLst>
          <pc:docMk/>
          <pc:sldMk cId="0" sldId="352"/>
        </pc:sldMkLst>
      </pc:sldChg>
      <pc:sldChg chg="add del">
        <pc:chgData name="Marcello Mariani" userId="1e342699-93ad-4e2e-93b0-0f6a2c00c4b8" providerId="ADAL" clId="{C85C24D9-AF28-45F6-9FA0-AC4BBD992896}" dt="2025-02-14T09:27:45.654" v="2" actId="47"/>
        <pc:sldMkLst>
          <pc:docMk/>
          <pc:sldMk cId="0" sldId="353"/>
        </pc:sldMkLst>
      </pc:sldChg>
      <pc:sldChg chg="add del">
        <pc:chgData name="Marcello Mariani" userId="1e342699-93ad-4e2e-93b0-0f6a2c00c4b8" providerId="ADAL" clId="{C85C24D9-AF28-45F6-9FA0-AC4BBD992896}" dt="2025-02-14T09:27:45.654" v="2" actId="47"/>
        <pc:sldMkLst>
          <pc:docMk/>
          <pc:sldMk cId="0" sldId="354"/>
        </pc:sldMkLst>
      </pc:sldChg>
      <pc:sldChg chg="add del">
        <pc:chgData name="Marcello Mariani" userId="1e342699-93ad-4e2e-93b0-0f6a2c00c4b8" providerId="ADAL" clId="{C85C24D9-AF28-45F6-9FA0-AC4BBD992896}" dt="2025-02-14T09:27:45.654" v="2" actId="47"/>
        <pc:sldMkLst>
          <pc:docMk/>
          <pc:sldMk cId="0" sldId="355"/>
        </pc:sldMkLst>
      </pc:sldChg>
      <pc:sldChg chg="add del">
        <pc:chgData name="Marcello Mariani" userId="1e342699-93ad-4e2e-93b0-0f6a2c00c4b8" providerId="ADAL" clId="{C85C24D9-AF28-45F6-9FA0-AC4BBD992896}" dt="2025-02-14T09:27:45.654" v="2" actId="47"/>
        <pc:sldMkLst>
          <pc:docMk/>
          <pc:sldMk cId="0" sldId="356"/>
        </pc:sldMkLst>
      </pc:sldChg>
      <pc:sldChg chg="add del">
        <pc:chgData name="Marcello Mariani" userId="1e342699-93ad-4e2e-93b0-0f6a2c00c4b8" providerId="ADAL" clId="{C85C24D9-AF28-45F6-9FA0-AC4BBD992896}" dt="2025-02-14T09:27:45.654" v="2" actId="47"/>
        <pc:sldMkLst>
          <pc:docMk/>
          <pc:sldMk cId="0" sldId="357"/>
        </pc:sldMkLst>
      </pc:sldChg>
      <pc:sldChg chg="add del">
        <pc:chgData name="Marcello Mariani" userId="1e342699-93ad-4e2e-93b0-0f6a2c00c4b8" providerId="ADAL" clId="{C85C24D9-AF28-45F6-9FA0-AC4BBD992896}" dt="2025-02-14T09:27:45.654" v="2" actId="47"/>
        <pc:sldMkLst>
          <pc:docMk/>
          <pc:sldMk cId="0" sldId="358"/>
        </pc:sldMkLst>
      </pc:sldChg>
      <pc:sldChg chg="add del">
        <pc:chgData name="Marcello Mariani" userId="1e342699-93ad-4e2e-93b0-0f6a2c00c4b8" providerId="ADAL" clId="{C85C24D9-AF28-45F6-9FA0-AC4BBD992896}" dt="2025-02-14T09:27:45.654" v="2" actId="47"/>
        <pc:sldMkLst>
          <pc:docMk/>
          <pc:sldMk cId="4048033019" sldId="359"/>
        </pc:sldMkLst>
      </pc:sldChg>
      <pc:sldChg chg="add del">
        <pc:chgData name="Marcello Mariani" userId="1e342699-93ad-4e2e-93b0-0f6a2c00c4b8" providerId="ADAL" clId="{C85C24D9-AF28-45F6-9FA0-AC4BBD992896}" dt="2025-02-14T09:28:49.723" v="3"/>
        <pc:sldMkLst>
          <pc:docMk/>
          <pc:sldMk cId="1849405100" sldId="503"/>
        </pc:sldMkLst>
      </pc:sldChg>
      <pc:sldChg chg="add del">
        <pc:chgData name="Marcello Mariani" userId="1e342699-93ad-4e2e-93b0-0f6a2c00c4b8" providerId="ADAL" clId="{C85C24D9-AF28-45F6-9FA0-AC4BBD992896}" dt="2025-02-14T09:28:49.723" v="3"/>
        <pc:sldMkLst>
          <pc:docMk/>
          <pc:sldMk cId="3260653566" sldId="504"/>
        </pc:sldMkLst>
      </pc:sldChg>
      <pc:sldChg chg="add del">
        <pc:chgData name="Marcello Mariani" userId="1e342699-93ad-4e2e-93b0-0f6a2c00c4b8" providerId="ADAL" clId="{C85C24D9-AF28-45F6-9FA0-AC4BBD992896}" dt="2025-02-14T09:28:49.723" v="3"/>
        <pc:sldMkLst>
          <pc:docMk/>
          <pc:sldMk cId="680479922" sldId="505"/>
        </pc:sldMkLst>
      </pc:sldChg>
      <pc:sldChg chg="add del">
        <pc:chgData name="Marcello Mariani" userId="1e342699-93ad-4e2e-93b0-0f6a2c00c4b8" providerId="ADAL" clId="{C85C24D9-AF28-45F6-9FA0-AC4BBD992896}" dt="2025-02-14T09:28:49.723" v="3"/>
        <pc:sldMkLst>
          <pc:docMk/>
          <pc:sldMk cId="1986469317" sldId="506"/>
        </pc:sldMkLst>
      </pc:sldChg>
      <pc:sldChg chg="add del">
        <pc:chgData name="Marcello Mariani" userId="1e342699-93ad-4e2e-93b0-0f6a2c00c4b8" providerId="ADAL" clId="{C85C24D9-AF28-45F6-9FA0-AC4BBD992896}" dt="2025-02-14T09:28:49.723" v="3"/>
        <pc:sldMkLst>
          <pc:docMk/>
          <pc:sldMk cId="2869364607" sldId="507"/>
        </pc:sldMkLst>
      </pc:sldChg>
      <pc:sldChg chg="add del">
        <pc:chgData name="Marcello Mariani" userId="1e342699-93ad-4e2e-93b0-0f6a2c00c4b8" providerId="ADAL" clId="{C85C24D9-AF28-45F6-9FA0-AC4BBD992896}" dt="2025-02-14T09:28:49.723" v="3"/>
        <pc:sldMkLst>
          <pc:docMk/>
          <pc:sldMk cId="530014916" sldId="508"/>
        </pc:sldMkLst>
      </pc:sldChg>
      <pc:sldChg chg="add del">
        <pc:chgData name="Marcello Mariani" userId="1e342699-93ad-4e2e-93b0-0f6a2c00c4b8" providerId="ADAL" clId="{C85C24D9-AF28-45F6-9FA0-AC4BBD992896}" dt="2025-02-14T09:28:49.723" v="3"/>
        <pc:sldMkLst>
          <pc:docMk/>
          <pc:sldMk cId="413877799" sldId="510"/>
        </pc:sldMkLst>
      </pc:sldChg>
      <pc:sldChg chg="add del">
        <pc:chgData name="Marcello Mariani" userId="1e342699-93ad-4e2e-93b0-0f6a2c00c4b8" providerId="ADAL" clId="{C85C24D9-AF28-45F6-9FA0-AC4BBD992896}" dt="2025-02-14T09:28:49.723" v="3"/>
        <pc:sldMkLst>
          <pc:docMk/>
          <pc:sldMk cId="271598321" sldId="511"/>
        </pc:sldMkLst>
      </pc:sldChg>
      <pc:sldChg chg="add del">
        <pc:chgData name="Marcello Mariani" userId="1e342699-93ad-4e2e-93b0-0f6a2c00c4b8" providerId="ADAL" clId="{C85C24D9-AF28-45F6-9FA0-AC4BBD992896}" dt="2025-02-14T09:28:49.723" v="3"/>
        <pc:sldMkLst>
          <pc:docMk/>
          <pc:sldMk cId="3570306317" sldId="512"/>
        </pc:sldMkLst>
      </pc:sldChg>
      <pc:sldChg chg="add del">
        <pc:chgData name="Marcello Mariani" userId="1e342699-93ad-4e2e-93b0-0f6a2c00c4b8" providerId="ADAL" clId="{C85C24D9-AF28-45F6-9FA0-AC4BBD992896}" dt="2025-02-14T09:28:49.723" v="3"/>
        <pc:sldMkLst>
          <pc:docMk/>
          <pc:sldMk cId="2513792535" sldId="513"/>
        </pc:sldMkLst>
      </pc:sldChg>
      <pc:sldChg chg="add del">
        <pc:chgData name="Marcello Mariani" userId="1e342699-93ad-4e2e-93b0-0f6a2c00c4b8" providerId="ADAL" clId="{C85C24D9-AF28-45F6-9FA0-AC4BBD992896}" dt="2025-02-14T09:28:49.723" v="3"/>
        <pc:sldMkLst>
          <pc:docMk/>
          <pc:sldMk cId="2914335613" sldId="514"/>
        </pc:sldMkLst>
      </pc:sldChg>
      <pc:sldChg chg="add del">
        <pc:chgData name="Marcello Mariani" userId="1e342699-93ad-4e2e-93b0-0f6a2c00c4b8" providerId="ADAL" clId="{C85C24D9-AF28-45F6-9FA0-AC4BBD992896}" dt="2025-02-14T09:28:49.723" v="3"/>
        <pc:sldMkLst>
          <pc:docMk/>
          <pc:sldMk cId="1572351629" sldId="515"/>
        </pc:sldMkLst>
      </pc:sldChg>
      <pc:sldChg chg="add del">
        <pc:chgData name="Marcello Mariani" userId="1e342699-93ad-4e2e-93b0-0f6a2c00c4b8" providerId="ADAL" clId="{C85C24D9-AF28-45F6-9FA0-AC4BBD992896}" dt="2025-02-14T09:28:49.723" v="3"/>
        <pc:sldMkLst>
          <pc:docMk/>
          <pc:sldMk cId="2754973045" sldId="516"/>
        </pc:sldMkLst>
      </pc:sldChg>
      <pc:sldChg chg="add del">
        <pc:chgData name="Marcello Mariani" userId="1e342699-93ad-4e2e-93b0-0f6a2c00c4b8" providerId="ADAL" clId="{C85C24D9-AF28-45F6-9FA0-AC4BBD992896}" dt="2025-02-14T09:28:49.723" v="3"/>
        <pc:sldMkLst>
          <pc:docMk/>
          <pc:sldMk cId="320268788" sldId="517"/>
        </pc:sldMkLst>
      </pc:sldChg>
      <pc:sldChg chg="add del">
        <pc:chgData name="Marcello Mariani" userId="1e342699-93ad-4e2e-93b0-0f6a2c00c4b8" providerId="ADAL" clId="{C85C24D9-AF28-45F6-9FA0-AC4BBD992896}" dt="2025-02-14T09:28:49.723" v="3"/>
        <pc:sldMkLst>
          <pc:docMk/>
          <pc:sldMk cId="3253894316" sldId="518"/>
        </pc:sldMkLst>
      </pc:sldChg>
      <pc:sldChg chg="add del">
        <pc:chgData name="Marcello Mariani" userId="1e342699-93ad-4e2e-93b0-0f6a2c00c4b8" providerId="ADAL" clId="{C85C24D9-AF28-45F6-9FA0-AC4BBD992896}" dt="2025-02-14T09:28:49.723" v="3"/>
        <pc:sldMkLst>
          <pc:docMk/>
          <pc:sldMk cId="1883038598" sldId="519"/>
        </pc:sldMkLst>
      </pc:sldChg>
      <pc:sldChg chg="add del">
        <pc:chgData name="Marcello Mariani" userId="1e342699-93ad-4e2e-93b0-0f6a2c00c4b8" providerId="ADAL" clId="{C85C24D9-AF28-45F6-9FA0-AC4BBD992896}" dt="2025-02-14T09:28:49.723" v="3"/>
        <pc:sldMkLst>
          <pc:docMk/>
          <pc:sldMk cId="198085984" sldId="520"/>
        </pc:sldMkLst>
      </pc:sldChg>
      <pc:sldChg chg="add del">
        <pc:chgData name="Marcello Mariani" userId="1e342699-93ad-4e2e-93b0-0f6a2c00c4b8" providerId="ADAL" clId="{C85C24D9-AF28-45F6-9FA0-AC4BBD992896}" dt="2025-02-14T09:28:49.723" v="3"/>
        <pc:sldMkLst>
          <pc:docMk/>
          <pc:sldMk cId="1938050041" sldId="521"/>
        </pc:sldMkLst>
      </pc:sldChg>
      <pc:sldChg chg="add del">
        <pc:chgData name="Marcello Mariani" userId="1e342699-93ad-4e2e-93b0-0f6a2c00c4b8" providerId="ADAL" clId="{C85C24D9-AF28-45F6-9FA0-AC4BBD992896}" dt="2025-02-14T09:28:49.723" v="3"/>
        <pc:sldMkLst>
          <pc:docMk/>
          <pc:sldMk cId="2242550241" sldId="522"/>
        </pc:sldMkLst>
      </pc:sldChg>
      <pc:sldChg chg="add del">
        <pc:chgData name="Marcello Mariani" userId="1e342699-93ad-4e2e-93b0-0f6a2c00c4b8" providerId="ADAL" clId="{C85C24D9-AF28-45F6-9FA0-AC4BBD992896}" dt="2025-02-14T09:28:49.723" v="3"/>
        <pc:sldMkLst>
          <pc:docMk/>
          <pc:sldMk cId="3669017539" sldId="524"/>
        </pc:sldMkLst>
      </pc:sldChg>
      <pc:sldChg chg="add del">
        <pc:chgData name="Marcello Mariani" userId="1e342699-93ad-4e2e-93b0-0f6a2c00c4b8" providerId="ADAL" clId="{C85C24D9-AF28-45F6-9FA0-AC4BBD992896}" dt="2025-02-14T09:28:49.723" v="3"/>
        <pc:sldMkLst>
          <pc:docMk/>
          <pc:sldMk cId="960364689" sldId="525"/>
        </pc:sldMkLst>
      </pc:sldChg>
      <pc:sldChg chg="add del">
        <pc:chgData name="Marcello Mariani" userId="1e342699-93ad-4e2e-93b0-0f6a2c00c4b8" providerId="ADAL" clId="{C85C24D9-AF28-45F6-9FA0-AC4BBD992896}" dt="2025-02-14T09:28:49.723" v="3"/>
        <pc:sldMkLst>
          <pc:docMk/>
          <pc:sldMk cId="3832650475" sldId="526"/>
        </pc:sldMkLst>
      </pc:sldChg>
      <pc:sldChg chg="add del">
        <pc:chgData name="Marcello Mariani" userId="1e342699-93ad-4e2e-93b0-0f6a2c00c4b8" providerId="ADAL" clId="{C85C24D9-AF28-45F6-9FA0-AC4BBD992896}" dt="2025-02-14T09:28:49.723" v="3"/>
        <pc:sldMkLst>
          <pc:docMk/>
          <pc:sldMk cId="3883562765" sldId="527"/>
        </pc:sldMkLst>
      </pc:sldChg>
      <pc:sldChg chg="add del">
        <pc:chgData name="Marcello Mariani" userId="1e342699-93ad-4e2e-93b0-0f6a2c00c4b8" providerId="ADAL" clId="{C85C24D9-AF28-45F6-9FA0-AC4BBD992896}" dt="2025-02-14T09:28:49.723" v="3"/>
        <pc:sldMkLst>
          <pc:docMk/>
          <pc:sldMk cId="4293826401" sldId="528"/>
        </pc:sldMkLst>
      </pc:sldChg>
      <pc:sldChg chg="add del">
        <pc:chgData name="Marcello Mariani" userId="1e342699-93ad-4e2e-93b0-0f6a2c00c4b8" providerId="ADAL" clId="{C85C24D9-AF28-45F6-9FA0-AC4BBD992896}" dt="2025-02-14T09:28:49.723" v="3"/>
        <pc:sldMkLst>
          <pc:docMk/>
          <pc:sldMk cId="1758215975" sldId="529"/>
        </pc:sldMkLst>
      </pc:sldChg>
      <pc:sldChg chg="add del">
        <pc:chgData name="Marcello Mariani" userId="1e342699-93ad-4e2e-93b0-0f6a2c00c4b8" providerId="ADAL" clId="{C85C24D9-AF28-45F6-9FA0-AC4BBD992896}" dt="2025-02-14T09:28:49.723" v="3"/>
        <pc:sldMkLst>
          <pc:docMk/>
          <pc:sldMk cId="3213006456" sldId="530"/>
        </pc:sldMkLst>
      </pc:sldChg>
      <pc:sldChg chg="add del">
        <pc:chgData name="Marcello Mariani" userId="1e342699-93ad-4e2e-93b0-0f6a2c00c4b8" providerId="ADAL" clId="{C85C24D9-AF28-45F6-9FA0-AC4BBD992896}" dt="2025-02-14T09:28:49.723" v="3"/>
        <pc:sldMkLst>
          <pc:docMk/>
          <pc:sldMk cId="6245106" sldId="531"/>
        </pc:sldMkLst>
      </pc:sldChg>
      <pc:sldChg chg="add del">
        <pc:chgData name="Marcello Mariani" userId="1e342699-93ad-4e2e-93b0-0f6a2c00c4b8" providerId="ADAL" clId="{C85C24D9-AF28-45F6-9FA0-AC4BBD992896}" dt="2025-02-14T09:28:49.723" v="3"/>
        <pc:sldMkLst>
          <pc:docMk/>
          <pc:sldMk cId="186472371" sldId="532"/>
        </pc:sldMkLst>
      </pc:sldChg>
      <pc:sldChg chg="add del">
        <pc:chgData name="Marcello Mariani" userId="1e342699-93ad-4e2e-93b0-0f6a2c00c4b8" providerId="ADAL" clId="{C85C24D9-AF28-45F6-9FA0-AC4BBD992896}" dt="2025-02-14T09:28:49.723" v="3"/>
        <pc:sldMkLst>
          <pc:docMk/>
          <pc:sldMk cId="3246887501" sldId="533"/>
        </pc:sldMkLst>
      </pc:sldChg>
      <pc:sldChg chg="add del">
        <pc:chgData name="Marcello Mariani" userId="1e342699-93ad-4e2e-93b0-0f6a2c00c4b8" providerId="ADAL" clId="{C85C24D9-AF28-45F6-9FA0-AC4BBD992896}" dt="2025-02-14T09:28:49.723" v="3"/>
        <pc:sldMkLst>
          <pc:docMk/>
          <pc:sldMk cId="3538273796" sldId="534"/>
        </pc:sldMkLst>
      </pc:sldChg>
      <pc:sldChg chg="add del">
        <pc:chgData name="Marcello Mariani" userId="1e342699-93ad-4e2e-93b0-0f6a2c00c4b8" providerId="ADAL" clId="{C85C24D9-AF28-45F6-9FA0-AC4BBD992896}" dt="2025-02-14T09:28:49.723" v="3"/>
        <pc:sldMkLst>
          <pc:docMk/>
          <pc:sldMk cId="196752391" sldId="536"/>
        </pc:sldMkLst>
      </pc:sldChg>
      <pc:sldChg chg="add del">
        <pc:chgData name="Marcello Mariani" userId="1e342699-93ad-4e2e-93b0-0f6a2c00c4b8" providerId="ADAL" clId="{C85C24D9-AF28-45F6-9FA0-AC4BBD992896}" dt="2025-02-14T09:28:49.723" v="3"/>
        <pc:sldMkLst>
          <pc:docMk/>
          <pc:sldMk cId="1835250318" sldId="537"/>
        </pc:sldMkLst>
      </pc:sldChg>
      <pc:sldChg chg="add del">
        <pc:chgData name="Marcello Mariani" userId="1e342699-93ad-4e2e-93b0-0f6a2c00c4b8" providerId="ADAL" clId="{C85C24D9-AF28-45F6-9FA0-AC4BBD992896}" dt="2025-02-14T09:28:49.723" v="3"/>
        <pc:sldMkLst>
          <pc:docMk/>
          <pc:sldMk cId="137093195" sldId="538"/>
        </pc:sldMkLst>
      </pc:sldChg>
      <pc:sldChg chg="add del">
        <pc:chgData name="Marcello Mariani" userId="1e342699-93ad-4e2e-93b0-0f6a2c00c4b8" providerId="ADAL" clId="{C85C24D9-AF28-45F6-9FA0-AC4BBD992896}" dt="2025-02-14T09:28:49.723" v="3"/>
        <pc:sldMkLst>
          <pc:docMk/>
          <pc:sldMk cId="1469340757" sldId="539"/>
        </pc:sldMkLst>
      </pc:sldChg>
      <pc:sldChg chg="add del">
        <pc:chgData name="Marcello Mariani" userId="1e342699-93ad-4e2e-93b0-0f6a2c00c4b8" providerId="ADAL" clId="{C85C24D9-AF28-45F6-9FA0-AC4BBD992896}" dt="2025-02-14T09:28:49.723" v="3"/>
        <pc:sldMkLst>
          <pc:docMk/>
          <pc:sldMk cId="3697287028" sldId="540"/>
        </pc:sldMkLst>
      </pc:sldChg>
      <pc:sldChg chg="add del">
        <pc:chgData name="Marcello Mariani" userId="1e342699-93ad-4e2e-93b0-0f6a2c00c4b8" providerId="ADAL" clId="{C85C24D9-AF28-45F6-9FA0-AC4BBD992896}" dt="2025-02-14T09:28:49.723" v="3"/>
        <pc:sldMkLst>
          <pc:docMk/>
          <pc:sldMk cId="1667735340" sldId="541"/>
        </pc:sldMkLst>
      </pc:sldChg>
      <pc:sldChg chg="add del">
        <pc:chgData name="Marcello Mariani" userId="1e342699-93ad-4e2e-93b0-0f6a2c00c4b8" providerId="ADAL" clId="{C85C24D9-AF28-45F6-9FA0-AC4BBD992896}" dt="2025-02-14T09:28:49.723" v="3"/>
        <pc:sldMkLst>
          <pc:docMk/>
          <pc:sldMk cId="2111443729" sldId="542"/>
        </pc:sldMkLst>
      </pc:sldChg>
      <pc:sldChg chg="add del">
        <pc:chgData name="Marcello Mariani" userId="1e342699-93ad-4e2e-93b0-0f6a2c00c4b8" providerId="ADAL" clId="{C85C24D9-AF28-45F6-9FA0-AC4BBD992896}" dt="2025-02-14T09:28:49.723" v="3"/>
        <pc:sldMkLst>
          <pc:docMk/>
          <pc:sldMk cId="653904000" sldId="543"/>
        </pc:sldMkLst>
      </pc:sldChg>
      <pc:sldChg chg="add del">
        <pc:chgData name="Marcello Mariani" userId="1e342699-93ad-4e2e-93b0-0f6a2c00c4b8" providerId="ADAL" clId="{C85C24D9-AF28-45F6-9FA0-AC4BBD992896}" dt="2025-02-14T09:28:49.723" v="3"/>
        <pc:sldMkLst>
          <pc:docMk/>
          <pc:sldMk cId="2878362770" sldId="544"/>
        </pc:sldMkLst>
      </pc:sldChg>
      <pc:sldChg chg="add del">
        <pc:chgData name="Marcello Mariani" userId="1e342699-93ad-4e2e-93b0-0f6a2c00c4b8" providerId="ADAL" clId="{C85C24D9-AF28-45F6-9FA0-AC4BBD992896}" dt="2025-02-14T09:28:49.723" v="3"/>
        <pc:sldMkLst>
          <pc:docMk/>
          <pc:sldMk cId="3785374003" sldId="545"/>
        </pc:sldMkLst>
      </pc:sldChg>
      <pc:sldChg chg="add del">
        <pc:chgData name="Marcello Mariani" userId="1e342699-93ad-4e2e-93b0-0f6a2c00c4b8" providerId="ADAL" clId="{C85C24D9-AF28-45F6-9FA0-AC4BBD992896}" dt="2025-02-14T09:28:49.723" v="3"/>
        <pc:sldMkLst>
          <pc:docMk/>
          <pc:sldMk cId="3359946844" sldId="546"/>
        </pc:sldMkLst>
      </pc:sldChg>
      <pc:sldChg chg="add del">
        <pc:chgData name="Marcello Mariani" userId="1e342699-93ad-4e2e-93b0-0f6a2c00c4b8" providerId="ADAL" clId="{C85C24D9-AF28-45F6-9FA0-AC4BBD992896}" dt="2025-02-14T09:28:49.723" v="3"/>
        <pc:sldMkLst>
          <pc:docMk/>
          <pc:sldMk cId="1497012304" sldId="547"/>
        </pc:sldMkLst>
      </pc:sldChg>
      <pc:sldChg chg="add del">
        <pc:chgData name="Marcello Mariani" userId="1e342699-93ad-4e2e-93b0-0f6a2c00c4b8" providerId="ADAL" clId="{C85C24D9-AF28-45F6-9FA0-AC4BBD992896}" dt="2025-02-14T09:28:49.723" v="3"/>
        <pc:sldMkLst>
          <pc:docMk/>
          <pc:sldMk cId="1031474715" sldId="548"/>
        </pc:sldMkLst>
      </pc:sldChg>
      <pc:sldChg chg="add del">
        <pc:chgData name="Marcello Mariani" userId="1e342699-93ad-4e2e-93b0-0f6a2c00c4b8" providerId="ADAL" clId="{C85C24D9-AF28-45F6-9FA0-AC4BBD992896}" dt="2025-02-14T09:28:49.723" v="3"/>
        <pc:sldMkLst>
          <pc:docMk/>
          <pc:sldMk cId="1280440548" sldId="549"/>
        </pc:sldMkLst>
      </pc:sldChg>
      <pc:sldChg chg="add del">
        <pc:chgData name="Marcello Mariani" userId="1e342699-93ad-4e2e-93b0-0f6a2c00c4b8" providerId="ADAL" clId="{C85C24D9-AF28-45F6-9FA0-AC4BBD992896}" dt="2025-02-14T09:28:49.723" v="3"/>
        <pc:sldMkLst>
          <pc:docMk/>
          <pc:sldMk cId="933271178" sldId="550"/>
        </pc:sldMkLst>
      </pc:sldChg>
      <pc:sldChg chg="add del">
        <pc:chgData name="Marcello Mariani" userId="1e342699-93ad-4e2e-93b0-0f6a2c00c4b8" providerId="ADAL" clId="{C85C24D9-AF28-45F6-9FA0-AC4BBD992896}" dt="2025-02-14T09:28:49.723" v="3"/>
        <pc:sldMkLst>
          <pc:docMk/>
          <pc:sldMk cId="2275373677" sldId="551"/>
        </pc:sldMkLst>
      </pc:sldChg>
      <pc:sldChg chg="add del">
        <pc:chgData name="Marcello Mariani" userId="1e342699-93ad-4e2e-93b0-0f6a2c00c4b8" providerId="ADAL" clId="{C85C24D9-AF28-45F6-9FA0-AC4BBD992896}" dt="2025-02-14T09:28:49.723" v="3"/>
        <pc:sldMkLst>
          <pc:docMk/>
          <pc:sldMk cId="1482405268" sldId="552"/>
        </pc:sldMkLst>
      </pc:sldChg>
      <pc:sldChg chg="add del">
        <pc:chgData name="Marcello Mariani" userId="1e342699-93ad-4e2e-93b0-0f6a2c00c4b8" providerId="ADAL" clId="{C85C24D9-AF28-45F6-9FA0-AC4BBD992896}" dt="2025-02-14T09:28:49.723" v="3"/>
        <pc:sldMkLst>
          <pc:docMk/>
          <pc:sldMk cId="1137190436" sldId="553"/>
        </pc:sldMkLst>
      </pc:sldChg>
      <pc:sldChg chg="add del">
        <pc:chgData name="Marcello Mariani" userId="1e342699-93ad-4e2e-93b0-0f6a2c00c4b8" providerId="ADAL" clId="{C85C24D9-AF28-45F6-9FA0-AC4BBD992896}" dt="2025-02-14T09:28:49.723" v="3"/>
        <pc:sldMkLst>
          <pc:docMk/>
          <pc:sldMk cId="1998087846" sldId="554"/>
        </pc:sldMkLst>
      </pc:sldChg>
      <pc:sldChg chg="add del">
        <pc:chgData name="Marcello Mariani" userId="1e342699-93ad-4e2e-93b0-0f6a2c00c4b8" providerId="ADAL" clId="{C85C24D9-AF28-45F6-9FA0-AC4BBD992896}" dt="2025-02-14T09:28:49.723" v="3"/>
        <pc:sldMkLst>
          <pc:docMk/>
          <pc:sldMk cId="2033888609" sldId="555"/>
        </pc:sldMkLst>
      </pc:sldChg>
      <pc:sldChg chg="add del">
        <pc:chgData name="Marcello Mariani" userId="1e342699-93ad-4e2e-93b0-0f6a2c00c4b8" providerId="ADAL" clId="{C85C24D9-AF28-45F6-9FA0-AC4BBD992896}" dt="2025-02-14T09:28:49.723" v="3"/>
        <pc:sldMkLst>
          <pc:docMk/>
          <pc:sldMk cId="2453302323" sldId="556"/>
        </pc:sldMkLst>
      </pc:sldChg>
      <pc:sldChg chg="add del">
        <pc:chgData name="Marcello Mariani" userId="1e342699-93ad-4e2e-93b0-0f6a2c00c4b8" providerId="ADAL" clId="{C85C24D9-AF28-45F6-9FA0-AC4BBD992896}" dt="2025-02-14T09:28:49.723" v="3"/>
        <pc:sldMkLst>
          <pc:docMk/>
          <pc:sldMk cId="2516942480" sldId="558"/>
        </pc:sldMkLst>
      </pc:sldChg>
      <pc:sldChg chg="add del">
        <pc:chgData name="Marcello Mariani" userId="1e342699-93ad-4e2e-93b0-0f6a2c00c4b8" providerId="ADAL" clId="{C85C24D9-AF28-45F6-9FA0-AC4BBD992896}" dt="2025-02-14T09:28:49.723" v="3"/>
        <pc:sldMkLst>
          <pc:docMk/>
          <pc:sldMk cId="1702373882" sldId="560"/>
        </pc:sldMkLst>
      </pc:sldChg>
      <pc:sldChg chg="add del">
        <pc:chgData name="Marcello Mariani" userId="1e342699-93ad-4e2e-93b0-0f6a2c00c4b8" providerId="ADAL" clId="{C85C24D9-AF28-45F6-9FA0-AC4BBD992896}" dt="2025-02-14T09:28:49.723" v="3"/>
        <pc:sldMkLst>
          <pc:docMk/>
          <pc:sldMk cId="1531497524" sldId="561"/>
        </pc:sldMkLst>
      </pc:sldChg>
      <pc:sldChg chg="add del">
        <pc:chgData name="Marcello Mariani" userId="1e342699-93ad-4e2e-93b0-0f6a2c00c4b8" providerId="ADAL" clId="{C85C24D9-AF28-45F6-9FA0-AC4BBD992896}" dt="2025-02-14T09:28:49.723" v="3"/>
        <pc:sldMkLst>
          <pc:docMk/>
          <pc:sldMk cId="481023580" sldId="562"/>
        </pc:sldMkLst>
      </pc:sldChg>
      <pc:sldChg chg="add del">
        <pc:chgData name="Marcello Mariani" userId="1e342699-93ad-4e2e-93b0-0f6a2c00c4b8" providerId="ADAL" clId="{C85C24D9-AF28-45F6-9FA0-AC4BBD992896}" dt="2025-02-14T09:28:49.723" v="3"/>
        <pc:sldMkLst>
          <pc:docMk/>
          <pc:sldMk cId="2107952349" sldId="563"/>
        </pc:sldMkLst>
      </pc:sldChg>
      <pc:sldChg chg="add del">
        <pc:chgData name="Marcello Mariani" userId="1e342699-93ad-4e2e-93b0-0f6a2c00c4b8" providerId="ADAL" clId="{C85C24D9-AF28-45F6-9FA0-AC4BBD992896}" dt="2025-02-14T09:28:49.723" v="3"/>
        <pc:sldMkLst>
          <pc:docMk/>
          <pc:sldMk cId="1786233224" sldId="564"/>
        </pc:sldMkLst>
      </pc:sldChg>
      <pc:sldChg chg="add del">
        <pc:chgData name="Marcello Mariani" userId="1e342699-93ad-4e2e-93b0-0f6a2c00c4b8" providerId="ADAL" clId="{C85C24D9-AF28-45F6-9FA0-AC4BBD992896}" dt="2025-02-14T09:28:49.723" v="3"/>
        <pc:sldMkLst>
          <pc:docMk/>
          <pc:sldMk cId="1079507913" sldId="568"/>
        </pc:sldMkLst>
      </pc:sldChg>
      <pc:sldChg chg="add del">
        <pc:chgData name="Marcello Mariani" userId="1e342699-93ad-4e2e-93b0-0f6a2c00c4b8" providerId="ADAL" clId="{C85C24D9-AF28-45F6-9FA0-AC4BBD992896}" dt="2025-02-14T09:28:49.723" v="3"/>
        <pc:sldMkLst>
          <pc:docMk/>
          <pc:sldMk cId="0" sldId="861"/>
        </pc:sldMkLst>
      </pc:sldChg>
      <pc:sldChg chg="delSp modSp add del">
        <pc:chgData name="Marcello Mariani" userId="1e342699-93ad-4e2e-93b0-0f6a2c00c4b8" providerId="ADAL" clId="{C85C24D9-AF28-45F6-9FA0-AC4BBD992896}" dt="2025-02-14T09:29:16.807" v="7" actId="1076"/>
        <pc:sldMkLst>
          <pc:docMk/>
          <pc:sldMk cId="0" sldId="862"/>
        </pc:sldMkLst>
        <pc:spChg chg="del">
          <ac:chgData name="Marcello Mariani" userId="1e342699-93ad-4e2e-93b0-0f6a2c00c4b8" providerId="ADAL" clId="{C85C24D9-AF28-45F6-9FA0-AC4BBD992896}" dt="2025-02-14T09:29:08.722" v="5" actId="478"/>
          <ac:spMkLst>
            <pc:docMk/>
            <pc:sldMk cId="0" sldId="862"/>
            <ac:spMk id="55302" creationId="{86CE0DE2-2CC6-C6CD-6F0F-2B0D61B205F1}"/>
          </ac:spMkLst>
        </pc:spChg>
        <pc:spChg chg="mod">
          <ac:chgData name="Marcello Mariani" userId="1e342699-93ad-4e2e-93b0-0f6a2c00c4b8" providerId="ADAL" clId="{C85C24D9-AF28-45F6-9FA0-AC4BBD992896}" dt="2025-02-14T09:29:16.807" v="7" actId="1076"/>
          <ac:spMkLst>
            <pc:docMk/>
            <pc:sldMk cId="0" sldId="862"/>
            <ac:spMk id="55303" creationId="{CD3312B6-CE74-1760-229A-397AAFE2D700}"/>
          </ac:spMkLst>
        </pc:spChg>
        <pc:picChg chg="del">
          <ac:chgData name="Marcello Mariani" userId="1e342699-93ad-4e2e-93b0-0f6a2c00c4b8" providerId="ADAL" clId="{C85C24D9-AF28-45F6-9FA0-AC4BBD992896}" dt="2025-02-14T09:29:04.063" v="4" actId="478"/>
          <ac:picMkLst>
            <pc:docMk/>
            <pc:sldMk cId="0" sldId="862"/>
            <ac:picMk id="55300" creationId="{61839363-3D8B-5C2A-0A6E-DEAAC53D47D1}"/>
          </ac:picMkLst>
        </pc:picChg>
        <pc:picChg chg="mod">
          <ac:chgData name="Marcello Mariani" userId="1e342699-93ad-4e2e-93b0-0f6a2c00c4b8" providerId="ADAL" clId="{C85C24D9-AF28-45F6-9FA0-AC4BBD992896}" dt="2025-02-14T09:29:11.952" v="6" actId="14100"/>
          <ac:picMkLst>
            <pc:docMk/>
            <pc:sldMk cId="0" sldId="862"/>
            <ac:picMk id="55301" creationId="{4ED3CB39-9BDB-57E8-2674-E7FBB7491BCF}"/>
          </ac:picMkLst>
        </pc:picChg>
      </pc:sldChg>
      <pc:sldChg chg="add del">
        <pc:chgData name="Marcello Mariani" userId="1e342699-93ad-4e2e-93b0-0f6a2c00c4b8" providerId="ADAL" clId="{C85C24D9-AF28-45F6-9FA0-AC4BBD992896}" dt="2025-02-14T09:28:49.723" v="3"/>
        <pc:sldMkLst>
          <pc:docMk/>
          <pc:sldMk cId="564188690" sldId="863"/>
        </pc:sldMkLst>
      </pc:sldChg>
      <pc:sldMasterChg chg="delSldLayout">
        <pc:chgData name="Marcello Mariani" userId="1e342699-93ad-4e2e-93b0-0f6a2c00c4b8" providerId="ADAL" clId="{C85C24D9-AF28-45F6-9FA0-AC4BBD992896}" dt="2025-02-14T09:27:45.654" v="2" actId="47"/>
        <pc:sldMasterMkLst>
          <pc:docMk/>
          <pc:sldMasterMk cId="1404919433" sldId="2147483648"/>
        </pc:sldMasterMkLst>
        <pc:sldLayoutChg chg="del">
          <pc:chgData name="Marcello Mariani" userId="1e342699-93ad-4e2e-93b0-0f6a2c00c4b8" providerId="ADAL" clId="{C85C24D9-AF28-45F6-9FA0-AC4BBD992896}" dt="2025-02-14T09:27:45.654" v="2" actId="47"/>
          <pc:sldLayoutMkLst>
            <pc:docMk/>
            <pc:sldMasterMk cId="1404919433" sldId="2147483648"/>
            <pc:sldLayoutMk cId="641398077" sldId="2147483751"/>
          </pc:sldLayoutMkLst>
        </pc:sldLayoutChg>
        <pc:sldLayoutChg chg="del">
          <pc:chgData name="Marcello Mariani" userId="1e342699-93ad-4e2e-93b0-0f6a2c00c4b8" providerId="ADAL" clId="{C85C24D9-AF28-45F6-9FA0-AC4BBD992896}" dt="2025-02-14T09:24:04.455" v="0" actId="47"/>
          <pc:sldLayoutMkLst>
            <pc:docMk/>
            <pc:sldMasterMk cId="1404919433" sldId="2147483648"/>
            <pc:sldLayoutMk cId="703589625" sldId="2147483751"/>
          </pc:sldLayoutMkLst>
        </pc:sldLayoutChg>
        <pc:sldLayoutChg chg="del">
          <pc:chgData name="Marcello Mariani" userId="1e342699-93ad-4e2e-93b0-0f6a2c00c4b8" providerId="ADAL" clId="{C85C24D9-AF28-45F6-9FA0-AC4BBD992896}" dt="2025-02-14T09:27:45.654" v="2" actId="47"/>
          <pc:sldLayoutMkLst>
            <pc:docMk/>
            <pc:sldMasterMk cId="1404919433" sldId="2147483648"/>
            <pc:sldLayoutMk cId="3709615931" sldId="2147483752"/>
          </pc:sldLayoutMkLst>
        </pc:sldLayoutChg>
        <pc:sldLayoutChg chg="del">
          <pc:chgData name="Marcello Mariani" userId="1e342699-93ad-4e2e-93b0-0f6a2c00c4b8" providerId="ADAL" clId="{C85C24D9-AF28-45F6-9FA0-AC4BBD992896}" dt="2025-02-14T09:27:45.654" v="2" actId="47"/>
          <pc:sldLayoutMkLst>
            <pc:docMk/>
            <pc:sldMasterMk cId="1404919433" sldId="2147483648"/>
            <pc:sldLayoutMk cId="966299869" sldId="214748375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9B13B-1420-E244-F247-4DF3E5CFF9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7EE9F-5E32-5B9A-2087-B83953B26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3DE5295E-2B13-5B9E-50C0-A25D0DAC3344}"/>
              </a:ext>
            </a:extLst>
          </p:cNvPr>
          <p:cNvSpPr>
            <a:spLocks noGrp="1"/>
          </p:cNvSpPr>
          <p:nvPr>
            <p:ph type="sldNum" sz="quarter" idx="10"/>
          </p:nvPr>
        </p:nvSpPr>
        <p:spPr/>
        <p:txBody>
          <a:bodyPr/>
          <a:lstStyle>
            <a:lvl1pPr>
              <a:defRPr/>
            </a:lvl1pPr>
          </a:lstStyle>
          <a:p>
            <a:r>
              <a:rPr lang="en-US" altLang="en-US"/>
              <a:t>Page </a:t>
            </a:r>
            <a:fld id="{5BE4753C-294F-4320-AAE8-4E0FD78B501D}" type="slidenum">
              <a:rPr lang="en-US" altLang="en-US"/>
              <a:pPr/>
              <a:t>‹#›</a:t>
            </a:fld>
            <a:endParaRPr lang="en-US" altLang="en-US"/>
          </a:p>
        </p:txBody>
      </p:sp>
    </p:spTree>
    <p:extLst>
      <p:ext uri="{BB962C8B-B14F-4D97-AF65-F5344CB8AC3E}">
        <p14:creationId xmlns:p14="http://schemas.microsoft.com/office/powerpoint/2010/main" val="20790633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6.xml"/><Relationship Id="rId4" Type="http://schemas.openxmlformats.org/officeDocument/2006/relationships/hyperlink" Target="http://www.ece.iit.edu/~vlsida/ECE429_tutorials/Lab3-setu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hyperlink" Target="https://www.appliedmaterials.com/us/en/semiconductor/products/semiconductor-products/reflexion-lk-prime-cmp.html#carousel-a39d830921-item-a0fc61ca67-tabpanel" TargetMode="External"/><Relationship Id="rId3" Type="http://schemas.openxmlformats.org/officeDocument/2006/relationships/image" Target="../media/image17.png"/><Relationship Id="rId7" Type="http://schemas.openxmlformats.org/officeDocument/2006/relationships/image" Target="../media/image25.jpe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35.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36.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1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0.png"/><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0.png"/><Relationship Id="rId1" Type="http://schemas.openxmlformats.org/officeDocument/2006/relationships/slideLayout" Target="../slideLayouts/slideLayout16.xml"/><Relationship Id="rId5" Type="http://schemas.openxmlformats.org/officeDocument/2006/relationships/image" Target="../media/image45.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png"/><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53.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6.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0.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0.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0.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46.png"/><Relationship Id="rId7" Type="http://schemas.openxmlformats.org/officeDocument/2006/relationships/image" Target="../media/image61.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60.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3.png"/></Relationships>
</file>

<file path=ppt/slides/_rels/slide4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6.png"/><Relationship Id="rId7" Type="http://schemas.openxmlformats.org/officeDocument/2006/relationships/image" Target="../media/image62.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60.png"/><Relationship Id="rId5" Type="http://schemas.openxmlformats.org/officeDocument/2006/relationships/image" Target="../media/image58.png"/><Relationship Id="rId10" Type="http://schemas.openxmlformats.org/officeDocument/2006/relationships/image" Target="../media/image65.png"/><Relationship Id="rId4" Type="http://schemas.openxmlformats.org/officeDocument/2006/relationships/image" Target="../media/image57.png"/><Relationship Id="rId9" Type="http://schemas.openxmlformats.org/officeDocument/2006/relationships/image" Target="../media/image64.png"/></Relationships>
</file>

<file path=ppt/slides/_rels/slide4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46.png"/><Relationship Id="rId7" Type="http://schemas.openxmlformats.org/officeDocument/2006/relationships/image" Target="../media/image66.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60.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9.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66.png"/><Relationship Id="rId5" Type="http://schemas.openxmlformats.org/officeDocument/2006/relationships/image" Target="../media/image58.png"/><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5" Type="http://schemas.openxmlformats.org/officeDocument/2006/relationships/image" Target="../media/image58.pn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6.png"/><Relationship Id="rId7" Type="http://schemas.openxmlformats.org/officeDocument/2006/relationships/image" Target="../media/image71.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5" Type="http://schemas.openxmlformats.org/officeDocument/2006/relationships/image" Target="../media/image58.png"/><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46.png"/><Relationship Id="rId7" Type="http://schemas.openxmlformats.org/officeDocument/2006/relationships/image" Target="../media/image72.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74.png"/></Relationships>
</file>

<file path=ppt/slides/_rels/slide5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46.png"/><Relationship Id="rId7" Type="http://schemas.openxmlformats.org/officeDocument/2006/relationships/image" Target="../media/image72.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5" Type="http://schemas.openxmlformats.org/officeDocument/2006/relationships/image" Target="../media/image58.png"/><Relationship Id="rId10" Type="http://schemas.openxmlformats.org/officeDocument/2006/relationships/image" Target="../media/image75.png"/><Relationship Id="rId4" Type="http://schemas.openxmlformats.org/officeDocument/2006/relationships/image" Target="../media/image57.png"/><Relationship Id="rId9" Type="http://schemas.openxmlformats.org/officeDocument/2006/relationships/image" Target="../media/image74.png"/></Relationships>
</file>

<file path=ppt/slides/_rels/slide5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46.png"/><Relationship Id="rId7" Type="http://schemas.openxmlformats.org/officeDocument/2006/relationships/image" Target="../media/image72.png"/><Relationship Id="rId12" Type="http://schemas.openxmlformats.org/officeDocument/2006/relationships/image" Target="../media/image78.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11" Type="http://schemas.openxmlformats.org/officeDocument/2006/relationships/image" Target="../media/image77.png"/><Relationship Id="rId5" Type="http://schemas.openxmlformats.org/officeDocument/2006/relationships/image" Target="../media/image58.png"/><Relationship Id="rId10" Type="http://schemas.openxmlformats.org/officeDocument/2006/relationships/image" Target="../media/image76.png"/><Relationship Id="rId4" Type="http://schemas.openxmlformats.org/officeDocument/2006/relationships/image" Target="../media/image57.png"/><Relationship Id="rId9" Type="http://schemas.openxmlformats.org/officeDocument/2006/relationships/image" Target="../media/image74.png"/></Relationships>
</file>

<file path=ppt/slides/_rels/slide5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80.png"/><Relationship Id="rId3" Type="http://schemas.openxmlformats.org/officeDocument/2006/relationships/image" Target="../media/image46.png"/><Relationship Id="rId7" Type="http://schemas.openxmlformats.org/officeDocument/2006/relationships/image" Target="../media/image72.png"/><Relationship Id="rId12" Type="http://schemas.openxmlformats.org/officeDocument/2006/relationships/image" Target="../media/image79.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11" Type="http://schemas.openxmlformats.org/officeDocument/2006/relationships/image" Target="../media/image78.png"/><Relationship Id="rId5" Type="http://schemas.openxmlformats.org/officeDocument/2006/relationships/image" Target="../media/image58.png"/><Relationship Id="rId10" Type="http://schemas.openxmlformats.org/officeDocument/2006/relationships/image" Target="../media/image77.png"/><Relationship Id="rId4" Type="http://schemas.openxmlformats.org/officeDocument/2006/relationships/image" Target="../media/image57.png"/><Relationship Id="rId9" Type="http://schemas.openxmlformats.org/officeDocument/2006/relationships/image" Target="../media/image74.png"/><Relationship Id="rId14" Type="http://schemas.openxmlformats.org/officeDocument/2006/relationships/image" Target="../media/image81.png"/></Relationships>
</file>

<file path=ppt/slides/_rels/slide54.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83.png"/><Relationship Id="rId3" Type="http://schemas.openxmlformats.org/officeDocument/2006/relationships/image" Target="../media/image46.png"/><Relationship Id="rId7" Type="http://schemas.openxmlformats.org/officeDocument/2006/relationships/image" Target="../media/image72.png"/><Relationship Id="rId12" Type="http://schemas.openxmlformats.org/officeDocument/2006/relationships/image" Target="../media/image82.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0.png"/><Relationship Id="rId11" Type="http://schemas.openxmlformats.org/officeDocument/2006/relationships/image" Target="../media/image78.png"/><Relationship Id="rId5" Type="http://schemas.openxmlformats.org/officeDocument/2006/relationships/image" Target="../media/image58.png"/><Relationship Id="rId10" Type="http://schemas.openxmlformats.org/officeDocument/2006/relationships/image" Target="../media/image77.png"/><Relationship Id="rId4" Type="http://schemas.openxmlformats.org/officeDocument/2006/relationships/image" Target="../media/image57.png"/><Relationship Id="rId9" Type="http://schemas.openxmlformats.org/officeDocument/2006/relationships/image" Target="../media/image74.png"/><Relationship Id="rId14" Type="http://schemas.openxmlformats.org/officeDocument/2006/relationships/image" Target="../media/image84.png"/></Relationships>
</file>

<file path=ppt/slides/_rels/slide5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3.png"/><Relationship Id="rId7" Type="http://schemas.openxmlformats.org/officeDocument/2006/relationships/image" Target="../media/image83.png"/><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image" Target="../media/image78.png"/><Relationship Id="rId11" Type="http://schemas.openxmlformats.org/officeDocument/2006/relationships/image" Target="../media/image8.png"/><Relationship Id="rId5" Type="http://schemas.openxmlformats.org/officeDocument/2006/relationships/image" Target="../media/image77.png"/><Relationship Id="rId10" Type="http://schemas.openxmlformats.org/officeDocument/2006/relationships/image" Target="../media/image86.png"/><Relationship Id="rId4" Type="http://schemas.openxmlformats.org/officeDocument/2006/relationships/image" Target="../media/image74.png"/><Relationship Id="rId9" Type="http://schemas.openxmlformats.org/officeDocument/2006/relationships/image" Target="../media/image85.png"/></Relationships>
</file>

<file path=ppt/slides/_rels/slide5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6.xml"/><Relationship Id="rId4" Type="http://schemas.openxmlformats.org/officeDocument/2006/relationships/image" Target="../media/image89.png"/></Relationships>
</file>

<file path=ppt/slides/_rels/slide5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6.xml"/><Relationship Id="rId4" Type="http://schemas.openxmlformats.org/officeDocument/2006/relationships/image" Target="../media/image89.png"/></Relationships>
</file>

<file path=ppt/slides/_rels/slide5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6.xml"/><Relationship Id="rId5" Type="http://schemas.openxmlformats.org/officeDocument/2006/relationships/image" Target="../media/image90.png"/><Relationship Id="rId4" Type="http://schemas.openxmlformats.org/officeDocument/2006/relationships/image" Target="../media/image89.png"/></Relationships>
</file>

<file path=ppt/slides/_rels/slide5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6.xml"/><Relationship Id="rId5" Type="http://schemas.openxmlformats.org/officeDocument/2006/relationships/image" Target="../media/image94.png"/><Relationship Id="rId4" Type="http://schemas.openxmlformats.org/officeDocument/2006/relationships/image" Target="../media/image93.png"/></Relationships>
</file>

<file path=ppt/slides/_rels/slide60.x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slideLayout" Target="../slideLayouts/slideLayout48.xml"/></Relationships>
</file>

<file path=ppt/slides/_rels/slide61.x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E232C8-5762-A321-3792-BD77114F6EDA}"/>
              </a:ext>
            </a:extLst>
          </p:cNvPr>
          <p:cNvSpPr>
            <a:spLocks noGrp="1"/>
          </p:cNvSpPr>
          <p:nvPr>
            <p:ph type="title"/>
          </p:nvPr>
        </p:nvSpPr>
        <p:spPr/>
        <p:txBody>
          <a:bodyPr/>
          <a:lstStyle/>
          <a:p>
            <a:r>
              <a:rPr lang="it-IT" dirty="0"/>
              <a:t>CMOS </a:t>
            </a:r>
            <a:r>
              <a:rPr lang="it-IT" dirty="0" err="1"/>
              <a:t>process</a:t>
            </a:r>
            <a:r>
              <a:rPr lang="it-IT" dirty="0"/>
              <a:t> flow</a:t>
            </a:r>
            <a:endParaRPr lang="en-US" dirty="0"/>
          </a:p>
        </p:txBody>
      </p:sp>
      <p:sp>
        <p:nvSpPr>
          <p:cNvPr id="5" name="Text Placeholder 4">
            <a:extLst>
              <a:ext uri="{FF2B5EF4-FFF2-40B4-BE49-F238E27FC236}">
                <a16:creationId xmlns:a16="http://schemas.microsoft.com/office/drawing/2014/main" id="{1863FC8F-8145-F647-1AEF-DA881530DDF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86233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89E3D-4F0C-A780-4EED-16EE95D87176}"/>
              </a:ext>
            </a:extLst>
          </p:cNvPr>
          <p:cNvSpPr>
            <a:spLocks noGrp="1"/>
          </p:cNvSpPr>
          <p:nvPr>
            <p:ph type="title"/>
          </p:nvPr>
        </p:nvSpPr>
        <p:spPr/>
        <p:txBody>
          <a:bodyPr/>
          <a:lstStyle/>
          <a:p>
            <a:r>
              <a:rPr lang="it-IT" dirty="0" err="1"/>
              <a:t>Outline</a:t>
            </a:r>
            <a:endParaRPr lang="en-US" dirty="0"/>
          </a:p>
        </p:txBody>
      </p:sp>
      <p:sp>
        <p:nvSpPr>
          <p:cNvPr id="3" name="Content Placeholder 2">
            <a:extLst>
              <a:ext uri="{FF2B5EF4-FFF2-40B4-BE49-F238E27FC236}">
                <a16:creationId xmlns:a16="http://schemas.microsoft.com/office/drawing/2014/main" id="{60F3D12C-EFE7-0403-0BD1-EE594BC195E0}"/>
              </a:ext>
            </a:extLst>
          </p:cNvPr>
          <p:cNvSpPr>
            <a:spLocks noGrp="1"/>
          </p:cNvSpPr>
          <p:nvPr>
            <p:ph sz="half" idx="1"/>
          </p:nvPr>
        </p:nvSpPr>
        <p:spPr/>
        <p:txBody>
          <a:bodyPr/>
          <a:lstStyle/>
          <a:p>
            <a:r>
              <a:rPr lang="it-IT" dirty="0" err="1"/>
              <a:t>We</a:t>
            </a:r>
            <a:r>
              <a:rPr lang="it-IT" dirty="0"/>
              <a:t> </a:t>
            </a:r>
            <a:r>
              <a:rPr lang="it-IT" dirty="0" err="1"/>
              <a:t>will</a:t>
            </a:r>
            <a:r>
              <a:rPr lang="it-IT" dirty="0"/>
              <a:t> go </a:t>
            </a:r>
            <a:r>
              <a:rPr lang="it-IT" dirty="0" err="1"/>
              <a:t>through</a:t>
            </a:r>
            <a:r>
              <a:rPr lang="it-IT" dirty="0"/>
              <a:t> the </a:t>
            </a:r>
            <a:r>
              <a:rPr lang="it-IT" dirty="0" err="1"/>
              <a:t>process</a:t>
            </a:r>
            <a:r>
              <a:rPr lang="it-IT" dirty="0"/>
              <a:t> flow to create a </a:t>
            </a:r>
            <a:r>
              <a:rPr lang="it-IT" dirty="0" err="1"/>
              <a:t>simple</a:t>
            </a:r>
            <a:r>
              <a:rPr lang="it-IT" dirty="0"/>
              <a:t> inverter</a:t>
            </a:r>
          </a:p>
          <a:p>
            <a:r>
              <a:rPr lang="it-IT" dirty="0" err="1"/>
              <a:t>We</a:t>
            </a:r>
            <a:r>
              <a:rPr lang="it-IT" dirty="0"/>
              <a:t> </a:t>
            </a:r>
            <a:r>
              <a:rPr lang="it-IT" dirty="0" err="1"/>
              <a:t>will</a:t>
            </a:r>
            <a:r>
              <a:rPr lang="it-IT" dirty="0"/>
              <a:t> use </a:t>
            </a:r>
            <a:r>
              <a:rPr lang="en-US" dirty="0"/>
              <a:t>~80 process steps and 13 masks</a:t>
            </a:r>
            <a:r>
              <a:rPr lang="it-IT" dirty="0"/>
              <a:t>*</a:t>
            </a:r>
            <a:endParaRPr lang="en-US" dirty="0"/>
          </a:p>
          <a:p>
            <a:r>
              <a:rPr lang="en-US" dirty="0"/>
              <a:t>The process flow will be </a:t>
            </a:r>
            <a:r>
              <a:rPr lang="en-US" b="1" dirty="0"/>
              <a:t>significantly simplified</a:t>
            </a:r>
          </a:p>
          <a:p>
            <a:pPr eaLnBrk="1" hangingPunct="1"/>
            <a:r>
              <a:rPr lang="en-GB" altLang="en-US" b="1" dirty="0"/>
              <a:t>No need to understand all the details </a:t>
            </a:r>
          </a:p>
          <a:p>
            <a:pPr marL="182880" lvl="1" indent="0">
              <a:buNone/>
            </a:pPr>
            <a:endParaRPr lang="en-US" b="1" dirty="0"/>
          </a:p>
          <a:p>
            <a:pPr marL="0" indent="0">
              <a:buNone/>
            </a:pPr>
            <a:endParaRPr lang="en-US" b="1" dirty="0"/>
          </a:p>
          <a:p>
            <a:endParaRPr lang="en-US" b="1" dirty="0"/>
          </a:p>
        </p:txBody>
      </p:sp>
      <p:sp>
        <p:nvSpPr>
          <p:cNvPr id="5" name="Text Placeholder 4">
            <a:extLst>
              <a:ext uri="{FF2B5EF4-FFF2-40B4-BE49-F238E27FC236}">
                <a16:creationId xmlns:a16="http://schemas.microsoft.com/office/drawing/2014/main" id="{6EC2857C-755A-8DDD-D4A6-1E55E33DBAA5}"/>
              </a:ext>
            </a:extLst>
          </p:cNvPr>
          <p:cNvSpPr>
            <a:spLocks noGrp="1"/>
          </p:cNvSpPr>
          <p:nvPr>
            <p:ph type="body" sz="quarter" idx="11"/>
          </p:nvPr>
        </p:nvSpPr>
        <p:spPr/>
        <p:txBody>
          <a:bodyPr/>
          <a:lstStyle/>
          <a:p>
            <a:endParaRPr lang="en-US"/>
          </a:p>
        </p:txBody>
      </p:sp>
      <p:pic>
        <p:nvPicPr>
          <p:cNvPr id="7" name="Content Placeholder 9">
            <a:extLst>
              <a:ext uri="{FF2B5EF4-FFF2-40B4-BE49-F238E27FC236}">
                <a16:creationId xmlns:a16="http://schemas.microsoft.com/office/drawing/2014/main" id="{DA70395B-F1A3-6A30-BF95-12E3FEF942EE}"/>
              </a:ext>
            </a:extLst>
          </p:cNvPr>
          <p:cNvPicPr>
            <a:picLocks noChangeAspect="1"/>
          </p:cNvPicPr>
          <p:nvPr/>
        </p:nvPicPr>
        <p:blipFill rotWithShape="1">
          <a:blip r:embed="rId2"/>
          <a:srcRect t="19012" b="12488"/>
          <a:stretch/>
        </p:blipFill>
        <p:spPr>
          <a:xfrm>
            <a:off x="5920826" y="3365229"/>
            <a:ext cx="5282884" cy="2714038"/>
          </a:xfrm>
          <a:prstGeom prst="rect">
            <a:avLst/>
          </a:prstGeom>
        </p:spPr>
      </p:pic>
      <p:pic>
        <p:nvPicPr>
          <p:cNvPr id="8" name="Picture 7">
            <a:extLst>
              <a:ext uri="{FF2B5EF4-FFF2-40B4-BE49-F238E27FC236}">
                <a16:creationId xmlns:a16="http://schemas.microsoft.com/office/drawing/2014/main" id="{F68B8F13-21C0-6FB9-43AC-BC06820C72C2}"/>
              </a:ext>
            </a:extLst>
          </p:cNvPr>
          <p:cNvPicPr>
            <a:picLocks noChangeAspect="1"/>
          </p:cNvPicPr>
          <p:nvPr/>
        </p:nvPicPr>
        <p:blipFill rotWithShape="1">
          <a:blip r:embed="rId3"/>
          <a:srcRect r="56652"/>
          <a:stretch/>
        </p:blipFill>
        <p:spPr>
          <a:xfrm>
            <a:off x="9123767" y="0"/>
            <a:ext cx="2441888" cy="3493311"/>
          </a:xfrm>
          <a:prstGeom prst="rect">
            <a:avLst/>
          </a:prstGeom>
        </p:spPr>
      </p:pic>
      <p:sp>
        <p:nvSpPr>
          <p:cNvPr id="9" name="TextBox 8">
            <a:extLst>
              <a:ext uri="{FF2B5EF4-FFF2-40B4-BE49-F238E27FC236}">
                <a16:creationId xmlns:a16="http://schemas.microsoft.com/office/drawing/2014/main" id="{F66A26B9-D69A-7452-B33A-935003CFF467}"/>
              </a:ext>
            </a:extLst>
          </p:cNvPr>
          <p:cNvSpPr txBox="1"/>
          <p:nvPr/>
        </p:nvSpPr>
        <p:spPr>
          <a:xfrm>
            <a:off x="6096000" y="3183624"/>
            <a:ext cx="5823684" cy="107722"/>
          </a:xfrm>
          <a:prstGeom prst="rect">
            <a:avLst/>
          </a:prstGeom>
          <a:noFill/>
        </p:spPr>
        <p:txBody>
          <a:bodyPr wrap="square" lIns="0" tIns="0" rIns="0" bIns="0" rtlCol="0">
            <a:spAutoFit/>
          </a:bodyPr>
          <a:lstStyle/>
          <a:p>
            <a:pPr algn="l">
              <a:lnSpc>
                <a:spcPct val="100000"/>
              </a:lnSpc>
            </a:pPr>
            <a:r>
              <a:rPr lang="en-US" sz="700" dirty="0">
                <a:hlinkClick r:id="rId4"/>
              </a:rPr>
              <a:t>ECE429 Lab3 - Tutorial II: Inverter Layout (iit.edu)</a:t>
            </a:r>
            <a:endParaRPr lang="en-US" sz="700" dirty="0"/>
          </a:p>
        </p:txBody>
      </p:sp>
    </p:spTree>
    <p:extLst>
      <p:ext uri="{BB962C8B-B14F-4D97-AF65-F5344CB8AC3E}">
        <p14:creationId xmlns:p14="http://schemas.microsoft.com/office/powerpoint/2010/main" val="3260653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it-IT" dirty="0"/>
              <a:t>P</a:t>
            </a:r>
            <a:r>
              <a:rPr lang="en-US" dirty="0" err="1"/>
              <a:t>rocess</a:t>
            </a:r>
            <a:r>
              <a:rPr lang="en-US" dirty="0"/>
              <a:t> flow slide structure</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8"/>
            </a:pPr>
            <a:r>
              <a:rPr lang="en-US" sz="1200" b="1" dirty="0">
                <a:solidFill>
                  <a:schemeClr val="bg2">
                    <a:lumMod val="75000"/>
                  </a:schemeClr>
                </a:solidFill>
              </a:rPr>
              <a:t>n-LDD implant</a:t>
            </a:r>
          </a:p>
          <a:p>
            <a:pPr marL="228600" indent="-228600">
              <a:buFont typeface="+mj-lt"/>
              <a:buAutoNum type="arabicPeriod" startAt="28"/>
            </a:pPr>
            <a:r>
              <a:rPr lang="en-US" sz="1200" b="1" dirty="0">
                <a:solidFill>
                  <a:schemeClr val="bg2">
                    <a:lumMod val="75000"/>
                  </a:schemeClr>
                </a:solidFill>
              </a:rPr>
              <a:t>Resist strip</a:t>
            </a:r>
          </a:p>
          <a:p>
            <a:pPr marL="228600" indent="-228600">
              <a:buFont typeface="+mj-lt"/>
              <a:buAutoNum type="arabicPeriod" startAt="28"/>
            </a:pPr>
            <a:r>
              <a:rPr lang="en-US" sz="1200" b="1" dirty="0">
                <a:solidFill>
                  <a:schemeClr val="bg2">
                    <a:lumMod val="75000"/>
                  </a:schemeClr>
                </a:solidFill>
              </a:rPr>
              <a:t>Photo-resist spinning</a:t>
            </a:r>
          </a:p>
          <a:p>
            <a:pPr marL="228600" indent="-228600">
              <a:buFont typeface="+mj-lt"/>
              <a:buAutoNum type="arabicPeriod" startAt="28"/>
            </a:pPr>
            <a:r>
              <a:rPr lang="en-US" sz="1200" b="1" dirty="0">
                <a:solidFill>
                  <a:schemeClr val="bg2">
                    <a:lumMod val="75000"/>
                  </a:schemeClr>
                </a:solidFill>
              </a:rPr>
              <a:t>Mask 6 exposure (p-LDD)</a:t>
            </a:r>
          </a:p>
          <a:p>
            <a:pPr marL="228600" indent="-228600">
              <a:buFont typeface="+mj-lt"/>
              <a:buAutoNum type="arabicPeriod" startAt="28"/>
            </a:pPr>
            <a:r>
              <a:rPr lang="en-US" sz="1200" b="1" dirty="0">
                <a:solidFill>
                  <a:schemeClr val="bg2">
                    <a:lumMod val="75000"/>
                  </a:schemeClr>
                </a:solidFill>
              </a:rPr>
              <a:t>p-LDD implant</a:t>
            </a:r>
          </a:p>
          <a:p>
            <a:pPr marL="228600" indent="-228600">
              <a:buFont typeface="+mj-lt"/>
              <a:buAutoNum type="arabicPeriod" startAt="28"/>
            </a:pPr>
            <a:r>
              <a:rPr lang="en-US" sz="1200" b="1" dirty="0"/>
              <a:t>Resist stripping</a:t>
            </a:r>
          </a:p>
          <a:p>
            <a:pPr marL="228600" indent="-228600">
              <a:buFont typeface="+mj-lt"/>
              <a:buAutoNum type="arabicPeriod" startAt="28"/>
            </a:pPr>
            <a:r>
              <a:rPr lang="en-US" sz="1200" b="1" dirty="0">
                <a:solidFill>
                  <a:schemeClr val="bg2">
                    <a:lumMod val="75000"/>
                  </a:schemeClr>
                </a:solidFill>
              </a:rPr>
              <a:t>Spacer dielectric deposition</a:t>
            </a:r>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sp>
        <p:nvSpPr>
          <p:cNvPr id="9" name="Oval 8">
            <a:extLst>
              <a:ext uri="{FF2B5EF4-FFF2-40B4-BE49-F238E27FC236}">
                <a16:creationId xmlns:a16="http://schemas.microsoft.com/office/drawing/2014/main" id="{B708B4BA-DD49-6CED-445E-481D40401AFD}"/>
              </a:ext>
            </a:extLst>
          </p:cNvPr>
          <p:cNvSpPr/>
          <p:nvPr/>
        </p:nvSpPr>
        <p:spPr>
          <a:xfrm rot="20438482">
            <a:off x="3191544" y="3842714"/>
            <a:ext cx="550438" cy="270568"/>
          </a:xfrm>
          <a:prstGeom prst="ellipse">
            <a:avLst/>
          </a:prstGeom>
          <a:noFill/>
          <a:ln w="28575"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0" name="Picture 9">
            <a:extLst>
              <a:ext uri="{FF2B5EF4-FFF2-40B4-BE49-F238E27FC236}">
                <a16:creationId xmlns:a16="http://schemas.microsoft.com/office/drawing/2014/main" id="{A5CF4CBD-AB4B-B803-63A7-CB340153F5A1}"/>
              </a:ext>
            </a:extLst>
          </p:cNvPr>
          <p:cNvPicPr>
            <a:picLocks noChangeAspect="1"/>
          </p:cNvPicPr>
          <p:nvPr/>
        </p:nvPicPr>
        <p:blipFill rotWithShape="1">
          <a:blip r:embed="rId4"/>
          <a:srcRect l="4344" r="12401" b="2212"/>
          <a:stretch/>
        </p:blipFill>
        <p:spPr>
          <a:xfrm>
            <a:off x="382953" y="2125786"/>
            <a:ext cx="3673231" cy="3914944"/>
          </a:xfrm>
          <a:prstGeom prst="rect">
            <a:avLst/>
          </a:prstGeom>
        </p:spPr>
      </p:pic>
      <p:sp>
        <p:nvSpPr>
          <p:cNvPr id="13" name="Arrow: Bent 12">
            <a:extLst>
              <a:ext uri="{FF2B5EF4-FFF2-40B4-BE49-F238E27FC236}">
                <a16:creationId xmlns:a16="http://schemas.microsoft.com/office/drawing/2014/main" id="{69211B0B-D87E-7CE6-5861-8AB116774BEB}"/>
              </a:ext>
            </a:extLst>
          </p:cNvPr>
          <p:cNvSpPr/>
          <p:nvPr/>
        </p:nvSpPr>
        <p:spPr>
          <a:xfrm>
            <a:off x="1602155" y="1583400"/>
            <a:ext cx="2683528" cy="1025875"/>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15" name="Arrow: Bent 14">
            <a:extLst>
              <a:ext uri="{FF2B5EF4-FFF2-40B4-BE49-F238E27FC236}">
                <a16:creationId xmlns:a16="http://schemas.microsoft.com/office/drawing/2014/main" id="{87807420-7A3F-9055-780D-6C3397EE77F1}"/>
              </a:ext>
            </a:extLst>
          </p:cNvPr>
          <p:cNvSpPr/>
          <p:nvPr/>
        </p:nvSpPr>
        <p:spPr>
          <a:xfrm flipV="1">
            <a:off x="2803130" y="5069622"/>
            <a:ext cx="1514588" cy="742793"/>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pic>
        <p:nvPicPr>
          <p:cNvPr id="21" name="Picture 20">
            <a:extLst>
              <a:ext uri="{FF2B5EF4-FFF2-40B4-BE49-F238E27FC236}">
                <a16:creationId xmlns:a16="http://schemas.microsoft.com/office/drawing/2014/main" id="{A64ED049-EEB0-D932-E4E2-2D709B3C0B37}"/>
              </a:ext>
            </a:extLst>
          </p:cNvPr>
          <p:cNvPicPr>
            <a:picLocks noChangeAspect="1"/>
          </p:cNvPicPr>
          <p:nvPr/>
        </p:nvPicPr>
        <p:blipFill>
          <a:blip r:embed="rId5"/>
          <a:stretch>
            <a:fillRect/>
          </a:stretch>
        </p:blipFill>
        <p:spPr>
          <a:xfrm>
            <a:off x="4306151" y="1930801"/>
            <a:ext cx="1938470" cy="1553154"/>
          </a:xfrm>
          <a:prstGeom prst="rect">
            <a:avLst/>
          </a:prstGeom>
        </p:spPr>
      </p:pic>
      <p:pic>
        <p:nvPicPr>
          <p:cNvPr id="23" name="Picture 22">
            <a:extLst>
              <a:ext uri="{FF2B5EF4-FFF2-40B4-BE49-F238E27FC236}">
                <a16:creationId xmlns:a16="http://schemas.microsoft.com/office/drawing/2014/main" id="{9CD697D7-B1E5-335B-7260-6E4958980063}"/>
              </a:ext>
            </a:extLst>
          </p:cNvPr>
          <p:cNvPicPr>
            <a:picLocks noChangeAspect="1"/>
          </p:cNvPicPr>
          <p:nvPr/>
        </p:nvPicPr>
        <p:blipFill>
          <a:blip r:embed="rId6"/>
          <a:stretch>
            <a:fillRect/>
          </a:stretch>
        </p:blipFill>
        <p:spPr>
          <a:xfrm>
            <a:off x="4653173" y="4841287"/>
            <a:ext cx="1442827" cy="1421400"/>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825581" y="4000237"/>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r>
              <a:rPr lang="it-IT" sz="1200" dirty="0"/>
              <a:t>Note </a:t>
            </a:r>
            <a:r>
              <a:rPr lang="it-IT" sz="1200" dirty="0" err="1"/>
              <a:t>that</a:t>
            </a:r>
            <a:r>
              <a:rPr lang="it-IT" sz="1200" dirty="0"/>
              <a:t> p-</a:t>
            </a:r>
            <a:r>
              <a:rPr lang="it-IT" sz="1200" dirty="0" err="1"/>
              <a:t>dopants</a:t>
            </a:r>
            <a:r>
              <a:rPr lang="it-IT" sz="1200" dirty="0"/>
              <a:t> are </a:t>
            </a:r>
            <a:r>
              <a:rPr lang="it-IT" sz="1200" dirty="0" err="1"/>
              <a:t>also</a:t>
            </a:r>
            <a:r>
              <a:rPr lang="it-IT" sz="1200" dirty="0"/>
              <a:t> doping the gate </a:t>
            </a:r>
            <a:r>
              <a:rPr lang="it-IT" sz="1200" dirty="0" err="1"/>
              <a:t>poly</a:t>
            </a:r>
            <a:r>
              <a:rPr lang="it-IT" sz="1200" dirty="0"/>
              <a:t>-silicon</a:t>
            </a:r>
          </a:p>
        </p:txBody>
      </p:sp>
      <p:sp>
        <p:nvSpPr>
          <p:cNvPr id="3" name="TextBox 2">
            <a:extLst>
              <a:ext uri="{FF2B5EF4-FFF2-40B4-BE49-F238E27FC236}">
                <a16:creationId xmlns:a16="http://schemas.microsoft.com/office/drawing/2014/main" id="{427A538B-B42F-75B9-742B-4BB1F1F721C7}"/>
              </a:ext>
            </a:extLst>
          </p:cNvPr>
          <p:cNvSpPr txBox="1"/>
          <p:nvPr/>
        </p:nvSpPr>
        <p:spPr>
          <a:xfrm>
            <a:off x="300024" y="1692839"/>
            <a:ext cx="1964955" cy="553998"/>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dirty="0"/>
              <a:t>3D </a:t>
            </a:r>
            <a:r>
              <a:rPr lang="it-IT" dirty="0" err="1"/>
              <a:t>view</a:t>
            </a:r>
            <a:r>
              <a:rPr lang="it-IT" dirty="0"/>
              <a:t> of the </a:t>
            </a:r>
            <a:r>
              <a:rPr lang="it-IT" dirty="0" err="1"/>
              <a:t>integrated</a:t>
            </a:r>
            <a:r>
              <a:rPr lang="it-IT" dirty="0"/>
              <a:t> </a:t>
            </a:r>
            <a:r>
              <a:rPr lang="it-IT" dirty="0" err="1"/>
              <a:t>circuit</a:t>
            </a:r>
            <a:endParaRPr lang="en-US" sz="1800" dirty="0" err="1"/>
          </a:p>
        </p:txBody>
      </p:sp>
      <p:sp>
        <p:nvSpPr>
          <p:cNvPr id="8" name="TextBox 7">
            <a:extLst>
              <a:ext uri="{FF2B5EF4-FFF2-40B4-BE49-F238E27FC236}">
                <a16:creationId xmlns:a16="http://schemas.microsoft.com/office/drawing/2014/main" id="{A4CCC015-24A2-0222-08F9-4210BAABA0A2}"/>
              </a:ext>
            </a:extLst>
          </p:cNvPr>
          <p:cNvSpPr txBox="1"/>
          <p:nvPr/>
        </p:nvSpPr>
        <p:spPr>
          <a:xfrm>
            <a:off x="4392109" y="1267266"/>
            <a:ext cx="1232242" cy="430887"/>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a:t>n-</a:t>
            </a:r>
            <a:r>
              <a:rPr lang="it-IT" sz="1400" dirty="0" err="1"/>
              <a:t>channel</a:t>
            </a:r>
            <a:r>
              <a:rPr lang="it-IT" sz="1400" dirty="0"/>
              <a:t> MOS cross </a:t>
            </a:r>
            <a:r>
              <a:rPr lang="it-IT" sz="1400" dirty="0" err="1"/>
              <a:t>section</a:t>
            </a:r>
            <a:endParaRPr lang="en-US" sz="1400" dirty="0" err="1"/>
          </a:p>
        </p:txBody>
      </p:sp>
      <p:sp>
        <p:nvSpPr>
          <p:cNvPr id="17" name="TextBox 16">
            <a:extLst>
              <a:ext uri="{FF2B5EF4-FFF2-40B4-BE49-F238E27FC236}">
                <a16:creationId xmlns:a16="http://schemas.microsoft.com/office/drawing/2014/main" id="{05051058-A5D0-4F08-5C0E-B4E136B1F6BD}"/>
              </a:ext>
            </a:extLst>
          </p:cNvPr>
          <p:cNvSpPr txBox="1"/>
          <p:nvPr/>
        </p:nvSpPr>
        <p:spPr>
          <a:xfrm>
            <a:off x="4392109" y="4018127"/>
            <a:ext cx="1232242" cy="430887"/>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a:t>p-</a:t>
            </a:r>
            <a:r>
              <a:rPr lang="it-IT" sz="1400" dirty="0" err="1"/>
              <a:t>channel</a:t>
            </a:r>
            <a:r>
              <a:rPr lang="it-IT" sz="1400" dirty="0"/>
              <a:t> MOS cross </a:t>
            </a:r>
            <a:r>
              <a:rPr lang="it-IT" sz="1400" dirty="0" err="1"/>
              <a:t>section</a:t>
            </a:r>
            <a:endParaRPr lang="en-US" sz="1400" dirty="0" err="1"/>
          </a:p>
        </p:txBody>
      </p:sp>
      <p:sp>
        <p:nvSpPr>
          <p:cNvPr id="18" name="TextBox 17">
            <a:extLst>
              <a:ext uri="{FF2B5EF4-FFF2-40B4-BE49-F238E27FC236}">
                <a16:creationId xmlns:a16="http://schemas.microsoft.com/office/drawing/2014/main" id="{8E9ABBF7-4071-DC7A-990D-5D91780EB7C3}"/>
              </a:ext>
            </a:extLst>
          </p:cNvPr>
          <p:cNvSpPr txBox="1"/>
          <p:nvPr/>
        </p:nvSpPr>
        <p:spPr>
          <a:xfrm>
            <a:off x="9863129" y="1538951"/>
            <a:ext cx="1232242" cy="430887"/>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err="1"/>
              <a:t>Process</a:t>
            </a:r>
            <a:r>
              <a:rPr lang="it-IT" sz="1400" dirty="0"/>
              <a:t>  steps list (</a:t>
            </a:r>
            <a:r>
              <a:rPr lang="it-IT" sz="1400" dirty="0" err="1"/>
              <a:t>traveler</a:t>
            </a:r>
            <a:r>
              <a:rPr lang="it-IT" sz="1400" dirty="0"/>
              <a:t>)</a:t>
            </a:r>
            <a:endParaRPr lang="en-US" sz="1400" dirty="0" err="1"/>
          </a:p>
        </p:txBody>
      </p:sp>
      <p:sp>
        <p:nvSpPr>
          <p:cNvPr id="19" name="TextBox 18">
            <a:extLst>
              <a:ext uri="{FF2B5EF4-FFF2-40B4-BE49-F238E27FC236}">
                <a16:creationId xmlns:a16="http://schemas.microsoft.com/office/drawing/2014/main" id="{6C1B1A5B-3ED3-1AE5-72AE-46A21F7C2785}"/>
              </a:ext>
            </a:extLst>
          </p:cNvPr>
          <p:cNvSpPr txBox="1"/>
          <p:nvPr/>
        </p:nvSpPr>
        <p:spPr>
          <a:xfrm rot="19361423">
            <a:off x="9247253" y="4357045"/>
            <a:ext cx="1232242" cy="430887"/>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err="1"/>
              <a:t>Process</a:t>
            </a:r>
            <a:r>
              <a:rPr lang="it-IT" sz="1400" dirty="0"/>
              <a:t>  steps </a:t>
            </a:r>
            <a:r>
              <a:rPr lang="it-IT" sz="1400" dirty="0" err="1"/>
              <a:t>description</a:t>
            </a:r>
            <a:endParaRPr lang="en-US" sz="1400" dirty="0" err="1"/>
          </a:p>
        </p:txBody>
      </p:sp>
      <p:sp>
        <p:nvSpPr>
          <p:cNvPr id="20" name="TextBox 19">
            <a:extLst>
              <a:ext uri="{FF2B5EF4-FFF2-40B4-BE49-F238E27FC236}">
                <a16:creationId xmlns:a16="http://schemas.microsoft.com/office/drawing/2014/main" id="{EFD6632C-BA79-1957-91E7-6F962587A7F5}"/>
              </a:ext>
            </a:extLst>
          </p:cNvPr>
          <p:cNvSpPr txBox="1"/>
          <p:nvPr/>
        </p:nvSpPr>
        <p:spPr>
          <a:xfrm>
            <a:off x="9863129" y="336213"/>
            <a:ext cx="1232242" cy="215444"/>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a:t>Mask counter</a:t>
            </a:r>
            <a:endParaRPr lang="en-US" sz="1400" dirty="0" err="1"/>
          </a:p>
        </p:txBody>
      </p:sp>
      <p:pic>
        <p:nvPicPr>
          <p:cNvPr id="22" name="Content Placeholder 9">
            <a:extLst>
              <a:ext uri="{FF2B5EF4-FFF2-40B4-BE49-F238E27FC236}">
                <a16:creationId xmlns:a16="http://schemas.microsoft.com/office/drawing/2014/main" id="{B84F650D-BFFB-9358-9C0C-0125B310D99E}"/>
              </a:ext>
            </a:extLst>
          </p:cNvPr>
          <p:cNvPicPr>
            <a:picLocks noChangeAspect="1"/>
          </p:cNvPicPr>
          <p:nvPr/>
        </p:nvPicPr>
        <p:blipFill rotWithShape="1">
          <a:blip r:embed="rId7"/>
          <a:srcRect l="37217" t="19012" r="26665" b="12488"/>
          <a:stretch/>
        </p:blipFill>
        <p:spPr>
          <a:xfrm>
            <a:off x="6390633" y="4656210"/>
            <a:ext cx="1308535" cy="1861254"/>
          </a:xfrm>
          <a:prstGeom prst="rect">
            <a:avLst/>
          </a:prstGeom>
        </p:spPr>
      </p:pic>
      <p:sp>
        <p:nvSpPr>
          <p:cNvPr id="25" name="Rectangle 24">
            <a:extLst>
              <a:ext uri="{FF2B5EF4-FFF2-40B4-BE49-F238E27FC236}">
                <a16:creationId xmlns:a16="http://schemas.microsoft.com/office/drawing/2014/main" id="{45DAF03F-3086-8916-7D7B-D2B8BDA3F673}"/>
              </a:ext>
            </a:extLst>
          </p:cNvPr>
          <p:cNvSpPr/>
          <p:nvPr/>
        </p:nvSpPr>
        <p:spPr>
          <a:xfrm>
            <a:off x="6923457" y="5985248"/>
            <a:ext cx="509587" cy="160972"/>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6" name="Rectangle 25">
            <a:extLst>
              <a:ext uri="{FF2B5EF4-FFF2-40B4-BE49-F238E27FC236}">
                <a16:creationId xmlns:a16="http://schemas.microsoft.com/office/drawing/2014/main" id="{3781716E-CC3B-3495-11A8-09757D126A9C}"/>
              </a:ext>
            </a:extLst>
          </p:cNvPr>
          <p:cNvSpPr/>
          <p:nvPr/>
        </p:nvSpPr>
        <p:spPr>
          <a:xfrm>
            <a:off x="6618659" y="5198791"/>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7" name="TextBox 26">
            <a:extLst>
              <a:ext uri="{FF2B5EF4-FFF2-40B4-BE49-F238E27FC236}">
                <a16:creationId xmlns:a16="http://schemas.microsoft.com/office/drawing/2014/main" id="{E8481397-41EF-80F4-77CA-1C6B2F8D112E}"/>
              </a:ext>
            </a:extLst>
          </p:cNvPr>
          <p:cNvSpPr txBox="1"/>
          <p:nvPr/>
        </p:nvSpPr>
        <p:spPr>
          <a:xfrm>
            <a:off x="6438644" y="4427523"/>
            <a:ext cx="1232242" cy="430887"/>
          </a:xfrm>
          <a:prstGeom prst="rect">
            <a:avLst/>
          </a:prstGeom>
          <a:solidFill>
            <a:schemeClr val="accent1">
              <a:lumMod val="60000"/>
              <a:lumOff val="40000"/>
            </a:schemeClr>
          </a:solidFill>
        </p:spPr>
        <p:txBody>
          <a:bodyPr wrap="square" lIns="0" tIns="0" rIns="0" bIns="0" rtlCol="0">
            <a:spAutoFit/>
          </a:bodyPr>
          <a:lstStyle/>
          <a:p>
            <a:pPr algn="l">
              <a:lnSpc>
                <a:spcPct val="100000"/>
              </a:lnSpc>
            </a:pPr>
            <a:r>
              <a:rPr lang="it-IT" sz="1400" dirty="0" err="1"/>
              <a:t>Current</a:t>
            </a:r>
            <a:r>
              <a:rPr lang="it-IT" sz="1400" dirty="0"/>
              <a:t> mask in </a:t>
            </a:r>
            <a:r>
              <a:rPr lang="it-IT" sz="1400" dirty="0" err="1"/>
              <a:t>circuit</a:t>
            </a:r>
            <a:r>
              <a:rPr lang="it-IT" sz="1400" dirty="0"/>
              <a:t> layout</a:t>
            </a:r>
            <a:endParaRPr lang="en-US" sz="1400" dirty="0" err="1"/>
          </a:p>
        </p:txBody>
      </p:sp>
    </p:spTree>
    <p:extLst>
      <p:ext uri="{BB962C8B-B14F-4D97-AF65-F5344CB8AC3E}">
        <p14:creationId xmlns:p14="http://schemas.microsoft.com/office/powerpoint/2010/main" val="107950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B14D2A7D-9E61-14FF-2326-2DD8AC63F6D9}"/>
              </a:ext>
            </a:extLst>
          </p:cNvPr>
          <p:cNvSpPr txBox="1">
            <a:spLocks/>
          </p:cNvSpPr>
          <p:nvPr/>
        </p:nvSpPr>
        <p:spPr>
          <a:xfrm>
            <a:off x="7427164" y="1409426"/>
            <a:ext cx="4277151" cy="2303244"/>
          </a:xfrm>
          <a:prstGeom prst="rect">
            <a:avLst/>
          </a:prstGeom>
          <a:solidFill>
            <a:schemeClr val="accent3">
              <a:lumMod val="20000"/>
              <a:lumOff val="80000"/>
            </a:schemeClr>
          </a:solidFill>
        </p:spPr>
        <p:txBody>
          <a:bodyPr vert="horz" lIns="0" tIns="0" rIns="0" bIns="0" spcCol="484632" rtlCol="0">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dirty="0">
                <a:solidFill>
                  <a:schemeClr val="bg1">
                    <a:lumMod val="75000"/>
                  </a:schemeClr>
                </a:solidFill>
              </a:rPr>
              <a:t>Wafer cleaning</a:t>
            </a:r>
          </a:p>
          <a:p>
            <a:pPr marL="342900" indent="-342900">
              <a:buFont typeface="+mj-lt"/>
              <a:buAutoNum type="arabicPeriod"/>
            </a:pPr>
            <a:r>
              <a:rPr lang="en-US" sz="1200" b="1" dirty="0">
                <a:solidFill>
                  <a:schemeClr val="bg1">
                    <a:lumMod val="75000"/>
                  </a:schemeClr>
                </a:solidFill>
              </a:rPr>
              <a:t>Silicon oxidation</a:t>
            </a:r>
          </a:p>
          <a:p>
            <a:pPr marL="342900" indent="-342900">
              <a:buFont typeface="+mj-lt"/>
              <a:buAutoNum type="arabicPeriod"/>
            </a:pPr>
            <a:r>
              <a:rPr lang="en-US" sz="1200" b="1" dirty="0">
                <a:solidFill>
                  <a:schemeClr val="bg2">
                    <a:lumMod val="75000"/>
                  </a:schemeClr>
                </a:solidFill>
              </a:rPr>
              <a:t>Silicon nitride deposition</a:t>
            </a:r>
          </a:p>
          <a:p>
            <a:pPr marL="342900" indent="-342900">
              <a:buFont typeface="+mj-lt"/>
              <a:buAutoNum type="arabicPeriod"/>
            </a:pPr>
            <a:r>
              <a:rPr lang="en-US" sz="1200" b="1" dirty="0">
                <a:solidFill>
                  <a:schemeClr val="bg2">
                    <a:lumMod val="75000"/>
                  </a:schemeClr>
                </a:solidFill>
              </a:rPr>
              <a:t>Photo-resist spinning</a:t>
            </a:r>
          </a:p>
          <a:p>
            <a:pPr marL="342900" indent="-342900">
              <a:buFont typeface="+mj-lt"/>
              <a:buAutoNum type="arabicPeriod"/>
            </a:pPr>
            <a:r>
              <a:rPr lang="en-US" sz="1200" b="1" dirty="0">
                <a:solidFill>
                  <a:schemeClr val="bg2">
                    <a:lumMod val="75000"/>
                  </a:schemeClr>
                </a:solidFill>
              </a:rPr>
              <a:t>Mask1 exposure</a:t>
            </a:r>
          </a:p>
          <a:p>
            <a:pPr marL="342900" indent="-342900">
              <a:buFont typeface="+mj-lt"/>
              <a:buAutoNum type="arabicPeriod"/>
            </a:pPr>
            <a:r>
              <a:rPr lang="en-US" sz="1200" b="1" dirty="0">
                <a:solidFill>
                  <a:schemeClr val="bg2">
                    <a:lumMod val="75000"/>
                  </a:schemeClr>
                </a:solidFill>
              </a:rPr>
              <a:t>STI etching</a:t>
            </a:r>
          </a:p>
          <a:p>
            <a:pPr marL="342900" indent="-342900">
              <a:buFont typeface="+mj-lt"/>
              <a:buAutoNum type="arabicPeriod"/>
            </a:pPr>
            <a:r>
              <a:rPr lang="en-US" sz="1200" b="1" dirty="0">
                <a:solidFill>
                  <a:schemeClr val="bg2">
                    <a:lumMod val="75000"/>
                  </a:schemeClr>
                </a:solidFill>
              </a:rPr>
              <a:t>Surface cleaning</a:t>
            </a:r>
          </a:p>
        </p:txBody>
      </p:sp>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0</a:t>
            </a:r>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942F580C-62F6-9EB2-0C10-787E1C1809A8}"/>
              </a:ext>
            </a:extLst>
          </p:cNvPr>
          <p:cNvPicPr>
            <a:picLocks noChangeAspect="1"/>
          </p:cNvPicPr>
          <p:nvPr/>
        </p:nvPicPr>
        <p:blipFill>
          <a:blip r:embed="rId3"/>
          <a:stretch>
            <a:fillRect/>
          </a:stretch>
        </p:blipFill>
        <p:spPr>
          <a:xfrm>
            <a:off x="196936" y="2787624"/>
            <a:ext cx="4005818" cy="3253105"/>
          </a:xfrm>
          <a:prstGeom prst="rect">
            <a:avLst/>
          </a:prstGeom>
        </p:spPr>
      </p:pic>
      <p:sp>
        <p:nvSpPr>
          <p:cNvPr id="13" name="TextBox 12">
            <a:extLst>
              <a:ext uri="{FF2B5EF4-FFF2-40B4-BE49-F238E27FC236}">
                <a16:creationId xmlns:a16="http://schemas.microsoft.com/office/drawing/2014/main" id="{31DEDCFB-8ECD-241C-2F14-E31EF0FA5090}"/>
              </a:ext>
            </a:extLst>
          </p:cNvPr>
          <p:cNvSpPr txBox="1"/>
          <p:nvPr/>
        </p:nvSpPr>
        <p:spPr>
          <a:xfrm>
            <a:off x="7353389" y="3664665"/>
            <a:ext cx="4079631" cy="2585323"/>
          </a:xfrm>
          <a:prstGeom prst="rect">
            <a:avLst/>
          </a:prstGeom>
          <a:noFill/>
        </p:spPr>
        <p:txBody>
          <a:bodyPr wrap="square" lIns="0" tIns="0" rIns="0" bIns="0" rtlCol="0">
            <a:spAutoFit/>
          </a:bodyPr>
          <a:lstStyle/>
          <a:p>
            <a:endParaRPr lang="en-US" sz="1200" dirty="0"/>
          </a:p>
          <a:p>
            <a:pPr eaLnBrk="1" hangingPunct="1">
              <a:spcBef>
                <a:spcPct val="50000"/>
              </a:spcBef>
            </a:pPr>
            <a:r>
              <a:rPr lang="en-GB" altLang="en-US" sz="1200" dirty="0"/>
              <a:t>Wafer choice:</a:t>
            </a:r>
          </a:p>
          <a:p>
            <a:pPr eaLnBrk="1" hangingPunct="1">
              <a:spcBef>
                <a:spcPct val="50000"/>
              </a:spcBef>
            </a:pPr>
            <a:r>
              <a:rPr lang="en-GB" altLang="en-US" sz="1200" b="1" dirty="0">
                <a:sym typeface="Wingdings" panose="05000000000000000000" pitchFamily="2" charset="2"/>
              </a:rPr>
              <a:t>P-type:</a:t>
            </a:r>
          </a:p>
          <a:p>
            <a:pPr lvl="1" eaLnBrk="1" hangingPunct="1">
              <a:spcBef>
                <a:spcPct val="50000"/>
              </a:spcBef>
              <a:buFont typeface="Times" panose="02020603050405020304" pitchFamily="18" charset="0"/>
              <a:buChar char="•"/>
            </a:pPr>
            <a:r>
              <a:rPr lang="en-GB" altLang="en-US" sz="1200" dirty="0"/>
              <a:t> B doped</a:t>
            </a:r>
          </a:p>
          <a:p>
            <a:pPr lvl="1" eaLnBrk="1" hangingPunct="1">
              <a:spcBef>
                <a:spcPct val="50000"/>
              </a:spcBef>
              <a:buFont typeface="Times" panose="02020603050405020304" pitchFamily="18" charset="0"/>
              <a:buChar char="•"/>
            </a:pPr>
            <a:r>
              <a:rPr lang="en-GB" altLang="en-US" sz="1200" dirty="0"/>
              <a:t>Doping </a:t>
            </a:r>
            <a:r>
              <a:rPr lang="en-US" altLang="en-US" sz="1200" dirty="0">
                <a:cs typeface="Arial" panose="020B0604020202020204" pitchFamily="34" charset="0"/>
              </a:rPr>
              <a:t>~</a:t>
            </a:r>
            <a:r>
              <a:rPr lang="en-GB" altLang="en-US" sz="1200" dirty="0"/>
              <a:t> 10</a:t>
            </a:r>
            <a:r>
              <a:rPr lang="en-GB" altLang="en-US" sz="1200" baseline="30000" dirty="0"/>
              <a:t>15</a:t>
            </a:r>
            <a:r>
              <a:rPr lang="en-GB" altLang="en-US" sz="1200" dirty="0"/>
              <a:t> cm</a:t>
            </a:r>
            <a:r>
              <a:rPr lang="en-GB" altLang="en-US" sz="1200" baseline="30000" dirty="0"/>
              <a:t>-3</a:t>
            </a:r>
            <a:endParaRPr lang="en-GB" altLang="en-US" sz="1200" dirty="0"/>
          </a:p>
          <a:p>
            <a:pPr lvl="1" eaLnBrk="1" hangingPunct="1">
              <a:spcBef>
                <a:spcPct val="50000"/>
              </a:spcBef>
              <a:buFont typeface="Times" panose="02020603050405020304" pitchFamily="18" charset="0"/>
              <a:buChar char="•"/>
            </a:pPr>
            <a:r>
              <a:rPr lang="en-GB" altLang="en-US" sz="1200" dirty="0"/>
              <a:t>Resistivity 25-50 </a:t>
            </a:r>
            <a:r>
              <a:rPr lang="en-GB" altLang="en-US" sz="1200" dirty="0">
                <a:latin typeface="Symbol" panose="05050102010706020507" pitchFamily="18" charset="2"/>
              </a:rPr>
              <a:t>W</a:t>
            </a:r>
            <a:r>
              <a:rPr lang="en-GB" altLang="en-US" sz="1200" dirty="0"/>
              <a:t>cm </a:t>
            </a:r>
          </a:p>
          <a:p>
            <a:pPr eaLnBrk="1" hangingPunct="1">
              <a:spcBef>
                <a:spcPct val="50000"/>
              </a:spcBef>
            </a:pPr>
            <a:r>
              <a:rPr lang="en-GB" altLang="en-US" sz="1200" b="1" dirty="0"/>
              <a:t>(100) Orientation (common choice for CMOS</a:t>
            </a:r>
            <a:r>
              <a:rPr lang="en-GB" altLang="en-US" sz="1200" dirty="0"/>
              <a:t>)</a:t>
            </a:r>
          </a:p>
          <a:p>
            <a:pPr lvl="1" eaLnBrk="1" hangingPunct="1">
              <a:spcBef>
                <a:spcPct val="50000"/>
              </a:spcBef>
              <a:buFont typeface="Times" panose="02020603050405020304" pitchFamily="18" charset="0"/>
              <a:buChar char="•"/>
            </a:pPr>
            <a:r>
              <a:rPr lang="en-GB" altLang="en-US" sz="1200" dirty="0"/>
              <a:t> Lower crystalline defects</a:t>
            </a:r>
          </a:p>
          <a:p>
            <a:pPr lvl="1" eaLnBrk="1" hangingPunct="1">
              <a:spcBef>
                <a:spcPct val="50000"/>
              </a:spcBef>
              <a:buFont typeface="Times" panose="02020603050405020304" pitchFamily="18" charset="0"/>
              <a:buChar char="•"/>
            </a:pPr>
            <a:r>
              <a:rPr lang="en-GB" altLang="en-US" sz="1200" dirty="0"/>
              <a:t> Better SiO</a:t>
            </a:r>
            <a:r>
              <a:rPr lang="en-GB" altLang="en-US" sz="1200" baseline="-25000" dirty="0"/>
              <a:t>2</a:t>
            </a:r>
            <a:r>
              <a:rPr lang="en-GB" altLang="en-US" sz="1200" dirty="0"/>
              <a:t> properties </a:t>
            </a:r>
          </a:p>
          <a:p>
            <a:pPr marL="285750" indent="-285750" algn="l">
              <a:lnSpc>
                <a:spcPct val="100000"/>
              </a:lnSpc>
              <a:buFont typeface="Arial" panose="020B0604020202020204" pitchFamily="34" charset="0"/>
              <a:buChar char="•"/>
            </a:pPr>
            <a:endParaRPr lang="en-US" sz="1200" dirty="0"/>
          </a:p>
        </p:txBody>
      </p:sp>
    </p:spTree>
    <p:extLst>
      <p:ext uri="{BB962C8B-B14F-4D97-AF65-F5344CB8AC3E}">
        <p14:creationId xmlns:p14="http://schemas.microsoft.com/office/powerpoint/2010/main" val="2869364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3">
            <a:extLst>
              <a:ext uri="{FF2B5EF4-FFF2-40B4-BE49-F238E27FC236}">
                <a16:creationId xmlns:a16="http://schemas.microsoft.com/office/drawing/2014/main" id="{8D94B406-455A-8546-5DB2-2594C13AEA79}"/>
              </a:ext>
            </a:extLst>
          </p:cNvPr>
          <p:cNvSpPr txBox="1">
            <a:spLocks/>
          </p:cNvSpPr>
          <p:nvPr/>
        </p:nvSpPr>
        <p:spPr>
          <a:xfrm>
            <a:off x="7411134" y="1380935"/>
            <a:ext cx="4277151" cy="2303244"/>
          </a:xfrm>
          <a:prstGeom prst="rect">
            <a:avLst/>
          </a:prstGeom>
          <a:solidFill>
            <a:schemeClr val="accent3">
              <a:lumMod val="20000"/>
              <a:lumOff val="80000"/>
            </a:schemeClr>
          </a:solidFill>
        </p:spPr>
        <p:txBody>
          <a:bodyPr vert="horz" lIns="0" tIns="0" rIns="0" bIns="0" spcCol="484632" rtlCol="0">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dirty="0"/>
              <a:t>Wafer cleaning</a:t>
            </a:r>
          </a:p>
          <a:p>
            <a:pPr marL="342900" indent="-342900">
              <a:buFont typeface="+mj-lt"/>
              <a:buAutoNum type="arabicPeriod"/>
            </a:pPr>
            <a:r>
              <a:rPr lang="en-US" sz="1200" b="1" dirty="0"/>
              <a:t>Silicon oxidation</a:t>
            </a:r>
          </a:p>
          <a:p>
            <a:pPr marL="342900" indent="-342900">
              <a:buFont typeface="+mj-lt"/>
              <a:buAutoNum type="arabicPeriod"/>
            </a:pPr>
            <a:r>
              <a:rPr lang="en-US" sz="1200" b="1" dirty="0">
                <a:solidFill>
                  <a:schemeClr val="bg2">
                    <a:lumMod val="75000"/>
                  </a:schemeClr>
                </a:solidFill>
              </a:rPr>
              <a:t>Silicon nitride deposition</a:t>
            </a:r>
          </a:p>
          <a:p>
            <a:pPr marL="342900" indent="-342900">
              <a:buFont typeface="+mj-lt"/>
              <a:buAutoNum type="arabicPeriod"/>
            </a:pPr>
            <a:r>
              <a:rPr lang="en-US" sz="1200" b="1" dirty="0">
                <a:solidFill>
                  <a:schemeClr val="bg2">
                    <a:lumMod val="75000"/>
                  </a:schemeClr>
                </a:solidFill>
              </a:rPr>
              <a:t>Photo-resist spinning</a:t>
            </a:r>
          </a:p>
          <a:p>
            <a:pPr marL="342900" indent="-342900">
              <a:buFont typeface="+mj-lt"/>
              <a:buAutoNum type="arabicPeriod"/>
            </a:pPr>
            <a:r>
              <a:rPr lang="en-US" sz="1200" b="1" dirty="0">
                <a:solidFill>
                  <a:schemeClr val="bg2">
                    <a:lumMod val="75000"/>
                  </a:schemeClr>
                </a:solidFill>
              </a:rPr>
              <a:t>Mask1 exposure</a:t>
            </a:r>
          </a:p>
          <a:p>
            <a:pPr marL="342900" indent="-342900">
              <a:buFont typeface="+mj-lt"/>
              <a:buAutoNum type="arabicPeriod"/>
            </a:pPr>
            <a:r>
              <a:rPr lang="en-US" sz="1200" b="1" dirty="0">
                <a:solidFill>
                  <a:schemeClr val="bg2">
                    <a:lumMod val="75000"/>
                  </a:schemeClr>
                </a:solidFill>
              </a:rPr>
              <a:t>STI etching</a:t>
            </a:r>
          </a:p>
          <a:p>
            <a:pPr marL="342900" indent="-342900">
              <a:buFont typeface="+mj-lt"/>
              <a:buAutoNum type="arabicPeriod"/>
            </a:pPr>
            <a:r>
              <a:rPr lang="en-US" sz="1200" b="1" dirty="0">
                <a:solidFill>
                  <a:schemeClr val="bg2">
                    <a:lumMod val="75000"/>
                  </a:schemeClr>
                </a:solidFill>
              </a:rPr>
              <a:t>Resist stripping</a:t>
            </a:r>
          </a:p>
        </p:txBody>
      </p:sp>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0</a:t>
            </a:r>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sp>
        <p:nvSpPr>
          <p:cNvPr id="27" name="TextBox 26">
            <a:extLst>
              <a:ext uri="{FF2B5EF4-FFF2-40B4-BE49-F238E27FC236}">
                <a16:creationId xmlns:a16="http://schemas.microsoft.com/office/drawing/2014/main" id="{77627248-1437-07B0-0447-DEFFC78577CB}"/>
              </a:ext>
            </a:extLst>
          </p:cNvPr>
          <p:cNvSpPr txBox="1"/>
          <p:nvPr/>
        </p:nvSpPr>
        <p:spPr>
          <a:xfrm>
            <a:off x="7411134" y="3954779"/>
            <a:ext cx="4079631" cy="2215991"/>
          </a:xfrm>
          <a:prstGeom prst="rect">
            <a:avLst/>
          </a:prstGeom>
          <a:noFill/>
        </p:spPr>
        <p:txBody>
          <a:bodyPr wrap="square" lIns="0" tIns="0" rIns="0" bIns="0" rtlCol="0">
            <a:spAutoFit/>
          </a:bodyPr>
          <a:lstStyle/>
          <a:p>
            <a:endParaRPr lang="en-US" sz="1200" dirty="0"/>
          </a:p>
          <a:p>
            <a:pPr marL="285750" indent="-285750">
              <a:buFont typeface="Arial" panose="020B0604020202020204" pitchFamily="34" charset="0"/>
              <a:buChar char="•"/>
            </a:pPr>
            <a:r>
              <a:rPr lang="en-US" sz="1200" dirty="0"/>
              <a:t>Wafer is cleaned to remove particles, contaminants and native oxide</a:t>
            </a:r>
          </a:p>
          <a:p>
            <a:pPr marL="742950" lvl="1" indent="-285750">
              <a:buFont typeface="Arial" panose="020B0604020202020204" pitchFamily="34" charset="0"/>
              <a:buChar char="•"/>
            </a:pPr>
            <a:r>
              <a:rPr lang="en-US" sz="1200" dirty="0"/>
              <a:t>E.g. 5H20:1H2O2:1NH3OH (SC1) + </a:t>
            </a:r>
            <a:r>
              <a:rPr lang="fr-FR" sz="1200" dirty="0"/>
              <a:t>6:H2O:1 H2O2:1 </a:t>
            </a:r>
            <a:r>
              <a:rPr lang="fr-FR" sz="1200" dirty="0" err="1"/>
              <a:t>HCl</a:t>
            </a:r>
            <a:r>
              <a:rPr lang="fr-FR" sz="1200" dirty="0"/>
              <a:t> (SC2) </a:t>
            </a:r>
            <a:r>
              <a:rPr lang="en-US" sz="1200" dirty="0"/>
              <a:t>[RCA clean ]</a:t>
            </a:r>
          </a:p>
          <a:p>
            <a:pPr lvl="1"/>
            <a:endParaRPr lang="en-GB" altLang="en-US" sz="1200" dirty="0"/>
          </a:p>
          <a:p>
            <a:pPr marL="285750" indent="-285750">
              <a:buFont typeface="Arial" panose="020B0604020202020204" pitchFamily="34" charset="0"/>
              <a:buChar char="•"/>
            </a:pPr>
            <a:r>
              <a:rPr lang="en-GB" altLang="en-US" sz="1200" dirty="0"/>
              <a:t>The oxidation is performed by reacting H2O or O2 with the silicon surface to form SiO2 (temperatures are ranging around </a:t>
            </a:r>
            <a:r>
              <a:rPr lang="en-GB" altLang="en-US" sz="1200" b="1" dirty="0"/>
              <a:t>1000 C</a:t>
            </a:r>
            <a:r>
              <a:rPr lang="en-GB" altLang="en-US" sz="1200" dirty="0"/>
              <a:t>, </a:t>
            </a:r>
            <a:r>
              <a:rPr lang="en-GB" altLang="en-US" sz="1200" b="1" dirty="0"/>
              <a:t>thickness</a:t>
            </a:r>
            <a:r>
              <a:rPr lang="en-GB" altLang="en-US" sz="1200" dirty="0"/>
              <a:t> can range from </a:t>
            </a:r>
            <a:r>
              <a:rPr lang="en-GB" altLang="en-US" sz="1200" b="1" dirty="0"/>
              <a:t>few nm to hundreds of nm</a:t>
            </a:r>
            <a:r>
              <a:rPr lang="en-GB" altLang="en-US" sz="1200" dirty="0"/>
              <a:t>)</a:t>
            </a:r>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a:p>
        </p:txBody>
      </p:sp>
    </p:spTree>
    <p:extLst>
      <p:ext uri="{BB962C8B-B14F-4D97-AF65-F5344CB8AC3E}">
        <p14:creationId xmlns:p14="http://schemas.microsoft.com/office/powerpoint/2010/main" val="680479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a:pPr>
            <a:r>
              <a:rPr lang="en-US" sz="1200" b="1" dirty="0">
                <a:solidFill>
                  <a:schemeClr val="bg2">
                    <a:lumMod val="75000"/>
                  </a:schemeClr>
                </a:solidFill>
              </a:rPr>
              <a:t>Wafer cleaning</a:t>
            </a:r>
          </a:p>
          <a:p>
            <a:pPr marL="342900" indent="-342900">
              <a:buFont typeface="+mj-lt"/>
              <a:buAutoNum type="arabicPeriod"/>
            </a:pPr>
            <a:r>
              <a:rPr lang="en-US" sz="1200" b="1" dirty="0">
                <a:solidFill>
                  <a:schemeClr val="bg2">
                    <a:lumMod val="75000"/>
                  </a:schemeClr>
                </a:solidFill>
              </a:rPr>
              <a:t>Silicon oxidation</a:t>
            </a:r>
          </a:p>
          <a:p>
            <a:pPr marL="342900" indent="-342900">
              <a:buFont typeface="+mj-lt"/>
              <a:buAutoNum type="arabicPeriod"/>
            </a:pPr>
            <a:r>
              <a:rPr lang="en-US" sz="1200" b="1" dirty="0"/>
              <a:t>Silicon nitride deposition</a:t>
            </a:r>
          </a:p>
          <a:p>
            <a:pPr marL="342900" indent="-342900">
              <a:buFont typeface="+mj-lt"/>
              <a:buAutoNum type="arabicPeriod"/>
            </a:pPr>
            <a:r>
              <a:rPr lang="en-US" sz="1200" b="1" dirty="0">
                <a:solidFill>
                  <a:schemeClr val="bg2">
                    <a:lumMod val="75000"/>
                  </a:schemeClr>
                </a:solidFill>
              </a:rPr>
              <a:t>Photo-resist spinning</a:t>
            </a:r>
          </a:p>
          <a:p>
            <a:pPr marL="342900" indent="-342900">
              <a:buFont typeface="+mj-lt"/>
              <a:buAutoNum type="arabicPeriod"/>
            </a:pPr>
            <a:r>
              <a:rPr lang="en-US" sz="1200" b="1" dirty="0">
                <a:solidFill>
                  <a:schemeClr val="bg2">
                    <a:lumMod val="75000"/>
                  </a:schemeClr>
                </a:solidFill>
              </a:rPr>
              <a:t>Mask1 exposure</a:t>
            </a:r>
          </a:p>
          <a:p>
            <a:pPr marL="342900" indent="-342900">
              <a:buFont typeface="+mj-lt"/>
              <a:buAutoNum type="arabicPeriod"/>
            </a:pPr>
            <a:r>
              <a:rPr lang="en-US" sz="1200" b="1" dirty="0">
                <a:solidFill>
                  <a:schemeClr val="bg2">
                    <a:lumMod val="75000"/>
                  </a:schemeClr>
                </a:solidFill>
              </a:rPr>
              <a:t>STI etching</a:t>
            </a:r>
          </a:p>
          <a:p>
            <a:pPr marL="342900" indent="-342900">
              <a:buFont typeface="+mj-lt"/>
              <a:buAutoNum type="arabicPeriod"/>
            </a:pPr>
            <a:r>
              <a:rPr lang="en-US" sz="1200" b="1" dirty="0">
                <a:solidFill>
                  <a:schemeClr val="bg2">
                    <a:lumMod val="75000"/>
                  </a:schemeClr>
                </a:solidFill>
              </a:rPr>
              <a:t>Resist stripping</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0</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29266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t>Silicon nitride is deposited on the wafer surface by LPCVD (Low Pressure Chemical Vapor Deposition)</a:t>
            </a:r>
          </a:p>
          <a:p>
            <a:pPr marL="742950" lvl="1" indent="-285750">
              <a:buFont typeface="Arial" panose="020B0604020202020204" pitchFamily="34" charset="0"/>
              <a:buChar char="•"/>
            </a:pPr>
            <a:r>
              <a:rPr lang="en-US" altLang="en-US" sz="1200" dirty="0">
                <a:cs typeface="Arial" panose="020B0604020202020204" pitchFamily="34" charset="0"/>
              </a:rPr>
              <a:t>3SiH</a:t>
            </a:r>
            <a:r>
              <a:rPr lang="en-US" altLang="en-US" sz="1200" baseline="-25000" dirty="0">
                <a:cs typeface="Arial" panose="020B0604020202020204" pitchFamily="34" charset="0"/>
              </a:rPr>
              <a:t>4</a:t>
            </a:r>
            <a:r>
              <a:rPr lang="en-US" altLang="en-US" sz="1200" dirty="0">
                <a:cs typeface="Arial" panose="020B0604020202020204" pitchFamily="34" charset="0"/>
              </a:rPr>
              <a:t> + 4NH</a:t>
            </a:r>
            <a:r>
              <a:rPr lang="en-US" altLang="en-US" sz="1200" baseline="-25000" dirty="0">
                <a:cs typeface="Arial" panose="020B0604020202020204" pitchFamily="34" charset="0"/>
              </a:rPr>
              <a:t>3</a:t>
            </a:r>
            <a:r>
              <a:rPr lang="en-US" altLang="en-US" sz="1200" dirty="0">
                <a:cs typeface="Arial" panose="020B0604020202020204" pitchFamily="34" charset="0"/>
              </a:rPr>
              <a:t> </a:t>
            </a:r>
            <a:r>
              <a:rPr lang="en-US" altLang="en-US" sz="1200" dirty="0">
                <a:cs typeface="Arial" panose="020B0604020202020204" pitchFamily="34" charset="0"/>
                <a:sym typeface="Wingdings" panose="05000000000000000000" pitchFamily="2" charset="2"/>
              </a:rPr>
              <a:t> Si</a:t>
            </a:r>
            <a:r>
              <a:rPr lang="en-US" altLang="en-US" sz="1200" baseline="-25000" dirty="0">
                <a:cs typeface="Arial" panose="020B0604020202020204" pitchFamily="34" charset="0"/>
                <a:sym typeface="Wingdings" panose="05000000000000000000" pitchFamily="2" charset="2"/>
              </a:rPr>
              <a:t>3</a:t>
            </a:r>
            <a:r>
              <a:rPr lang="en-US" altLang="en-US" sz="1200" dirty="0">
                <a:cs typeface="Arial" panose="020B0604020202020204" pitchFamily="34" charset="0"/>
                <a:sym typeface="Wingdings" panose="05000000000000000000" pitchFamily="2" charset="2"/>
              </a:rPr>
              <a:t>N</a:t>
            </a:r>
            <a:r>
              <a:rPr lang="en-US" altLang="en-US" sz="1200" baseline="-25000" dirty="0">
                <a:cs typeface="Arial" panose="020B0604020202020204" pitchFamily="34" charset="0"/>
                <a:sym typeface="Wingdings" panose="05000000000000000000" pitchFamily="2" charset="2"/>
              </a:rPr>
              <a:t>4</a:t>
            </a:r>
            <a:r>
              <a:rPr lang="en-US" altLang="en-US" sz="1200" dirty="0">
                <a:cs typeface="Arial" panose="020B0604020202020204" pitchFamily="34" charset="0"/>
                <a:sym typeface="Wingdings" panose="05000000000000000000" pitchFamily="2" charset="2"/>
              </a:rPr>
              <a:t> + 12H</a:t>
            </a:r>
            <a:r>
              <a:rPr lang="en-US" altLang="en-US" sz="1200" baseline="-25000" dirty="0">
                <a:cs typeface="Arial" panose="020B0604020202020204" pitchFamily="34" charset="0"/>
                <a:sym typeface="Wingdings" panose="05000000000000000000" pitchFamily="2" charset="2"/>
              </a:rPr>
              <a:t>2</a:t>
            </a:r>
          </a:p>
          <a:p>
            <a:pPr marL="742950" lvl="1" indent="-285750">
              <a:buFont typeface="Arial" panose="020B0604020202020204" pitchFamily="34" charset="0"/>
              <a:buChar char="•"/>
            </a:pPr>
            <a:r>
              <a:rPr lang="en-US" altLang="en-US" sz="1200" dirty="0">
                <a:cs typeface="Arial" panose="020B0604020202020204" pitchFamily="34" charset="0"/>
                <a:sym typeface="Wingdings" panose="05000000000000000000" pitchFamily="2" charset="2"/>
              </a:rPr>
              <a:t>T~800 C</a:t>
            </a:r>
          </a:p>
          <a:p>
            <a:pPr marL="742950" lvl="1" indent="-285750">
              <a:buFont typeface="Arial" panose="020B0604020202020204" pitchFamily="34" charset="0"/>
              <a:buChar char="•"/>
            </a:pPr>
            <a:r>
              <a:rPr lang="en-US" altLang="en-US" sz="1200" dirty="0">
                <a:cs typeface="Arial" panose="020B0604020202020204" pitchFamily="34" charset="0"/>
                <a:sym typeface="Wingdings" panose="05000000000000000000" pitchFamily="2" charset="2"/>
              </a:rPr>
              <a:t>Thickness from tens of to hundreds of nm</a:t>
            </a: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spTree>
    <p:extLst>
      <p:ext uri="{BB962C8B-B14F-4D97-AF65-F5344CB8AC3E}">
        <p14:creationId xmlns:p14="http://schemas.microsoft.com/office/powerpoint/2010/main" val="198646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dirty="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a:pPr>
            <a:r>
              <a:rPr lang="en-US" sz="1200" b="1" dirty="0">
                <a:solidFill>
                  <a:schemeClr val="bg2">
                    <a:lumMod val="75000"/>
                  </a:schemeClr>
                </a:solidFill>
              </a:rPr>
              <a:t>Wafer cleaning</a:t>
            </a:r>
          </a:p>
          <a:p>
            <a:pPr marL="342900" indent="-342900">
              <a:buFont typeface="+mj-lt"/>
              <a:buAutoNum type="arabicPeriod"/>
            </a:pPr>
            <a:r>
              <a:rPr lang="en-US" sz="1200" b="1" dirty="0">
                <a:solidFill>
                  <a:schemeClr val="bg2">
                    <a:lumMod val="75000"/>
                  </a:schemeClr>
                </a:solidFill>
              </a:rPr>
              <a:t>Silicon oxidation</a:t>
            </a:r>
          </a:p>
          <a:p>
            <a:pPr marL="342900" indent="-342900">
              <a:buFont typeface="+mj-lt"/>
              <a:buAutoNum type="arabicPeriod"/>
            </a:pPr>
            <a:r>
              <a:rPr lang="en-US" sz="1200" b="1" dirty="0">
                <a:solidFill>
                  <a:schemeClr val="bg2">
                    <a:lumMod val="75000"/>
                  </a:schemeClr>
                </a:solidFill>
              </a:rPr>
              <a:t>Silicon nitride deposition</a:t>
            </a:r>
          </a:p>
          <a:p>
            <a:pPr marL="342900" indent="-342900">
              <a:buFont typeface="+mj-lt"/>
              <a:buAutoNum type="arabicPeriod"/>
            </a:pPr>
            <a:r>
              <a:rPr lang="en-US" sz="1200" b="1" dirty="0"/>
              <a:t>Photo-resist spinning</a:t>
            </a:r>
          </a:p>
          <a:p>
            <a:pPr marL="342900" indent="-342900">
              <a:buFont typeface="+mj-lt"/>
              <a:buAutoNum type="arabicPeriod"/>
            </a:pPr>
            <a:r>
              <a:rPr lang="en-US" sz="1200" b="1" dirty="0">
                <a:solidFill>
                  <a:schemeClr val="bg2">
                    <a:lumMod val="75000"/>
                  </a:schemeClr>
                </a:solidFill>
              </a:rPr>
              <a:t>Mask1 exposure</a:t>
            </a:r>
          </a:p>
          <a:p>
            <a:pPr marL="342900" indent="-342900">
              <a:buFont typeface="+mj-lt"/>
              <a:buAutoNum type="arabicPeriod"/>
            </a:pPr>
            <a:r>
              <a:rPr lang="en-US" sz="1200" b="1" dirty="0">
                <a:solidFill>
                  <a:schemeClr val="bg2">
                    <a:lumMod val="75000"/>
                  </a:schemeClr>
                </a:solidFill>
              </a:rPr>
              <a:t>STI etching</a:t>
            </a:r>
          </a:p>
          <a:p>
            <a:pPr marL="342900" indent="-342900">
              <a:buFont typeface="+mj-lt"/>
              <a:buAutoNum type="arabicPeriod"/>
            </a:pPr>
            <a:r>
              <a:rPr lang="en-US" sz="1200" b="1" dirty="0">
                <a:solidFill>
                  <a:schemeClr val="bg2">
                    <a:lumMod val="75000"/>
                  </a:schemeClr>
                </a:solidFill>
              </a:rPr>
              <a:t>Resist stripping</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0</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66199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t>Resist </a:t>
            </a:r>
            <a:r>
              <a:rPr lang="it-IT" sz="1200" dirty="0"/>
              <a:t>(photo sensitive </a:t>
            </a:r>
            <a:r>
              <a:rPr lang="it-IT" sz="1200" dirty="0" err="1"/>
              <a:t>resin</a:t>
            </a:r>
            <a:r>
              <a:rPr lang="it-IT" sz="1200" dirty="0"/>
              <a:t> </a:t>
            </a:r>
            <a:r>
              <a:rPr lang="it-IT" sz="1200" dirty="0" err="1"/>
              <a:t>diluted</a:t>
            </a:r>
            <a:r>
              <a:rPr lang="it-IT" sz="1200" dirty="0"/>
              <a:t> in a </a:t>
            </a:r>
            <a:r>
              <a:rPr lang="it-IT" sz="1200" dirty="0" err="1"/>
              <a:t>solvent</a:t>
            </a:r>
            <a:r>
              <a:rPr lang="it-IT" sz="1200" dirty="0"/>
              <a:t>) </a:t>
            </a:r>
            <a:r>
              <a:rPr lang="it-IT" sz="1200" dirty="0" err="1"/>
              <a:t>is</a:t>
            </a:r>
            <a:r>
              <a:rPr lang="it-IT" sz="1200" dirty="0"/>
              <a:t> </a:t>
            </a:r>
            <a:r>
              <a:rPr lang="it-IT" sz="1200" dirty="0" err="1"/>
              <a:t>deposited</a:t>
            </a:r>
            <a:r>
              <a:rPr lang="it-IT" sz="1200" dirty="0"/>
              <a:t> by spin/coating (</a:t>
            </a:r>
            <a:r>
              <a:rPr lang="it-IT" sz="1200" dirty="0" err="1"/>
              <a:t>thickness</a:t>
            </a:r>
            <a:r>
              <a:rPr lang="it-IT" sz="1200" dirty="0"/>
              <a:t> 0.1 to 5 </a:t>
            </a:r>
            <a:r>
              <a:rPr lang="it-IT" sz="1200" dirty="0" err="1"/>
              <a:t>um</a:t>
            </a:r>
            <a:r>
              <a:rPr lang="it-IT" sz="1200" dirty="0"/>
              <a:t>)</a:t>
            </a:r>
          </a:p>
          <a:p>
            <a:endParaRPr lang="it-IT" sz="1200" dirty="0"/>
          </a:p>
          <a:p>
            <a:pPr marL="285750" indent="-285750">
              <a:buFont typeface="Arial" panose="020B0604020202020204" pitchFamily="34" charset="0"/>
              <a:buChar char="•"/>
            </a:pPr>
            <a:r>
              <a:rPr lang="it-IT" sz="1200" dirty="0" err="1"/>
              <a:t>Solvent</a:t>
            </a:r>
            <a:r>
              <a:rPr lang="it-IT" sz="1200" dirty="0"/>
              <a:t> </a:t>
            </a:r>
            <a:r>
              <a:rPr lang="it-IT" sz="1200" dirty="0" err="1"/>
              <a:t>is</a:t>
            </a:r>
            <a:r>
              <a:rPr lang="it-IT" sz="1200" dirty="0"/>
              <a:t> </a:t>
            </a:r>
            <a:r>
              <a:rPr lang="it-IT" sz="1200" dirty="0" err="1"/>
              <a:t>evaporated</a:t>
            </a:r>
            <a:r>
              <a:rPr lang="it-IT" sz="1200" dirty="0"/>
              <a:t> by </a:t>
            </a:r>
            <a:r>
              <a:rPr lang="it-IT" sz="1200" dirty="0" err="1"/>
              <a:t>sitting</a:t>
            </a:r>
            <a:r>
              <a:rPr lang="it-IT" sz="1200" dirty="0"/>
              <a:t> the wafer on a hot </a:t>
            </a:r>
            <a:r>
              <a:rPr lang="it-IT" sz="1200" dirty="0" err="1"/>
              <a:t>plate</a:t>
            </a:r>
            <a:r>
              <a:rPr lang="it-IT" sz="1200" dirty="0"/>
              <a:t> (100 C, ~60 s)</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7" name="Picture 6">
            <a:extLst>
              <a:ext uri="{FF2B5EF4-FFF2-40B4-BE49-F238E27FC236}">
                <a16:creationId xmlns:a16="http://schemas.microsoft.com/office/drawing/2014/main" id="{C165C197-303F-E04A-7FED-AB2EEC4B03F6}"/>
              </a:ext>
            </a:extLst>
          </p:cNvPr>
          <p:cNvPicPr>
            <a:picLocks noChangeAspect="1"/>
          </p:cNvPicPr>
          <p:nvPr/>
        </p:nvPicPr>
        <p:blipFill>
          <a:blip r:embed="rId4"/>
          <a:stretch>
            <a:fillRect/>
          </a:stretch>
        </p:blipFill>
        <p:spPr>
          <a:xfrm>
            <a:off x="219395" y="2278024"/>
            <a:ext cx="3944521" cy="3751301"/>
          </a:xfrm>
          <a:prstGeom prst="rect">
            <a:avLst/>
          </a:prstGeom>
        </p:spPr>
      </p:pic>
    </p:spTree>
    <p:extLst>
      <p:ext uri="{BB962C8B-B14F-4D97-AF65-F5344CB8AC3E}">
        <p14:creationId xmlns:p14="http://schemas.microsoft.com/office/powerpoint/2010/main" val="530014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a:pPr>
            <a:r>
              <a:rPr lang="en-US" sz="1200" b="1" dirty="0">
                <a:solidFill>
                  <a:schemeClr val="bg2">
                    <a:lumMod val="75000"/>
                  </a:schemeClr>
                </a:solidFill>
              </a:rPr>
              <a:t>Wafer cleaning</a:t>
            </a:r>
          </a:p>
          <a:p>
            <a:pPr marL="342900" indent="-342900">
              <a:buFont typeface="+mj-lt"/>
              <a:buAutoNum type="arabicPeriod"/>
            </a:pPr>
            <a:r>
              <a:rPr lang="en-US" sz="1200" b="1" dirty="0">
                <a:solidFill>
                  <a:schemeClr val="bg2">
                    <a:lumMod val="75000"/>
                  </a:schemeClr>
                </a:solidFill>
              </a:rPr>
              <a:t>Silicon oxidation</a:t>
            </a:r>
          </a:p>
          <a:p>
            <a:pPr marL="342900" indent="-342900">
              <a:buFont typeface="+mj-lt"/>
              <a:buAutoNum type="arabicPeriod"/>
            </a:pPr>
            <a:r>
              <a:rPr lang="en-US" sz="1200" b="1" dirty="0">
                <a:solidFill>
                  <a:schemeClr val="bg2">
                    <a:lumMod val="75000"/>
                  </a:schemeClr>
                </a:solidFill>
              </a:rPr>
              <a:t>Silicon nitride deposition</a:t>
            </a:r>
          </a:p>
          <a:p>
            <a:pPr marL="342900" indent="-342900">
              <a:buFont typeface="+mj-lt"/>
              <a:buAutoNum type="arabicPeriod"/>
            </a:pPr>
            <a:r>
              <a:rPr lang="en-US" sz="1200" b="1" dirty="0">
                <a:solidFill>
                  <a:schemeClr val="bg2">
                    <a:lumMod val="75000"/>
                  </a:schemeClr>
                </a:solidFill>
              </a:rPr>
              <a:t>Photo-resist spinning</a:t>
            </a:r>
          </a:p>
          <a:p>
            <a:pPr marL="342900" indent="-342900">
              <a:buFont typeface="+mj-lt"/>
              <a:buAutoNum type="arabicPeriod"/>
            </a:pPr>
            <a:r>
              <a:rPr lang="en-US" sz="1200" b="1" dirty="0"/>
              <a:t>Mask1 exposure </a:t>
            </a:r>
          </a:p>
          <a:p>
            <a:pPr marL="342900" indent="-342900">
              <a:buFont typeface="+mj-lt"/>
              <a:buAutoNum type="arabicPeriod"/>
            </a:pPr>
            <a:r>
              <a:rPr lang="en-US" sz="1200" b="1" dirty="0">
                <a:solidFill>
                  <a:schemeClr val="bg2">
                    <a:lumMod val="75000"/>
                  </a:schemeClr>
                </a:solidFill>
              </a:rPr>
              <a:t>STI etching</a:t>
            </a:r>
          </a:p>
          <a:p>
            <a:pPr marL="342900" indent="-342900">
              <a:buFont typeface="+mj-lt"/>
              <a:buAutoNum type="arabicPeriod"/>
            </a:pPr>
            <a:r>
              <a:rPr lang="en-US" sz="1200" b="1" dirty="0">
                <a:solidFill>
                  <a:schemeClr val="bg2">
                    <a:lumMod val="75000"/>
                  </a:schemeClr>
                </a:solidFill>
              </a:rPr>
              <a:t>Resist stripping</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Mask1 (</a:t>
            </a:r>
            <a:r>
              <a:rPr lang="it-IT" sz="1200" dirty="0" err="1"/>
              <a:t>active</a:t>
            </a:r>
            <a:r>
              <a:rPr lang="it-IT" sz="1200" dirty="0"/>
              <a:t> area) </a:t>
            </a:r>
            <a:r>
              <a:rPr lang="it-IT" sz="1200" dirty="0" err="1"/>
              <a:t>is</a:t>
            </a:r>
            <a:r>
              <a:rPr lang="it-IT" sz="1200" dirty="0"/>
              <a:t> </a:t>
            </a:r>
            <a:r>
              <a:rPr lang="it-IT" sz="1200" dirty="0" err="1"/>
              <a:t>exposed</a:t>
            </a:r>
            <a:r>
              <a:rPr lang="it-IT" sz="1200" dirty="0"/>
              <a:t> </a:t>
            </a:r>
          </a:p>
          <a:p>
            <a:endParaRPr lang="it-IT" sz="1200" dirty="0"/>
          </a:p>
          <a:p>
            <a:pPr marL="285750" indent="-285750">
              <a:buFont typeface="Arial" panose="020B0604020202020204" pitchFamily="34" charset="0"/>
              <a:buChar char="•"/>
            </a:pPr>
            <a:r>
              <a:rPr lang="it-IT" sz="1200" dirty="0"/>
              <a:t>Photo </a:t>
            </a:r>
            <a:r>
              <a:rPr lang="it-IT" sz="1200" dirty="0" err="1"/>
              <a:t>resist</a:t>
            </a:r>
            <a:r>
              <a:rPr lang="it-IT" sz="1200" dirty="0"/>
              <a:t> </a:t>
            </a:r>
            <a:r>
              <a:rPr lang="it-IT" sz="1200" dirty="0" err="1"/>
              <a:t>is</a:t>
            </a:r>
            <a:r>
              <a:rPr lang="it-IT" sz="1200" dirty="0"/>
              <a:t> </a:t>
            </a:r>
            <a:r>
              <a:rPr lang="it-IT" sz="1200" dirty="0" err="1"/>
              <a:t>developed</a:t>
            </a:r>
            <a:r>
              <a:rPr lang="it-IT" sz="1200" dirty="0"/>
              <a:t>: the </a:t>
            </a:r>
            <a:r>
              <a:rPr lang="it-IT" sz="1200" dirty="0" err="1"/>
              <a:t>portion</a:t>
            </a:r>
            <a:r>
              <a:rPr lang="it-IT" sz="1200" dirty="0"/>
              <a:t> </a:t>
            </a:r>
            <a:r>
              <a:rPr lang="it-IT" sz="1200" dirty="0" err="1"/>
              <a:t>exposed</a:t>
            </a:r>
            <a:r>
              <a:rPr lang="it-IT" sz="1200" dirty="0"/>
              <a:t> to light </a:t>
            </a:r>
            <a:r>
              <a:rPr lang="it-IT" sz="1200" dirty="0" err="1"/>
              <a:t>becomes</a:t>
            </a:r>
            <a:r>
              <a:rPr lang="it-IT" sz="1200" dirty="0"/>
              <a:t> </a:t>
            </a:r>
            <a:r>
              <a:rPr lang="it-IT" sz="1200" dirty="0" err="1"/>
              <a:t>soluble</a:t>
            </a:r>
            <a:r>
              <a:rPr lang="it-IT" sz="1200" dirty="0"/>
              <a:t> in a </a:t>
            </a:r>
            <a:r>
              <a:rPr lang="it-IT" sz="1200" dirty="0" err="1"/>
              <a:t>basic</a:t>
            </a:r>
            <a:r>
              <a:rPr lang="it-IT" sz="1200" dirty="0"/>
              <a:t> </a:t>
            </a:r>
            <a:r>
              <a:rPr lang="it-IT" sz="1200" dirty="0" err="1"/>
              <a:t>solution</a:t>
            </a:r>
            <a:r>
              <a:rPr lang="it-IT" sz="1200" dirty="0"/>
              <a:t> (e.g. TMAH)</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DE3279E1-99A5-C32D-91E1-B60A41888BB7}"/>
              </a:ext>
            </a:extLst>
          </p:cNvPr>
          <p:cNvPicPr>
            <a:picLocks noChangeAspect="1"/>
          </p:cNvPicPr>
          <p:nvPr/>
        </p:nvPicPr>
        <p:blipFill>
          <a:blip r:embed="rId4"/>
          <a:stretch>
            <a:fillRect/>
          </a:stretch>
        </p:blipFill>
        <p:spPr>
          <a:xfrm>
            <a:off x="291544" y="2700500"/>
            <a:ext cx="3842305" cy="3205000"/>
          </a:xfrm>
          <a:prstGeom prst="rect">
            <a:avLst/>
          </a:prstGeom>
        </p:spPr>
      </p:pic>
      <p:pic>
        <p:nvPicPr>
          <p:cNvPr id="9" name="Content Placeholder 9">
            <a:extLst>
              <a:ext uri="{FF2B5EF4-FFF2-40B4-BE49-F238E27FC236}">
                <a16:creationId xmlns:a16="http://schemas.microsoft.com/office/drawing/2014/main" id="{F560526A-49E4-3280-B94E-110EC55EDFFE}"/>
              </a:ext>
            </a:extLst>
          </p:cNvPr>
          <p:cNvPicPr>
            <a:picLocks noChangeAspect="1"/>
          </p:cNvPicPr>
          <p:nvPr/>
        </p:nvPicPr>
        <p:blipFill rotWithShape="1">
          <a:blip r:embed="rId5"/>
          <a:srcRect l="37217" t="19012" r="26665" b="12488"/>
          <a:stretch/>
        </p:blipFill>
        <p:spPr>
          <a:xfrm>
            <a:off x="6584732" y="4912219"/>
            <a:ext cx="1308535" cy="1861254"/>
          </a:xfrm>
          <a:prstGeom prst="rect">
            <a:avLst/>
          </a:prstGeom>
        </p:spPr>
      </p:pic>
      <p:sp>
        <p:nvSpPr>
          <p:cNvPr id="13" name="Rectangle 12">
            <a:extLst>
              <a:ext uri="{FF2B5EF4-FFF2-40B4-BE49-F238E27FC236}">
                <a16:creationId xmlns:a16="http://schemas.microsoft.com/office/drawing/2014/main" id="{583BC203-77E8-BBF0-3B54-166D7591CD50}"/>
              </a:ext>
            </a:extLst>
          </p:cNvPr>
          <p:cNvSpPr/>
          <p:nvPr/>
        </p:nvSpPr>
        <p:spPr>
          <a:xfrm>
            <a:off x="7112794" y="5303044"/>
            <a:ext cx="516731" cy="326231"/>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75C51D85-8FBC-1AF0-531E-FCF7D9EF66AF}"/>
              </a:ext>
            </a:extLst>
          </p:cNvPr>
          <p:cNvSpPr/>
          <p:nvPr/>
        </p:nvSpPr>
        <p:spPr>
          <a:xfrm>
            <a:off x="6814606" y="5460206"/>
            <a:ext cx="161880" cy="169069"/>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8" name="Rectangle 17">
            <a:extLst>
              <a:ext uri="{FF2B5EF4-FFF2-40B4-BE49-F238E27FC236}">
                <a16:creationId xmlns:a16="http://schemas.microsoft.com/office/drawing/2014/main" id="{AA046C2D-BCA1-0415-7845-869A884CDE48}"/>
              </a:ext>
            </a:extLst>
          </p:cNvPr>
          <p:cNvSpPr/>
          <p:nvPr/>
        </p:nvSpPr>
        <p:spPr>
          <a:xfrm>
            <a:off x="7112793" y="6238875"/>
            <a:ext cx="516731" cy="160196"/>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9" name="Rectangle 18">
            <a:extLst>
              <a:ext uri="{FF2B5EF4-FFF2-40B4-BE49-F238E27FC236}">
                <a16:creationId xmlns:a16="http://schemas.microsoft.com/office/drawing/2014/main" id="{95C140D9-B3EF-A050-8394-6414EA7A5F4A}"/>
              </a:ext>
            </a:extLst>
          </p:cNvPr>
          <p:cNvSpPr/>
          <p:nvPr/>
        </p:nvSpPr>
        <p:spPr>
          <a:xfrm>
            <a:off x="6814606" y="6234438"/>
            <a:ext cx="161880" cy="169069"/>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13877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startAt="4"/>
            </a:pPr>
            <a:r>
              <a:rPr lang="en-US" sz="1200" b="1" dirty="0">
                <a:solidFill>
                  <a:schemeClr val="bg2">
                    <a:lumMod val="75000"/>
                  </a:schemeClr>
                </a:solidFill>
              </a:rPr>
              <a:t>Photo-resist spinning</a:t>
            </a:r>
          </a:p>
          <a:p>
            <a:pPr marL="342900" indent="-342900">
              <a:buFont typeface="+mj-lt"/>
              <a:buAutoNum type="arabicPeriod" startAt="4"/>
            </a:pPr>
            <a:r>
              <a:rPr lang="en-US" sz="1200" b="1" dirty="0">
                <a:solidFill>
                  <a:schemeClr val="bg2">
                    <a:lumMod val="75000"/>
                  </a:schemeClr>
                </a:solidFill>
              </a:rPr>
              <a:t>Mask1 exposure</a:t>
            </a:r>
          </a:p>
          <a:p>
            <a:pPr marL="342900" indent="-342900">
              <a:buFont typeface="+mj-lt"/>
              <a:buAutoNum type="arabicPeriod" startAt="4"/>
            </a:pPr>
            <a:r>
              <a:rPr lang="en-US" sz="1200" b="1" dirty="0"/>
              <a:t>STI etching</a:t>
            </a:r>
          </a:p>
          <a:p>
            <a:pPr marL="342900" indent="-342900">
              <a:buFont typeface="+mj-lt"/>
              <a:buAutoNum type="arabicPeriod" startAt="4"/>
            </a:pPr>
            <a:r>
              <a:rPr lang="en-US" sz="1200" b="1" dirty="0">
                <a:solidFill>
                  <a:schemeClr val="bg2">
                    <a:lumMod val="75000"/>
                  </a:schemeClr>
                </a:solidFill>
              </a:rPr>
              <a:t>Resist </a:t>
            </a:r>
            <a:r>
              <a:rPr lang="en-US" sz="1200" b="1" dirty="0" err="1">
                <a:solidFill>
                  <a:schemeClr val="bg2">
                    <a:lumMod val="75000"/>
                  </a:schemeClr>
                </a:solidFill>
              </a:rPr>
              <a:t>sitripping</a:t>
            </a:r>
            <a:endParaRPr lang="en-US" sz="1200" b="1" dirty="0">
              <a:solidFill>
                <a:schemeClr val="bg2">
                  <a:lumMod val="75000"/>
                </a:schemeClr>
              </a:solidFill>
            </a:endParaRPr>
          </a:p>
          <a:p>
            <a:pPr marL="342900" indent="-342900">
              <a:buFont typeface="+mj-lt"/>
              <a:buAutoNum type="arabicPeriod" startAt="4"/>
            </a:pPr>
            <a:r>
              <a:rPr lang="en-US" sz="1200" b="1" dirty="0">
                <a:solidFill>
                  <a:schemeClr val="bg2">
                    <a:lumMod val="75000"/>
                  </a:schemeClr>
                </a:solidFill>
              </a:rPr>
              <a:t>Surface cleaning</a:t>
            </a:r>
          </a:p>
          <a:p>
            <a:pPr marL="342900" indent="-342900">
              <a:buFont typeface="+mj-lt"/>
              <a:buAutoNum type="arabicPeriod" startAt="4"/>
            </a:pPr>
            <a:r>
              <a:rPr lang="en-US" sz="1200" b="1" dirty="0">
                <a:solidFill>
                  <a:schemeClr val="bg2">
                    <a:lumMod val="75000"/>
                  </a:schemeClr>
                </a:solidFill>
              </a:rPr>
              <a:t>Sidewall Oxidation</a:t>
            </a:r>
          </a:p>
          <a:p>
            <a:pPr marL="342900" indent="-342900">
              <a:buFont typeface="+mj-lt"/>
              <a:buAutoNum type="arabicPeriod" startAt="4"/>
            </a:pPr>
            <a:r>
              <a:rPr lang="en-US" sz="1200" b="1" dirty="0">
                <a:solidFill>
                  <a:schemeClr val="bg2">
                    <a:lumMod val="75000"/>
                  </a:schemeClr>
                </a:solidFill>
              </a:rPr>
              <a:t>Trench filling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899475"/>
            <a:ext cx="4079631" cy="3323987"/>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Silicon </a:t>
            </a:r>
            <a:r>
              <a:rPr lang="it-IT" sz="1200" dirty="0" err="1"/>
              <a:t>nitride</a:t>
            </a:r>
            <a:r>
              <a:rPr lang="it-IT" sz="1200" dirty="0"/>
              <a:t>, </a:t>
            </a:r>
            <a:r>
              <a:rPr lang="it-IT" sz="1200" dirty="0" err="1"/>
              <a:t>pad</a:t>
            </a:r>
            <a:r>
              <a:rPr lang="it-IT" sz="1200" dirty="0"/>
              <a:t> </a:t>
            </a:r>
            <a:r>
              <a:rPr lang="it-IT" sz="1200" dirty="0" err="1"/>
              <a:t>oxide</a:t>
            </a:r>
            <a:r>
              <a:rPr lang="it-IT" sz="1200" dirty="0"/>
              <a:t> and silicon are </a:t>
            </a:r>
            <a:r>
              <a:rPr lang="it-IT" sz="1200" dirty="0" err="1"/>
              <a:t>etched</a:t>
            </a:r>
            <a:r>
              <a:rPr lang="it-IT" sz="1200" dirty="0"/>
              <a:t>:</a:t>
            </a:r>
          </a:p>
          <a:p>
            <a:pPr marL="742950" lvl="1" indent="-285750">
              <a:buFont typeface="Arial" panose="020B0604020202020204" pitchFamily="34" charset="0"/>
              <a:buChar char="•"/>
            </a:pPr>
            <a:r>
              <a:rPr lang="it-IT" sz="1200" dirty="0" err="1"/>
              <a:t>Anisotropic</a:t>
            </a:r>
            <a:r>
              <a:rPr lang="it-IT" sz="1200" dirty="0"/>
              <a:t> plasma </a:t>
            </a:r>
            <a:r>
              <a:rPr lang="it-IT" sz="1200" dirty="0" err="1"/>
              <a:t>etching</a:t>
            </a:r>
            <a:r>
              <a:rPr lang="it-IT" sz="1200" dirty="0"/>
              <a:t> (dry </a:t>
            </a:r>
            <a:r>
              <a:rPr lang="it-IT" sz="1200" dirty="0" err="1"/>
              <a:t>etching</a:t>
            </a:r>
            <a:r>
              <a:rPr lang="it-IT" sz="1200" dirty="0"/>
              <a:t>) </a:t>
            </a:r>
            <a:r>
              <a:rPr lang="it-IT" sz="1200" dirty="0" err="1"/>
              <a:t>coupling</a:t>
            </a:r>
            <a:r>
              <a:rPr lang="it-IT" sz="1200" dirty="0"/>
              <a:t> </a:t>
            </a:r>
            <a:r>
              <a:rPr lang="it-IT" sz="1200" dirty="0" err="1"/>
              <a:t>ion</a:t>
            </a:r>
            <a:r>
              <a:rPr lang="it-IT" sz="1200" dirty="0"/>
              <a:t> </a:t>
            </a:r>
            <a:r>
              <a:rPr lang="it-IT" sz="1200" dirty="0" err="1"/>
              <a:t>sputtering</a:t>
            </a:r>
            <a:r>
              <a:rPr lang="it-IT" sz="1200" dirty="0"/>
              <a:t> and </a:t>
            </a:r>
            <a:r>
              <a:rPr lang="it-IT" sz="1200" dirty="0" err="1"/>
              <a:t>chemical</a:t>
            </a:r>
            <a:r>
              <a:rPr lang="it-IT" sz="1200" dirty="0"/>
              <a:t> </a:t>
            </a:r>
            <a:r>
              <a:rPr lang="it-IT" sz="1200" dirty="0" err="1"/>
              <a:t>etching</a:t>
            </a:r>
            <a:endParaRPr lang="it-IT" sz="1200" dirty="0"/>
          </a:p>
          <a:p>
            <a:pPr marL="742950" lvl="1" indent="-285750">
              <a:buFont typeface="Arial" panose="020B0604020202020204" pitchFamily="34" charset="0"/>
              <a:buChar char="•"/>
            </a:pPr>
            <a:r>
              <a:rPr lang="it-IT" sz="1200" dirty="0"/>
              <a:t>Trench </a:t>
            </a:r>
            <a:r>
              <a:rPr lang="it-IT" sz="1200" dirty="0" err="1"/>
              <a:t>depth</a:t>
            </a:r>
            <a:r>
              <a:rPr lang="it-IT" sz="1200" dirty="0"/>
              <a:t>: </a:t>
            </a:r>
            <a:r>
              <a:rPr lang="en-US" sz="1200" dirty="0"/>
              <a:t>~hundreds of nm</a:t>
            </a:r>
          </a:p>
          <a:p>
            <a:pPr marL="742950" lvl="1" indent="-285750">
              <a:buFont typeface="Arial" panose="020B0604020202020204" pitchFamily="34" charset="0"/>
              <a:buChar char="•"/>
            </a:pPr>
            <a:r>
              <a:rPr lang="en-US" sz="1200" dirty="0"/>
              <a:t>Trench sidewall can be tapered for an easier oxide filling and to reduce stress during subsequent thermal budget</a:t>
            </a:r>
          </a:p>
          <a:p>
            <a:pPr lvl="1"/>
            <a:endParaRPr lang="en-US" sz="1200" dirty="0"/>
          </a:p>
          <a:p>
            <a:pPr marL="285750" indent="-285750">
              <a:buFont typeface="Arial" panose="020B0604020202020204" pitchFamily="34" charset="0"/>
              <a:buChar char="•"/>
            </a:pPr>
            <a:r>
              <a:rPr lang="en-US" sz="1200" dirty="0"/>
              <a:t>The un-etched regions will become the active areas of our MOS devices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trenches will be filled with </a:t>
            </a:r>
            <a:r>
              <a:rPr lang="en-US" sz="1200" dirty="0" err="1"/>
              <a:t>dielctric</a:t>
            </a:r>
            <a:r>
              <a:rPr lang="en-US" sz="1200" dirty="0"/>
              <a:t> to provide electrical insulation between adjacent source and drain regions</a:t>
            </a:r>
            <a:endParaRPr lang="it-IT" sz="1200" dirty="0"/>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7" name="Picture 6">
            <a:extLst>
              <a:ext uri="{FF2B5EF4-FFF2-40B4-BE49-F238E27FC236}">
                <a16:creationId xmlns:a16="http://schemas.microsoft.com/office/drawing/2014/main" id="{5D46A74E-9543-C8D7-99AD-12137F5ADD32}"/>
              </a:ext>
            </a:extLst>
          </p:cNvPr>
          <p:cNvPicPr>
            <a:picLocks noChangeAspect="1"/>
          </p:cNvPicPr>
          <p:nvPr/>
        </p:nvPicPr>
        <p:blipFill>
          <a:blip r:embed="rId4"/>
          <a:stretch>
            <a:fillRect/>
          </a:stretch>
        </p:blipFill>
        <p:spPr>
          <a:xfrm>
            <a:off x="285196" y="2314787"/>
            <a:ext cx="3917558" cy="3498119"/>
          </a:xfrm>
          <a:prstGeom prst="rect">
            <a:avLst/>
          </a:prstGeom>
        </p:spPr>
      </p:pic>
    </p:spTree>
    <p:extLst>
      <p:ext uri="{BB962C8B-B14F-4D97-AF65-F5344CB8AC3E}">
        <p14:creationId xmlns:p14="http://schemas.microsoft.com/office/powerpoint/2010/main" val="27159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startAt="4"/>
            </a:pPr>
            <a:r>
              <a:rPr lang="en-US" sz="1200" b="1" dirty="0">
                <a:solidFill>
                  <a:schemeClr val="bg2">
                    <a:lumMod val="75000"/>
                  </a:schemeClr>
                </a:solidFill>
              </a:rPr>
              <a:t>Photo-resist spinning</a:t>
            </a:r>
          </a:p>
          <a:p>
            <a:pPr marL="342900" indent="-342900">
              <a:buFont typeface="+mj-lt"/>
              <a:buAutoNum type="arabicPeriod" startAt="4"/>
            </a:pPr>
            <a:r>
              <a:rPr lang="en-US" sz="1200" b="1" dirty="0">
                <a:solidFill>
                  <a:schemeClr val="bg2">
                    <a:lumMod val="75000"/>
                  </a:schemeClr>
                </a:solidFill>
              </a:rPr>
              <a:t>Mask1 exposure</a:t>
            </a:r>
          </a:p>
          <a:p>
            <a:pPr marL="342900" indent="-342900">
              <a:buFont typeface="+mj-lt"/>
              <a:buAutoNum type="arabicPeriod" startAt="4"/>
            </a:pPr>
            <a:r>
              <a:rPr lang="en-US" sz="1200" b="1" dirty="0">
                <a:solidFill>
                  <a:schemeClr val="bg2">
                    <a:lumMod val="75000"/>
                  </a:schemeClr>
                </a:solidFill>
              </a:rPr>
              <a:t>STI etching</a:t>
            </a:r>
          </a:p>
          <a:p>
            <a:pPr marL="342900" indent="-342900">
              <a:buFont typeface="+mj-lt"/>
              <a:buAutoNum type="arabicPeriod" startAt="4"/>
            </a:pPr>
            <a:r>
              <a:rPr lang="en-US" sz="1200" b="1" dirty="0"/>
              <a:t>Resist stripping</a:t>
            </a:r>
          </a:p>
          <a:p>
            <a:pPr marL="342900" indent="-342900">
              <a:buFont typeface="+mj-lt"/>
              <a:buAutoNum type="arabicPeriod" startAt="4"/>
            </a:pPr>
            <a:r>
              <a:rPr lang="en-US" sz="1200" b="1" dirty="0">
                <a:solidFill>
                  <a:schemeClr val="bg2">
                    <a:lumMod val="75000"/>
                  </a:schemeClr>
                </a:solidFill>
              </a:rPr>
              <a:t>Surface cleaning</a:t>
            </a:r>
          </a:p>
          <a:p>
            <a:pPr marL="342900" indent="-342900">
              <a:buFont typeface="+mj-lt"/>
              <a:buAutoNum type="arabicPeriod" startAt="4"/>
            </a:pPr>
            <a:r>
              <a:rPr lang="en-US" sz="1200" b="1" dirty="0">
                <a:solidFill>
                  <a:schemeClr val="bg2">
                    <a:lumMod val="75000"/>
                  </a:schemeClr>
                </a:solidFill>
              </a:rPr>
              <a:t>Sidewall Oxidation</a:t>
            </a:r>
          </a:p>
          <a:p>
            <a:pPr marL="342900" indent="-342900">
              <a:buFont typeface="+mj-lt"/>
              <a:buAutoNum type="arabicPeriod" startAt="4"/>
            </a:pPr>
            <a:r>
              <a:rPr lang="en-US" sz="1200" b="1" dirty="0">
                <a:solidFill>
                  <a:schemeClr val="bg2">
                    <a:lumMod val="75000"/>
                  </a:schemeClr>
                </a:solidFill>
              </a:rPr>
              <a:t>Trench filling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spTree>
    <p:extLst>
      <p:ext uri="{BB962C8B-B14F-4D97-AF65-F5344CB8AC3E}">
        <p14:creationId xmlns:p14="http://schemas.microsoft.com/office/powerpoint/2010/main" val="3570306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startAt="4"/>
            </a:pPr>
            <a:r>
              <a:rPr lang="en-US" sz="1200" b="1" dirty="0">
                <a:solidFill>
                  <a:schemeClr val="bg2">
                    <a:lumMod val="75000"/>
                  </a:schemeClr>
                </a:solidFill>
              </a:rPr>
              <a:t>Photo-resist spinning</a:t>
            </a:r>
          </a:p>
          <a:p>
            <a:pPr marL="342900" indent="-342900">
              <a:buFont typeface="+mj-lt"/>
              <a:buAutoNum type="arabicPeriod" startAt="4"/>
            </a:pPr>
            <a:r>
              <a:rPr lang="en-US" sz="1200" b="1" dirty="0">
                <a:solidFill>
                  <a:schemeClr val="bg2">
                    <a:lumMod val="75000"/>
                  </a:schemeClr>
                </a:solidFill>
              </a:rPr>
              <a:t>Mask1 exposure</a:t>
            </a:r>
          </a:p>
          <a:p>
            <a:pPr marL="342900" indent="-342900">
              <a:buFont typeface="+mj-lt"/>
              <a:buAutoNum type="arabicPeriod" startAt="4"/>
            </a:pPr>
            <a:r>
              <a:rPr lang="en-US" sz="1200" b="1" dirty="0">
                <a:solidFill>
                  <a:schemeClr val="bg2">
                    <a:lumMod val="75000"/>
                  </a:schemeClr>
                </a:solidFill>
              </a:rPr>
              <a:t>STI etching</a:t>
            </a:r>
          </a:p>
          <a:p>
            <a:pPr marL="342900" indent="-342900">
              <a:buFont typeface="+mj-lt"/>
              <a:buAutoNum type="arabicPeriod" startAt="4"/>
            </a:pPr>
            <a:r>
              <a:rPr lang="en-US" sz="1200" b="1" dirty="0">
                <a:solidFill>
                  <a:schemeClr val="bg2">
                    <a:lumMod val="75000"/>
                  </a:schemeClr>
                </a:solidFill>
              </a:rPr>
              <a:t>Resist stripping</a:t>
            </a:r>
          </a:p>
          <a:p>
            <a:pPr marL="342900" indent="-342900">
              <a:buFont typeface="+mj-lt"/>
              <a:buAutoNum type="arabicPeriod" startAt="4"/>
            </a:pPr>
            <a:r>
              <a:rPr lang="en-US" sz="1200" b="1" dirty="0"/>
              <a:t>Surface cleaning</a:t>
            </a:r>
          </a:p>
          <a:p>
            <a:pPr marL="342900" indent="-342900">
              <a:buFont typeface="+mj-lt"/>
              <a:buAutoNum type="arabicPeriod" startAt="4"/>
            </a:pPr>
            <a:r>
              <a:rPr lang="en-US" sz="1200" b="1" dirty="0"/>
              <a:t>Sidewall Oxidation</a:t>
            </a:r>
          </a:p>
          <a:p>
            <a:pPr marL="342900" indent="-342900">
              <a:buFont typeface="+mj-lt"/>
              <a:buAutoNum type="arabicPeriod" startAt="4"/>
            </a:pPr>
            <a:r>
              <a:rPr lang="en-US" sz="1200" b="1" dirty="0">
                <a:solidFill>
                  <a:schemeClr val="bg2">
                    <a:lumMod val="75000"/>
                  </a:schemeClr>
                </a:solidFill>
              </a:rPr>
              <a:t>Trench filling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Etch</a:t>
            </a:r>
            <a:r>
              <a:rPr lang="it-IT" sz="1200" dirty="0"/>
              <a:t> non-volatile by-products are </a:t>
            </a:r>
            <a:r>
              <a:rPr lang="it-IT" sz="1200" dirty="0" err="1"/>
              <a:t>removed</a:t>
            </a:r>
            <a:r>
              <a:rPr lang="it-IT" sz="1200" dirty="0"/>
              <a:t> from the </a:t>
            </a:r>
            <a:r>
              <a:rPr lang="it-IT" sz="1200" dirty="0" err="1"/>
              <a:t>surface</a:t>
            </a:r>
            <a:r>
              <a:rPr lang="it-IT" sz="1200" dirty="0"/>
              <a:t> (e.g. HF*H2O)</a:t>
            </a:r>
          </a:p>
          <a:p>
            <a:pPr marL="285750" indent="-285750">
              <a:buFont typeface="Arial" panose="020B0604020202020204" pitchFamily="34" charset="0"/>
              <a:buChar char="•"/>
            </a:pPr>
            <a:r>
              <a:rPr lang="it-IT" sz="1200" dirty="0"/>
              <a:t>Trench </a:t>
            </a:r>
            <a:r>
              <a:rPr lang="it-IT" sz="1200" dirty="0" err="1"/>
              <a:t>sidewalls</a:t>
            </a:r>
            <a:r>
              <a:rPr lang="it-IT" sz="1200" dirty="0"/>
              <a:t> are </a:t>
            </a:r>
            <a:r>
              <a:rPr lang="it-IT" sz="1200" dirty="0" err="1"/>
              <a:t>oxidized</a:t>
            </a:r>
            <a:r>
              <a:rPr lang="it-IT" sz="1200" dirty="0"/>
              <a:t> to </a:t>
            </a:r>
            <a:r>
              <a:rPr lang="it-IT" sz="1200" dirty="0" err="1"/>
              <a:t>repair</a:t>
            </a:r>
            <a:r>
              <a:rPr lang="it-IT" sz="1200" dirty="0"/>
              <a:t> </a:t>
            </a:r>
            <a:r>
              <a:rPr lang="it-IT" sz="1200" dirty="0" err="1"/>
              <a:t>surface</a:t>
            </a:r>
            <a:r>
              <a:rPr lang="it-IT" sz="1200" dirty="0"/>
              <a:t> </a:t>
            </a:r>
            <a:r>
              <a:rPr lang="it-IT" sz="1200" dirty="0" err="1"/>
              <a:t>etch</a:t>
            </a:r>
            <a:r>
              <a:rPr lang="it-IT" sz="1200" dirty="0"/>
              <a:t> </a:t>
            </a:r>
            <a:r>
              <a:rPr lang="it-IT" sz="1200" dirty="0" err="1"/>
              <a:t>damage</a:t>
            </a:r>
            <a:r>
              <a:rPr lang="it-IT" sz="1200" dirty="0"/>
              <a:t>:</a:t>
            </a:r>
          </a:p>
          <a:p>
            <a:pPr marL="742950" lvl="1" indent="-285750">
              <a:buFont typeface="Arial" panose="020B0604020202020204" pitchFamily="34" charset="0"/>
              <a:buChar char="•"/>
            </a:pPr>
            <a:r>
              <a:rPr lang="it-IT" sz="1200" dirty="0" err="1"/>
              <a:t>Thickness</a:t>
            </a:r>
            <a:r>
              <a:rPr lang="it-IT" sz="1200" dirty="0"/>
              <a:t> </a:t>
            </a:r>
            <a:r>
              <a:rPr lang="it-IT" sz="1200" dirty="0" err="1"/>
              <a:t>ranging</a:t>
            </a:r>
            <a:r>
              <a:rPr lang="it-IT" sz="1200" dirty="0"/>
              <a:t> from </a:t>
            </a:r>
            <a:r>
              <a:rPr lang="it-IT" sz="1200" dirty="0" err="1"/>
              <a:t>sofractions</a:t>
            </a:r>
            <a:r>
              <a:rPr lang="it-IT" sz="1200" dirty="0"/>
              <a:t> to </a:t>
            </a:r>
            <a:r>
              <a:rPr lang="it-IT" sz="1200" dirty="0" err="1"/>
              <a:t>tenths</a:t>
            </a:r>
            <a:r>
              <a:rPr lang="it-IT" sz="1200" dirty="0"/>
              <a:t> of nm</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pic>
        <p:nvPicPr>
          <p:cNvPr id="12" name="Picture 11">
            <a:extLst>
              <a:ext uri="{FF2B5EF4-FFF2-40B4-BE49-F238E27FC236}">
                <a16:creationId xmlns:a16="http://schemas.microsoft.com/office/drawing/2014/main" id="{312FB594-FA4B-2CBC-1EFD-E3DE514B50DB}"/>
              </a:ext>
            </a:extLst>
          </p:cNvPr>
          <p:cNvPicPr>
            <a:picLocks noChangeAspect="1"/>
          </p:cNvPicPr>
          <p:nvPr/>
        </p:nvPicPr>
        <p:blipFill rotWithShape="1">
          <a:blip r:embed="rId5"/>
          <a:srcRect r="5564"/>
          <a:stretch/>
        </p:blipFill>
        <p:spPr>
          <a:xfrm>
            <a:off x="180560" y="2774805"/>
            <a:ext cx="3887729" cy="3049185"/>
          </a:xfrm>
          <a:prstGeom prst="rect">
            <a:avLst/>
          </a:prstGeom>
        </p:spPr>
      </p:pic>
    </p:spTree>
    <p:extLst>
      <p:ext uri="{BB962C8B-B14F-4D97-AF65-F5344CB8AC3E}">
        <p14:creationId xmlns:p14="http://schemas.microsoft.com/office/powerpoint/2010/main" val="2513792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8"/>
            </a:pPr>
            <a:r>
              <a:rPr lang="en-US" sz="1200" b="1" dirty="0">
                <a:solidFill>
                  <a:schemeClr val="bg2">
                    <a:lumMod val="75000"/>
                  </a:schemeClr>
                </a:solidFill>
              </a:rPr>
              <a:t>Surface cleaning</a:t>
            </a:r>
          </a:p>
          <a:p>
            <a:pPr marL="228600" indent="-228600">
              <a:buFont typeface="+mj-lt"/>
              <a:buAutoNum type="arabicPeriod" startAt="8"/>
            </a:pPr>
            <a:r>
              <a:rPr lang="en-US" sz="1200" b="1" dirty="0">
                <a:solidFill>
                  <a:schemeClr val="bg2">
                    <a:lumMod val="75000"/>
                  </a:schemeClr>
                </a:solidFill>
              </a:rPr>
              <a:t>Sidewall Oxidation</a:t>
            </a:r>
          </a:p>
          <a:p>
            <a:pPr marL="228600" indent="-228600">
              <a:buFont typeface="+mj-lt"/>
              <a:buAutoNum type="arabicPeriod" startAt="8"/>
            </a:pPr>
            <a:r>
              <a:rPr lang="en-US" sz="1200" b="1" dirty="0"/>
              <a:t>Trench filling</a:t>
            </a:r>
          </a:p>
          <a:p>
            <a:pPr marL="228600" indent="-228600">
              <a:buFont typeface="+mj-lt"/>
              <a:buAutoNum type="arabicPeriod" startAt="8"/>
            </a:pPr>
            <a:r>
              <a:rPr lang="en-US" sz="1200" b="1" dirty="0">
                <a:solidFill>
                  <a:schemeClr val="bg2">
                    <a:lumMod val="75000"/>
                  </a:schemeClr>
                </a:solidFill>
              </a:rPr>
              <a:t>CMP</a:t>
            </a:r>
          </a:p>
          <a:p>
            <a:pPr marL="228600" indent="-228600">
              <a:buFont typeface="+mj-lt"/>
              <a:buAutoNum type="arabicPeriod" startAt="8"/>
            </a:pPr>
            <a:r>
              <a:rPr lang="en-US" sz="1200" b="1" dirty="0">
                <a:solidFill>
                  <a:schemeClr val="bg2">
                    <a:lumMod val="75000"/>
                  </a:schemeClr>
                </a:solidFill>
              </a:rPr>
              <a:t>Field oxide lowering</a:t>
            </a:r>
          </a:p>
          <a:p>
            <a:pPr marL="228600" indent="-228600">
              <a:buFont typeface="+mj-lt"/>
              <a:buAutoNum type="arabicPeriod" startAt="8"/>
            </a:pPr>
            <a:r>
              <a:rPr lang="en-US" sz="1200" b="1" dirty="0">
                <a:solidFill>
                  <a:schemeClr val="bg2">
                    <a:lumMod val="75000"/>
                  </a:schemeClr>
                </a:solidFill>
              </a:rPr>
              <a:t>Nitride stripping</a:t>
            </a:r>
          </a:p>
          <a:p>
            <a:pPr marL="228600" indent="-228600">
              <a:buFont typeface="+mj-lt"/>
              <a:buAutoNum type="arabicPeriod" startAt="8"/>
            </a:pPr>
            <a:r>
              <a:rPr lang="en-US" sz="1200" b="1" dirty="0">
                <a:solidFill>
                  <a:schemeClr val="bg2">
                    <a:lumMod val="75000"/>
                  </a:schemeClr>
                </a:solidFill>
              </a:rPr>
              <a:t>Photo-resist spinning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SiO2 </a:t>
            </a:r>
            <a:r>
              <a:rPr lang="it-IT" sz="1200" dirty="0" err="1"/>
              <a:t>is</a:t>
            </a:r>
            <a:r>
              <a:rPr lang="it-IT" sz="1200" dirty="0"/>
              <a:t> </a:t>
            </a:r>
            <a:r>
              <a:rPr lang="it-IT" sz="1200" dirty="0" err="1"/>
              <a:t>deposited</a:t>
            </a:r>
            <a:r>
              <a:rPr lang="it-IT" sz="1200" dirty="0"/>
              <a:t> </a:t>
            </a:r>
            <a:r>
              <a:rPr lang="it-IT" sz="1200" dirty="0" err="1"/>
              <a:t>into</a:t>
            </a:r>
            <a:r>
              <a:rPr lang="it-IT" sz="1200" dirty="0"/>
              <a:t> the trenches. </a:t>
            </a:r>
            <a:r>
              <a:rPr lang="it-IT" sz="1200" dirty="0" err="1"/>
              <a:t>Most</a:t>
            </a:r>
            <a:r>
              <a:rPr lang="it-IT" sz="1200" dirty="0"/>
              <a:t> </a:t>
            </a:r>
            <a:r>
              <a:rPr lang="it-IT" sz="1200" dirty="0" err="1"/>
              <a:t>used</a:t>
            </a:r>
            <a:r>
              <a:rPr lang="it-IT" sz="1200" dirty="0"/>
              <a:t> techniques are:</a:t>
            </a:r>
          </a:p>
          <a:p>
            <a:pPr marL="742950" lvl="1" indent="-285750">
              <a:buFont typeface="Arial" panose="020B0604020202020204" pitchFamily="34" charset="0"/>
              <a:buChar char="•"/>
            </a:pPr>
            <a:r>
              <a:rPr lang="it-IT" sz="1200" dirty="0"/>
              <a:t>HDP-CVD</a:t>
            </a:r>
          </a:p>
          <a:p>
            <a:pPr marL="742950" lvl="1" indent="-285750">
              <a:buFont typeface="Arial" panose="020B0604020202020204" pitchFamily="34" charset="0"/>
              <a:buChar char="•"/>
            </a:pPr>
            <a:r>
              <a:rPr lang="it-IT" sz="1200" dirty="0"/>
              <a:t>ALD</a:t>
            </a:r>
          </a:p>
          <a:p>
            <a:pPr marL="742950" lvl="1" indent="-285750">
              <a:buFont typeface="Arial" panose="020B0604020202020204" pitchFamily="34" charset="0"/>
              <a:buChar char="•"/>
            </a:pPr>
            <a:r>
              <a:rPr lang="it-IT" sz="1200" dirty="0"/>
              <a:t>Spin coating</a:t>
            </a:r>
          </a:p>
          <a:p>
            <a:pPr marL="742950" lvl="1" indent="-285750">
              <a:buFont typeface="Arial" panose="020B0604020202020204" pitchFamily="34" charset="0"/>
              <a:buChar char="•"/>
            </a:pPr>
            <a:endParaRPr lang="it-IT" sz="1200" dirty="0"/>
          </a:p>
          <a:p>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pic>
        <p:nvPicPr>
          <p:cNvPr id="12" name="Picture 11">
            <a:extLst>
              <a:ext uri="{FF2B5EF4-FFF2-40B4-BE49-F238E27FC236}">
                <a16:creationId xmlns:a16="http://schemas.microsoft.com/office/drawing/2014/main" id="{312FB594-FA4B-2CBC-1EFD-E3DE514B50DB}"/>
              </a:ext>
            </a:extLst>
          </p:cNvPr>
          <p:cNvPicPr>
            <a:picLocks noChangeAspect="1"/>
          </p:cNvPicPr>
          <p:nvPr/>
        </p:nvPicPr>
        <p:blipFill rotWithShape="1">
          <a:blip r:embed="rId5"/>
          <a:srcRect r="5564"/>
          <a:stretch/>
        </p:blipFill>
        <p:spPr>
          <a:xfrm>
            <a:off x="180560" y="2774805"/>
            <a:ext cx="3887729" cy="3049185"/>
          </a:xfrm>
          <a:prstGeom prst="rect">
            <a:avLst/>
          </a:prstGeom>
        </p:spPr>
      </p:pic>
      <p:pic>
        <p:nvPicPr>
          <p:cNvPr id="7" name="Picture 6">
            <a:extLst>
              <a:ext uri="{FF2B5EF4-FFF2-40B4-BE49-F238E27FC236}">
                <a16:creationId xmlns:a16="http://schemas.microsoft.com/office/drawing/2014/main" id="{CD24BD8A-AD21-2FA4-179F-B110FD0D755C}"/>
              </a:ext>
            </a:extLst>
          </p:cNvPr>
          <p:cNvPicPr>
            <a:picLocks noChangeAspect="1"/>
          </p:cNvPicPr>
          <p:nvPr/>
        </p:nvPicPr>
        <p:blipFill>
          <a:blip r:embed="rId6"/>
          <a:stretch>
            <a:fillRect/>
          </a:stretch>
        </p:blipFill>
        <p:spPr>
          <a:xfrm>
            <a:off x="196937" y="2774805"/>
            <a:ext cx="3961458" cy="3178320"/>
          </a:xfrm>
          <a:prstGeom prst="rect">
            <a:avLst/>
          </a:prstGeom>
        </p:spPr>
      </p:pic>
    </p:spTree>
    <p:extLst>
      <p:ext uri="{BB962C8B-B14F-4D97-AF65-F5344CB8AC3E}">
        <p14:creationId xmlns:p14="http://schemas.microsoft.com/office/powerpoint/2010/main" val="2914335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8"/>
            </a:pPr>
            <a:r>
              <a:rPr lang="en-US" sz="1200" b="1" dirty="0">
                <a:solidFill>
                  <a:schemeClr val="bg2">
                    <a:lumMod val="75000"/>
                  </a:schemeClr>
                </a:solidFill>
              </a:rPr>
              <a:t>Surface cleaning</a:t>
            </a:r>
          </a:p>
          <a:p>
            <a:pPr marL="228600" indent="-228600">
              <a:buFont typeface="+mj-lt"/>
              <a:buAutoNum type="arabicPeriod" startAt="8"/>
            </a:pPr>
            <a:r>
              <a:rPr lang="en-US" sz="1200" b="1" dirty="0">
                <a:solidFill>
                  <a:schemeClr val="bg2">
                    <a:lumMod val="75000"/>
                  </a:schemeClr>
                </a:solidFill>
              </a:rPr>
              <a:t>Sidewall Oxidation</a:t>
            </a:r>
          </a:p>
          <a:p>
            <a:pPr marL="228600" indent="-228600">
              <a:buFont typeface="+mj-lt"/>
              <a:buAutoNum type="arabicPeriod" startAt="8"/>
            </a:pPr>
            <a:r>
              <a:rPr lang="en-US" sz="1200" b="1" dirty="0">
                <a:solidFill>
                  <a:schemeClr val="bg2">
                    <a:lumMod val="75000"/>
                  </a:schemeClr>
                </a:solidFill>
              </a:rPr>
              <a:t>Trench filling</a:t>
            </a:r>
          </a:p>
          <a:p>
            <a:pPr marL="228600" indent="-228600">
              <a:buFont typeface="+mj-lt"/>
              <a:buAutoNum type="arabicPeriod" startAt="8"/>
            </a:pPr>
            <a:r>
              <a:rPr lang="en-US" sz="1200" b="1" dirty="0"/>
              <a:t>CMP</a:t>
            </a:r>
          </a:p>
          <a:p>
            <a:pPr marL="228600" indent="-228600">
              <a:buFont typeface="+mj-lt"/>
              <a:buAutoNum type="arabicPeriod" startAt="8"/>
            </a:pPr>
            <a:r>
              <a:rPr lang="en-US" sz="1200" b="1" dirty="0">
                <a:solidFill>
                  <a:schemeClr val="bg2">
                    <a:lumMod val="75000"/>
                  </a:schemeClr>
                </a:solidFill>
              </a:rPr>
              <a:t>Field oxide lowering</a:t>
            </a:r>
          </a:p>
          <a:p>
            <a:pPr marL="228600" indent="-228600">
              <a:buFont typeface="+mj-lt"/>
              <a:buAutoNum type="arabicPeriod" startAt="8"/>
            </a:pPr>
            <a:r>
              <a:rPr lang="en-US" sz="1200" b="1" dirty="0">
                <a:solidFill>
                  <a:schemeClr val="bg2">
                    <a:lumMod val="75000"/>
                  </a:schemeClr>
                </a:solidFill>
              </a:rPr>
              <a:t>Nitride stripping</a:t>
            </a:r>
          </a:p>
          <a:p>
            <a:pPr marL="228600" indent="-228600">
              <a:buFont typeface="+mj-lt"/>
              <a:buAutoNum type="arabicPeriod" startAt="8"/>
            </a:pPr>
            <a:r>
              <a:rPr lang="en-US" sz="1200" b="1" dirty="0">
                <a:solidFill>
                  <a:schemeClr val="bg2">
                    <a:lumMod val="75000"/>
                  </a:schemeClr>
                </a:solidFill>
              </a:rPr>
              <a:t>Photo-resist spinning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203132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Excess</a:t>
            </a:r>
            <a:r>
              <a:rPr lang="it-IT" sz="1200" dirty="0"/>
              <a:t> </a:t>
            </a:r>
            <a:r>
              <a:rPr lang="it-IT" sz="1200" dirty="0" err="1"/>
              <a:t>oxide</a:t>
            </a:r>
            <a:r>
              <a:rPr lang="it-IT" sz="1200" dirty="0"/>
              <a:t> </a:t>
            </a:r>
            <a:r>
              <a:rPr lang="it-IT" sz="1200" dirty="0" err="1"/>
              <a:t>is</a:t>
            </a:r>
            <a:r>
              <a:rPr lang="it-IT" sz="1200" dirty="0"/>
              <a:t> </a:t>
            </a:r>
            <a:r>
              <a:rPr lang="it-IT" sz="1200" dirty="0" err="1"/>
              <a:t>planarized</a:t>
            </a:r>
            <a:r>
              <a:rPr lang="it-IT" sz="1200" dirty="0"/>
              <a:t> by Chemical </a:t>
            </a:r>
            <a:r>
              <a:rPr lang="it-IT" sz="1200" dirty="0" err="1"/>
              <a:t>Mechanical</a:t>
            </a:r>
            <a:r>
              <a:rPr lang="it-IT" sz="1200" dirty="0"/>
              <a:t> </a:t>
            </a:r>
            <a:r>
              <a:rPr lang="it-IT" sz="1200" dirty="0" err="1"/>
              <a:t>Polishing</a:t>
            </a:r>
            <a:r>
              <a:rPr lang="it-IT" sz="1200" dirty="0"/>
              <a:t> (CMP):</a:t>
            </a:r>
          </a:p>
          <a:p>
            <a:pPr marL="742950" lvl="1" indent="-285750">
              <a:buFont typeface="Arial" panose="020B0604020202020204" pitchFamily="34" charset="0"/>
              <a:buChar char="•"/>
            </a:pPr>
            <a:r>
              <a:rPr lang="it-IT" sz="1200" dirty="0"/>
              <a:t>An abrasive disc and a </a:t>
            </a:r>
            <a:r>
              <a:rPr lang="it-IT" sz="1200" dirty="0" err="1"/>
              <a:t>colloidal</a:t>
            </a:r>
            <a:r>
              <a:rPr lang="it-IT" sz="1200" dirty="0"/>
              <a:t> </a:t>
            </a:r>
            <a:r>
              <a:rPr lang="it-IT" sz="1200" dirty="0" err="1"/>
              <a:t>sloution</a:t>
            </a:r>
            <a:r>
              <a:rPr lang="it-IT" sz="1200" dirty="0"/>
              <a:t> of </a:t>
            </a:r>
            <a:r>
              <a:rPr lang="it-IT" sz="1200" dirty="0" err="1"/>
              <a:t>silica</a:t>
            </a:r>
            <a:r>
              <a:rPr lang="it-IT" sz="1200" dirty="0"/>
              <a:t> or </a:t>
            </a:r>
            <a:r>
              <a:rPr lang="it-IT" sz="1200" dirty="0" err="1"/>
              <a:t>ceria</a:t>
            </a:r>
            <a:r>
              <a:rPr lang="it-IT" sz="1200" dirty="0"/>
              <a:t> </a:t>
            </a:r>
            <a:r>
              <a:rPr lang="it-IT" sz="1200" dirty="0" err="1"/>
              <a:t>particles</a:t>
            </a:r>
            <a:r>
              <a:rPr lang="it-IT" sz="1200" dirty="0"/>
              <a:t> (</a:t>
            </a:r>
            <a:r>
              <a:rPr lang="it-IT" sz="1200" dirty="0" err="1"/>
              <a:t>slurry</a:t>
            </a:r>
            <a:r>
              <a:rPr lang="it-IT" sz="1200" dirty="0"/>
              <a:t>) </a:t>
            </a:r>
            <a:r>
              <a:rPr lang="it-IT" sz="1200" dirty="0" err="1"/>
              <a:t>is</a:t>
            </a:r>
            <a:r>
              <a:rPr lang="it-IT" sz="1200" dirty="0"/>
              <a:t> </a:t>
            </a:r>
            <a:r>
              <a:rPr lang="it-IT" sz="1200" dirty="0" err="1"/>
              <a:t>used</a:t>
            </a:r>
            <a:r>
              <a:rPr lang="it-IT" sz="1200" dirty="0"/>
              <a:t> to erode silicon </a:t>
            </a:r>
            <a:r>
              <a:rPr lang="it-IT" sz="1200" dirty="0" err="1"/>
              <a:t>oxide</a:t>
            </a:r>
            <a:endParaRPr lang="it-IT" sz="1200" dirty="0"/>
          </a:p>
          <a:p>
            <a:pPr marL="742950" lvl="1" indent="-285750">
              <a:buFont typeface="Arial" panose="020B0604020202020204" pitchFamily="34" charset="0"/>
              <a:buChar char="•"/>
            </a:pPr>
            <a:r>
              <a:rPr lang="it-IT" sz="1200" dirty="0"/>
              <a:t>CMP </a:t>
            </a:r>
            <a:r>
              <a:rPr lang="it-IT" sz="1200" dirty="0" err="1"/>
              <a:t>stops</a:t>
            </a:r>
            <a:r>
              <a:rPr lang="it-IT" sz="1200" dirty="0"/>
              <a:t> </a:t>
            </a:r>
            <a:r>
              <a:rPr lang="it-IT" sz="1200" dirty="0" err="1"/>
              <a:t>selectively</a:t>
            </a:r>
            <a:r>
              <a:rPr lang="it-IT" sz="1200" dirty="0"/>
              <a:t> on silicon </a:t>
            </a:r>
            <a:r>
              <a:rPr lang="it-IT" sz="1200" dirty="0" err="1"/>
              <a:t>nitride</a:t>
            </a:r>
            <a:endParaRPr lang="it-IT" sz="1200" dirty="0"/>
          </a:p>
          <a:p>
            <a:pPr marL="742950" lvl="1" indent="-285750">
              <a:buFont typeface="Arial" panose="020B0604020202020204" pitchFamily="34" charset="0"/>
              <a:buChar char="•"/>
            </a:pPr>
            <a:endParaRPr lang="it-IT" sz="1200" dirty="0"/>
          </a:p>
          <a:p>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pic>
        <p:nvPicPr>
          <p:cNvPr id="12" name="Picture 11">
            <a:extLst>
              <a:ext uri="{FF2B5EF4-FFF2-40B4-BE49-F238E27FC236}">
                <a16:creationId xmlns:a16="http://schemas.microsoft.com/office/drawing/2014/main" id="{312FB594-FA4B-2CBC-1EFD-E3DE514B50DB}"/>
              </a:ext>
            </a:extLst>
          </p:cNvPr>
          <p:cNvPicPr>
            <a:picLocks noChangeAspect="1"/>
          </p:cNvPicPr>
          <p:nvPr/>
        </p:nvPicPr>
        <p:blipFill rotWithShape="1">
          <a:blip r:embed="rId5"/>
          <a:srcRect r="5564"/>
          <a:stretch/>
        </p:blipFill>
        <p:spPr>
          <a:xfrm>
            <a:off x="180560" y="2774805"/>
            <a:ext cx="3887729" cy="3049185"/>
          </a:xfrm>
          <a:prstGeom prst="rect">
            <a:avLst/>
          </a:prstGeom>
        </p:spPr>
      </p:pic>
      <p:pic>
        <p:nvPicPr>
          <p:cNvPr id="9" name="Picture 8">
            <a:extLst>
              <a:ext uri="{FF2B5EF4-FFF2-40B4-BE49-F238E27FC236}">
                <a16:creationId xmlns:a16="http://schemas.microsoft.com/office/drawing/2014/main" id="{18E1F655-93A5-8BEA-4467-55043CF52F56}"/>
              </a:ext>
            </a:extLst>
          </p:cNvPr>
          <p:cNvPicPr>
            <a:picLocks noChangeAspect="1"/>
          </p:cNvPicPr>
          <p:nvPr/>
        </p:nvPicPr>
        <p:blipFill rotWithShape="1">
          <a:blip r:embed="rId6"/>
          <a:srcRect l="2482" r="5646"/>
          <a:stretch/>
        </p:blipFill>
        <p:spPr>
          <a:xfrm>
            <a:off x="331401" y="2899255"/>
            <a:ext cx="3831497" cy="3073859"/>
          </a:xfrm>
          <a:prstGeom prst="rect">
            <a:avLst/>
          </a:prstGeom>
        </p:spPr>
      </p:pic>
    </p:spTree>
    <p:extLst>
      <p:ext uri="{BB962C8B-B14F-4D97-AF65-F5344CB8AC3E}">
        <p14:creationId xmlns:p14="http://schemas.microsoft.com/office/powerpoint/2010/main" val="157235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8"/>
            </a:pPr>
            <a:r>
              <a:rPr lang="en-US" sz="1200" b="1" dirty="0">
                <a:solidFill>
                  <a:schemeClr val="bg2">
                    <a:lumMod val="75000"/>
                  </a:schemeClr>
                </a:solidFill>
              </a:rPr>
              <a:t>Surface cleaning</a:t>
            </a:r>
          </a:p>
          <a:p>
            <a:pPr marL="228600" indent="-228600">
              <a:buFont typeface="+mj-lt"/>
              <a:buAutoNum type="arabicPeriod" startAt="8"/>
            </a:pPr>
            <a:r>
              <a:rPr lang="en-US" sz="1200" b="1" dirty="0">
                <a:solidFill>
                  <a:schemeClr val="bg2">
                    <a:lumMod val="75000"/>
                  </a:schemeClr>
                </a:solidFill>
              </a:rPr>
              <a:t>Sidewall Oxidation</a:t>
            </a:r>
          </a:p>
          <a:p>
            <a:pPr marL="228600" indent="-228600">
              <a:buFont typeface="+mj-lt"/>
              <a:buAutoNum type="arabicPeriod" startAt="8"/>
            </a:pPr>
            <a:r>
              <a:rPr lang="en-US" sz="1200" b="1" dirty="0">
                <a:solidFill>
                  <a:schemeClr val="bg2">
                    <a:lumMod val="75000"/>
                  </a:schemeClr>
                </a:solidFill>
              </a:rPr>
              <a:t>Trench filling</a:t>
            </a:r>
          </a:p>
          <a:p>
            <a:pPr marL="228600" indent="-228600">
              <a:buFont typeface="+mj-lt"/>
              <a:buAutoNum type="arabicPeriod" startAt="8"/>
            </a:pPr>
            <a:r>
              <a:rPr lang="en-US" sz="1200" b="1" dirty="0"/>
              <a:t>CMP</a:t>
            </a:r>
          </a:p>
          <a:p>
            <a:pPr marL="228600" indent="-228600">
              <a:buFont typeface="+mj-lt"/>
              <a:buAutoNum type="arabicPeriod" startAt="8"/>
            </a:pPr>
            <a:r>
              <a:rPr lang="en-US" sz="1200" b="1" dirty="0">
                <a:solidFill>
                  <a:schemeClr val="bg2">
                    <a:lumMod val="75000"/>
                  </a:schemeClr>
                </a:solidFill>
              </a:rPr>
              <a:t>Field oxide lowering</a:t>
            </a:r>
          </a:p>
          <a:p>
            <a:pPr marL="228600" indent="-228600">
              <a:buFont typeface="+mj-lt"/>
              <a:buAutoNum type="arabicPeriod" startAt="8"/>
            </a:pPr>
            <a:r>
              <a:rPr lang="en-US" sz="1200" b="1" dirty="0">
                <a:solidFill>
                  <a:schemeClr val="bg2">
                    <a:lumMod val="75000"/>
                  </a:schemeClr>
                </a:solidFill>
              </a:rPr>
              <a:t>Nitride stripping</a:t>
            </a:r>
          </a:p>
          <a:p>
            <a:pPr marL="228600" indent="-228600">
              <a:buFont typeface="+mj-lt"/>
              <a:buAutoNum type="arabicPeriod" startAt="8"/>
            </a:pPr>
            <a:r>
              <a:rPr lang="en-US" sz="1200" b="1" dirty="0">
                <a:solidFill>
                  <a:schemeClr val="bg2">
                    <a:lumMod val="75000"/>
                  </a:schemeClr>
                </a:solidFill>
              </a:rPr>
              <a:t>Photo-resist spinning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203132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Excess</a:t>
            </a:r>
            <a:r>
              <a:rPr lang="it-IT" sz="1200" dirty="0"/>
              <a:t> </a:t>
            </a:r>
            <a:r>
              <a:rPr lang="it-IT" sz="1200" dirty="0" err="1"/>
              <a:t>oxide</a:t>
            </a:r>
            <a:r>
              <a:rPr lang="it-IT" sz="1200" dirty="0"/>
              <a:t> </a:t>
            </a:r>
            <a:r>
              <a:rPr lang="it-IT" sz="1200" dirty="0" err="1"/>
              <a:t>is</a:t>
            </a:r>
            <a:r>
              <a:rPr lang="it-IT" sz="1200" dirty="0"/>
              <a:t> </a:t>
            </a:r>
            <a:r>
              <a:rPr lang="it-IT" sz="1200" dirty="0" err="1"/>
              <a:t>planarized</a:t>
            </a:r>
            <a:r>
              <a:rPr lang="it-IT" sz="1200" dirty="0"/>
              <a:t> by Chemical </a:t>
            </a:r>
            <a:r>
              <a:rPr lang="it-IT" sz="1200" dirty="0" err="1"/>
              <a:t>Mechanical</a:t>
            </a:r>
            <a:r>
              <a:rPr lang="it-IT" sz="1200" dirty="0"/>
              <a:t> </a:t>
            </a:r>
            <a:r>
              <a:rPr lang="it-IT" sz="1200" dirty="0" err="1"/>
              <a:t>Polishing</a:t>
            </a:r>
            <a:r>
              <a:rPr lang="it-IT" sz="1200" dirty="0"/>
              <a:t> (CMP):</a:t>
            </a:r>
          </a:p>
          <a:p>
            <a:pPr marL="742950" lvl="1" indent="-285750">
              <a:buFont typeface="Arial" panose="020B0604020202020204" pitchFamily="34" charset="0"/>
              <a:buChar char="•"/>
            </a:pPr>
            <a:r>
              <a:rPr lang="it-IT" sz="1200" dirty="0"/>
              <a:t>An abrasive disc and a </a:t>
            </a:r>
            <a:r>
              <a:rPr lang="it-IT" sz="1200" dirty="0" err="1"/>
              <a:t>colloidal</a:t>
            </a:r>
            <a:r>
              <a:rPr lang="it-IT" sz="1200" dirty="0"/>
              <a:t> </a:t>
            </a:r>
            <a:r>
              <a:rPr lang="it-IT" sz="1200" dirty="0" err="1"/>
              <a:t>sloution</a:t>
            </a:r>
            <a:r>
              <a:rPr lang="it-IT" sz="1200" dirty="0"/>
              <a:t> of </a:t>
            </a:r>
            <a:r>
              <a:rPr lang="it-IT" sz="1200" dirty="0" err="1"/>
              <a:t>silica</a:t>
            </a:r>
            <a:r>
              <a:rPr lang="it-IT" sz="1200" dirty="0"/>
              <a:t> or </a:t>
            </a:r>
            <a:r>
              <a:rPr lang="it-IT" sz="1200" dirty="0" err="1"/>
              <a:t>ceria</a:t>
            </a:r>
            <a:r>
              <a:rPr lang="it-IT" sz="1200" dirty="0"/>
              <a:t> </a:t>
            </a:r>
            <a:r>
              <a:rPr lang="it-IT" sz="1200" dirty="0" err="1"/>
              <a:t>particles</a:t>
            </a:r>
            <a:r>
              <a:rPr lang="it-IT" sz="1200" dirty="0"/>
              <a:t> (</a:t>
            </a:r>
            <a:r>
              <a:rPr lang="it-IT" sz="1200" dirty="0" err="1"/>
              <a:t>slurry</a:t>
            </a:r>
            <a:r>
              <a:rPr lang="it-IT" sz="1200" dirty="0"/>
              <a:t>) </a:t>
            </a:r>
            <a:r>
              <a:rPr lang="it-IT" sz="1200" dirty="0" err="1"/>
              <a:t>is</a:t>
            </a:r>
            <a:r>
              <a:rPr lang="it-IT" sz="1200" dirty="0"/>
              <a:t> </a:t>
            </a:r>
            <a:r>
              <a:rPr lang="it-IT" sz="1200" dirty="0" err="1"/>
              <a:t>used</a:t>
            </a:r>
            <a:r>
              <a:rPr lang="it-IT" sz="1200" dirty="0"/>
              <a:t> to erode silicon </a:t>
            </a:r>
            <a:r>
              <a:rPr lang="it-IT" sz="1200" dirty="0" err="1"/>
              <a:t>oxide</a:t>
            </a:r>
            <a:endParaRPr lang="it-IT" sz="1200" dirty="0"/>
          </a:p>
          <a:p>
            <a:pPr marL="742950" lvl="1" indent="-285750">
              <a:buFont typeface="Arial" panose="020B0604020202020204" pitchFamily="34" charset="0"/>
              <a:buChar char="•"/>
            </a:pPr>
            <a:r>
              <a:rPr lang="it-IT" sz="1200" dirty="0"/>
              <a:t>CMP </a:t>
            </a:r>
            <a:r>
              <a:rPr lang="it-IT" sz="1200" dirty="0" err="1"/>
              <a:t>stops</a:t>
            </a:r>
            <a:r>
              <a:rPr lang="it-IT" sz="1200" dirty="0"/>
              <a:t> </a:t>
            </a:r>
            <a:r>
              <a:rPr lang="it-IT" sz="1200" dirty="0" err="1"/>
              <a:t>selectively</a:t>
            </a:r>
            <a:r>
              <a:rPr lang="it-IT" sz="1200" dirty="0"/>
              <a:t> on silicon </a:t>
            </a:r>
            <a:r>
              <a:rPr lang="it-IT" sz="1200" dirty="0" err="1"/>
              <a:t>nitride</a:t>
            </a:r>
            <a:endParaRPr lang="it-IT" sz="1200" dirty="0"/>
          </a:p>
          <a:p>
            <a:pPr marL="742950" lvl="1" indent="-285750">
              <a:buFont typeface="Arial" panose="020B0604020202020204" pitchFamily="34" charset="0"/>
              <a:buChar char="•"/>
            </a:pPr>
            <a:endParaRPr lang="it-IT" sz="1200" dirty="0"/>
          </a:p>
          <a:p>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pic>
        <p:nvPicPr>
          <p:cNvPr id="12" name="Picture 11">
            <a:extLst>
              <a:ext uri="{FF2B5EF4-FFF2-40B4-BE49-F238E27FC236}">
                <a16:creationId xmlns:a16="http://schemas.microsoft.com/office/drawing/2014/main" id="{312FB594-FA4B-2CBC-1EFD-E3DE514B50DB}"/>
              </a:ext>
            </a:extLst>
          </p:cNvPr>
          <p:cNvPicPr>
            <a:picLocks noChangeAspect="1"/>
          </p:cNvPicPr>
          <p:nvPr/>
        </p:nvPicPr>
        <p:blipFill rotWithShape="1">
          <a:blip r:embed="rId5"/>
          <a:srcRect r="5564"/>
          <a:stretch/>
        </p:blipFill>
        <p:spPr>
          <a:xfrm>
            <a:off x="180560" y="2774805"/>
            <a:ext cx="3887729" cy="3049185"/>
          </a:xfrm>
          <a:prstGeom prst="rect">
            <a:avLst/>
          </a:prstGeom>
        </p:spPr>
      </p:pic>
      <p:pic>
        <p:nvPicPr>
          <p:cNvPr id="9" name="Picture 8">
            <a:extLst>
              <a:ext uri="{FF2B5EF4-FFF2-40B4-BE49-F238E27FC236}">
                <a16:creationId xmlns:a16="http://schemas.microsoft.com/office/drawing/2014/main" id="{18E1F655-93A5-8BEA-4467-55043CF52F56}"/>
              </a:ext>
            </a:extLst>
          </p:cNvPr>
          <p:cNvPicPr>
            <a:picLocks noChangeAspect="1"/>
          </p:cNvPicPr>
          <p:nvPr/>
        </p:nvPicPr>
        <p:blipFill rotWithShape="1">
          <a:blip r:embed="rId6"/>
          <a:srcRect l="2482" r="5646"/>
          <a:stretch/>
        </p:blipFill>
        <p:spPr>
          <a:xfrm>
            <a:off x="331401" y="2899255"/>
            <a:ext cx="3831497" cy="3073859"/>
          </a:xfrm>
          <a:prstGeom prst="rect">
            <a:avLst/>
          </a:prstGeom>
        </p:spPr>
      </p:pic>
      <p:pic>
        <p:nvPicPr>
          <p:cNvPr id="1026" name="Picture 2" descr="Reflexion LK Prime CMP">
            <a:extLst>
              <a:ext uri="{FF2B5EF4-FFF2-40B4-BE49-F238E27FC236}">
                <a16:creationId xmlns:a16="http://schemas.microsoft.com/office/drawing/2014/main" id="{F3C982D6-6196-D67B-E969-D5EE398C2E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936" y="1537740"/>
            <a:ext cx="6084256" cy="45631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4F6FC97-A110-92BC-8F43-2D2D7EC29F2A}"/>
              </a:ext>
            </a:extLst>
          </p:cNvPr>
          <p:cNvSpPr txBox="1"/>
          <p:nvPr/>
        </p:nvSpPr>
        <p:spPr>
          <a:xfrm>
            <a:off x="180558" y="5603783"/>
            <a:ext cx="6098458" cy="369332"/>
          </a:xfrm>
          <a:prstGeom prst="rect">
            <a:avLst/>
          </a:prstGeom>
          <a:noFill/>
        </p:spPr>
        <p:txBody>
          <a:bodyPr wrap="square">
            <a:spAutoFit/>
          </a:bodyPr>
          <a:lstStyle/>
          <a:p>
            <a:r>
              <a:rPr lang="en-US" dirty="0" err="1">
                <a:hlinkClick r:id="rId8"/>
              </a:rPr>
              <a:t>Reflexion</a:t>
            </a:r>
            <a:r>
              <a:rPr lang="en-US" dirty="0">
                <a:hlinkClick r:id="rId8"/>
              </a:rPr>
              <a:t> LK Prime CMP (appliedmaterials.com)</a:t>
            </a:r>
            <a:endParaRPr lang="en-US" dirty="0"/>
          </a:p>
        </p:txBody>
      </p:sp>
    </p:spTree>
    <p:extLst>
      <p:ext uri="{BB962C8B-B14F-4D97-AF65-F5344CB8AC3E}">
        <p14:creationId xmlns:p14="http://schemas.microsoft.com/office/powerpoint/2010/main" val="564188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8"/>
            </a:pPr>
            <a:r>
              <a:rPr lang="en-US" sz="1200" b="1" dirty="0">
                <a:solidFill>
                  <a:schemeClr val="bg2">
                    <a:lumMod val="75000"/>
                  </a:schemeClr>
                </a:solidFill>
              </a:rPr>
              <a:t>Surface cleaning</a:t>
            </a:r>
          </a:p>
          <a:p>
            <a:pPr marL="228600" indent="-228600">
              <a:buFont typeface="+mj-lt"/>
              <a:buAutoNum type="arabicPeriod" startAt="8"/>
            </a:pPr>
            <a:r>
              <a:rPr lang="en-US" sz="1200" b="1" dirty="0">
                <a:solidFill>
                  <a:schemeClr val="bg2">
                    <a:lumMod val="75000"/>
                  </a:schemeClr>
                </a:solidFill>
              </a:rPr>
              <a:t>Sidewall Oxidation</a:t>
            </a:r>
          </a:p>
          <a:p>
            <a:pPr marL="228600" indent="-228600">
              <a:buFont typeface="+mj-lt"/>
              <a:buAutoNum type="arabicPeriod" startAt="8"/>
            </a:pPr>
            <a:r>
              <a:rPr lang="en-US" sz="1200" b="1" dirty="0">
                <a:solidFill>
                  <a:schemeClr val="bg2">
                    <a:lumMod val="75000"/>
                  </a:schemeClr>
                </a:solidFill>
              </a:rPr>
              <a:t>Trench filling</a:t>
            </a:r>
          </a:p>
          <a:p>
            <a:pPr marL="228600" indent="-228600">
              <a:buFont typeface="+mj-lt"/>
              <a:buAutoNum type="arabicPeriod" startAt="8"/>
            </a:pPr>
            <a:r>
              <a:rPr lang="en-US" sz="1200" b="1" dirty="0">
                <a:solidFill>
                  <a:schemeClr val="bg2">
                    <a:lumMod val="75000"/>
                  </a:schemeClr>
                </a:solidFill>
              </a:rPr>
              <a:t>CMP</a:t>
            </a:r>
          </a:p>
          <a:p>
            <a:pPr marL="228600" indent="-228600">
              <a:buFont typeface="+mj-lt"/>
              <a:buAutoNum type="arabicPeriod" startAt="8"/>
            </a:pPr>
            <a:r>
              <a:rPr lang="en-US" sz="1200" b="1" dirty="0"/>
              <a:t>Field oxide lowering</a:t>
            </a:r>
          </a:p>
          <a:p>
            <a:pPr marL="228600" indent="-228600">
              <a:buFont typeface="+mj-lt"/>
              <a:buAutoNum type="arabicPeriod" startAt="8"/>
            </a:pPr>
            <a:r>
              <a:rPr lang="en-US" sz="1200" b="1" dirty="0">
                <a:solidFill>
                  <a:schemeClr val="bg2">
                    <a:lumMod val="75000"/>
                  </a:schemeClr>
                </a:solidFill>
              </a:rPr>
              <a:t>Nitride stripping</a:t>
            </a:r>
          </a:p>
          <a:p>
            <a:pPr marL="228600" indent="-228600">
              <a:buFont typeface="+mj-lt"/>
              <a:buAutoNum type="arabicPeriod" startAt="8"/>
            </a:pPr>
            <a:r>
              <a:rPr lang="en-US" sz="1200" b="1" dirty="0">
                <a:solidFill>
                  <a:schemeClr val="bg2">
                    <a:lumMod val="75000"/>
                  </a:schemeClr>
                </a:solidFill>
              </a:rPr>
              <a:t>Photo-resist spinning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Wet </a:t>
            </a:r>
            <a:r>
              <a:rPr lang="it-IT" sz="1200" dirty="0" err="1"/>
              <a:t>etch</a:t>
            </a:r>
            <a:r>
              <a:rPr lang="it-IT" sz="1200" dirty="0"/>
              <a:t> (e.g. HF+H2O) </a:t>
            </a:r>
            <a:r>
              <a:rPr lang="it-IT" sz="1200" dirty="0" err="1"/>
              <a:t>is</a:t>
            </a:r>
            <a:r>
              <a:rPr lang="it-IT" sz="1200" dirty="0"/>
              <a:t> </a:t>
            </a:r>
            <a:r>
              <a:rPr lang="it-IT" sz="1200" dirty="0" err="1"/>
              <a:t>used</a:t>
            </a:r>
            <a:r>
              <a:rPr lang="it-IT" sz="1200" dirty="0"/>
              <a:t> to </a:t>
            </a:r>
            <a:r>
              <a:rPr lang="it-IT" sz="1200" dirty="0" err="1"/>
              <a:t>recess</a:t>
            </a:r>
            <a:r>
              <a:rPr lang="it-IT" sz="1200" dirty="0"/>
              <a:t> </a:t>
            </a:r>
            <a:r>
              <a:rPr lang="it-IT" sz="1200" dirty="0" err="1"/>
              <a:t>silcion</a:t>
            </a:r>
            <a:r>
              <a:rPr lang="it-IT" sz="1200" dirty="0"/>
              <a:t> </a:t>
            </a:r>
            <a:r>
              <a:rPr lang="it-IT" sz="1200" dirty="0" err="1"/>
              <a:t>oxide</a:t>
            </a:r>
            <a:r>
              <a:rPr lang="it-IT" sz="1200" dirty="0"/>
              <a:t> </a:t>
            </a:r>
            <a:r>
              <a:rPr lang="it-IT" sz="1200" dirty="0" err="1"/>
              <a:t>slectively</a:t>
            </a:r>
            <a:r>
              <a:rPr lang="it-IT" sz="1200" dirty="0"/>
              <a:t> to silicon </a:t>
            </a:r>
            <a:r>
              <a:rPr lang="it-IT" sz="1200" dirty="0" err="1"/>
              <a:t>nitride</a:t>
            </a:r>
            <a:r>
              <a:rPr lang="it-IT" sz="1200" dirty="0"/>
              <a:t>.</a:t>
            </a:r>
          </a:p>
          <a:p>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6735F20D-82FD-6157-FD4C-2CF678F18320}"/>
              </a:ext>
            </a:extLst>
          </p:cNvPr>
          <p:cNvPicPr>
            <a:picLocks noChangeAspect="1"/>
          </p:cNvPicPr>
          <p:nvPr/>
        </p:nvPicPr>
        <p:blipFill>
          <a:blip r:embed="rId3"/>
          <a:stretch>
            <a:fillRect/>
          </a:stretch>
        </p:blipFill>
        <p:spPr>
          <a:xfrm>
            <a:off x="180559" y="2966870"/>
            <a:ext cx="4022195" cy="2938630"/>
          </a:xfrm>
          <a:prstGeom prst="rect">
            <a:avLst/>
          </a:prstGeom>
        </p:spPr>
      </p:pic>
      <p:pic>
        <p:nvPicPr>
          <p:cNvPr id="8" name="Picture 7">
            <a:extLst>
              <a:ext uri="{FF2B5EF4-FFF2-40B4-BE49-F238E27FC236}">
                <a16:creationId xmlns:a16="http://schemas.microsoft.com/office/drawing/2014/main" id="{A17A496C-6300-A863-063B-2937F53DA9AF}"/>
              </a:ext>
            </a:extLst>
          </p:cNvPr>
          <p:cNvPicPr>
            <a:picLocks noChangeAspect="1"/>
          </p:cNvPicPr>
          <p:nvPr/>
        </p:nvPicPr>
        <p:blipFill>
          <a:blip r:embed="rId4"/>
          <a:stretch>
            <a:fillRect/>
          </a:stretch>
        </p:blipFill>
        <p:spPr>
          <a:xfrm>
            <a:off x="331400" y="2831641"/>
            <a:ext cx="3736889" cy="3036499"/>
          </a:xfrm>
          <a:prstGeom prst="rect">
            <a:avLst/>
          </a:prstGeom>
        </p:spPr>
      </p:pic>
      <p:pic>
        <p:nvPicPr>
          <p:cNvPr id="12" name="Picture 11">
            <a:extLst>
              <a:ext uri="{FF2B5EF4-FFF2-40B4-BE49-F238E27FC236}">
                <a16:creationId xmlns:a16="http://schemas.microsoft.com/office/drawing/2014/main" id="{312FB594-FA4B-2CBC-1EFD-E3DE514B50DB}"/>
              </a:ext>
            </a:extLst>
          </p:cNvPr>
          <p:cNvPicPr>
            <a:picLocks noChangeAspect="1"/>
          </p:cNvPicPr>
          <p:nvPr/>
        </p:nvPicPr>
        <p:blipFill rotWithShape="1">
          <a:blip r:embed="rId5"/>
          <a:srcRect r="5564"/>
          <a:stretch/>
        </p:blipFill>
        <p:spPr>
          <a:xfrm>
            <a:off x="180560" y="2774805"/>
            <a:ext cx="3887729" cy="3049185"/>
          </a:xfrm>
          <a:prstGeom prst="rect">
            <a:avLst/>
          </a:prstGeom>
        </p:spPr>
      </p:pic>
      <p:pic>
        <p:nvPicPr>
          <p:cNvPr id="7" name="Picture 6">
            <a:extLst>
              <a:ext uri="{FF2B5EF4-FFF2-40B4-BE49-F238E27FC236}">
                <a16:creationId xmlns:a16="http://schemas.microsoft.com/office/drawing/2014/main" id="{D2D843BE-5B42-F3D9-2B0B-6645C3A99902}"/>
              </a:ext>
            </a:extLst>
          </p:cNvPr>
          <p:cNvPicPr>
            <a:picLocks noChangeAspect="1"/>
          </p:cNvPicPr>
          <p:nvPr/>
        </p:nvPicPr>
        <p:blipFill rotWithShape="1">
          <a:blip r:embed="rId6"/>
          <a:srcRect l="3145" r="5960"/>
          <a:stretch/>
        </p:blipFill>
        <p:spPr>
          <a:xfrm>
            <a:off x="196935" y="2871412"/>
            <a:ext cx="3887731" cy="3034088"/>
          </a:xfrm>
          <a:prstGeom prst="rect">
            <a:avLst/>
          </a:prstGeom>
        </p:spPr>
      </p:pic>
    </p:spTree>
    <p:extLst>
      <p:ext uri="{BB962C8B-B14F-4D97-AF65-F5344CB8AC3E}">
        <p14:creationId xmlns:p14="http://schemas.microsoft.com/office/powerpoint/2010/main" val="2754973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Shallow Trench Isolation (STI)</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1"/>
            </a:pPr>
            <a:r>
              <a:rPr lang="en-US" sz="1200" b="1" dirty="0">
                <a:solidFill>
                  <a:schemeClr val="bg2">
                    <a:lumMod val="75000"/>
                  </a:schemeClr>
                </a:solidFill>
              </a:rPr>
              <a:t>CMP</a:t>
            </a:r>
          </a:p>
          <a:p>
            <a:pPr marL="228600" indent="-228600">
              <a:buFont typeface="+mj-lt"/>
              <a:buAutoNum type="arabicPeriod" startAt="11"/>
            </a:pPr>
            <a:r>
              <a:rPr lang="en-US" sz="1200" b="1" dirty="0">
                <a:solidFill>
                  <a:schemeClr val="bg2">
                    <a:lumMod val="75000"/>
                  </a:schemeClr>
                </a:solidFill>
              </a:rPr>
              <a:t>Field oxide lowering</a:t>
            </a:r>
          </a:p>
          <a:p>
            <a:pPr marL="228600" indent="-228600">
              <a:buFont typeface="+mj-lt"/>
              <a:buAutoNum type="arabicPeriod" startAt="11"/>
            </a:pPr>
            <a:r>
              <a:rPr lang="en-US" sz="1200" b="1" dirty="0"/>
              <a:t>Nitride stripping</a:t>
            </a:r>
          </a:p>
          <a:p>
            <a:pPr marL="228600" indent="-228600">
              <a:buFont typeface="+mj-lt"/>
              <a:buAutoNum type="arabicPeriod" startAt="11"/>
            </a:pPr>
            <a:r>
              <a:rPr lang="en-US" sz="1200" b="1" dirty="0">
                <a:solidFill>
                  <a:schemeClr val="bg2">
                    <a:lumMod val="75000"/>
                  </a:schemeClr>
                </a:solidFill>
              </a:rPr>
              <a:t>Photo-resist spinning</a:t>
            </a:r>
          </a:p>
          <a:p>
            <a:pPr marL="228600" indent="-228600">
              <a:buFont typeface="+mj-lt"/>
              <a:buAutoNum type="arabicPeriod" startAt="11"/>
            </a:pPr>
            <a:r>
              <a:rPr lang="en-US" sz="1200" b="1" dirty="0">
                <a:solidFill>
                  <a:schemeClr val="bg2">
                    <a:lumMod val="75000"/>
                  </a:schemeClr>
                </a:solidFill>
              </a:rPr>
              <a:t>Mask 2 exposure (p-well)</a:t>
            </a:r>
          </a:p>
          <a:p>
            <a:pPr marL="228600" indent="-228600">
              <a:buFont typeface="+mj-lt"/>
              <a:buAutoNum type="arabicPeriod" startAt="11"/>
            </a:pPr>
            <a:r>
              <a:rPr lang="en-US" sz="1200" b="1" dirty="0">
                <a:solidFill>
                  <a:schemeClr val="bg2">
                    <a:lumMod val="75000"/>
                  </a:schemeClr>
                </a:solidFill>
              </a:rPr>
              <a:t>Boron ion implantation</a:t>
            </a:r>
          </a:p>
          <a:p>
            <a:pPr marL="228600" indent="-228600">
              <a:buFont typeface="+mj-lt"/>
              <a:buAutoNum type="arabicPeriod" startAt="11"/>
            </a:pPr>
            <a:r>
              <a:rPr lang="en-US" sz="1200" b="1" dirty="0">
                <a:solidFill>
                  <a:schemeClr val="bg2">
                    <a:lumMod val="75000"/>
                  </a:schemeClr>
                </a:solidFill>
              </a:rPr>
              <a:t>Photo resist stripping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Silicon </a:t>
            </a:r>
            <a:r>
              <a:rPr lang="it-IT" sz="1200" dirty="0" err="1"/>
              <a:t>nitride</a:t>
            </a:r>
            <a:r>
              <a:rPr lang="it-IT" sz="1200" dirty="0"/>
              <a:t> </a:t>
            </a:r>
            <a:r>
              <a:rPr lang="it-IT" sz="1200" dirty="0" err="1"/>
              <a:t>is</a:t>
            </a:r>
            <a:r>
              <a:rPr lang="it-IT" sz="1200" dirty="0"/>
              <a:t> </a:t>
            </a:r>
            <a:r>
              <a:rPr lang="it-IT" sz="1200" dirty="0" err="1"/>
              <a:t>removed</a:t>
            </a:r>
            <a:r>
              <a:rPr lang="it-IT" sz="1200" dirty="0"/>
              <a:t> by </a:t>
            </a:r>
            <a:r>
              <a:rPr lang="it-IT" sz="1200" dirty="0" err="1"/>
              <a:t>wet</a:t>
            </a:r>
            <a:r>
              <a:rPr lang="it-IT" sz="1200" dirty="0"/>
              <a:t> </a:t>
            </a:r>
            <a:r>
              <a:rPr lang="it-IT" sz="1200" dirty="0" err="1"/>
              <a:t>etching</a:t>
            </a:r>
            <a:r>
              <a:rPr lang="it-IT" sz="1200" dirty="0"/>
              <a:t>, </a:t>
            </a:r>
            <a:r>
              <a:rPr lang="it-IT" sz="1200" dirty="0" err="1"/>
              <a:t>selectively</a:t>
            </a:r>
            <a:r>
              <a:rPr lang="it-IT" sz="1200" dirty="0"/>
              <a:t> to silicon </a:t>
            </a:r>
            <a:r>
              <a:rPr lang="it-IT" sz="1200" dirty="0" err="1"/>
              <a:t>oxide</a:t>
            </a:r>
            <a:endParaRPr lang="it-IT" sz="1200" dirty="0"/>
          </a:p>
          <a:p>
            <a:pPr marL="742950" lvl="1" indent="-285750">
              <a:buFont typeface="Arial" panose="020B0604020202020204" pitchFamily="34" charset="0"/>
              <a:buChar char="•"/>
            </a:pPr>
            <a:r>
              <a:rPr lang="it-IT" sz="1200" dirty="0"/>
              <a:t>H3P04+H2O</a:t>
            </a:r>
          </a:p>
          <a:p>
            <a:pPr marL="285750" indent="-285750">
              <a:buFont typeface="Arial" panose="020B0604020202020204" pitchFamily="34" charset="0"/>
              <a:buChar char="•"/>
            </a:pPr>
            <a:r>
              <a:rPr lang="it-IT" sz="1200" dirty="0" err="1"/>
              <a:t>Planarity</a:t>
            </a:r>
            <a:r>
              <a:rPr lang="it-IT" sz="1200" dirty="0"/>
              <a:t> </a:t>
            </a:r>
            <a:r>
              <a:rPr lang="it-IT" sz="1200" dirty="0" err="1"/>
              <a:t>is</a:t>
            </a:r>
            <a:r>
              <a:rPr lang="it-IT" sz="1200" dirty="0"/>
              <a:t> </a:t>
            </a:r>
            <a:r>
              <a:rPr lang="it-IT" sz="1200" dirty="0" err="1"/>
              <a:t>restored</a:t>
            </a:r>
            <a:endParaRPr lang="it-IT" sz="1200" dirty="0"/>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9" name="Picture 8">
            <a:extLst>
              <a:ext uri="{FF2B5EF4-FFF2-40B4-BE49-F238E27FC236}">
                <a16:creationId xmlns:a16="http://schemas.microsoft.com/office/drawing/2014/main" id="{ED1AC31C-95C2-E308-D079-51F525B57C48}"/>
              </a:ext>
            </a:extLst>
          </p:cNvPr>
          <p:cNvPicPr>
            <a:picLocks noChangeAspect="1"/>
          </p:cNvPicPr>
          <p:nvPr/>
        </p:nvPicPr>
        <p:blipFill>
          <a:blip r:embed="rId3"/>
          <a:stretch>
            <a:fillRect/>
          </a:stretch>
        </p:blipFill>
        <p:spPr>
          <a:xfrm>
            <a:off x="276027" y="3429001"/>
            <a:ext cx="3945802" cy="2470824"/>
          </a:xfrm>
          <a:prstGeom prst="rect">
            <a:avLst/>
          </a:prstGeom>
        </p:spPr>
      </p:pic>
    </p:spTree>
    <p:extLst>
      <p:ext uri="{BB962C8B-B14F-4D97-AF65-F5344CB8AC3E}">
        <p14:creationId xmlns:p14="http://schemas.microsoft.com/office/powerpoint/2010/main" val="320268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P-well</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1"/>
            </a:pPr>
            <a:r>
              <a:rPr lang="en-US" sz="1200" b="1" dirty="0">
                <a:solidFill>
                  <a:schemeClr val="bg2">
                    <a:lumMod val="75000"/>
                  </a:schemeClr>
                </a:solidFill>
              </a:rPr>
              <a:t>CMP</a:t>
            </a:r>
          </a:p>
          <a:p>
            <a:pPr marL="228600" indent="-228600">
              <a:buFont typeface="+mj-lt"/>
              <a:buAutoNum type="arabicPeriod" startAt="11"/>
            </a:pPr>
            <a:r>
              <a:rPr lang="en-US" sz="1200" b="1" dirty="0">
                <a:solidFill>
                  <a:schemeClr val="bg2">
                    <a:lumMod val="75000"/>
                  </a:schemeClr>
                </a:solidFill>
              </a:rPr>
              <a:t>Field oxide lowering</a:t>
            </a:r>
          </a:p>
          <a:p>
            <a:pPr marL="228600" indent="-228600">
              <a:buFont typeface="+mj-lt"/>
              <a:buAutoNum type="arabicPeriod" startAt="11"/>
            </a:pPr>
            <a:r>
              <a:rPr lang="en-US" sz="1200" b="1" dirty="0">
                <a:solidFill>
                  <a:schemeClr val="bg2">
                    <a:lumMod val="75000"/>
                  </a:schemeClr>
                </a:solidFill>
              </a:rPr>
              <a:t>Nitride stripping</a:t>
            </a:r>
          </a:p>
          <a:p>
            <a:pPr marL="228600" indent="-228600">
              <a:buFont typeface="+mj-lt"/>
              <a:buAutoNum type="arabicPeriod" startAt="11"/>
            </a:pPr>
            <a:r>
              <a:rPr lang="en-US" sz="1200" b="1" dirty="0"/>
              <a:t>Photo-resist spinning</a:t>
            </a:r>
          </a:p>
          <a:p>
            <a:pPr marL="228600" indent="-228600">
              <a:buFont typeface="+mj-lt"/>
              <a:buAutoNum type="arabicPeriod" startAt="11"/>
            </a:pPr>
            <a:r>
              <a:rPr lang="en-US" sz="1200" b="1" dirty="0"/>
              <a:t>Mask 2 exposure (p-well)</a:t>
            </a:r>
          </a:p>
          <a:p>
            <a:pPr marL="228600" indent="-228600">
              <a:buFont typeface="+mj-lt"/>
              <a:buAutoNum type="arabicPeriod" startAt="11"/>
            </a:pPr>
            <a:r>
              <a:rPr lang="en-US" sz="1200" b="1" dirty="0">
                <a:solidFill>
                  <a:schemeClr val="bg2">
                    <a:lumMod val="75000"/>
                  </a:schemeClr>
                </a:solidFill>
              </a:rPr>
              <a:t>Boron ion implantation</a:t>
            </a:r>
          </a:p>
          <a:p>
            <a:pPr marL="228600" indent="-228600">
              <a:buFont typeface="+mj-lt"/>
              <a:buAutoNum type="arabicPeriod" startAt="11"/>
            </a:pPr>
            <a:r>
              <a:rPr lang="en-US" sz="1200" b="1" dirty="0">
                <a:solidFill>
                  <a:schemeClr val="bg2">
                    <a:lumMod val="75000"/>
                  </a:schemeClr>
                </a:solidFill>
              </a:rPr>
              <a:t>Photo resist stripping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2</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29266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After </a:t>
            </a:r>
            <a:r>
              <a:rPr lang="it-IT" sz="1200" dirty="0" err="1"/>
              <a:t>exposure</a:t>
            </a:r>
            <a:r>
              <a:rPr lang="it-IT" sz="1200" dirty="0"/>
              <a:t>, </a:t>
            </a:r>
            <a:r>
              <a:rPr lang="it-IT" sz="1200" dirty="0" err="1"/>
              <a:t>photoresist</a:t>
            </a:r>
            <a:r>
              <a:rPr lang="it-IT" sz="1200" dirty="0"/>
              <a:t> covers future p-</a:t>
            </a:r>
            <a:r>
              <a:rPr lang="it-IT" sz="1200" dirty="0" err="1"/>
              <a:t>channel</a:t>
            </a:r>
            <a:r>
              <a:rPr lang="it-IT" sz="1200" dirty="0"/>
              <a:t> zones</a:t>
            </a:r>
          </a:p>
          <a:p>
            <a:pPr marL="285750" indent="-285750">
              <a:buFont typeface="Arial" panose="020B0604020202020204" pitchFamily="34" charset="0"/>
              <a:buChar char="•"/>
            </a:pPr>
            <a:r>
              <a:rPr lang="it-IT" sz="1200" dirty="0"/>
              <a:t>Future n-</a:t>
            </a:r>
            <a:r>
              <a:rPr lang="it-IT" sz="1200" dirty="0" err="1"/>
              <a:t>channel</a:t>
            </a:r>
            <a:r>
              <a:rPr lang="it-IT" sz="1200" dirty="0"/>
              <a:t> zones are </a:t>
            </a:r>
            <a:r>
              <a:rPr lang="it-IT" sz="1200" dirty="0" err="1"/>
              <a:t>left</a:t>
            </a:r>
            <a:r>
              <a:rPr lang="it-IT" sz="1200" dirty="0"/>
              <a:t> open</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9" name="Picture 8">
            <a:extLst>
              <a:ext uri="{FF2B5EF4-FFF2-40B4-BE49-F238E27FC236}">
                <a16:creationId xmlns:a16="http://schemas.microsoft.com/office/drawing/2014/main" id="{ED1AC31C-95C2-E308-D079-51F525B57C48}"/>
              </a:ext>
            </a:extLst>
          </p:cNvPr>
          <p:cNvPicPr>
            <a:picLocks noChangeAspect="1"/>
          </p:cNvPicPr>
          <p:nvPr/>
        </p:nvPicPr>
        <p:blipFill>
          <a:blip r:embed="rId3"/>
          <a:stretch>
            <a:fillRect/>
          </a:stretch>
        </p:blipFill>
        <p:spPr>
          <a:xfrm>
            <a:off x="276027" y="3429001"/>
            <a:ext cx="3945802" cy="2470824"/>
          </a:xfrm>
          <a:prstGeom prst="rect">
            <a:avLst/>
          </a:prstGeom>
        </p:spPr>
      </p:pic>
      <p:pic>
        <p:nvPicPr>
          <p:cNvPr id="6" name="Picture 5">
            <a:extLst>
              <a:ext uri="{FF2B5EF4-FFF2-40B4-BE49-F238E27FC236}">
                <a16:creationId xmlns:a16="http://schemas.microsoft.com/office/drawing/2014/main" id="{E451A6E7-DDF0-FD8D-F1EB-79C03D76E5E4}"/>
              </a:ext>
            </a:extLst>
          </p:cNvPr>
          <p:cNvPicPr>
            <a:picLocks noChangeAspect="1"/>
          </p:cNvPicPr>
          <p:nvPr/>
        </p:nvPicPr>
        <p:blipFill rotWithShape="1">
          <a:blip r:embed="rId4"/>
          <a:srcRect l="3933" r="4709"/>
          <a:stretch/>
        </p:blipFill>
        <p:spPr>
          <a:xfrm>
            <a:off x="180558" y="2601956"/>
            <a:ext cx="4022195" cy="3280407"/>
          </a:xfrm>
          <a:prstGeom prst="rect">
            <a:avLst/>
          </a:prstGeom>
        </p:spPr>
      </p:pic>
    </p:spTree>
    <p:extLst>
      <p:ext uri="{BB962C8B-B14F-4D97-AF65-F5344CB8AC3E}">
        <p14:creationId xmlns:p14="http://schemas.microsoft.com/office/powerpoint/2010/main" val="3253894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P-well</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1"/>
            </a:pPr>
            <a:r>
              <a:rPr lang="en-US" sz="1200" b="1" dirty="0">
                <a:solidFill>
                  <a:schemeClr val="bg2">
                    <a:lumMod val="75000"/>
                  </a:schemeClr>
                </a:solidFill>
              </a:rPr>
              <a:t>CMP</a:t>
            </a:r>
          </a:p>
          <a:p>
            <a:pPr marL="228600" indent="-228600">
              <a:buFont typeface="+mj-lt"/>
              <a:buAutoNum type="arabicPeriod" startAt="11"/>
            </a:pPr>
            <a:r>
              <a:rPr lang="en-US" sz="1200" b="1" dirty="0">
                <a:solidFill>
                  <a:schemeClr val="bg2">
                    <a:lumMod val="75000"/>
                  </a:schemeClr>
                </a:solidFill>
              </a:rPr>
              <a:t>Field oxide lowering</a:t>
            </a:r>
          </a:p>
          <a:p>
            <a:pPr marL="228600" indent="-228600">
              <a:buFont typeface="+mj-lt"/>
              <a:buAutoNum type="arabicPeriod" startAt="11"/>
            </a:pPr>
            <a:r>
              <a:rPr lang="en-US" sz="1200" b="1" dirty="0">
                <a:solidFill>
                  <a:schemeClr val="bg2">
                    <a:lumMod val="75000"/>
                  </a:schemeClr>
                </a:solidFill>
              </a:rPr>
              <a:t>Nitride stripping</a:t>
            </a:r>
          </a:p>
          <a:p>
            <a:pPr marL="228600" indent="-228600">
              <a:buFont typeface="+mj-lt"/>
              <a:buAutoNum type="arabicPeriod" startAt="11"/>
            </a:pPr>
            <a:r>
              <a:rPr lang="en-US" sz="1200" b="1" dirty="0">
                <a:solidFill>
                  <a:schemeClr val="bg2">
                    <a:lumMod val="75000"/>
                  </a:schemeClr>
                </a:solidFill>
              </a:rPr>
              <a:t>Photo-resist spinning</a:t>
            </a:r>
          </a:p>
          <a:p>
            <a:pPr marL="228600" indent="-228600">
              <a:buFont typeface="+mj-lt"/>
              <a:buAutoNum type="arabicPeriod" startAt="11"/>
            </a:pPr>
            <a:r>
              <a:rPr lang="en-US" sz="1200" b="1" dirty="0">
                <a:solidFill>
                  <a:schemeClr val="bg2">
                    <a:lumMod val="75000"/>
                  </a:schemeClr>
                </a:solidFill>
              </a:rPr>
              <a:t>Mask 2 exposure (p-well)</a:t>
            </a:r>
          </a:p>
          <a:p>
            <a:pPr marL="228600" indent="-228600">
              <a:buFont typeface="+mj-lt"/>
              <a:buAutoNum type="arabicPeriod" startAt="11"/>
            </a:pPr>
            <a:r>
              <a:rPr lang="en-US" sz="1200" b="1" dirty="0"/>
              <a:t>Boron ion implantation</a:t>
            </a:r>
          </a:p>
          <a:p>
            <a:pPr marL="228600" indent="-228600">
              <a:buFont typeface="+mj-lt"/>
              <a:buAutoNum type="arabicPeriod" startAt="11"/>
            </a:pPr>
            <a:r>
              <a:rPr lang="en-US" sz="1200" b="1" dirty="0">
                <a:solidFill>
                  <a:schemeClr val="bg2">
                    <a:lumMod val="75000"/>
                  </a:schemeClr>
                </a:solidFill>
              </a:rPr>
              <a:t>Photo resist stripping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2</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The open </a:t>
            </a:r>
            <a:r>
              <a:rPr lang="it-IT" sz="1200" dirty="0" err="1"/>
              <a:t>areas</a:t>
            </a:r>
            <a:r>
              <a:rPr lang="it-IT" sz="1200" dirty="0"/>
              <a:t> are </a:t>
            </a:r>
            <a:r>
              <a:rPr lang="it-IT" sz="1200" dirty="0" err="1"/>
              <a:t>doped</a:t>
            </a:r>
            <a:r>
              <a:rPr lang="it-IT" sz="1200" dirty="0"/>
              <a:t> by </a:t>
            </a:r>
            <a:r>
              <a:rPr lang="it-IT" sz="1200" dirty="0" err="1"/>
              <a:t>boron</a:t>
            </a:r>
            <a:r>
              <a:rPr lang="it-IT" sz="1200" dirty="0"/>
              <a:t> </a:t>
            </a:r>
            <a:r>
              <a:rPr lang="it-IT" sz="1200" dirty="0" err="1"/>
              <a:t>implantation</a:t>
            </a:r>
            <a:endParaRPr lang="it-IT" sz="1200" dirty="0"/>
          </a:p>
          <a:p>
            <a:pPr marL="742950" lvl="1" indent="-285750">
              <a:buFont typeface="Arial" panose="020B0604020202020204" pitchFamily="34" charset="0"/>
              <a:buChar char="•"/>
            </a:pPr>
            <a:r>
              <a:rPr lang="it-IT" sz="1200" dirty="0"/>
              <a:t>A </a:t>
            </a:r>
            <a:r>
              <a:rPr lang="it-IT" sz="1200" dirty="0" err="1"/>
              <a:t>deeper</a:t>
            </a:r>
            <a:r>
              <a:rPr lang="it-IT" sz="1200" dirty="0"/>
              <a:t> </a:t>
            </a:r>
            <a:r>
              <a:rPr lang="it-IT" sz="1200" dirty="0" err="1"/>
              <a:t>implant</a:t>
            </a:r>
            <a:r>
              <a:rPr lang="it-IT" sz="1200" dirty="0"/>
              <a:t> (</a:t>
            </a:r>
            <a:r>
              <a:rPr lang="it-IT" sz="1200" dirty="0" err="1"/>
              <a:t>hundres</a:t>
            </a:r>
            <a:r>
              <a:rPr lang="it-IT" sz="1200" dirty="0"/>
              <a:t> of </a:t>
            </a:r>
            <a:r>
              <a:rPr lang="it-IT" sz="1200" dirty="0" err="1"/>
              <a:t>KeV</a:t>
            </a:r>
            <a:r>
              <a:rPr lang="it-IT" sz="1200" dirty="0"/>
              <a:t>, </a:t>
            </a:r>
            <a:r>
              <a:rPr lang="it-IT" sz="1200" dirty="0" err="1"/>
              <a:t>lower</a:t>
            </a:r>
            <a:r>
              <a:rPr lang="it-IT" sz="1200" dirty="0"/>
              <a:t> dose) </a:t>
            </a:r>
            <a:r>
              <a:rPr lang="it-IT" sz="1200" dirty="0" err="1"/>
              <a:t>provides</a:t>
            </a:r>
            <a:r>
              <a:rPr lang="it-IT" sz="1200" dirty="0"/>
              <a:t> </a:t>
            </a:r>
            <a:r>
              <a:rPr lang="it-IT" sz="1200" dirty="0" err="1"/>
              <a:t>teh</a:t>
            </a:r>
            <a:r>
              <a:rPr lang="it-IT" sz="1200" dirty="0"/>
              <a:t> </a:t>
            </a:r>
            <a:r>
              <a:rPr lang="it-IT" sz="1200" dirty="0" err="1"/>
              <a:t>desired</a:t>
            </a:r>
            <a:r>
              <a:rPr lang="it-IT" sz="1200" dirty="0"/>
              <a:t> body doping</a:t>
            </a:r>
          </a:p>
          <a:p>
            <a:pPr marL="742950" lvl="1" indent="-285750">
              <a:buFont typeface="Arial" panose="020B0604020202020204" pitchFamily="34" charset="0"/>
              <a:buChar char="•"/>
            </a:pPr>
            <a:r>
              <a:rPr lang="it-IT" sz="1200" dirty="0"/>
              <a:t>A </a:t>
            </a:r>
            <a:r>
              <a:rPr lang="it-IT" sz="1200" dirty="0" err="1"/>
              <a:t>shallower</a:t>
            </a:r>
            <a:r>
              <a:rPr lang="it-IT" sz="1200" dirty="0"/>
              <a:t> </a:t>
            </a:r>
            <a:r>
              <a:rPr lang="it-IT" sz="1200" dirty="0" err="1"/>
              <a:t>implant</a:t>
            </a:r>
            <a:r>
              <a:rPr lang="it-IT" sz="1200" dirty="0"/>
              <a:t> (</a:t>
            </a:r>
            <a:r>
              <a:rPr lang="it-IT" sz="1200" dirty="0" err="1"/>
              <a:t>tens</a:t>
            </a:r>
            <a:r>
              <a:rPr lang="it-IT" sz="1200" dirty="0"/>
              <a:t> of </a:t>
            </a:r>
            <a:r>
              <a:rPr lang="it-IT" sz="1200" dirty="0" err="1"/>
              <a:t>KeV</a:t>
            </a:r>
            <a:r>
              <a:rPr lang="it-IT" sz="1200" dirty="0"/>
              <a:t>, </a:t>
            </a:r>
            <a:r>
              <a:rPr lang="it-IT" sz="1200" dirty="0" err="1"/>
              <a:t>higher</a:t>
            </a:r>
            <a:r>
              <a:rPr lang="it-IT" sz="1200" dirty="0"/>
              <a:t> dose) can be </a:t>
            </a:r>
            <a:r>
              <a:rPr lang="it-IT" sz="1200" dirty="0" err="1"/>
              <a:t>sued</a:t>
            </a:r>
            <a:r>
              <a:rPr lang="it-IT" sz="1200" dirty="0"/>
              <a:t> to </a:t>
            </a:r>
            <a:r>
              <a:rPr lang="it-IT" sz="1200" dirty="0" err="1"/>
              <a:t>tailor</a:t>
            </a:r>
            <a:r>
              <a:rPr lang="it-IT" sz="1200" dirty="0"/>
              <a:t> the </a:t>
            </a:r>
            <a:r>
              <a:rPr lang="it-IT" sz="1200" dirty="0" err="1"/>
              <a:t>transistotr</a:t>
            </a:r>
            <a:r>
              <a:rPr lang="it-IT" sz="1200" dirty="0"/>
              <a:t> </a:t>
            </a:r>
            <a:r>
              <a:rPr lang="it-IT" sz="1200" dirty="0" err="1"/>
              <a:t>threshold</a:t>
            </a:r>
            <a:r>
              <a:rPr lang="it-IT" sz="1200" dirty="0"/>
              <a:t> </a:t>
            </a:r>
            <a:r>
              <a:rPr lang="it-IT" sz="1200" dirty="0" err="1"/>
              <a:t>voltage</a:t>
            </a:r>
            <a:endParaRPr lang="it-IT" sz="1200" dirty="0"/>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en-GB" altLang="en-US" sz="1200" dirty="0"/>
          </a:p>
          <a:p>
            <a:pPr algn="l">
              <a:lnSpc>
                <a:spcPct val="100000"/>
              </a:lnSpc>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9" name="Picture 8">
            <a:extLst>
              <a:ext uri="{FF2B5EF4-FFF2-40B4-BE49-F238E27FC236}">
                <a16:creationId xmlns:a16="http://schemas.microsoft.com/office/drawing/2014/main" id="{ED1AC31C-95C2-E308-D079-51F525B57C48}"/>
              </a:ext>
            </a:extLst>
          </p:cNvPr>
          <p:cNvPicPr>
            <a:picLocks noChangeAspect="1"/>
          </p:cNvPicPr>
          <p:nvPr/>
        </p:nvPicPr>
        <p:blipFill>
          <a:blip r:embed="rId3"/>
          <a:stretch>
            <a:fillRect/>
          </a:stretch>
        </p:blipFill>
        <p:spPr>
          <a:xfrm>
            <a:off x="276027" y="3429001"/>
            <a:ext cx="3945802" cy="2470824"/>
          </a:xfrm>
          <a:prstGeom prst="rect">
            <a:avLst/>
          </a:prstGeom>
        </p:spPr>
      </p:pic>
      <p:pic>
        <p:nvPicPr>
          <p:cNvPr id="7" name="Picture 6">
            <a:extLst>
              <a:ext uri="{FF2B5EF4-FFF2-40B4-BE49-F238E27FC236}">
                <a16:creationId xmlns:a16="http://schemas.microsoft.com/office/drawing/2014/main" id="{7573F902-A4E8-F6A5-A349-2ED67D85774D}"/>
              </a:ext>
            </a:extLst>
          </p:cNvPr>
          <p:cNvPicPr>
            <a:picLocks noChangeAspect="1"/>
          </p:cNvPicPr>
          <p:nvPr/>
        </p:nvPicPr>
        <p:blipFill rotWithShape="1">
          <a:blip r:embed="rId4"/>
          <a:srcRect l="4381" r="2530"/>
          <a:stretch/>
        </p:blipFill>
        <p:spPr>
          <a:xfrm>
            <a:off x="276027" y="2874186"/>
            <a:ext cx="3841417" cy="3120598"/>
          </a:xfrm>
          <a:prstGeom prst="rect">
            <a:avLst/>
          </a:prstGeom>
        </p:spPr>
      </p:pic>
      <p:pic>
        <p:nvPicPr>
          <p:cNvPr id="8" name="Content Placeholder 9">
            <a:extLst>
              <a:ext uri="{FF2B5EF4-FFF2-40B4-BE49-F238E27FC236}">
                <a16:creationId xmlns:a16="http://schemas.microsoft.com/office/drawing/2014/main" id="{71D1CACA-743B-CBDA-9EB1-453394033CED}"/>
              </a:ext>
            </a:extLst>
          </p:cNvPr>
          <p:cNvPicPr>
            <a:picLocks noChangeAspect="1"/>
          </p:cNvPicPr>
          <p:nvPr/>
        </p:nvPicPr>
        <p:blipFill rotWithShape="1">
          <a:blip r:embed="rId5"/>
          <a:srcRect l="37217" t="19012" r="26665" b="12488"/>
          <a:stretch/>
        </p:blipFill>
        <p:spPr>
          <a:xfrm>
            <a:off x="6584732" y="4912219"/>
            <a:ext cx="1308535" cy="1861254"/>
          </a:xfrm>
          <a:prstGeom prst="rect">
            <a:avLst/>
          </a:prstGeom>
        </p:spPr>
      </p:pic>
      <p:sp>
        <p:nvSpPr>
          <p:cNvPr id="18" name="Rectangle 17">
            <a:extLst>
              <a:ext uri="{FF2B5EF4-FFF2-40B4-BE49-F238E27FC236}">
                <a16:creationId xmlns:a16="http://schemas.microsoft.com/office/drawing/2014/main" id="{E7B91AFD-64D3-8BE9-927B-675197AD1158}"/>
              </a:ext>
            </a:extLst>
          </p:cNvPr>
          <p:cNvSpPr/>
          <p:nvPr/>
        </p:nvSpPr>
        <p:spPr>
          <a:xfrm>
            <a:off x="6716974" y="6134263"/>
            <a:ext cx="1012563" cy="368931"/>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883038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P-well</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1"/>
            </a:pPr>
            <a:r>
              <a:rPr lang="en-US" sz="1200" b="1" dirty="0">
                <a:solidFill>
                  <a:schemeClr val="bg2">
                    <a:lumMod val="75000"/>
                  </a:schemeClr>
                </a:solidFill>
              </a:rPr>
              <a:t>CMP</a:t>
            </a:r>
          </a:p>
          <a:p>
            <a:pPr marL="228600" indent="-228600">
              <a:buFont typeface="+mj-lt"/>
              <a:buAutoNum type="arabicPeriod" startAt="11"/>
            </a:pPr>
            <a:r>
              <a:rPr lang="en-US" sz="1200" b="1" dirty="0">
                <a:solidFill>
                  <a:schemeClr val="bg2">
                    <a:lumMod val="75000"/>
                  </a:schemeClr>
                </a:solidFill>
              </a:rPr>
              <a:t>Field oxide lowering</a:t>
            </a:r>
          </a:p>
          <a:p>
            <a:pPr marL="228600" indent="-228600">
              <a:buFont typeface="+mj-lt"/>
              <a:buAutoNum type="arabicPeriod" startAt="11"/>
            </a:pPr>
            <a:r>
              <a:rPr lang="en-US" sz="1200" b="1" dirty="0">
                <a:solidFill>
                  <a:schemeClr val="bg2">
                    <a:lumMod val="75000"/>
                  </a:schemeClr>
                </a:solidFill>
              </a:rPr>
              <a:t>Nitride stripping</a:t>
            </a:r>
          </a:p>
          <a:p>
            <a:pPr marL="228600" indent="-228600">
              <a:buFont typeface="+mj-lt"/>
              <a:buAutoNum type="arabicPeriod" startAt="11"/>
            </a:pPr>
            <a:r>
              <a:rPr lang="en-US" sz="1200" b="1" dirty="0">
                <a:solidFill>
                  <a:schemeClr val="bg2">
                    <a:lumMod val="75000"/>
                  </a:schemeClr>
                </a:solidFill>
              </a:rPr>
              <a:t>Photo-resist spinning</a:t>
            </a:r>
          </a:p>
          <a:p>
            <a:pPr marL="228600" indent="-228600">
              <a:buFont typeface="+mj-lt"/>
              <a:buAutoNum type="arabicPeriod" startAt="11"/>
            </a:pPr>
            <a:r>
              <a:rPr lang="en-US" sz="1200" b="1" dirty="0">
                <a:solidFill>
                  <a:schemeClr val="bg2">
                    <a:lumMod val="75000"/>
                  </a:schemeClr>
                </a:solidFill>
              </a:rPr>
              <a:t>Mask 2 exposure (p-well)</a:t>
            </a:r>
          </a:p>
          <a:p>
            <a:pPr marL="228600" indent="-228600">
              <a:buFont typeface="+mj-lt"/>
              <a:buAutoNum type="arabicPeriod" startAt="11"/>
            </a:pPr>
            <a:r>
              <a:rPr lang="en-US" sz="1200" b="1" dirty="0">
                <a:solidFill>
                  <a:schemeClr val="bg2">
                    <a:lumMod val="75000"/>
                  </a:schemeClr>
                </a:solidFill>
              </a:rPr>
              <a:t>Boron ion implantation</a:t>
            </a:r>
          </a:p>
          <a:p>
            <a:pPr marL="228600" indent="-228600">
              <a:buFont typeface="+mj-lt"/>
              <a:buAutoNum type="arabicPeriod" startAt="11"/>
            </a:pPr>
            <a:r>
              <a:rPr lang="en-US" sz="1200" b="1" dirty="0"/>
              <a:t>Photo resist stripping</a:t>
            </a:r>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2</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73866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742950" lvl="1" indent="-285750">
              <a:buFont typeface="Arial" panose="020B0604020202020204" pitchFamily="34" charset="0"/>
              <a:buChar char="•"/>
            </a:pPr>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9" name="Picture 8">
            <a:extLst>
              <a:ext uri="{FF2B5EF4-FFF2-40B4-BE49-F238E27FC236}">
                <a16:creationId xmlns:a16="http://schemas.microsoft.com/office/drawing/2014/main" id="{ED1AC31C-95C2-E308-D079-51F525B57C48}"/>
              </a:ext>
            </a:extLst>
          </p:cNvPr>
          <p:cNvPicPr>
            <a:picLocks noChangeAspect="1"/>
          </p:cNvPicPr>
          <p:nvPr/>
        </p:nvPicPr>
        <p:blipFill>
          <a:blip r:embed="rId3"/>
          <a:stretch>
            <a:fillRect/>
          </a:stretch>
        </p:blipFill>
        <p:spPr>
          <a:xfrm>
            <a:off x="276027" y="3429001"/>
            <a:ext cx="3945802" cy="2470824"/>
          </a:xfrm>
          <a:prstGeom prst="rect">
            <a:avLst/>
          </a:prstGeom>
        </p:spPr>
      </p:pic>
      <p:pic>
        <p:nvPicPr>
          <p:cNvPr id="6" name="Picture 5">
            <a:extLst>
              <a:ext uri="{FF2B5EF4-FFF2-40B4-BE49-F238E27FC236}">
                <a16:creationId xmlns:a16="http://schemas.microsoft.com/office/drawing/2014/main" id="{9EE9DDF5-DE8F-8EAF-0D2E-4471273A3294}"/>
              </a:ext>
            </a:extLst>
          </p:cNvPr>
          <p:cNvPicPr>
            <a:picLocks noChangeAspect="1"/>
          </p:cNvPicPr>
          <p:nvPr/>
        </p:nvPicPr>
        <p:blipFill rotWithShape="1">
          <a:blip r:embed="rId4"/>
          <a:srcRect l="3682" r="2180"/>
          <a:stretch/>
        </p:blipFill>
        <p:spPr>
          <a:xfrm>
            <a:off x="276027" y="3086100"/>
            <a:ext cx="3870765" cy="2901947"/>
          </a:xfrm>
          <a:prstGeom prst="rect">
            <a:avLst/>
          </a:prstGeom>
        </p:spPr>
      </p:pic>
    </p:spTree>
    <p:extLst>
      <p:ext uri="{BB962C8B-B14F-4D97-AF65-F5344CB8AC3E}">
        <p14:creationId xmlns:p14="http://schemas.microsoft.com/office/powerpoint/2010/main" val="19808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n-well</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6"/>
            </a:pPr>
            <a:r>
              <a:rPr lang="en-US" sz="1200" b="1" dirty="0">
                <a:solidFill>
                  <a:schemeClr val="bg2">
                    <a:lumMod val="75000"/>
                  </a:schemeClr>
                </a:solidFill>
              </a:rPr>
              <a:t>Boron ion implantation</a:t>
            </a:r>
          </a:p>
          <a:p>
            <a:pPr marL="228600" indent="-228600">
              <a:buFont typeface="+mj-lt"/>
              <a:buAutoNum type="arabicPeriod" startAt="16"/>
            </a:pPr>
            <a:r>
              <a:rPr lang="en-US" sz="1200" b="1" dirty="0">
                <a:solidFill>
                  <a:schemeClr val="bg2">
                    <a:lumMod val="75000"/>
                  </a:schemeClr>
                </a:solidFill>
              </a:rPr>
              <a:t>Photo resist stripping</a:t>
            </a:r>
          </a:p>
          <a:p>
            <a:pPr marL="228600" indent="-228600">
              <a:buFont typeface="+mj-lt"/>
              <a:buAutoNum type="arabicPeriod" startAt="16"/>
            </a:pPr>
            <a:r>
              <a:rPr lang="en-US" sz="1200" b="1" dirty="0"/>
              <a:t>Photo resist spinning</a:t>
            </a:r>
          </a:p>
          <a:p>
            <a:pPr marL="228600" indent="-228600">
              <a:buFont typeface="+mj-lt"/>
              <a:buAutoNum type="arabicPeriod" startAt="16"/>
            </a:pPr>
            <a:r>
              <a:rPr lang="en-US" sz="1200" b="1" dirty="0"/>
              <a:t>Mask 3 exposure (n-well)</a:t>
            </a:r>
          </a:p>
          <a:p>
            <a:pPr marL="228600" indent="-228600">
              <a:buFont typeface="+mj-lt"/>
              <a:buAutoNum type="arabicPeriod" startAt="16"/>
            </a:pPr>
            <a:r>
              <a:rPr lang="en-US" sz="1200" b="1" dirty="0"/>
              <a:t>Phosphorus ion implantation</a:t>
            </a:r>
          </a:p>
          <a:p>
            <a:pPr marL="228600" indent="-228600">
              <a:buFont typeface="+mj-lt"/>
              <a:buAutoNum type="arabicPeriod" startAt="16"/>
            </a:pPr>
            <a:r>
              <a:rPr lang="en-US" sz="1200" b="1" dirty="0">
                <a:solidFill>
                  <a:schemeClr val="bg2">
                    <a:lumMod val="75000"/>
                  </a:schemeClr>
                </a:solidFill>
              </a:rPr>
              <a:t>Photo resist stripping</a:t>
            </a:r>
          </a:p>
          <a:p>
            <a:pPr marL="228600" indent="-228600">
              <a:buFont typeface="+mj-lt"/>
              <a:buAutoNum type="arabicPeriod" startAt="16"/>
            </a:pPr>
            <a:r>
              <a:rPr lang="en-US" sz="1200" b="1" dirty="0">
                <a:solidFill>
                  <a:schemeClr val="bg2">
                    <a:lumMod val="75000"/>
                  </a:schemeClr>
                </a:solidFill>
              </a:rPr>
              <a:t>Activation annealing</a:t>
            </a:r>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After </a:t>
            </a:r>
            <a:r>
              <a:rPr lang="it-IT" sz="1200" dirty="0" err="1"/>
              <a:t>exposure</a:t>
            </a:r>
            <a:r>
              <a:rPr lang="it-IT" sz="1200" dirty="0"/>
              <a:t>, </a:t>
            </a:r>
            <a:r>
              <a:rPr lang="it-IT" sz="1200" dirty="0" err="1"/>
              <a:t>photoresist</a:t>
            </a:r>
            <a:r>
              <a:rPr lang="it-IT" sz="1200" dirty="0"/>
              <a:t> covers future n-</a:t>
            </a:r>
            <a:r>
              <a:rPr lang="it-IT" sz="1200" dirty="0" err="1"/>
              <a:t>channel</a:t>
            </a:r>
            <a:r>
              <a:rPr lang="it-IT" sz="1200" dirty="0"/>
              <a:t> zones</a:t>
            </a:r>
          </a:p>
          <a:p>
            <a:pPr marL="285750" indent="-285750">
              <a:buFont typeface="Arial" panose="020B0604020202020204" pitchFamily="34" charset="0"/>
              <a:buChar char="•"/>
            </a:pPr>
            <a:r>
              <a:rPr lang="it-IT" sz="1200" dirty="0"/>
              <a:t>Future p-</a:t>
            </a:r>
            <a:r>
              <a:rPr lang="it-IT" sz="1200" dirty="0" err="1"/>
              <a:t>channel</a:t>
            </a:r>
            <a:r>
              <a:rPr lang="it-IT" sz="1200" dirty="0"/>
              <a:t> zones are </a:t>
            </a:r>
            <a:r>
              <a:rPr lang="it-IT" sz="1200" dirty="0" err="1"/>
              <a:t>left</a:t>
            </a:r>
            <a:r>
              <a:rPr lang="it-IT" sz="1200" dirty="0"/>
              <a:t> open</a:t>
            </a:r>
          </a:p>
          <a:p>
            <a:pPr marL="285750" indent="-285750">
              <a:buFont typeface="Arial" panose="020B0604020202020204" pitchFamily="34" charset="0"/>
              <a:buChar char="•"/>
            </a:pPr>
            <a:r>
              <a:rPr lang="it-IT" sz="1200" dirty="0"/>
              <a:t>The open </a:t>
            </a:r>
            <a:r>
              <a:rPr lang="it-IT" sz="1200" dirty="0" err="1"/>
              <a:t>areas</a:t>
            </a:r>
            <a:r>
              <a:rPr lang="it-IT" sz="1200" dirty="0"/>
              <a:t> are </a:t>
            </a:r>
            <a:r>
              <a:rPr lang="it-IT" sz="1200" dirty="0" err="1"/>
              <a:t>doped</a:t>
            </a:r>
            <a:r>
              <a:rPr lang="it-IT" sz="1200" dirty="0"/>
              <a:t> by </a:t>
            </a:r>
            <a:r>
              <a:rPr lang="it-IT" sz="1200" dirty="0" err="1"/>
              <a:t>phosporus</a:t>
            </a:r>
            <a:r>
              <a:rPr lang="it-IT" sz="1200" dirty="0"/>
              <a:t> </a:t>
            </a:r>
            <a:r>
              <a:rPr lang="it-IT" sz="1200" dirty="0" err="1"/>
              <a:t>implantation</a:t>
            </a:r>
            <a:endParaRPr lang="it-IT" sz="1200" dirty="0"/>
          </a:p>
          <a:p>
            <a:pPr marL="742950" lvl="1" indent="-285750">
              <a:buFont typeface="Arial" panose="020B0604020202020204" pitchFamily="34" charset="0"/>
              <a:buChar char="•"/>
            </a:pPr>
            <a:r>
              <a:rPr lang="it-IT" sz="1200" dirty="0"/>
              <a:t>A </a:t>
            </a:r>
            <a:r>
              <a:rPr lang="it-IT" sz="1200" dirty="0" err="1"/>
              <a:t>deeper</a:t>
            </a:r>
            <a:r>
              <a:rPr lang="it-IT" sz="1200" dirty="0"/>
              <a:t> </a:t>
            </a:r>
            <a:r>
              <a:rPr lang="it-IT" sz="1200" dirty="0" err="1"/>
              <a:t>implant</a:t>
            </a:r>
            <a:r>
              <a:rPr lang="it-IT" sz="1200" dirty="0"/>
              <a:t> (</a:t>
            </a:r>
            <a:r>
              <a:rPr lang="it-IT" sz="1200" dirty="0" err="1"/>
              <a:t>hundres</a:t>
            </a:r>
            <a:r>
              <a:rPr lang="it-IT" sz="1200" dirty="0"/>
              <a:t> of </a:t>
            </a:r>
            <a:r>
              <a:rPr lang="it-IT" sz="1200" dirty="0" err="1"/>
              <a:t>KeV</a:t>
            </a:r>
            <a:r>
              <a:rPr lang="it-IT" sz="1200" dirty="0"/>
              <a:t>, </a:t>
            </a:r>
            <a:r>
              <a:rPr lang="it-IT" sz="1200" dirty="0" err="1"/>
              <a:t>lower</a:t>
            </a:r>
            <a:r>
              <a:rPr lang="it-IT" sz="1200" dirty="0"/>
              <a:t> dose) </a:t>
            </a:r>
            <a:r>
              <a:rPr lang="it-IT" sz="1200" dirty="0" err="1"/>
              <a:t>provides</a:t>
            </a:r>
            <a:r>
              <a:rPr lang="it-IT" sz="1200" dirty="0"/>
              <a:t> </a:t>
            </a:r>
            <a:r>
              <a:rPr lang="it-IT" sz="1200" dirty="0" err="1"/>
              <a:t>teh</a:t>
            </a:r>
            <a:r>
              <a:rPr lang="it-IT" sz="1200" dirty="0"/>
              <a:t> </a:t>
            </a:r>
            <a:r>
              <a:rPr lang="it-IT" sz="1200" dirty="0" err="1"/>
              <a:t>desired</a:t>
            </a:r>
            <a:r>
              <a:rPr lang="it-IT" sz="1200" dirty="0"/>
              <a:t> body doping</a:t>
            </a:r>
          </a:p>
          <a:p>
            <a:pPr marL="742950" lvl="1" indent="-285750">
              <a:buFont typeface="Arial" panose="020B0604020202020204" pitchFamily="34" charset="0"/>
              <a:buChar char="•"/>
            </a:pPr>
            <a:r>
              <a:rPr lang="it-IT" sz="1200" dirty="0"/>
              <a:t>A </a:t>
            </a:r>
            <a:r>
              <a:rPr lang="it-IT" sz="1200" dirty="0" err="1"/>
              <a:t>shallower</a:t>
            </a:r>
            <a:r>
              <a:rPr lang="it-IT" sz="1200" dirty="0"/>
              <a:t> </a:t>
            </a:r>
            <a:r>
              <a:rPr lang="it-IT" sz="1200" dirty="0" err="1"/>
              <a:t>implant</a:t>
            </a:r>
            <a:r>
              <a:rPr lang="it-IT" sz="1200" dirty="0"/>
              <a:t> (</a:t>
            </a:r>
            <a:r>
              <a:rPr lang="it-IT" sz="1200" dirty="0" err="1"/>
              <a:t>tens</a:t>
            </a:r>
            <a:r>
              <a:rPr lang="it-IT" sz="1200" dirty="0"/>
              <a:t> of </a:t>
            </a:r>
            <a:r>
              <a:rPr lang="it-IT" sz="1200" dirty="0" err="1"/>
              <a:t>KeV</a:t>
            </a:r>
            <a:r>
              <a:rPr lang="it-IT" sz="1200" dirty="0"/>
              <a:t>, </a:t>
            </a:r>
            <a:r>
              <a:rPr lang="it-IT" sz="1200" dirty="0" err="1"/>
              <a:t>higher</a:t>
            </a:r>
            <a:r>
              <a:rPr lang="it-IT" sz="1200" dirty="0"/>
              <a:t> dose) can be </a:t>
            </a:r>
            <a:r>
              <a:rPr lang="it-IT" sz="1200" dirty="0" err="1"/>
              <a:t>sued</a:t>
            </a:r>
            <a:r>
              <a:rPr lang="it-IT" sz="1200" dirty="0"/>
              <a:t> to </a:t>
            </a:r>
            <a:r>
              <a:rPr lang="it-IT" sz="1200" dirty="0" err="1"/>
              <a:t>tailor</a:t>
            </a:r>
            <a:r>
              <a:rPr lang="it-IT" sz="1200" dirty="0"/>
              <a:t> the </a:t>
            </a:r>
            <a:r>
              <a:rPr lang="it-IT" sz="1200" dirty="0" err="1"/>
              <a:t>transistotr</a:t>
            </a:r>
            <a:r>
              <a:rPr lang="it-IT" sz="1200" dirty="0"/>
              <a:t> </a:t>
            </a:r>
            <a:r>
              <a:rPr lang="it-IT" sz="1200" dirty="0" err="1"/>
              <a:t>threshold</a:t>
            </a:r>
            <a:r>
              <a:rPr lang="it-IT" sz="1200" dirty="0"/>
              <a:t> </a:t>
            </a:r>
            <a:r>
              <a:rPr lang="it-IT" sz="1200" dirty="0" err="1"/>
              <a:t>voltage</a:t>
            </a:r>
            <a:endParaRPr lang="it-IT" sz="1200" dirty="0"/>
          </a:p>
          <a:p>
            <a:pPr marL="285750" indent="-285750">
              <a:buFont typeface="Arial" panose="020B0604020202020204" pitchFamily="34" charset="0"/>
              <a:buChar char="•"/>
            </a:pPr>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7" name="Picture 6">
            <a:extLst>
              <a:ext uri="{FF2B5EF4-FFF2-40B4-BE49-F238E27FC236}">
                <a16:creationId xmlns:a16="http://schemas.microsoft.com/office/drawing/2014/main" id="{A18D2D5B-2DCC-A7F8-1B86-4A277EEEB6D9}"/>
              </a:ext>
            </a:extLst>
          </p:cNvPr>
          <p:cNvPicPr>
            <a:picLocks noChangeAspect="1"/>
          </p:cNvPicPr>
          <p:nvPr/>
        </p:nvPicPr>
        <p:blipFill rotWithShape="1">
          <a:blip r:embed="rId3"/>
          <a:srcRect l="3601" r="4363"/>
          <a:stretch/>
        </p:blipFill>
        <p:spPr>
          <a:xfrm>
            <a:off x="313545" y="2685258"/>
            <a:ext cx="3870765" cy="3214567"/>
          </a:xfrm>
          <a:prstGeom prst="rect">
            <a:avLst/>
          </a:prstGeom>
        </p:spPr>
      </p:pic>
      <p:pic>
        <p:nvPicPr>
          <p:cNvPr id="8" name="Content Placeholder 9">
            <a:extLst>
              <a:ext uri="{FF2B5EF4-FFF2-40B4-BE49-F238E27FC236}">
                <a16:creationId xmlns:a16="http://schemas.microsoft.com/office/drawing/2014/main" id="{1FB65DF3-C427-8195-5990-CB429A3D76E9}"/>
              </a:ext>
            </a:extLst>
          </p:cNvPr>
          <p:cNvPicPr>
            <a:picLocks noChangeAspect="1"/>
          </p:cNvPicPr>
          <p:nvPr/>
        </p:nvPicPr>
        <p:blipFill rotWithShape="1">
          <a:blip r:embed="rId4"/>
          <a:srcRect l="37217" t="19012" r="26665" b="12488"/>
          <a:stretch/>
        </p:blipFill>
        <p:spPr>
          <a:xfrm>
            <a:off x="6390633" y="4911367"/>
            <a:ext cx="1308535" cy="1861254"/>
          </a:xfrm>
          <a:prstGeom prst="rect">
            <a:avLst/>
          </a:prstGeom>
        </p:spPr>
      </p:pic>
      <p:sp>
        <p:nvSpPr>
          <p:cNvPr id="12" name="Rectangle 11">
            <a:extLst>
              <a:ext uri="{FF2B5EF4-FFF2-40B4-BE49-F238E27FC236}">
                <a16:creationId xmlns:a16="http://schemas.microsoft.com/office/drawing/2014/main" id="{EBBBBA73-C7E5-7318-5F17-79162F3D880B}"/>
              </a:ext>
            </a:extLst>
          </p:cNvPr>
          <p:cNvSpPr/>
          <p:nvPr/>
        </p:nvSpPr>
        <p:spPr>
          <a:xfrm>
            <a:off x="6519568" y="5203963"/>
            <a:ext cx="1012563" cy="527706"/>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938050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n-well</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9"/>
            </a:pPr>
            <a:r>
              <a:rPr lang="en-US" sz="1200" b="1" dirty="0">
                <a:solidFill>
                  <a:schemeClr val="bg2">
                    <a:lumMod val="75000"/>
                  </a:schemeClr>
                </a:solidFill>
              </a:rPr>
              <a:t>Mask 3 exposure (n-well)</a:t>
            </a:r>
          </a:p>
          <a:p>
            <a:pPr marL="228600" indent="-228600">
              <a:buFont typeface="+mj-lt"/>
              <a:buAutoNum type="arabicPeriod" startAt="19"/>
            </a:pPr>
            <a:r>
              <a:rPr lang="en-US" sz="1200" b="1" dirty="0">
                <a:solidFill>
                  <a:schemeClr val="bg2">
                    <a:lumMod val="75000"/>
                  </a:schemeClr>
                </a:solidFill>
              </a:rPr>
              <a:t>Phosphorus ion implantation</a:t>
            </a:r>
          </a:p>
          <a:p>
            <a:pPr marL="228600" indent="-228600">
              <a:buFont typeface="+mj-lt"/>
              <a:buAutoNum type="arabicPeriod" startAt="19"/>
            </a:pPr>
            <a:r>
              <a:rPr lang="en-US" sz="1200" b="1" dirty="0"/>
              <a:t>Photo resist stripping</a:t>
            </a:r>
          </a:p>
          <a:p>
            <a:pPr marL="228600" indent="-228600">
              <a:buFont typeface="+mj-lt"/>
              <a:buAutoNum type="arabicPeriod" startAt="19"/>
            </a:pPr>
            <a:r>
              <a:rPr lang="en-US" sz="1200" b="1" dirty="0"/>
              <a:t>Activation annealing</a:t>
            </a:r>
          </a:p>
          <a:p>
            <a:pPr marL="228600" indent="-228600">
              <a:buFont typeface="+mj-lt"/>
              <a:buAutoNum type="arabicPeriod" startAt="19"/>
            </a:pPr>
            <a:r>
              <a:rPr lang="en-US" sz="1200" b="1" dirty="0">
                <a:solidFill>
                  <a:schemeClr val="bg2">
                    <a:lumMod val="75000"/>
                  </a:schemeClr>
                </a:solidFill>
              </a:rPr>
              <a:t>Pad oxide removal</a:t>
            </a:r>
          </a:p>
          <a:p>
            <a:pPr marL="228600" indent="-228600">
              <a:buFont typeface="+mj-lt"/>
              <a:buAutoNum type="arabicPeriod" startAt="19"/>
            </a:pPr>
            <a:r>
              <a:rPr lang="en-US" sz="1200" b="1" dirty="0">
                <a:solidFill>
                  <a:schemeClr val="bg2">
                    <a:lumMod val="75000"/>
                  </a:schemeClr>
                </a:solidFill>
              </a:rPr>
              <a:t>Gate oxidation + nitridation</a:t>
            </a:r>
          </a:p>
          <a:p>
            <a:pPr marL="228600" indent="-228600">
              <a:buFont typeface="+mj-lt"/>
              <a:buAutoNum type="arabicPeriod" startAt="19"/>
            </a:pPr>
            <a:r>
              <a:rPr lang="en-US" sz="1200" b="1" dirty="0">
                <a:solidFill>
                  <a:schemeClr val="bg2">
                    <a:lumMod val="75000"/>
                  </a:schemeClr>
                </a:solidFill>
              </a:rPr>
              <a:t>Gate poly-silicon deposition</a:t>
            </a:r>
          </a:p>
          <a:p>
            <a:pPr marL="228600" indent="-228600">
              <a:buFont typeface="+mj-lt"/>
              <a:buAutoNum type="arabicPeriod" startAt="19"/>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r>
              <a:rPr lang="it-IT" sz="1200" dirty="0"/>
              <a:t>An </a:t>
            </a:r>
            <a:r>
              <a:rPr lang="it-IT" sz="1200" dirty="0" err="1"/>
              <a:t>activation</a:t>
            </a:r>
            <a:r>
              <a:rPr lang="it-IT" sz="1200" dirty="0"/>
              <a:t> </a:t>
            </a:r>
            <a:r>
              <a:rPr lang="it-IT" sz="1200" dirty="0" err="1"/>
              <a:t>anneal</a:t>
            </a:r>
            <a:r>
              <a:rPr lang="it-IT" sz="1200" dirty="0"/>
              <a:t> </a:t>
            </a:r>
            <a:r>
              <a:rPr lang="it-IT" sz="1200" dirty="0" err="1"/>
              <a:t>will</a:t>
            </a:r>
            <a:r>
              <a:rPr lang="it-IT" sz="1200" dirty="0"/>
              <a:t> </a:t>
            </a:r>
            <a:r>
              <a:rPr lang="it-IT" sz="1200" dirty="0" err="1"/>
              <a:t>ensure</a:t>
            </a:r>
            <a:r>
              <a:rPr lang="it-IT" sz="1200" dirty="0"/>
              <a:t> </a:t>
            </a:r>
            <a:r>
              <a:rPr lang="it-IT" sz="1200" dirty="0" err="1"/>
              <a:t>dopants</a:t>
            </a:r>
            <a:r>
              <a:rPr lang="it-IT" sz="1200" dirty="0"/>
              <a:t> are </a:t>
            </a:r>
            <a:r>
              <a:rPr lang="it-IT" sz="1200" dirty="0" err="1"/>
              <a:t>activated</a:t>
            </a:r>
            <a:r>
              <a:rPr lang="it-IT" sz="1200" dirty="0"/>
              <a:t> (</a:t>
            </a:r>
            <a:r>
              <a:rPr lang="it-IT" sz="1200" dirty="0" err="1"/>
              <a:t>sitting</a:t>
            </a:r>
            <a:r>
              <a:rPr lang="it-IT" sz="1200" dirty="0"/>
              <a:t> in </a:t>
            </a:r>
            <a:r>
              <a:rPr lang="it-IT" sz="1200" dirty="0" err="1"/>
              <a:t>substitutional</a:t>
            </a:r>
            <a:r>
              <a:rPr lang="it-IT" sz="1200" dirty="0"/>
              <a:t> position in the silicon lattice) and </a:t>
            </a:r>
            <a:r>
              <a:rPr lang="it-IT" sz="1200" dirty="0" err="1"/>
              <a:t>crystalline</a:t>
            </a:r>
            <a:r>
              <a:rPr lang="it-IT" sz="1200" dirty="0"/>
              <a:t> </a:t>
            </a:r>
            <a:r>
              <a:rPr lang="it-IT" sz="1200" dirty="0" err="1"/>
              <a:t>damage</a:t>
            </a:r>
            <a:r>
              <a:rPr lang="it-IT" sz="1200" dirty="0"/>
              <a:t> </a:t>
            </a:r>
            <a:r>
              <a:rPr lang="it-IT" sz="1200" dirty="0" err="1"/>
              <a:t>is</a:t>
            </a:r>
            <a:r>
              <a:rPr lang="it-IT" sz="1200" dirty="0"/>
              <a:t> </a:t>
            </a:r>
            <a:r>
              <a:rPr lang="it-IT" sz="1200" dirty="0" err="1"/>
              <a:t>repaired</a:t>
            </a:r>
            <a:endParaRPr lang="it-IT" sz="1200" dirty="0"/>
          </a:p>
          <a:p>
            <a:pPr marL="742950" lvl="1" indent="-285750">
              <a:buFont typeface="Arial" panose="020B0604020202020204" pitchFamily="34" charset="0"/>
              <a:buChar char="•"/>
            </a:pPr>
            <a:r>
              <a:rPr lang="it-IT" sz="1200" dirty="0"/>
              <a:t>T can range </a:t>
            </a:r>
            <a:r>
              <a:rPr lang="it-IT" sz="1200" dirty="0" err="1"/>
              <a:t>around</a:t>
            </a:r>
            <a:r>
              <a:rPr lang="it-IT" sz="1200" dirty="0"/>
              <a:t> 1000 C</a:t>
            </a:r>
          </a:p>
          <a:p>
            <a:pPr marL="742950" lvl="1" indent="-285750">
              <a:buFont typeface="Arial" panose="020B0604020202020204" pitchFamily="34" charset="0"/>
              <a:buChar char="•"/>
            </a:pPr>
            <a:r>
              <a:rPr lang="it-IT" sz="1200" dirty="0" err="1"/>
              <a:t>Impalnted</a:t>
            </a:r>
            <a:r>
              <a:rPr lang="it-IT" sz="1200" dirty="0"/>
              <a:t> </a:t>
            </a:r>
            <a:r>
              <a:rPr lang="it-IT" sz="1200" dirty="0" err="1"/>
              <a:t>dopants</a:t>
            </a:r>
            <a:r>
              <a:rPr lang="it-IT" sz="1200" dirty="0"/>
              <a:t> </a:t>
            </a:r>
            <a:r>
              <a:rPr lang="it-IT" sz="1200" dirty="0" err="1"/>
              <a:t>will</a:t>
            </a:r>
            <a:r>
              <a:rPr lang="it-IT" sz="1200" dirty="0"/>
              <a:t> diffuse </a:t>
            </a:r>
            <a:r>
              <a:rPr lang="it-IT" sz="1200" dirty="0" err="1"/>
              <a:t>deeper</a:t>
            </a:r>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spTree>
    <p:extLst>
      <p:ext uri="{BB962C8B-B14F-4D97-AF65-F5344CB8AC3E}">
        <p14:creationId xmlns:p14="http://schemas.microsoft.com/office/powerpoint/2010/main" val="2242550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7103"/>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19"/>
            </a:pPr>
            <a:r>
              <a:rPr lang="en-US" sz="1200" b="1" dirty="0">
                <a:solidFill>
                  <a:schemeClr val="bg2">
                    <a:lumMod val="75000"/>
                  </a:schemeClr>
                </a:solidFill>
              </a:rPr>
              <a:t>Mask 3 exposure (n-well)</a:t>
            </a:r>
          </a:p>
          <a:p>
            <a:pPr marL="228600" indent="-228600">
              <a:buFont typeface="+mj-lt"/>
              <a:buAutoNum type="arabicPeriod" startAt="19"/>
            </a:pPr>
            <a:r>
              <a:rPr lang="en-US" sz="1200" b="1" dirty="0">
                <a:solidFill>
                  <a:schemeClr val="bg2">
                    <a:lumMod val="75000"/>
                  </a:schemeClr>
                </a:solidFill>
              </a:rPr>
              <a:t>Phosphorus ion implantation</a:t>
            </a:r>
          </a:p>
          <a:p>
            <a:pPr marL="228600" indent="-228600">
              <a:buFont typeface="+mj-lt"/>
              <a:buAutoNum type="arabicPeriod" startAt="19"/>
            </a:pPr>
            <a:r>
              <a:rPr lang="en-US" sz="1200" b="1" dirty="0">
                <a:solidFill>
                  <a:schemeClr val="bg2">
                    <a:lumMod val="75000"/>
                  </a:schemeClr>
                </a:solidFill>
              </a:rPr>
              <a:t>Photo resist stripping</a:t>
            </a:r>
          </a:p>
          <a:p>
            <a:pPr marL="228600" indent="-228600">
              <a:buFont typeface="+mj-lt"/>
              <a:buAutoNum type="arabicPeriod" startAt="19"/>
            </a:pPr>
            <a:r>
              <a:rPr lang="en-US" sz="1200" b="1" dirty="0">
                <a:solidFill>
                  <a:schemeClr val="bg2">
                    <a:lumMod val="75000"/>
                  </a:schemeClr>
                </a:solidFill>
              </a:rPr>
              <a:t>Activation annealing</a:t>
            </a:r>
          </a:p>
          <a:p>
            <a:pPr marL="228600" indent="-228600">
              <a:buFont typeface="+mj-lt"/>
              <a:buAutoNum type="arabicPeriod" startAt="19"/>
            </a:pPr>
            <a:r>
              <a:rPr lang="en-US" sz="1200" b="1" dirty="0"/>
              <a:t>Pad oxide removal</a:t>
            </a:r>
          </a:p>
          <a:p>
            <a:pPr marL="228600" indent="-228600">
              <a:buFont typeface="+mj-lt"/>
              <a:buAutoNum type="arabicPeriod" startAt="19"/>
            </a:pPr>
            <a:r>
              <a:rPr lang="en-US" sz="1200" b="1" dirty="0">
                <a:solidFill>
                  <a:schemeClr val="bg2">
                    <a:lumMod val="75000"/>
                  </a:schemeClr>
                </a:solidFill>
              </a:rPr>
              <a:t>Gate oxidation + nitridation</a:t>
            </a:r>
          </a:p>
          <a:p>
            <a:pPr marL="228600" indent="-228600">
              <a:buFont typeface="+mj-lt"/>
              <a:buAutoNum type="arabicPeriod" startAt="19"/>
            </a:pPr>
            <a:r>
              <a:rPr lang="en-US" sz="1200" b="1" dirty="0">
                <a:solidFill>
                  <a:schemeClr val="bg2">
                    <a:lumMod val="75000"/>
                  </a:schemeClr>
                </a:solidFill>
              </a:rPr>
              <a:t>Gate poly-silicon deposition</a:t>
            </a:r>
          </a:p>
          <a:p>
            <a:pPr marL="228600" indent="-228600">
              <a:buFont typeface="+mj-lt"/>
              <a:buAutoNum type="arabicPeriod" startAt="19"/>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73866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Metallic</a:t>
            </a:r>
            <a:r>
              <a:rPr lang="it-IT" sz="1200" dirty="0"/>
              <a:t> </a:t>
            </a:r>
            <a:r>
              <a:rPr lang="it-IT" sz="1200" dirty="0" err="1"/>
              <a:t>contaminants</a:t>
            </a:r>
            <a:r>
              <a:rPr lang="it-IT" sz="1200" dirty="0"/>
              <a:t> from </a:t>
            </a:r>
            <a:r>
              <a:rPr lang="it-IT" sz="1200" dirty="0" err="1"/>
              <a:t>implanters</a:t>
            </a:r>
            <a:r>
              <a:rPr lang="it-IT" sz="1200" dirty="0"/>
              <a:t> </a:t>
            </a:r>
            <a:r>
              <a:rPr lang="it-IT" sz="1200" dirty="0" err="1"/>
              <a:t>might</a:t>
            </a:r>
            <a:r>
              <a:rPr lang="it-IT" sz="1200" dirty="0"/>
              <a:t> </a:t>
            </a:r>
            <a:r>
              <a:rPr lang="it-IT" sz="1200" dirty="0" err="1"/>
              <a:t>have</a:t>
            </a:r>
            <a:r>
              <a:rPr lang="it-IT" sz="1200" dirty="0"/>
              <a:t> </a:t>
            </a:r>
            <a:r>
              <a:rPr lang="it-IT" sz="1200" dirty="0" err="1"/>
              <a:t>been</a:t>
            </a:r>
            <a:r>
              <a:rPr lang="it-IT" sz="1200" dirty="0"/>
              <a:t> </a:t>
            </a:r>
            <a:r>
              <a:rPr lang="it-IT" sz="1200" dirty="0" err="1"/>
              <a:t>blocked</a:t>
            </a:r>
            <a:r>
              <a:rPr lang="it-IT" sz="1200" dirty="0"/>
              <a:t> by </a:t>
            </a:r>
            <a:r>
              <a:rPr lang="it-IT" sz="1200" dirty="0" err="1"/>
              <a:t>pad</a:t>
            </a:r>
            <a:r>
              <a:rPr lang="it-IT" sz="1200" dirty="0"/>
              <a:t> </a:t>
            </a:r>
            <a:r>
              <a:rPr lang="it-IT" sz="1200" dirty="0" err="1"/>
              <a:t>oxide</a:t>
            </a:r>
            <a:endParaRPr lang="it-IT" sz="1200" dirty="0"/>
          </a:p>
          <a:p>
            <a:pPr marL="285750" indent="-285750">
              <a:buFont typeface="Arial" panose="020B0604020202020204" pitchFamily="34" charset="0"/>
              <a:buChar char="•"/>
            </a:pPr>
            <a:r>
              <a:rPr lang="it-IT" sz="1200" dirty="0"/>
              <a:t>Pad </a:t>
            </a:r>
            <a:r>
              <a:rPr lang="it-IT" sz="1200" dirty="0" err="1"/>
              <a:t>oxide</a:t>
            </a:r>
            <a:r>
              <a:rPr lang="it-IT" sz="1200" dirty="0"/>
              <a:t> </a:t>
            </a:r>
            <a:r>
              <a:rPr lang="it-IT" sz="1200" dirty="0" err="1"/>
              <a:t>is</a:t>
            </a:r>
            <a:r>
              <a:rPr lang="it-IT" sz="1200" dirty="0"/>
              <a:t> </a:t>
            </a:r>
            <a:r>
              <a:rPr lang="it-IT" sz="1200" dirty="0" err="1"/>
              <a:t>wet</a:t>
            </a:r>
            <a:r>
              <a:rPr lang="it-IT" sz="1200" dirty="0"/>
              <a:t> </a:t>
            </a:r>
            <a:r>
              <a:rPr lang="it-IT" sz="1200" dirty="0" err="1"/>
              <a:t>etched</a:t>
            </a:r>
            <a:r>
              <a:rPr lang="it-IT" sz="1200" dirty="0"/>
              <a:t>(e.g. HF + H2O2) to </a:t>
            </a:r>
            <a:r>
              <a:rPr lang="it-IT" sz="1200" dirty="0" err="1"/>
              <a:t>prepare</a:t>
            </a:r>
            <a:r>
              <a:rPr lang="it-IT" sz="1200" dirty="0"/>
              <a:t> the silicon </a:t>
            </a:r>
            <a:r>
              <a:rPr lang="it-IT" sz="1200" dirty="0" err="1"/>
              <a:t>surface</a:t>
            </a:r>
            <a:r>
              <a:rPr lang="it-IT" sz="1200" dirty="0"/>
              <a:t> to gate </a:t>
            </a:r>
            <a:r>
              <a:rPr lang="it-IT" sz="1200" dirty="0" err="1"/>
              <a:t>oxidation</a:t>
            </a:r>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pic>
        <p:nvPicPr>
          <p:cNvPr id="7" name="Picture 6">
            <a:extLst>
              <a:ext uri="{FF2B5EF4-FFF2-40B4-BE49-F238E27FC236}">
                <a16:creationId xmlns:a16="http://schemas.microsoft.com/office/drawing/2014/main" id="{C069C92C-8A07-14A9-9220-9B8A5D85B5BA}"/>
              </a:ext>
            </a:extLst>
          </p:cNvPr>
          <p:cNvPicPr>
            <a:picLocks noChangeAspect="1"/>
          </p:cNvPicPr>
          <p:nvPr/>
        </p:nvPicPr>
        <p:blipFill rotWithShape="1">
          <a:blip r:embed="rId4"/>
          <a:srcRect r="3129"/>
          <a:stretch/>
        </p:blipFill>
        <p:spPr>
          <a:xfrm>
            <a:off x="259084" y="3268658"/>
            <a:ext cx="3848100" cy="2673543"/>
          </a:xfrm>
          <a:prstGeom prst="rect">
            <a:avLst/>
          </a:prstGeom>
        </p:spPr>
      </p:pic>
    </p:spTree>
    <p:extLst>
      <p:ext uri="{BB962C8B-B14F-4D97-AF65-F5344CB8AC3E}">
        <p14:creationId xmlns:p14="http://schemas.microsoft.com/office/powerpoint/2010/main" val="3669017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2"/>
            </a:pPr>
            <a:r>
              <a:rPr lang="en-US" sz="1200" b="1" dirty="0">
                <a:solidFill>
                  <a:schemeClr val="bg2">
                    <a:lumMod val="75000"/>
                  </a:schemeClr>
                </a:solidFill>
              </a:rPr>
              <a:t>Activation annealing</a:t>
            </a:r>
          </a:p>
          <a:p>
            <a:pPr marL="228600" indent="-228600">
              <a:buFont typeface="+mj-lt"/>
              <a:buAutoNum type="arabicPeriod" startAt="22"/>
            </a:pPr>
            <a:r>
              <a:rPr lang="en-US" sz="1200" b="1" dirty="0">
                <a:solidFill>
                  <a:schemeClr val="bg2">
                    <a:lumMod val="75000"/>
                  </a:schemeClr>
                </a:solidFill>
              </a:rPr>
              <a:t>Pad oxide removal</a:t>
            </a:r>
          </a:p>
          <a:p>
            <a:pPr marL="228600" indent="-228600">
              <a:buFont typeface="+mj-lt"/>
              <a:buAutoNum type="arabicPeriod" startAt="22"/>
            </a:pPr>
            <a:r>
              <a:rPr lang="en-US" sz="1200" b="1" dirty="0"/>
              <a:t>Gate oxidation + nitridation</a:t>
            </a:r>
          </a:p>
          <a:p>
            <a:pPr marL="228600" indent="-228600">
              <a:buFont typeface="+mj-lt"/>
              <a:buAutoNum type="arabicPeriod" startAt="22"/>
            </a:pPr>
            <a:r>
              <a:rPr lang="en-US" sz="1200" b="1" dirty="0">
                <a:solidFill>
                  <a:schemeClr val="bg2">
                    <a:lumMod val="75000"/>
                  </a:schemeClr>
                </a:solidFill>
              </a:rPr>
              <a:t>Gate poly-silicon deposition</a:t>
            </a:r>
          </a:p>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4 exposure (gate)</a:t>
            </a:r>
          </a:p>
          <a:p>
            <a:pPr marL="228600" indent="-228600">
              <a:buFont typeface="+mj-lt"/>
              <a:buAutoNum type="arabicPeriod" startAt="22"/>
            </a:pPr>
            <a:r>
              <a:rPr lang="en-US" sz="1200" b="1" dirty="0">
                <a:solidFill>
                  <a:schemeClr val="bg2">
                    <a:lumMod val="75000"/>
                  </a:schemeClr>
                </a:solidFill>
              </a:rPr>
              <a:t>Poly-silicon dry etching</a:t>
            </a:r>
          </a:p>
          <a:p>
            <a:pPr marL="228600" indent="-228600">
              <a:buFont typeface="+mj-lt"/>
              <a:buAutoNum type="arabicPeriod" startAt="22"/>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Exposed</a:t>
            </a:r>
            <a:r>
              <a:rPr lang="it-IT" sz="1200" dirty="0"/>
              <a:t> silicon </a:t>
            </a:r>
            <a:r>
              <a:rPr lang="it-IT" sz="1200" dirty="0" err="1"/>
              <a:t>is</a:t>
            </a:r>
            <a:r>
              <a:rPr lang="it-IT" sz="1200" dirty="0"/>
              <a:t> </a:t>
            </a:r>
            <a:r>
              <a:rPr lang="it-IT" sz="1200" dirty="0" err="1"/>
              <a:t>oxidized</a:t>
            </a:r>
            <a:r>
              <a:rPr lang="it-IT" sz="1200" dirty="0"/>
              <a:t> to </a:t>
            </a:r>
            <a:r>
              <a:rPr lang="it-IT" sz="1200" dirty="0" err="1"/>
              <a:t>form</a:t>
            </a:r>
            <a:r>
              <a:rPr lang="it-IT" sz="1200" dirty="0"/>
              <a:t> gate </a:t>
            </a:r>
            <a:r>
              <a:rPr lang="it-IT" sz="1200" dirty="0" err="1"/>
              <a:t>oxide</a:t>
            </a:r>
            <a:endParaRPr lang="it-IT" sz="1200" dirty="0"/>
          </a:p>
          <a:p>
            <a:pPr marL="742950" lvl="1" indent="-285750">
              <a:buFont typeface="Arial" panose="020B0604020202020204" pitchFamily="34" charset="0"/>
              <a:buChar char="•"/>
            </a:pPr>
            <a:r>
              <a:rPr lang="it-IT" sz="1200" dirty="0"/>
              <a:t>Wet, dry, radical or plasma </a:t>
            </a:r>
            <a:r>
              <a:rPr lang="it-IT" sz="1200" dirty="0" err="1"/>
              <a:t>oxidation</a:t>
            </a:r>
            <a:endParaRPr lang="it-IT" sz="1200" dirty="0"/>
          </a:p>
          <a:p>
            <a:pPr marL="742950" lvl="1" indent="-285750">
              <a:buFont typeface="Arial" panose="020B0604020202020204" pitchFamily="34" charset="0"/>
              <a:buChar char="•"/>
            </a:pPr>
            <a:r>
              <a:rPr lang="it-IT" sz="1200" dirty="0" err="1"/>
              <a:t>Thickness</a:t>
            </a:r>
            <a:r>
              <a:rPr lang="it-IT" sz="1200" dirty="0"/>
              <a:t> </a:t>
            </a:r>
            <a:r>
              <a:rPr lang="it-IT" sz="1200" dirty="0" err="1"/>
              <a:t>ranging</a:t>
            </a:r>
            <a:r>
              <a:rPr lang="it-IT" sz="1200" dirty="0"/>
              <a:t> from </a:t>
            </a:r>
            <a:r>
              <a:rPr lang="it-IT" sz="1200" dirty="0" err="1"/>
              <a:t>few</a:t>
            </a:r>
            <a:r>
              <a:rPr lang="it-IT" sz="1200" dirty="0"/>
              <a:t> nm to </a:t>
            </a:r>
            <a:r>
              <a:rPr lang="it-IT" sz="1200" dirty="0" err="1"/>
              <a:t>hundreds</a:t>
            </a:r>
            <a:r>
              <a:rPr lang="it-IT" sz="1200" dirty="0"/>
              <a:t> of nm </a:t>
            </a:r>
            <a:r>
              <a:rPr lang="it-IT" sz="1200" dirty="0" err="1"/>
              <a:t>depending</a:t>
            </a:r>
            <a:r>
              <a:rPr lang="it-IT" sz="1200" dirty="0"/>
              <a:t> on the transistor </a:t>
            </a:r>
            <a:r>
              <a:rPr lang="it-IT" sz="1200" dirty="0" err="1"/>
              <a:t>operating</a:t>
            </a:r>
            <a:r>
              <a:rPr lang="it-IT" sz="1200" dirty="0"/>
              <a:t> </a:t>
            </a:r>
            <a:r>
              <a:rPr lang="it-IT" sz="1200" dirty="0" err="1"/>
              <a:t>voltages</a:t>
            </a:r>
            <a:endParaRPr lang="it-IT" sz="1200" dirty="0"/>
          </a:p>
          <a:p>
            <a:pPr marL="285750" indent="-285750">
              <a:buFont typeface="Arial" panose="020B0604020202020204" pitchFamily="34" charset="0"/>
              <a:buChar char="•"/>
            </a:pPr>
            <a:r>
              <a:rPr lang="it-IT" sz="1200" dirty="0" err="1"/>
              <a:t>Few</a:t>
            </a:r>
            <a:r>
              <a:rPr lang="it-IT" sz="1200" dirty="0"/>
              <a:t> </a:t>
            </a:r>
            <a:r>
              <a:rPr lang="it-IT" sz="1200" dirty="0" err="1"/>
              <a:t>atomic</a:t>
            </a:r>
            <a:r>
              <a:rPr lang="it-IT" sz="1200" dirty="0"/>
              <a:t> </a:t>
            </a:r>
            <a:r>
              <a:rPr lang="it-IT" sz="1200" dirty="0" err="1"/>
              <a:t>layers</a:t>
            </a:r>
            <a:r>
              <a:rPr lang="it-IT" sz="1200" dirty="0"/>
              <a:t> of silicon </a:t>
            </a:r>
            <a:r>
              <a:rPr lang="it-IT" sz="1200" dirty="0" err="1"/>
              <a:t>nitride</a:t>
            </a:r>
            <a:r>
              <a:rPr lang="it-IT" sz="1200" dirty="0"/>
              <a:t> are </a:t>
            </a:r>
            <a:r>
              <a:rPr lang="it-IT" sz="1200" dirty="0" err="1"/>
              <a:t>grown</a:t>
            </a:r>
            <a:r>
              <a:rPr lang="it-IT" sz="1200" dirty="0"/>
              <a:t> </a:t>
            </a:r>
            <a:r>
              <a:rPr lang="it-IT" sz="1200" dirty="0" err="1"/>
              <a:t>at</a:t>
            </a:r>
            <a:r>
              <a:rPr lang="it-IT" sz="1200" dirty="0"/>
              <a:t> silicon/silicon </a:t>
            </a:r>
            <a:r>
              <a:rPr lang="it-IT" sz="1200" dirty="0" err="1"/>
              <a:t>oxide</a:t>
            </a:r>
            <a:r>
              <a:rPr lang="it-IT" sz="1200" dirty="0"/>
              <a:t> </a:t>
            </a:r>
            <a:r>
              <a:rPr lang="it-IT" sz="1200" dirty="0" err="1"/>
              <a:t>interface</a:t>
            </a:r>
            <a:r>
              <a:rPr lang="it-IT" sz="1200" dirty="0"/>
              <a:t> (e.g. by NH3 or N2O2 plasma):</a:t>
            </a:r>
          </a:p>
          <a:p>
            <a:pPr marL="742950" lvl="1" indent="-285750">
              <a:buFont typeface="Arial" panose="020B0604020202020204" pitchFamily="34" charset="0"/>
              <a:buChar char="•"/>
            </a:pPr>
            <a:r>
              <a:rPr lang="it-IT" sz="1200" dirty="0" err="1"/>
              <a:t>Blocks</a:t>
            </a:r>
            <a:r>
              <a:rPr lang="it-IT" sz="1200" dirty="0"/>
              <a:t> </a:t>
            </a:r>
            <a:r>
              <a:rPr lang="it-IT" sz="1200" dirty="0" err="1"/>
              <a:t>boron</a:t>
            </a:r>
            <a:r>
              <a:rPr lang="it-IT" sz="1200" dirty="0"/>
              <a:t> </a:t>
            </a:r>
            <a:r>
              <a:rPr lang="it-IT" sz="1200" dirty="0" err="1"/>
              <a:t>diffusion</a:t>
            </a:r>
            <a:r>
              <a:rPr lang="it-IT" sz="1200" dirty="0"/>
              <a:t> </a:t>
            </a:r>
            <a:r>
              <a:rPr lang="it-IT" sz="1200" dirty="0" err="1"/>
              <a:t>into</a:t>
            </a:r>
            <a:r>
              <a:rPr lang="it-IT" sz="1200" dirty="0"/>
              <a:t> silicon </a:t>
            </a:r>
            <a:r>
              <a:rPr lang="it-IT" sz="1200" dirty="0" err="1"/>
              <a:t>oxide</a:t>
            </a:r>
            <a:endParaRPr lang="it-IT" sz="1200" dirty="0"/>
          </a:p>
          <a:p>
            <a:pPr marL="742950" lvl="1" indent="-285750">
              <a:buFont typeface="Arial" panose="020B0604020202020204" pitchFamily="34" charset="0"/>
              <a:buChar char="•"/>
            </a:pPr>
            <a:r>
              <a:rPr lang="it-IT" sz="1200" dirty="0" err="1"/>
              <a:t>Improves</a:t>
            </a:r>
            <a:r>
              <a:rPr lang="it-IT" sz="1200" dirty="0"/>
              <a:t> gate </a:t>
            </a:r>
            <a:r>
              <a:rPr lang="it-IT" sz="1200" dirty="0" err="1"/>
              <a:t>oxide</a:t>
            </a:r>
            <a:r>
              <a:rPr lang="it-IT" sz="1200" dirty="0"/>
              <a:t> reliability</a:t>
            </a:r>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pic>
        <p:nvPicPr>
          <p:cNvPr id="7" name="Picture 6">
            <a:extLst>
              <a:ext uri="{FF2B5EF4-FFF2-40B4-BE49-F238E27FC236}">
                <a16:creationId xmlns:a16="http://schemas.microsoft.com/office/drawing/2014/main" id="{C069C92C-8A07-14A9-9220-9B8A5D85B5BA}"/>
              </a:ext>
            </a:extLst>
          </p:cNvPr>
          <p:cNvPicPr>
            <a:picLocks noChangeAspect="1"/>
          </p:cNvPicPr>
          <p:nvPr/>
        </p:nvPicPr>
        <p:blipFill rotWithShape="1">
          <a:blip r:embed="rId4"/>
          <a:srcRect r="3129"/>
          <a:stretch/>
        </p:blipFill>
        <p:spPr>
          <a:xfrm>
            <a:off x="259084" y="3268658"/>
            <a:ext cx="3848100" cy="2673543"/>
          </a:xfrm>
          <a:prstGeom prst="rect">
            <a:avLst/>
          </a:prstGeom>
        </p:spPr>
      </p:pic>
      <p:pic>
        <p:nvPicPr>
          <p:cNvPr id="8" name="Picture 7">
            <a:extLst>
              <a:ext uri="{FF2B5EF4-FFF2-40B4-BE49-F238E27FC236}">
                <a16:creationId xmlns:a16="http://schemas.microsoft.com/office/drawing/2014/main" id="{36964600-E391-BE42-C7BB-E71FE23833A5}"/>
              </a:ext>
            </a:extLst>
          </p:cNvPr>
          <p:cNvPicPr>
            <a:picLocks noChangeAspect="1"/>
          </p:cNvPicPr>
          <p:nvPr/>
        </p:nvPicPr>
        <p:blipFill rotWithShape="1">
          <a:blip r:embed="rId5"/>
          <a:srcRect l="2290" r="5596"/>
          <a:stretch/>
        </p:blipFill>
        <p:spPr>
          <a:xfrm>
            <a:off x="276223" y="3165762"/>
            <a:ext cx="3848101" cy="2639945"/>
          </a:xfrm>
          <a:prstGeom prst="rect">
            <a:avLst/>
          </a:prstGeom>
        </p:spPr>
      </p:pic>
    </p:spTree>
    <p:extLst>
      <p:ext uri="{BB962C8B-B14F-4D97-AF65-F5344CB8AC3E}">
        <p14:creationId xmlns:p14="http://schemas.microsoft.com/office/powerpoint/2010/main" val="960364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2"/>
            </a:pPr>
            <a:r>
              <a:rPr lang="en-US" sz="1200" b="1" dirty="0">
                <a:solidFill>
                  <a:schemeClr val="bg2">
                    <a:lumMod val="75000"/>
                  </a:schemeClr>
                </a:solidFill>
              </a:rPr>
              <a:t>Activation annealing</a:t>
            </a:r>
          </a:p>
          <a:p>
            <a:pPr marL="228600" indent="-228600">
              <a:buFont typeface="+mj-lt"/>
              <a:buAutoNum type="arabicPeriod" startAt="22"/>
            </a:pPr>
            <a:r>
              <a:rPr lang="en-US" sz="1200" b="1" dirty="0">
                <a:solidFill>
                  <a:schemeClr val="bg2">
                    <a:lumMod val="75000"/>
                  </a:schemeClr>
                </a:solidFill>
              </a:rPr>
              <a:t>Pad oxide removal</a:t>
            </a:r>
          </a:p>
          <a:p>
            <a:pPr marL="228600" indent="-228600">
              <a:buFont typeface="+mj-lt"/>
              <a:buAutoNum type="arabicPeriod" startAt="22"/>
            </a:pPr>
            <a:r>
              <a:rPr lang="en-US" sz="1200" b="1" dirty="0">
                <a:solidFill>
                  <a:schemeClr val="bg2">
                    <a:lumMod val="75000"/>
                  </a:schemeClr>
                </a:solidFill>
              </a:rPr>
              <a:t>Gate oxidation + nitridation</a:t>
            </a:r>
          </a:p>
          <a:p>
            <a:pPr marL="228600" indent="-228600">
              <a:buFont typeface="+mj-lt"/>
              <a:buAutoNum type="arabicPeriod" startAt="22"/>
            </a:pPr>
            <a:r>
              <a:rPr lang="en-US" sz="1200" b="1" dirty="0"/>
              <a:t>Gate poly-silicon deposition</a:t>
            </a:r>
          </a:p>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4 exposure (gate)</a:t>
            </a:r>
          </a:p>
          <a:p>
            <a:pPr marL="228600" indent="-228600">
              <a:buFont typeface="+mj-lt"/>
              <a:buAutoNum type="arabicPeriod" startAt="22"/>
            </a:pPr>
            <a:r>
              <a:rPr lang="en-US" sz="1200" b="1" dirty="0">
                <a:solidFill>
                  <a:schemeClr val="bg2">
                    <a:lumMod val="75000"/>
                  </a:schemeClr>
                </a:solidFill>
              </a:rPr>
              <a:t>Poly-silicon dry etching</a:t>
            </a:r>
          </a:p>
          <a:p>
            <a:pPr marL="228600" indent="-228600">
              <a:buFont typeface="+mj-lt"/>
              <a:buAutoNum type="arabicPeriod" startAt="22"/>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Gate </a:t>
            </a:r>
            <a:r>
              <a:rPr lang="it-IT" sz="1200" dirty="0" err="1"/>
              <a:t>electrode</a:t>
            </a:r>
            <a:r>
              <a:rPr lang="it-IT" sz="1200" dirty="0"/>
              <a:t> </a:t>
            </a:r>
            <a:r>
              <a:rPr lang="it-IT" sz="1200" dirty="0" err="1"/>
              <a:t>material</a:t>
            </a:r>
            <a:r>
              <a:rPr lang="it-IT" sz="1200" dirty="0"/>
              <a:t> </a:t>
            </a:r>
            <a:r>
              <a:rPr lang="it-IT" sz="1200" dirty="0" err="1"/>
              <a:t>is</a:t>
            </a:r>
            <a:r>
              <a:rPr lang="it-IT" sz="1200" dirty="0"/>
              <a:t> </a:t>
            </a:r>
            <a:r>
              <a:rPr lang="it-IT" sz="1200" dirty="0" err="1"/>
              <a:t>deposited</a:t>
            </a:r>
            <a:endParaRPr lang="it-IT" sz="1200" dirty="0"/>
          </a:p>
          <a:p>
            <a:pPr marL="742950" lvl="1" indent="-285750">
              <a:buFont typeface="Arial" panose="020B0604020202020204" pitchFamily="34" charset="0"/>
              <a:buChar char="•"/>
            </a:pPr>
            <a:r>
              <a:rPr lang="it-IT" sz="1200" dirty="0"/>
              <a:t>Poly-cristalline silicon </a:t>
            </a:r>
          </a:p>
          <a:p>
            <a:pPr marL="742950" lvl="1" indent="-285750">
              <a:buFont typeface="Arial" panose="020B0604020202020204" pitchFamily="34" charset="0"/>
              <a:buChar char="•"/>
            </a:pPr>
            <a:r>
              <a:rPr lang="it-IT" sz="1200" dirty="0" err="1"/>
              <a:t>Ususally</a:t>
            </a:r>
            <a:r>
              <a:rPr lang="it-IT" sz="1200" dirty="0"/>
              <a:t> </a:t>
            </a:r>
            <a:r>
              <a:rPr lang="it-IT" sz="1200" dirty="0" err="1"/>
              <a:t>deposited</a:t>
            </a:r>
            <a:r>
              <a:rPr lang="it-IT" sz="1200" dirty="0"/>
              <a:t> by LP-CVD 	    (e.g. SiH4</a:t>
            </a:r>
            <a:r>
              <a:rPr lang="it-IT" sz="1200" dirty="0">
                <a:sym typeface="Wingdings" panose="05000000000000000000" pitchFamily="2" charset="2"/>
              </a:rPr>
              <a:t> Si + 2H2</a:t>
            </a:r>
            <a:r>
              <a:rPr lang="it-IT" sz="1200" dirty="0"/>
              <a:t>)</a:t>
            </a:r>
          </a:p>
          <a:p>
            <a:pPr marL="742950" lvl="1" indent="-285750">
              <a:buFont typeface="Arial" panose="020B0604020202020204" pitchFamily="34" charset="0"/>
              <a:buChar char="•"/>
            </a:pPr>
            <a:r>
              <a:rPr lang="it-IT" sz="1200" dirty="0" err="1"/>
              <a:t>Thickness</a:t>
            </a:r>
            <a:r>
              <a:rPr lang="it-IT" sz="1200" dirty="0"/>
              <a:t> in the range of </a:t>
            </a:r>
            <a:r>
              <a:rPr lang="it-IT" sz="1200" dirty="0" err="1"/>
              <a:t>few</a:t>
            </a:r>
            <a:r>
              <a:rPr lang="it-IT" sz="1200" dirty="0"/>
              <a:t> </a:t>
            </a:r>
            <a:r>
              <a:rPr lang="it-IT" sz="1200" dirty="0" err="1"/>
              <a:t>hundreds</a:t>
            </a:r>
            <a:r>
              <a:rPr lang="it-IT" sz="1200" dirty="0"/>
              <a:t> of nm</a:t>
            </a:r>
          </a:p>
          <a:p>
            <a:pPr marL="742950" lvl="1" indent="-285750">
              <a:buFont typeface="Arial" panose="020B0604020202020204" pitchFamily="34" charset="0"/>
              <a:buChar char="•"/>
            </a:pPr>
            <a:r>
              <a:rPr lang="it-IT" sz="1200" dirty="0"/>
              <a:t>Grain texture control can be </a:t>
            </a:r>
            <a:r>
              <a:rPr lang="it-IT" sz="1200" dirty="0" err="1"/>
              <a:t>important</a:t>
            </a:r>
            <a:r>
              <a:rPr lang="it-IT" sz="1200" dirty="0"/>
              <a:t> for </a:t>
            </a:r>
            <a:r>
              <a:rPr lang="it-IT" sz="1200" dirty="0" err="1"/>
              <a:t>transitor</a:t>
            </a:r>
            <a:r>
              <a:rPr lang="it-IT" sz="1200" dirty="0"/>
              <a:t> reliability</a:t>
            </a:r>
          </a:p>
          <a:p>
            <a:pPr lvl="1"/>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pic>
        <p:nvPicPr>
          <p:cNvPr id="7" name="Picture 6">
            <a:extLst>
              <a:ext uri="{FF2B5EF4-FFF2-40B4-BE49-F238E27FC236}">
                <a16:creationId xmlns:a16="http://schemas.microsoft.com/office/drawing/2014/main" id="{C069C92C-8A07-14A9-9220-9B8A5D85B5BA}"/>
              </a:ext>
            </a:extLst>
          </p:cNvPr>
          <p:cNvPicPr>
            <a:picLocks noChangeAspect="1"/>
          </p:cNvPicPr>
          <p:nvPr/>
        </p:nvPicPr>
        <p:blipFill rotWithShape="1">
          <a:blip r:embed="rId4"/>
          <a:srcRect r="3129"/>
          <a:stretch/>
        </p:blipFill>
        <p:spPr>
          <a:xfrm>
            <a:off x="259084" y="3268658"/>
            <a:ext cx="3848100" cy="2673543"/>
          </a:xfrm>
          <a:prstGeom prst="rect">
            <a:avLst/>
          </a:prstGeom>
        </p:spPr>
      </p:pic>
      <p:pic>
        <p:nvPicPr>
          <p:cNvPr id="9" name="Picture 8">
            <a:extLst>
              <a:ext uri="{FF2B5EF4-FFF2-40B4-BE49-F238E27FC236}">
                <a16:creationId xmlns:a16="http://schemas.microsoft.com/office/drawing/2014/main" id="{01AD0E29-865F-BCB4-C7D8-B13E22B7A174}"/>
              </a:ext>
            </a:extLst>
          </p:cNvPr>
          <p:cNvPicPr>
            <a:picLocks noChangeAspect="1"/>
          </p:cNvPicPr>
          <p:nvPr/>
        </p:nvPicPr>
        <p:blipFill>
          <a:blip r:embed="rId5"/>
          <a:stretch>
            <a:fillRect/>
          </a:stretch>
        </p:blipFill>
        <p:spPr>
          <a:xfrm>
            <a:off x="359493" y="2731954"/>
            <a:ext cx="3668940" cy="3127707"/>
          </a:xfrm>
          <a:prstGeom prst="rect">
            <a:avLst/>
          </a:prstGeom>
        </p:spPr>
      </p:pic>
    </p:spTree>
    <p:extLst>
      <p:ext uri="{BB962C8B-B14F-4D97-AF65-F5344CB8AC3E}">
        <p14:creationId xmlns:p14="http://schemas.microsoft.com/office/powerpoint/2010/main" val="3832650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2"/>
            </a:pPr>
            <a:r>
              <a:rPr lang="en-US" sz="1200" b="1" dirty="0">
                <a:solidFill>
                  <a:schemeClr val="bg2">
                    <a:lumMod val="75000"/>
                  </a:schemeClr>
                </a:solidFill>
              </a:rPr>
              <a:t>Activation annealing</a:t>
            </a:r>
          </a:p>
          <a:p>
            <a:pPr marL="228600" indent="-228600">
              <a:buFont typeface="+mj-lt"/>
              <a:buAutoNum type="arabicPeriod" startAt="22"/>
            </a:pPr>
            <a:r>
              <a:rPr lang="en-US" sz="1200" b="1" dirty="0">
                <a:solidFill>
                  <a:schemeClr val="bg2">
                    <a:lumMod val="75000"/>
                  </a:schemeClr>
                </a:solidFill>
              </a:rPr>
              <a:t>Pad oxide removal</a:t>
            </a:r>
          </a:p>
          <a:p>
            <a:pPr marL="228600" indent="-228600">
              <a:buFont typeface="+mj-lt"/>
              <a:buAutoNum type="arabicPeriod" startAt="22"/>
            </a:pPr>
            <a:r>
              <a:rPr lang="en-US" sz="1200" b="1" dirty="0">
                <a:solidFill>
                  <a:schemeClr val="bg2">
                    <a:lumMod val="75000"/>
                  </a:schemeClr>
                </a:solidFill>
              </a:rPr>
              <a:t>Gate oxidation + nitridation</a:t>
            </a:r>
          </a:p>
          <a:p>
            <a:pPr marL="228600" indent="-228600">
              <a:buFont typeface="+mj-lt"/>
              <a:buAutoNum type="arabicPeriod" startAt="22"/>
            </a:pPr>
            <a:r>
              <a:rPr lang="en-US" sz="1200" b="1" dirty="0">
                <a:solidFill>
                  <a:schemeClr val="bg2">
                    <a:lumMod val="75000"/>
                  </a:schemeClr>
                </a:solidFill>
              </a:rPr>
              <a:t>Gate poly-silicon deposition</a:t>
            </a:r>
          </a:p>
          <a:p>
            <a:pPr marL="228600" indent="-228600">
              <a:buFont typeface="+mj-lt"/>
              <a:buAutoNum type="arabicPeriod" startAt="22"/>
            </a:pPr>
            <a:r>
              <a:rPr lang="en-US" sz="1200" b="1" dirty="0"/>
              <a:t>Photo-resist spinning</a:t>
            </a:r>
          </a:p>
          <a:p>
            <a:pPr marL="228600" indent="-228600">
              <a:buFont typeface="+mj-lt"/>
              <a:buAutoNum type="arabicPeriod" startAt="22"/>
            </a:pPr>
            <a:r>
              <a:rPr lang="en-US" sz="1200" b="1" dirty="0"/>
              <a:t>Mask 4 exposure (gate)</a:t>
            </a:r>
          </a:p>
          <a:p>
            <a:pPr marL="228600" indent="-228600">
              <a:buFont typeface="+mj-lt"/>
              <a:buAutoNum type="arabicPeriod" startAt="22"/>
            </a:pPr>
            <a:r>
              <a:rPr lang="en-US" sz="1200" b="1" dirty="0">
                <a:solidFill>
                  <a:schemeClr val="bg2">
                    <a:lumMod val="75000"/>
                  </a:schemeClr>
                </a:solidFill>
              </a:rPr>
              <a:t>Poly-silicon dry etching</a:t>
            </a:r>
          </a:p>
          <a:p>
            <a:pPr marL="228600" indent="-228600">
              <a:buFont typeface="+mj-lt"/>
              <a:buAutoNum type="arabicPeriod" startAt="22"/>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4</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36933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Gate mask </a:t>
            </a:r>
            <a:r>
              <a:rPr lang="it-IT" sz="1200" dirty="0" err="1"/>
              <a:t>is</a:t>
            </a:r>
            <a:r>
              <a:rPr lang="it-IT" sz="1200" dirty="0"/>
              <a:t> </a:t>
            </a:r>
            <a:r>
              <a:rPr lang="it-IT" sz="1200" dirty="0" err="1"/>
              <a:t>exposed</a:t>
            </a:r>
            <a:r>
              <a:rPr lang="it-IT" sz="1200" dirty="0"/>
              <a:t> </a:t>
            </a:r>
          </a:p>
          <a:p>
            <a:pPr lvl="1"/>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pic>
        <p:nvPicPr>
          <p:cNvPr id="7" name="Picture 6">
            <a:extLst>
              <a:ext uri="{FF2B5EF4-FFF2-40B4-BE49-F238E27FC236}">
                <a16:creationId xmlns:a16="http://schemas.microsoft.com/office/drawing/2014/main" id="{C069C92C-8A07-14A9-9220-9B8A5D85B5BA}"/>
              </a:ext>
            </a:extLst>
          </p:cNvPr>
          <p:cNvPicPr>
            <a:picLocks noChangeAspect="1"/>
          </p:cNvPicPr>
          <p:nvPr/>
        </p:nvPicPr>
        <p:blipFill rotWithShape="1">
          <a:blip r:embed="rId4"/>
          <a:srcRect r="3129"/>
          <a:stretch/>
        </p:blipFill>
        <p:spPr>
          <a:xfrm>
            <a:off x="259084" y="3268658"/>
            <a:ext cx="3848100" cy="2673543"/>
          </a:xfrm>
          <a:prstGeom prst="rect">
            <a:avLst/>
          </a:prstGeom>
        </p:spPr>
      </p:pic>
      <p:pic>
        <p:nvPicPr>
          <p:cNvPr id="8" name="Picture 7">
            <a:extLst>
              <a:ext uri="{FF2B5EF4-FFF2-40B4-BE49-F238E27FC236}">
                <a16:creationId xmlns:a16="http://schemas.microsoft.com/office/drawing/2014/main" id="{C8439254-21D4-D18B-E3DB-32A0F76030BE}"/>
              </a:ext>
            </a:extLst>
          </p:cNvPr>
          <p:cNvPicPr>
            <a:picLocks noChangeAspect="1"/>
          </p:cNvPicPr>
          <p:nvPr/>
        </p:nvPicPr>
        <p:blipFill>
          <a:blip r:embed="rId5"/>
          <a:stretch>
            <a:fillRect/>
          </a:stretch>
        </p:blipFill>
        <p:spPr>
          <a:xfrm>
            <a:off x="404529" y="2590777"/>
            <a:ext cx="3624545" cy="3351424"/>
          </a:xfrm>
          <a:prstGeom prst="rect">
            <a:avLst/>
          </a:prstGeom>
        </p:spPr>
      </p:pic>
      <p:pic>
        <p:nvPicPr>
          <p:cNvPr id="12" name="Content Placeholder 9">
            <a:extLst>
              <a:ext uri="{FF2B5EF4-FFF2-40B4-BE49-F238E27FC236}">
                <a16:creationId xmlns:a16="http://schemas.microsoft.com/office/drawing/2014/main" id="{7833060E-317B-A223-2138-B89A491A4310}"/>
              </a:ext>
            </a:extLst>
          </p:cNvPr>
          <p:cNvPicPr>
            <a:picLocks noChangeAspect="1"/>
          </p:cNvPicPr>
          <p:nvPr/>
        </p:nvPicPr>
        <p:blipFill rotWithShape="1">
          <a:blip r:embed="rId6"/>
          <a:srcRect l="37217" t="19012" r="26665" b="12488"/>
          <a:stretch/>
        </p:blipFill>
        <p:spPr>
          <a:xfrm>
            <a:off x="6584732" y="4912219"/>
            <a:ext cx="1308535" cy="1861254"/>
          </a:xfrm>
          <a:prstGeom prst="rect">
            <a:avLst/>
          </a:prstGeom>
        </p:spPr>
      </p:pic>
      <p:sp>
        <p:nvSpPr>
          <p:cNvPr id="13" name="Rectangle 12">
            <a:extLst>
              <a:ext uri="{FF2B5EF4-FFF2-40B4-BE49-F238E27FC236}">
                <a16:creationId xmlns:a16="http://schemas.microsoft.com/office/drawing/2014/main" id="{34DEFC4B-8F3D-212C-6B89-C0F21B3467F1}"/>
              </a:ext>
            </a:extLst>
          </p:cNvPr>
          <p:cNvSpPr/>
          <p:nvPr/>
        </p:nvSpPr>
        <p:spPr>
          <a:xfrm>
            <a:off x="7329489" y="5181601"/>
            <a:ext cx="90486" cy="13406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F77C887B-9347-C539-B707-AF623B4C4EAB}"/>
              </a:ext>
            </a:extLst>
          </p:cNvPr>
          <p:cNvSpPr/>
          <p:nvPr/>
        </p:nvSpPr>
        <p:spPr>
          <a:xfrm>
            <a:off x="7153277" y="5849543"/>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883562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4 exposure (gate)</a:t>
            </a:r>
          </a:p>
          <a:p>
            <a:pPr marL="228600" indent="-228600">
              <a:buFont typeface="+mj-lt"/>
              <a:buAutoNum type="arabicPeriod" startAt="22"/>
            </a:pPr>
            <a:r>
              <a:rPr lang="en-US" sz="1200" b="1" dirty="0"/>
              <a:t>Poly-silicon dry etching</a:t>
            </a:r>
          </a:p>
          <a:p>
            <a:pPr marL="228600" indent="-228600">
              <a:buFont typeface="+mj-lt"/>
              <a:buAutoNum type="arabicPeriod" startAt="22"/>
            </a:pPr>
            <a:r>
              <a:rPr lang="en-US" sz="1200" b="1" dirty="0">
                <a:solidFill>
                  <a:schemeClr val="bg2">
                    <a:lumMod val="75000"/>
                  </a:schemeClr>
                </a:solidFill>
              </a:rPr>
              <a:t>Resist stripping</a:t>
            </a:r>
          </a:p>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5 exposure (n LDD)</a:t>
            </a:r>
          </a:p>
          <a:p>
            <a:pPr marL="228600" indent="-228600">
              <a:buFont typeface="+mj-lt"/>
              <a:buAutoNum type="arabicPeriod" startAt="22"/>
            </a:pPr>
            <a:r>
              <a:rPr lang="en-US" sz="1200" b="1" dirty="0">
                <a:solidFill>
                  <a:schemeClr val="bg2">
                    <a:lumMod val="75000"/>
                  </a:schemeClr>
                </a:solidFill>
              </a:rPr>
              <a:t>n-LDD implant</a:t>
            </a:r>
          </a:p>
          <a:p>
            <a:pPr marL="228600" indent="-228600">
              <a:buFont typeface="+mj-lt"/>
              <a:buAutoNum type="arabicPeriod" startAt="22"/>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4</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Gate </a:t>
            </a:r>
            <a:r>
              <a:rPr lang="it-IT" sz="1200" dirty="0" err="1"/>
              <a:t>is</a:t>
            </a:r>
            <a:r>
              <a:rPr lang="it-IT" sz="1200" dirty="0"/>
              <a:t> </a:t>
            </a:r>
            <a:r>
              <a:rPr lang="it-IT" sz="1200" dirty="0" err="1"/>
              <a:t>patterned</a:t>
            </a:r>
            <a:r>
              <a:rPr lang="it-IT" sz="1200" dirty="0"/>
              <a:t> by dry </a:t>
            </a:r>
            <a:r>
              <a:rPr lang="it-IT" sz="1200" dirty="0" err="1"/>
              <a:t>etching</a:t>
            </a:r>
            <a:r>
              <a:rPr lang="it-IT" sz="1200" dirty="0"/>
              <a:t>:</a:t>
            </a:r>
          </a:p>
          <a:p>
            <a:pPr marL="742950" lvl="1" indent="-285750">
              <a:buFont typeface="Arial" panose="020B0604020202020204" pitchFamily="34" charset="0"/>
              <a:buChar char="•"/>
            </a:pPr>
            <a:r>
              <a:rPr lang="it-IT" sz="1200" dirty="0" err="1"/>
              <a:t>Anysotropy</a:t>
            </a:r>
            <a:r>
              <a:rPr lang="it-IT" sz="1200" dirty="0"/>
              <a:t> </a:t>
            </a:r>
            <a:r>
              <a:rPr lang="it-IT" sz="1200" dirty="0" err="1"/>
              <a:t>is</a:t>
            </a:r>
            <a:r>
              <a:rPr lang="it-IT" sz="1200" dirty="0"/>
              <a:t> </a:t>
            </a:r>
            <a:r>
              <a:rPr lang="it-IT" sz="1200" dirty="0" err="1"/>
              <a:t>needed</a:t>
            </a:r>
            <a:r>
              <a:rPr lang="it-IT" sz="1200" dirty="0"/>
              <a:t> to </a:t>
            </a:r>
            <a:r>
              <a:rPr lang="it-IT" sz="1200" dirty="0" err="1"/>
              <a:t>proive</a:t>
            </a:r>
            <a:r>
              <a:rPr lang="it-IT" sz="1200" dirty="0"/>
              <a:t> </a:t>
            </a:r>
            <a:r>
              <a:rPr lang="it-IT" sz="1200" dirty="0" err="1"/>
              <a:t>dimensional</a:t>
            </a:r>
            <a:r>
              <a:rPr lang="it-IT" sz="1200" dirty="0"/>
              <a:t> contro and </a:t>
            </a:r>
            <a:r>
              <a:rPr lang="it-IT" sz="1200" dirty="0" err="1"/>
              <a:t>vertical</a:t>
            </a:r>
            <a:r>
              <a:rPr lang="it-IT" sz="1200" dirty="0"/>
              <a:t> </a:t>
            </a:r>
            <a:r>
              <a:rPr lang="it-IT" sz="1200" dirty="0" err="1"/>
              <a:t>profile</a:t>
            </a:r>
            <a:endParaRPr lang="it-IT" sz="1200" dirty="0"/>
          </a:p>
          <a:p>
            <a:pPr marL="742950" lvl="1" indent="-285750">
              <a:buFont typeface="Arial" panose="020B0604020202020204" pitchFamily="34" charset="0"/>
              <a:buChar char="•"/>
            </a:pPr>
            <a:r>
              <a:rPr lang="it-IT" sz="1200" dirty="0"/>
              <a:t>High </a:t>
            </a:r>
            <a:r>
              <a:rPr lang="it-IT" sz="1200" dirty="0" err="1"/>
              <a:t>slectivity</a:t>
            </a:r>
            <a:r>
              <a:rPr lang="it-IT" sz="1200" dirty="0"/>
              <a:t> o the </a:t>
            </a:r>
            <a:r>
              <a:rPr lang="it-IT" sz="1200" dirty="0" err="1"/>
              <a:t>underlying</a:t>
            </a:r>
            <a:r>
              <a:rPr lang="it-IT" sz="1200" dirty="0"/>
              <a:t> gate </a:t>
            </a:r>
            <a:r>
              <a:rPr lang="it-IT" sz="1200" dirty="0" err="1"/>
              <a:t>oxide</a:t>
            </a:r>
            <a:r>
              <a:rPr lang="it-IT" sz="1200" dirty="0"/>
              <a:t> </a:t>
            </a:r>
            <a:r>
              <a:rPr lang="it-IT" sz="1200" dirty="0" err="1"/>
              <a:t>might</a:t>
            </a:r>
            <a:r>
              <a:rPr lang="it-IT" sz="1200" dirty="0"/>
              <a:t> be </a:t>
            </a:r>
            <a:r>
              <a:rPr lang="it-IT" sz="1200" dirty="0" err="1"/>
              <a:t>required</a:t>
            </a:r>
            <a:endParaRPr lang="it-IT" sz="1200" dirty="0"/>
          </a:p>
          <a:p>
            <a:pPr lvl="1"/>
            <a:endParaRPr lang="it-IT" sz="1200" dirty="0"/>
          </a:p>
        </p:txBody>
      </p:sp>
      <p:pic>
        <p:nvPicPr>
          <p:cNvPr id="10" name="Picture 9">
            <a:extLst>
              <a:ext uri="{FF2B5EF4-FFF2-40B4-BE49-F238E27FC236}">
                <a16:creationId xmlns:a16="http://schemas.microsoft.com/office/drawing/2014/main" id="{03F4183A-017D-4A76-E10D-A0D5DA65DBFB}"/>
              </a:ext>
            </a:extLst>
          </p:cNvPr>
          <p:cNvPicPr>
            <a:picLocks noChangeAspect="1"/>
          </p:cNvPicPr>
          <p:nvPr/>
        </p:nvPicPr>
        <p:blipFill>
          <a:blip r:embed="rId2"/>
          <a:stretch>
            <a:fillRect/>
          </a:stretch>
        </p:blipFill>
        <p:spPr>
          <a:xfrm>
            <a:off x="196936" y="2237269"/>
            <a:ext cx="3736888" cy="3803460"/>
          </a:xfrm>
          <a:prstGeom prst="rect">
            <a:avLst/>
          </a:prstGeom>
        </p:spPr>
      </p:pic>
      <p:pic>
        <p:nvPicPr>
          <p:cNvPr id="6" name="Picture 5">
            <a:extLst>
              <a:ext uri="{FF2B5EF4-FFF2-40B4-BE49-F238E27FC236}">
                <a16:creationId xmlns:a16="http://schemas.microsoft.com/office/drawing/2014/main" id="{80C98CF3-34B0-A00D-FB6F-61F2ADE71446}"/>
              </a:ext>
            </a:extLst>
          </p:cNvPr>
          <p:cNvPicPr>
            <a:picLocks noChangeAspect="1"/>
          </p:cNvPicPr>
          <p:nvPr/>
        </p:nvPicPr>
        <p:blipFill rotWithShape="1">
          <a:blip r:embed="rId3"/>
          <a:srcRect l="1659" r="4602"/>
          <a:stretch/>
        </p:blipFill>
        <p:spPr>
          <a:xfrm>
            <a:off x="276225" y="2895600"/>
            <a:ext cx="3848100" cy="3074677"/>
          </a:xfrm>
          <a:prstGeom prst="rect">
            <a:avLst/>
          </a:prstGeom>
        </p:spPr>
      </p:pic>
      <p:pic>
        <p:nvPicPr>
          <p:cNvPr id="7" name="Picture 6">
            <a:extLst>
              <a:ext uri="{FF2B5EF4-FFF2-40B4-BE49-F238E27FC236}">
                <a16:creationId xmlns:a16="http://schemas.microsoft.com/office/drawing/2014/main" id="{C069C92C-8A07-14A9-9220-9B8A5D85B5BA}"/>
              </a:ext>
            </a:extLst>
          </p:cNvPr>
          <p:cNvPicPr>
            <a:picLocks noChangeAspect="1"/>
          </p:cNvPicPr>
          <p:nvPr/>
        </p:nvPicPr>
        <p:blipFill rotWithShape="1">
          <a:blip r:embed="rId4"/>
          <a:srcRect r="3129"/>
          <a:stretch/>
        </p:blipFill>
        <p:spPr>
          <a:xfrm>
            <a:off x="259084" y="3268658"/>
            <a:ext cx="3848100" cy="2673543"/>
          </a:xfrm>
          <a:prstGeom prst="rect">
            <a:avLst/>
          </a:prstGeom>
        </p:spPr>
      </p:pic>
      <p:pic>
        <p:nvPicPr>
          <p:cNvPr id="8" name="Picture 7">
            <a:extLst>
              <a:ext uri="{FF2B5EF4-FFF2-40B4-BE49-F238E27FC236}">
                <a16:creationId xmlns:a16="http://schemas.microsoft.com/office/drawing/2014/main" id="{C8439254-21D4-D18B-E3DB-32A0F76030BE}"/>
              </a:ext>
            </a:extLst>
          </p:cNvPr>
          <p:cNvPicPr>
            <a:picLocks noChangeAspect="1"/>
          </p:cNvPicPr>
          <p:nvPr/>
        </p:nvPicPr>
        <p:blipFill>
          <a:blip r:embed="rId5"/>
          <a:stretch>
            <a:fillRect/>
          </a:stretch>
        </p:blipFill>
        <p:spPr>
          <a:xfrm>
            <a:off x="404529" y="2590777"/>
            <a:ext cx="3624545" cy="3351424"/>
          </a:xfrm>
          <a:prstGeom prst="rect">
            <a:avLst/>
          </a:prstGeom>
        </p:spPr>
      </p:pic>
      <p:pic>
        <p:nvPicPr>
          <p:cNvPr id="9" name="Picture 8">
            <a:extLst>
              <a:ext uri="{FF2B5EF4-FFF2-40B4-BE49-F238E27FC236}">
                <a16:creationId xmlns:a16="http://schemas.microsoft.com/office/drawing/2014/main" id="{89FC9612-1B7E-5E85-6627-8371C1AA6BF2}"/>
              </a:ext>
            </a:extLst>
          </p:cNvPr>
          <p:cNvPicPr>
            <a:picLocks noChangeAspect="1"/>
          </p:cNvPicPr>
          <p:nvPr/>
        </p:nvPicPr>
        <p:blipFill>
          <a:blip r:embed="rId6"/>
          <a:stretch>
            <a:fillRect/>
          </a:stretch>
        </p:blipFill>
        <p:spPr>
          <a:xfrm>
            <a:off x="471778" y="2606931"/>
            <a:ext cx="3714695" cy="3335270"/>
          </a:xfrm>
          <a:prstGeom prst="rect">
            <a:avLst/>
          </a:prstGeom>
        </p:spPr>
      </p:pic>
    </p:spTree>
    <p:extLst>
      <p:ext uri="{BB962C8B-B14F-4D97-AF65-F5344CB8AC3E}">
        <p14:creationId xmlns:p14="http://schemas.microsoft.com/office/powerpoint/2010/main" val="4293826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Gate formation</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4 exposure (gate)</a:t>
            </a:r>
          </a:p>
          <a:p>
            <a:pPr marL="228600" indent="-228600">
              <a:buFont typeface="+mj-lt"/>
              <a:buAutoNum type="arabicPeriod" startAt="22"/>
            </a:pPr>
            <a:r>
              <a:rPr lang="en-US" sz="1200" b="1" dirty="0">
                <a:solidFill>
                  <a:schemeClr val="bg2">
                    <a:lumMod val="75000"/>
                  </a:schemeClr>
                </a:solidFill>
              </a:rPr>
              <a:t>Poly-silicon dry etching</a:t>
            </a:r>
          </a:p>
          <a:p>
            <a:pPr marL="228600" indent="-228600">
              <a:buFont typeface="+mj-lt"/>
              <a:buAutoNum type="arabicPeriod" startAt="22"/>
            </a:pPr>
            <a:r>
              <a:rPr lang="en-US" sz="1200" b="1" dirty="0"/>
              <a:t>Resist stripping</a:t>
            </a:r>
          </a:p>
          <a:p>
            <a:pPr marL="228600" indent="-228600">
              <a:buFont typeface="+mj-lt"/>
              <a:buAutoNum type="arabicPeriod" startAt="22"/>
            </a:pPr>
            <a:r>
              <a:rPr lang="en-US" sz="1200" b="1" dirty="0">
                <a:solidFill>
                  <a:schemeClr val="bg2">
                    <a:lumMod val="75000"/>
                  </a:schemeClr>
                </a:solidFill>
              </a:rPr>
              <a:t>Photo-resist spinning</a:t>
            </a:r>
          </a:p>
          <a:p>
            <a:pPr marL="228600" indent="-228600">
              <a:buFont typeface="+mj-lt"/>
              <a:buAutoNum type="arabicPeriod" startAt="22"/>
            </a:pPr>
            <a:r>
              <a:rPr lang="en-US" sz="1200" b="1" dirty="0">
                <a:solidFill>
                  <a:schemeClr val="bg2">
                    <a:lumMod val="75000"/>
                  </a:schemeClr>
                </a:solidFill>
              </a:rPr>
              <a:t>Mask 5 exposure (n LDD)</a:t>
            </a:r>
          </a:p>
          <a:p>
            <a:pPr marL="228600" indent="-228600">
              <a:buFont typeface="+mj-lt"/>
              <a:buAutoNum type="arabicPeriod" startAt="22"/>
            </a:pPr>
            <a:r>
              <a:rPr lang="en-US" sz="1200" b="1" dirty="0">
                <a:solidFill>
                  <a:schemeClr val="bg2">
                    <a:lumMod val="75000"/>
                  </a:schemeClr>
                </a:solidFill>
              </a:rPr>
              <a:t>n-LDD implant</a:t>
            </a:r>
          </a:p>
          <a:p>
            <a:pPr marL="228600" indent="-228600">
              <a:buFont typeface="+mj-lt"/>
              <a:buAutoNum type="arabicPeriod" startAt="22"/>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4</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92333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r>
              <a:rPr lang="it-IT" sz="1200" dirty="0"/>
              <a:t>Surface and </a:t>
            </a:r>
            <a:r>
              <a:rPr lang="it-IT" sz="1200" dirty="0" err="1"/>
              <a:t>sidewall</a:t>
            </a:r>
            <a:r>
              <a:rPr lang="it-IT" sz="1200" dirty="0"/>
              <a:t> </a:t>
            </a:r>
            <a:r>
              <a:rPr lang="it-IT" sz="1200" dirty="0" err="1"/>
              <a:t>cleaning</a:t>
            </a:r>
            <a:r>
              <a:rPr lang="it-IT" sz="1200" dirty="0"/>
              <a:t> </a:t>
            </a:r>
            <a:r>
              <a:rPr lang="it-IT" sz="1200" dirty="0" err="1"/>
              <a:t>might</a:t>
            </a:r>
            <a:r>
              <a:rPr lang="it-IT" sz="1200" dirty="0"/>
              <a:t> be </a:t>
            </a:r>
            <a:r>
              <a:rPr lang="it-IT" sz="1200" dirty="0" err="1"/>
              <a:t>performed</a:t>
            </a:r>
            <a:endParaRPr lang="it-IT" sz="1200" dirty="0"/>
          </a:p>
          <a:p>
            <a:pPr lvl="1"/>
            <a:endParaRPr lang="it-IT" sz="120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Tree>
    <p:extLst>
      <p:ext uri="{BB962C8B-B14F-4D97-AF65-F5344CB8AC3E}">
        <p14:creationId xmlns:p14="http://schemas.microsoft.com/office/powerpoint/2010/main" val="1758215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4</a:t>
            </a:r>
          </a:p>
        </p:txBody>
      </p:sp>
      <p:sp>
        <p:nvSpPr>
          <p:cNvPr id="17" name="TextBox 16">
            <a:extLst>
              <a:ext uri="{FF2B5EF4-FFF2-40B4-BE49-F238E27FC236}">
                <a16:creationId xmlns:a16="http://schemas.microsoft.com/office/drawing/2014/main" id="{0CD4F758-D753-4B9D-A9CC-7F9FF9C3924D}"/>
              </a:ext>
            </a:extLst>
          </p:cNvPr>
          <p:cNvSpPr txBox="1"/>
          <p:nvPr/>
        </p:nvSpPr>
        <p:spPr>
          <a:xfrm>
            <a:off x="4484198" y="1046852"/>
            <a:ext cx="4079631" cy="5670783"/>
          </a:xfrm>
          <a:prstGeom prst="rect">
            <a:avLst/>
          </a:prstGeom>
          <a:solidFill>
            <a:schemeClr val="accent3">
              <a:lumMod val="20000"/>
              <a:lumOff val="80000"/>
            </a:schemeClr>
          </a:solidFill>
        </p:spPr>
        <p:txBody>
          <a:bodyPr wrap="square" lIns="0" tIns="0" rIns="0" bIns="0" rtlCol="0">
            <a:spAutoFit/>
          </a:bodyPr>
          <a:lstStyle/>
          <a:p>
            <a:pPr eaLnBrk="1" hangingPunct="1"/>
            <a:r>
              <a:rPr lang="en-GB" altLang="en-US" sz="1600" b="1" dirty="0"/>
              <a:t>Operating voltages don’t scale as fast as transistors dimension:</a:t>
            </a:r>
          </a:p>
          <a:p>
            <a:pPr lvl="1" eaLnBrk="1" hangingPunct="1"/>
            <a:r>
              <a:rPr lang="en-GB" altLang="en-US" sz="1400" dirty="0"/>
              <a:t>5V applied across a 2</a:t>
            </a:r>
            <a:r>
              <a:rPr lang="en-GB" altLang="en-US" sz="1400" dirty="0">
                <a:latin typeface="Symbol" panose="05050102010706020507" pitchFamily="18" charset="2"/>
              </a:rPr>
              <a:t>m</a:t>
            </a:r>
            <a:r>
              <a:rPr lang="en-GB" altLang="en-US" sz="1400" dirty="0"/>
              <a:t>m channel transistor </a:t>
            </a:r>
            <a:r>
              <a:rPr lang="en-GB" altLang="en-US" sz="1400" dirty="0">
                <a:sym typeface="Wingdings" panose="05000000000000000000" pitchFamily="2" charset="2"/>
              </a:rPr>
              <a:t> average E field 2.5 10</a:t>
            </a:r>
            <a:r>
              <a:rPr lang="en-GB" altLang="en-US" sz="1400" baseline="30000" dirty="0">
                <a:sym typeface="Wingdings" panose="05000000000000000000" pitchFamily="2" charset="2"/>
              </a:rPr>
              <a:t>4</a:t>
            </a:r>
            <a:r>
              <a:rPr lang="en-GB" altLang="en-US" sz="1400" dirty="0">
                <a:sym typeface="Wingdings" panose="05000000000000000000" pitchFamily="2" charset="2"/>
              </a:rPr>
              <a:t> Vcm</a:t>
            </a:r>
            <a:r>
              <a:rPr lang="en-GB" altLang="en-US" sz="1400" baseline="30000" dirty="0">
                <a:sym typeface="Wingdings" panose="05000000000000000000" pitchFamily="2" charset="2"/>
              </a:rPr>
              <a:t>-1</a:t>
            </a:r>
          </a:p>
          <a:p>
            <a:pPr lvl="1" eaLnBrk="1" hangingPunct="1"/>
            <a:r>
              <a:rPr lang="en-GB" altLang="en-US" sz="1400" dirty="0">
                <a:sym typeface="Wingdings" panose="05000000000000000000" pitchFamily="2" charset="2"/>
              </a:rPr>
              <a:t>Same voltage across 45nm state of the art transistor  E filed </a:t>
            </a:r>
            <a:r>
              <a:rPr lang="en-US" altLang="en-US" sz="1400" dirty="0">
                <a:cs typeface="Arial" panose="020B0604020202020204" pitchFamily="34" charset="0"/>
                <a:sym typeface="Wingdings" panose="05000000000000000000" pitchFamily="2" charset="2"/>
              </a:rPr>
              <a:t>~ 1 MVcm</a:t>
            </a:r>
            <a:r>
              <a:rPr lang="en-US" altLang="en-US" sz="1400" baseline="30000" dirty="0">
                <a:cs typeface="Arial" panose="020B0604020202020204" pitchFamily="34" charset="0"/>
                <a:sym typeface="Wingdings" panose="05000000000000000000" pitchFamily="2" charset="2"/>
              </a:rPr>
              <a:t>-1</a:t>
            </a:r>
            <a:r>
              <a:rPr lang="en-US" altLang="en-US" sz="1400" dirty="0">
                <a:cs typeface="Arial" panose="020B0604020202020204" pitchFamily="34" charset="0"/>
                <a:sym typeface="Wingdings" panose="05000000000000000000" pitchFamily="2" charset="2"/>
              </a:rPr>
              <a:t> !</a:t>
            </a:r>
          </a:p>
          <a:p>
            <a:pPr lvl="1" eaLnBrk="1" hangingPunct="1">
              <a:buFontTx/>
              <a:buNone/>
            </a:pPr>
            <a:endParaRPr lang="en-US" altLang="en-US" sz="1400" dirty="0">
              <a:cs typeface="Arial" panose="020B0604020202020204" pitchFamily="34" charset="0"/>
              <a:sym typeface="Wingdings" panose="05000000000000000000" pitchFamily="2" charset="2"/>
            </a:endParaRPr>
          </a:p>
          <a:p>
            <a:pPr eaLnBrk="1" hangingPunct="1"/>
            <a:r>
              <a:rPr lang="en-GB" altLang="en-US" sz="1600" b="1" dirty="0">
                <a:cs typeface="Arial" panose="020B0604020202020204" pitchFamily="34" charset="0"/>
              </a:rPr>
              <a:t>High electric fields in the channel:</a:t>
            </a:r>
          </a:p>
          <a:p>
            <a:pPr marL="285750" indent="-285750" eaLnBrk="1" hangingPunct="1">
              <a:buFont typeface="Arial" panose="020B0604020202020204" pitchFamily="34" charset="0"/>
              <a:buChar char="•"/>
            </a:pPr>
            <a:r>
              <a:rPr lang="en-GB" altLang="en-US" sz="1600" dirty="0">
                <a:cs typeface="Arial" panose="020B0604020202020204" pitchFamily="34" charset="0"/>
              </a:rPr>
              <a:t>Hot </a:t>
            </a:r>
            <a:r>
              <a:rPr lang="en-GB" altLang="en-US" sz="1600" dirty="0" err="1">
                <a:cs typeface="Arial" panose="020B0604020202020204" pitchFamily="34" charset="0"/>
              </a:rPr>
              <a:t>electons</a:t>
            </a:r>
            <a:r>
              <a:rPr lang="en-GB" altLang="en-US" sz="1600" dirty="0">
                <a:cs typeface="Arial" panose="020B0604020202020204" pitchFamily="34" charset="0"/>
              </a:rPr>
              <a:t>/holes (impact ionization, gate charge injection)</a:t>
            </a:r>
          </a:p>
          <a:p>
            <a:pPr marL="285750" indent="-285750" eaLnBrk="1" hangingPunct="1">
              <a:buFont typeface="Arial" panose="020B0604020202020204" pitchFamily="34" charset="0"/>
              <a:buChar char="•"/>
            </a:pPr>
            <a:r>
              <a:rPr lang="en-GB" altLang="en-US" sz="1600" dirty="0">
                <a:cs typeface="Arial" panose="020B0604020202020204" pitchFamily="34" charset="0"/>
              </a:rPr>
              <a:t>Short channel effects</a:t>
            </a:r>
          </a:p>
          <a:p>
            <a:pPr marL="285750" indent="-285750" eaLnBrk="1" hangingPunct="1">
              <a:buFont typeface="Arial" panose="020B0604020202020204" pitchFamily="34" charset="0"/>
              <a:buChar char="•"/>
            </a:pPr>
            <a:endParaRPr lang="en-GB" altLang="en-US" sz="1600" dirty="0">
              <a:cs typeface="Arial" panose="020B0604020202020204" pitchFamily="34" charset="0"/>
            </a:endParaRPr>
          </a:p>
          <a:p>
            <a:pPr eaLnBrk="1" hangingPunct="1"/>
            <a:r>
              <a:rPr lang="en-GB" altLang="en-US" sz="1600" b="1" dirty="0">
                <a:cs typeface="Arial" panose="020B0604020202020204" pitchFamily="34" charset="0"/>
              </a:rPr>
              <a:t>Low junction doping is needed</a:t>
            </a:r>
          </a:p>
          <a:p>
            <a:pPr eaLnBrk="1" hangingPunct="1"/>
            <a:endParaRPr lang="en-GB" altLang="en-US" sz="1600" b="1" dirty="0">
              <a:cs typeface="Arial" panose="020B0604020202020204" pitchFamily="34" charset="0"/>
            </a:endParaRPr>
          </a:p>
          <a:p>
            <a:pPr eaLnBrk="1" hangingPunct="1"/>
            <a:r>
              <a:rPr lang="en-GB" altLang="en-US" sz="1600" b="1" dirty="0">
                <a:cs typeface="Arial" panose="020B0604020202020204" pitchFamily="34" charset="0"/>
              </a:rPr>
              <a:t>Shallow junctions are also needed to avoid short channel effects and to reduce junction capacitance</a:t>
            </a:r>
          </a:p>
          <a:p>
            <a:pPr eaLnBrk="1" hangingPunct="1"/>
            <a:endParaRPr lang="en-GB" altLang="en-US" sz="1600" b="1" dirty="0">
              <a:cs typeface="Arial" panose="020B0604020202020204" pitchFamily="34" charset="0"/>
            </a:endParaRPr>
          </a:p>
          <a:p>
            <a:pPr eaLnBrk="1" hangingPunct="1"/>
            <a:r>
              <a:rPr lang="en-GB" altLang="en-US" sz="1600" b="1" dirty="0">
                <a:cs typeface="Arial" panose="020B0604020202020204" pitchFamily="34" charset="0"/>
              </a:rPr>
              <a:t>But junctions must also be sufficiently doped to guarantee ohmic contacts to source and drain and deep enough to withstand silicide formation and contact etch</a:t>
            </a:r>
            <a:endParaRPr lang="en-US" altLang="en-US" sz="1600" b="1" dirty="0">
              <a:cs typeface="Arial" panose="020B0604020202020204" pitchFamily="34" charset="0"/>
            </a:endParaRPr>
          </a:p>
          <a:p>
            <a:pPr lvl="1"/>
            <a:endParaRPr lang="it-IT" sz="105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Arrow: Right 6">
            <a:extLst>
              <a:ext uri="{FF2B5EF4-FFF2-40B4-BE49-F238E27FC236}">
                <a16:creationId xmlns:a16="http://schemas.microsoft.com/office/drawing/2014/main" id="{4719B30A-DBB7-9A07-E688-AD2A9A21B6DC}"/>
              </a:ext>
            </a:extLst>
          </p:cNvPr>
          <p:cNvSpPr/>
          <p:nvPr/>
        </p:nvSpPr>
        <p:spPr>
          <a:xfrm>
            <a:off x="8640029" y="3156237"/>
            <a:ext cx="513496" cy="590550"/>
          </a:xfrm>
          <a:prstGeom prst="rightArrow">
            <a:avLst/>
          </a:prstGeom>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TextBox 7">
            <a:extLst>
              <a:ext uri="{FF2B5EF4-FFF2-40B4-BE49-F238E27FC236}">
                <a16:creationId xmlns:a16="http://schemas.microsoft.com/office/drawing/2014/main" id="{905FDC20-23AE-A598-8D92-8FA8E81C3BD8}"/>
              </a:ext>
            </a:extLst>
          </p:cNvPr>
          <p:cNvSpPr txBox="1"/>
          <p:nvPr/>
        </p:nvSpPr>
        <p:spPr>
          <a:xfrm>
            <a:off x="9294236" y="2620515"/>
            <a:ext cx="2717205" cy="1661993"/>
          </a:xfrm>
          <a:prstGeom prst="rect">
            <a:avLst/>
          </a:prstGeom>
          <a:solidFill>
            <a:schemeClr val="accent4">
              <a:lumMod val="20000"/>
              <a:lumOff val="80000"/>
            </a:schemeClr>
          </a:solidFill>
        </p:spPr>
        <p:txBody>
          <a:bodyPr wrap="square" lIns="0" tIns="0" rIns="0" bIns="0" rtlCol="0">
            <a:spAutoFit/>
          </a:bodyPr>
          <a:lstStyle/>
          <a:p>
            <a:pPr algn="ctr">
              <a:lnSpc>
                <a:spcPct val="100000"/>
              </a:lnSpc>
            </a:pPr>
            <a:r>
              <a:rPr lang="it-IT" sz="1800" b="1" dirty="0" err="1"/>
              <a:t>Ligtlhy</a:t>
            </a:r>
            <a:r>
              <a:rPr lang="it-IT" sz="1800" b="1" dirty="0"/>
              <a:t> </a:t>
            </a:r>
            <a:r>
              <a:rPr lang="it-IT" sz="1800" b="1" dirty="0" err="1"/>
              <a:t>doped</a:t>
            </a:r>
            <a:r>
              <a:rPr lang="it-IT" sz="1800" b="1" dirty="0"/>
              <a:t> drain LDD </a:t>
            </a:r>
            <a:r>
              <a:rPr lang="it-IT" sz="1800" b="1" dirty="0" err="1"/>
              <a:t>approach</a:t>
            </a:r>
            <a:r>
              <a:rPr lang="it-IT" sz="1800" b="1" dirty="0"/>
              <a:t>:</a:t>
            </a:r>
          </a:p>
          <a:p>
            <a:pPr algn="ctr">
              <a:lnSpc>
                <a:spcPct val="100000"/>
              </a:lnSpc>
            </a:pPr>
            <a:endParaRPr lang="it-IT" b="1" dirty="0"/>
          </a:p>
          <a:p>
            <a:pPr algn="ctr">
              <a:lnSpc>
                <a:spcPct val="100000"/>
              </a:lnSpc>
            </a:pPr>
            <a:r>
              <a:rPr lang="it-IT" sz="1800" b="1" dirty="0"/>
              <a:t>Self </a:t>
            </a:r>
            <a:r>
              <a:rPr lang="it-IT" sz="1800" b="1" dirty="0" err="1"/>
              <a:t>aligned</a:t>
            </a:r>
            <a:r>
              <a:rPr lang="it-IT" sz="1800" b="1" dirty="0"/>
              <a:t> </a:t>
            </a:r>
            <a:r>
              <a:rPr lang="it-IT" b="1" dirty="0" err="1"/>
              <a:t>g</a:t>
            </a:r>
            <a:r>
              <a:rPr lang="it-IT" sz="1800" b="1" dirty="0" err="1"/>
              <a:t>raded</a:t>
            </a:r>
            <a:r>
              <a:rPr lang="it-IT" sz="1800" b="1" dirty="0"/>
              <a:t> source and drain </a:t>
            </a:r>
            <a:r>
              <a:rPr lang="it-IT" sz="1800" b="1" dirty="0" err="1"/>
              <a:t>junctions</a:t>
            </a:r>
            <a:r>
              <a:rPr lang="it-IT" sz="1800" b="1" dirty="0"/>
              <a:t> </a:t>
            </a:r>
            <a:r>
              <a:rPr lang="it-IT" sz="1800" b="1" dirty="0" err="1"/>
              <a:t>formation</a:t>
            </a:r>
            <a:endParaRPr lang="en-US" sz="1800" b="1" dirty="0" err="1"/>
          </a:p>
        </p:txBody>
      </p:sp>
    </p:spTree>
    <p:extLst>
      <p:ext uri="{BB962C8B-B14F-4D97-AF65-F5344CB8AC3E}">
        <p14:creationId xmlns:p14="http://schemas.microsoft.com/office/powerpoint/2010/main" val="6245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4"/>
            </a:pPr>
            <a:r>
              <a:rPr lang="en-US" sz="1200" b="1" dirty="0">
                <a:solidFill>
                  <a:schemeClr val="bg2">
                    <a:lumMod val="75000"/>
                  </a:schemeClr>
                </a:solidFill>
              </a:rPr>
              <a:t>Poly-silicon dry etching</a:t>
            </a:r>
          </a:p>
          <a:p>
            <a:pPr marL="228600" indent="-228600">
              <a:buFont typeface="+mj-lt"/>
              <a:buAutoNum type="arabicPeriod" startAt="24"/>
            </a:pPr>
            <a:r>
              <a:rPr lang="en-US" sz="1200" b="1" dirty="0">
                <a:solidFill>
                  <a:schemeClr val="bg2">
                    <a:lumMod val="75000"/>
                  </a:schemeClr>
                </a:solidFill>
              </a:rPr>
              <a:t>Resist stripping</a:t>
            </a:r>
          </a:p>
          <a:p>
            <a:pPr marL="228600" indent="-228600">
              <a:buFont typeface="+mj-lt"/>
              <a:buAutoNum type="arabicPeriod" startAt="24"/>
            </a:pPr>
            <a:r>
              <a:rPr lang="en-US" sz="1200" b="1" dirty="0"/>
              <a:t>Photo-resist spinning</a:t>
            </a:r>
          </a:p>
          <a:p>
            <a:pPr marL="228600" indent="-228600">
              <a:buFont typeface="+mj-lt"/>
              <a:buAutoNum type="arabicPeriod" startAt="24"/>
            </a:pPr>
            <a:r>
              <a:rPr lang="en-US" sz="1200" b="1" dirty="0"/>
              <a:t>Mask 5 exposure (n LDD)</a:t>
            </a:r>
          </a:p>
          <a:p>
            <a:pPr marL="228600" indent="-228600">
              <a:buFont typeface="+mj-lt"/>
              <a:buAutoNum type="arabicPeriod" startAt="24"/>
            </a:pPr>
            <a:r>
              <a:rPr lang="en-US" sz="1200" b="1" dirty="0"/>
              <a:t>n-LDD implant</a:t>
            </a:r>
          </a:p>
          <a:p>
            <a:pPr marL="228600" indent="-228600">
              <a:buFont typeface="+mj-lt"/>
              <a:buAutoNum type="arabicPeriod" startAt="24"/>
            </a:pPr>
            <a:r>
              <a:rPr lang="en-US" sz="1200" b="1" dirty="0">
                <a:solidFill>
                  <a:schemeClr val="bg2">
                    <a:lumMod val="75000"/>
                  </a:schemeClr>
                </a:solidFill>
              </a:rPr>
              <a:t>Resist strip</a:t>
            </a:r>
          </a:p>
          <a:p>
            <a:pPr marL="228600" indent="-228600">
              <a:buFont typeface="+mj-lt"/>
              <a:buAutoNum type="arabicPeriod" startAt="24"/>
            </a:pPr>
            <a:r>
              <a:rPr lang="en-US" sz="1200" b="1" dirty="0">
                <a:solidFill>
                  <a:schemeClr val="bg2">
                    <a:lumMod val="75000"/>
                  </a:schemeClr>
                </a:solidFill>
              </a:rPr>
              <a:t>Photo-resist spinning</a:t>
            </a: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5</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N-</a:t>
            </a:r>
            <a:r>
              <a:rPr lang="it-IT" sz="1200" dirty="0" err="1"/>
              <a:t>ldd</a:t>
            </a:r>
            <a:r>
              <a:rPr lang="it-IT" sz="1200" dirty="0"/>
              <a:t> mask </a:t>
            </a:r>
            <a:r>
              <a:rPr lang="it-IT" sz="1200" dirty="0" err="1"/>
              <a:t>is</a:t>
            </a:r>
            <a:r>
              <a:rPr lang="it-IT" sz="1200" dirty="0"/>
              <a:t> </a:t>
            </a:r>
            <a:r>
              <a:rPr lang="it-IT" sz="1200" dirty="0" err="1"/>
              <a:t>exposed</a:t>
            </a:r>
            <a:r>
              <a:rPr lang="it-IT" sz="1200" dirty="0"/>
              <a:t>:</a:t>
            </a:r>
          </a:p>
          <a:p>
            <a:pPr marL="285750" indent="-285750">
              <a:buFont typeface="Arial" panose="020B0604020202020204" pitchFamily="34" charset="0"/>
              <a:buChar char="•"/>
            </a:pPr>
            <a:r>
              <a:rPr lang="it-IT" sz="1200" dirty="0" err="1"/>
              <a:t>Resist</a:t>
            </a:r>
            <a:r>
              <a:rPr lang="it-IT" sz="1200" dirty="0"/>
              <a:t> </a:t>
            </a:r>
            <a:r>
              <a:rPr lang="it-IT" sz="1200" dirty="0" err="1"/>
              <a:t>is</a:t>
            </a:r>
            <a:r>
              <a:rPr lang="it-IT" sz="1200" dirty="0"/>
              <a:t> </a:t>
            </a:r>
            <a:r>
              <a:rPr lang="it-IT" sz="1200" dirty="0" err="1"/>
              <a:t>removed</a:t>
            </a:r>
            <a:r>
              <a:rPr lang="it-IT" sz="1200" dirty="0"/>
              <a:t> from:</a:t>
            </a:r>
          </a:p>
          <a:p>
            <a:pPr marL="742950" lvl="1" indent="-285750">
              <a:buFont typeface="Arial" panose="020B0604020202020204" pitchFamily="34" charset="0"/>
              <a:buChar char="•"/>
            </a:pPr>
            <a:r>
              <a:rPr lang="it-IT" sz="1200" dirty="0"/>
              <a:t>N-</a:t>
            </a:r>
            <a:r>
              <a:rPr lang="it-IT" sz="1200" dirty="0" err="1"/>
              <a:t>channel</a:t>
            </a:r>
            <a:r>
              <a:rPr lang="it-IT" sz="1200" dirty="0"/>
              <a:t> transistor </a:t>
            </a:r>
            <a:r>
              <a:rPr lang="it-IT" sz="1200" dirty="0" err="1"/>
              <a:t>region</a:t>
            </a:r>
            <a:endParaRPr lang="it-IT" sz="1200" dirty="0"/>
          </a:p>
          <a:p>
            <a:pPr marL="742950" lvl="1" indent="-285750">
              <a:buFont typeface="Arial" panose="020B0604020202020204" pitchFamily="34" charset="0"/>
              <a:buChar char="•"/>
            </a:pPr>
            <a:r>
              <a:rPr lang="it-IT" sz="1200" dirty="0"/>
              <a:t>N-</a:t>
            </a:r>
            <a:r>
              <a:rPr lang="it-IT" sz="1200" dirty="0" err="1"/>
              <a:t>well</a:t>
            </a:r>
            <a:r>
              <a:rPr lang="it-IT" sz="1200" dirty="0"/>
              <a:t> contact area</a:t>
            </a:r>
          </a:p>
          <a:p>
            <a:pPr marL="285750" indent="-285750">
              <a:buFont typeface="Arial" panose="020B0604020202020204" pitchFamily="34" charset="0"/>
              <a:buChar char="•"/>
            </a:pPr>
            <a:r>
              <a:rPr lang="it-IT" sz="1200" dirty="0" err="1"/>
              <a:t>Shallow</a:t>
            </a:r>
            <a:r>
              <a:rPr lang="it-IT" sz="1200" dirty="0"/>
              <a:t>, low dose source and drain </a:t>
            </a:r>
            <a:r>
              <a:rPr lang="it-IT" sz="1200" dirty="0" err="1"/>
              <a:t>implant</a:t>
            </a:r>
            <a:r>
              <a:rPr lang="it-IT" sz="1200" dirty="0"/>
              <a:t> </a:t>
            </a:r>
            <a:r>
              <a:rPr lang="it-IT" sz="1200" dirty="0" err="1"/>
              <a:t>is</a:t>
            </a:r>
            <a:r>
              <a:rPr lang="it-IT" sz="1200" dirty="0"/>
              <a:t> </a:t>
            </a:r>
            <a:r>
              <a:rPr lang="it-IT" sz="1200" dirty="0" err="1"/>
              <a:t>performed</a:t>
            </a:r>
            <a:r>
              <a:rPr lang="it-IT" sz="1200" dirty="0"/>
              <a:t>:</a:t>
            </a:r>
          </a:p>
          <a:p>
            <a:pPr marL="742950" lvl="1" indent="-285750">
              <a:buFont typeface="Arial" panose="020B0604020202020204" pitchFamily="34" charset="0"/>
              <a:buChar char="•"/>
            </a:pPr>
            <a:r>
              <a:rPr lang="it-IT" sz="1200" dirty="0" err="1"/>
              <a:t>As</a:t>
            </a:r>
            <a:r>
              <a:rPr lang="it-IT" sz="1200" dirty="0"/>
              <a:t> or P are </a:t>
            </a:r>
            <a:r>
              <a:rPr lang="it-IT" sz="1200" dirty="0" err="1"/>
              <a:t>commonly</a:t>
            </a:r>
            <a:r>
              <a:rPr lang="it-IT" sz="1200" dirty="0"/>
              <a:t> </a:t>
            </a:r>
            <a:r>
              <a:rPr lang="it-IT" sz="1200" dirty="0" err="1"/>
              <a:t>used</a:t>
            </a:r>
            <a:endParaRPr lang="it-IT" sz="1200" dirty="0"/>
          </a:p>
          <a:p>
            <a:pPr lvl="1"/>
            <a:endParaRPr lang="it-IT" sz="120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8" name="Picture 7">
            <a:extLst>
              <a:ext uri="{FF2B5EF4-FFF2-40B4-BE49-F238E27FC236}">
                <a16:creationId xmlns:a16="http://schemas.microsoft.com/office/drawing/2014/main" id="{82B09BD4-4F94-ED0F-E860-21716CBF08A7}"/>
              </a:ext>
            </a:extLst>
          </p:cNvPr>
          <p:cNvPicPr>
            <a:picLocks noChangeAspect="1"/>
          </p:cNvPicPr>
          <p:nvPr/>
        </p:nvPicPr>
        <p:blipFill>
          <a:blip r:embed="rId3"/>
          <a:stretch>
            <a:fillRect/>
          </a:stretch>
        </p:blipFill>
        <p:spPr>
          <a:xfrm>
            <a:off x="549432" y="2781504"/>
            <a:ext cx="3565891" cy="3035001"/>
          </a:xfrm>
          <a:prstGeom prst="rect">
            <a:avLst/>
          </a:prstGeom>
        </p:spPr>
      </p:pic>
      <p:sp>
        <p:nvSpPr>
          <p:cNvPr id="9" name="Oval 8">
            <a:extLst>
              <a:ext uri="{FF2B5EF4-FFF2-40B4-BE49-F238E27FC236}">
                <a16:creationId xmlns:a16="http://schemas.microsoft.com/office/drawing/2014/main" id="{EC7BF337-1BA8-3145-449B-B8F26BA9B75C}"/>
              </a:ext>
            </a:extLst>
          </p:cNvPr>
          <p:cNvSpPr/>
          <p:nvPr/>
        </p:nvSpPr>
        <p:spPr>
          <a:xfrm rot="20438482">
            <a:off x="2128986" y="4176443"/>
            <a:ext cx="466563" cy="280798"/>
          </a:xfrm>
          <a:prstGeom prst="ellipse">
            <a:avLst/>
          </a:prstGeom>
          <a:noFill/>
          <a:ln w="28575"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3" name="Content Placeholder 9">
            <a:extLst>
              <a:ext uri="{FF2B5EF4-FFF2-40B4-BE49-F238E27FC236}">
                <a16:creationId xmlns:a16="http://schemas.microsoft.com/office/drawing/2014/main" id="{A6D1BB8C-8A3A-2801-D47F-8B9E1858E798}"/>
              </a:ext>
            </a:extLst>
          </p:cNvPr>
          <p:cNvPicPr>
            <a:picLocks noChangeAspect="1"/>
          </p:cNvPicPr>
          <p:nvPr/>
        </p:nvPicPr>
        <p:blipFill rotWithShape="1">
          <a:blip r:embed="rId4"/>
          <a:srcRect l="37217" t="19012" r="26665" b="12488"/>
          <a:stretch/>
        </p:blipFill>
        <p:spPr>
          <a:xfrm>
            <a:off x="6296024" y="4887042"/>
            <a:ext cx="1308535" cy="1861254"/>
          </a:xfrm>
          <a:prstGeom prst="rect">
            <a:avLst/>
          </a:prstGeom>
        </p:spPr>
      </p:pic>
      <p:sp>
        <p:nvSpPr>
          <p:cNvPr id="15" name="Rectangle 14">
            <a:extLst>
              <a:ext uri="{FF2B5EF4-FFF2-40B4-BE49-F238E27FC236}">
                <a16:creationId xmlns:a16="http://schemas.microsoft.com/office/drawing/2014/main" id="{D11B6382-6EBE-4165-2388-7156685F442E}"/>
              </a:ext>
            </a:extLst>
          </p:cNvPr>
          <p:cNvSpPr/>
          <p:nvPr/>
        </p:nvSpPr>
        <p:spPr>
          <a:xfrm>
            <a:off x="6828848" y="6216080"/>
            <a:ext cx="509587" cy="160972"/>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8" name="Rectangle 17">
            <a:extLst>
              <a:ext uri="{FF2B5EF4-FFF2-40B4-BE49-F238E27FC236}">
                <a16:creationId xmlns:a16="http://schemas.microsoft.com/office/drawing/2014/main" id="{038EBC67-EC0C-C8BB-C717-04490C138137}"/>
              </a:ext>
            </a:extLst>
          </p:cNvPr>
          <p:cNvSpPr/>
          <p:nvPr/>
        </p:nvSpPr>
        <p:spPr>
          <a:xfrm>
            <a:off x="6524050" y="5429623"/>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130064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4"/>
            </a:pPr>
            <a:r>
              <a:rPr lang="en-US" sz="1200" b="1" dirty="0">
                <a:solidFill>
                  <a:schemeClr val="bg2">
                    <a:lumMod val="75000"/>
                  </a:schemeClr>
                </a:solidFill>
              </a:rPr>
              <a:t>Poly-silicon dry etching</a:t>
            </a:r>
          </a:p>
          <a:p>
            <a:pPr marL="228600" indent="-228600">
              <a:buFont typeface="+mj-lt"/>
              <a:buAutoNum type="arabicPeriod" startAt="24"/>
            </a:pPr>
            <a:r>
              <a:rPr lang="en-US" sz="1200" b="1" dirty="0">
                <a:solidFill>
                  <a:schemeClr val="bg2">
                    <a:lumMod val="75000"/>
                  </a:schemeClr>
                </a:solidFill>
              </a:rPr>
              <a:t>Resist stripping</a:t>
            </a:r>
          </a:p>
          <a:p>
            <a:pPr marL="228600" indent="-228600">
              <a:buFont typeface="+mj-lt"/>
              <a:buAutoNum type="arabicPeriod" startAt="24"/>
            </a:pPr>
            <a:r>
              <a:rPr lang="en-US" sz="1200" b="1" dirty="0">
                <a:solidFill>
                  <a:schemeClr val="bg2">
                    <a:lumMod val="75000"/>
                  </a:schemeClr>
                </a:solidFill>
              </a:rPr>
              <a:t>Photo-resist spinning</a:t>
            </a:r>
          </a:p>
          <a:p>
            <a:pPr marL="228600" indent="-228600">
              <a:buFont typeface="+mj-lt"/>
              <a:buAutoNum type="arabicPeriod" startAt="24"/>
            </a:pPr>
            <a:r>
              <a:rPr lang="en-US" sz="1200" b="1" dirty="0">
                <a:solidFill>
                  <a:schemeClr val="bg2">
                    <a:lumMod val="75000"/>
                  </a:schemeClr>
                </a:solidFill>
              </a:rPr>
              <a:t>Mask 5 exposure (n LDD)</a:t>
            </a:r>
          </a:p>
          <a:p>
            <a:pPr marL="228600" indent="-228600">
              <a:buFont typeface="+mj-lt"/>
              <a:buAutoNum type="arabicPeriod" startAt="24"/>
            </a:pPr>
            <a:r>
              <a:rPr lang="en-US" sz="1200" b="1" dirty="0">
                <a:solidFill>
                  <a:schemeClr val="bg2">
                    <a:lumMod val="75000"/>
                  </a:schemeClr>
                </a:solidFill>
              </a:rPr>
              <a:t>n-LDD implant</a:t>
            </a:r>
          </a:p>
          <a:p>
            <a:pPr marL="228600" indent="-228600">
              <a:buFont typeface="+mj-lt"/>
              <a:buAutoNum type="arabicPeriod" startAt="24"/>
            </a:pPr>
            <a:r>
              <a:rPr lang="en-US" sz="1200" b="1" dirty="0"/>
              <a:t>Resist strip</a:t>
            </a:r>
          </a:p>
          <a:p>
            <a:pPr marL="228600" indent="-228600">
              <a:buFont typeface="+mj-lt"/>
              <a:buAutoNum type="arabicPeriod" startAt="24"/>
            </a:pPr>
            <a:r>
              <a:rPr lang="en-US" sz="1200" b="1" dirty="0">
                <a:solidFill>
                  <a:schemeClr val="bg2">
                    <a:lumMod val="75000"/>
                  </a:schemeClr>
                </a:solidFill>
              </a:rPr>
              <a:t>Photo-resist spinning</a:t>
            </a: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5</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553998"/>
          </a:xfrm>
          <a:prstGeom prst="rect">
            <a:avLst/>
          </a:prstGeom>
          <a:solidFill>
            <a:schemeClr val="accent5">
              <a:lumMod val="60000"/>
              <a:lumOff val="40000"/>
            </a:schemeClr>
          </a:solidFill>
        </p:spPr>
        <p:txBody>
          <a:bodyPr wrap="square" lIns="0" tIns="0" rIns="0" bIns="0" rtlCol="0">
            <a:spAutoFit/>
          </a:bodyPr>
          <a:lstStyle/>
          <a:p>
            <a:pPr marL="285750" indent="-285750">
              <a:buFont typeface="Arial" panose="020B0604020202020204" pitchFamily="34" charset="0"/>
              <a:buChar char="•"/>
            </a:pPr>
            <a:r>
              <a:rPr lang="it-IT" sz="1200" b="1" dirty="0"/>
              <a:t>N-</a:t>
            </a:r>
            <a:r>
              <a:rPr lang="it-IT" sz="1200" b="1" dirty="0" err="1"/>
              <a:t>channel</a:t>
            </a:r>
            <a:r>
              <a:rPr lang="it-IT" sz="1200" b="1" dirty="0"/>
              <a:t> transistor cross </a:t>
            </a:r>
            <a:r>
              <a:rPr lang="it-IT" sz="1200" b="1" dirty="0" err="1"/>
              <a:t>section</a:t>
            </a:r>
            <a:r>
              <a:rPr lang="it-IT" sz="1200" b="1" dirty="0"/>
              <a:t> </a:t>
            </a:r>
            <a:r>
              <a:rPr lang="it-IT" sz="1200" b="1" dirty="0" err="1"/>
              <a:t>will</a:t>
            </a:r>
            <a:r>
              <a:rPr lang="it-IT" sz="1200" b="1" dirty="0"/>
              <a:t> </a:t>
            </a:r>
            <a:r>
              <a:rPr lang="it-IT" sz="1200" b="1" dirty="0" err="1"/>
              <a:t>also</a:t>
            </a:r>
            <a:r>
              <a:rPr lang="it-IT" sz="1200" b="1" dirty="0"/>
              <a:t> be </a:t>
            </a:r>
            <a:r>
              <a:rPr lang="it-IT" sz="1200" b="1" dirty="0" err="1"/>
              <a:t>displayed</a:t>
            </a:r>
            <a:r>
              <a:rPr lang="it-IT" sz="1200" b="1" dirty="0"/>
              <a:t> from </a:t>
            </a:r>
            <a:r>
              <a:rPr lang="it-IT" sz="1200" b="1" dirty="0" err="1"/>
              <a:t>now</a:t>
            </a:r>
            <a:r>
              <a:rPr lang="it-IT" sz="1200" b="1" dirty="0"/>
              <a:t> on</a:t>
            </a:r>
          </a:p>
          <a:p>
            <a:pPr lvl="1"/>
            <a:endParaRPr lang="it-IT" sz="120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pic>
        <p:nvPicPr>
          <p:cNvPr id="7" name="Picture 6">
            <a:extLst>
              <a:ext uri="{FF2B5EF4-FFF2-40B4-BE49-F238E27FC236}">
                <a16:creationId xmlns:a16="http://schemas.microsoft.com/office/drawing/2014/main" id="{85BE3D07-EBE3-6C9F-38C3-6088BB69A736}"/>
              </a:ext>
            </a:extLst>
          </p:cNvPr>
          <p:cNvPicPr>
            <a:picLocks noChangeAspect="1"/>
          </p:cNvPicPr>
          <p:nvPr/>
        </p:nvPicPr>
        <p:blipFill rotWithShape="1">
          <a:blip r:embed="rId4"/>
          <a:srcRect l="7040" r="4343" b="13933"/>
          <a:stretch/>
        </p:blipFill>
        <p:spPr>
          <a:xfrm>
            <a:off x="400050" y="2357436"/>
            <a:ext cx="3715274" cy="3538539"/>
          </a:xfrm>
          <a:prstGeom prst="rect">
            <a:avLst/>
          </a:prstGeom>
        </p:spPr>
      </p:pic>
      <p:sp>
        <p:nvSpPr>
          <p:cNvPr id="8" name="Arrow: Bent 7">
            <a:extLst>
              <a:ext uri="{FF2B5EF4-FFF2-40B4-BE49-F238E27FC236}">
                <a16:creationId xmlns:a16="http://schemas.microsoft.com/office/drawing/2014/main" id="{6C73EFF3-D7E1-9A16-23A3-C3326E24F13D}"/>
              </a:ext>
            </a:extLst>
          </p:cNvPr>
          <p:cNvSpPr/>
          <p:nvPr/>
        </p:nvSpPr>
        <p:spPr>
          <a:xfrm>
            <a:off x="1666876" y="2085975"/>
            <a:ext cx="2630487" cy="738284"/>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pic>
        <p:nvPicPr>
          <p:cNvPr id="10" name="Picture 9">
            <a:extLst>
              <a:ext uri="{FF2B5EF4-FFF2-40B4-BE49-F238E27FC236}">
                <a16:creationId xmlns:a16="http://schemas.microsoft.com/office/drawing/2014/main" id="{0A1ADDB4-751A-69E9-76D7-6AB2FDDE1F0F}"/>
              </a:ext>
            </a:extLst>
          </p:cNvPr>
          <p:cNvPicPr>
            <a:picLocks noChangeAspect="1"/>
          </p:cNvPicPr>
          <p:nvPr/>
        </p:nvPicPr>
        <p:blipFill>
          <a:blip r:embed="rId5"/>
          <a:stretch>
            <a:fillRect/>
          </a:stretch>
        </p:blipFill>
        <p:spPr>
          <a:xfrm>
            <a:off x="4340837" y="1867586"/>
            <a:ext cx="1906157" cy="1616370"/>
          </a:xfrm>
          <a:prstGeom prst="rect">
            <a:avLst/>
          </a:prstGeom>
        </p:spPr>
      </p:pic>
      <p:pic>
        <p:nvPicPr>
          <p:cNvPr id="15" name="Picture 14">
            <a:extLst>
              <a:ext uri="{FF2B5EF4-FFF2-40B4-BE49-F238E27FC236}">
                <a16:creationId xmlns:a16="http://schemas.microsoft.com/office/drawing/2014/main" id="{85539FBB-DD93-78E4-3D5F-DE8DD0C6E26D}"/>
              </a:ext>
            </a:extLst>
          </p:cNvPr>
          <p:cNvPicPr>
            <a:picLocks noChangeAspect="1"/>
          </p:cNvPicPr>
          <p:nvPr/>
        </p:nvPicPr>
        <p:blipFill>
          <a:blip r:embed="rId6"/>
          <a:stretch>
            <a:fillRect/>
          </a:stretch>
        </p:blipFill>
        <p:spPr>
          <a:xfrm>
            <a:off x="4422245" y="1859661"/>
            <a:ext cx="1849628" cy="1624293"/>
          </a:xfrm>
          <a:prstGeom prst="rect">
            <a:avLst/>
          </a:prstGeom>
        </p:spPr>
      </p:pic>
    </p:spTree>
    <p:extLst>
      <p:ext uri="{BB962C8B-B14F-4D97-AF65-F5344CB8AC3E}">
        <p14:creationId xmlns:p14="http://schemas.microsoft.com/office/powerpoint/2010/main" val="3246887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4"/>
            </a:pPr>
            <a:r>
              <a:rPr lang="en-US" sz="1200" b="1" dirty="0">
                <a:solidFill>
                  <a:schemeClr val="bg2">
                    <a:lumMod val="75000"/>
                  </a:schemeClr>
                </a:solidFill>
              </a:rPr>
              <a:t>Poly-silicon dry etching</a:t>
            </a:r>
          </a:p>
          <a:p>
            <a:pPr marL="228600" indent="-228600">
              <a:buFont typeface="+mj-lt"/>
              <a:buAutoNum type="arabicPeriod" startAt="24"/>
            </a:pPr>
            <a:r>
              <a:rPr lang="en-US" sz="1200" b="1" dirty="0">
                <a:solidFill>
                  <a:schemeClr val="bg2">
                    <a:lumMod val="75000"/>
                  </a:schemeClr>
                </a:solidFill>
              </a:rPr>
              <a:t>Resist stripping</a:t>
            </a:r>
          </a:p>
          <a:p>
            <a:pPr marL="228600" indent="-228600">
              <a:buFont typeface="+mj-lt"/>
              <a:buAutoNum type="arabicPeriod" startAt="24"/>
            </a:pPr>
            <a:r>
              <a:rPr lang="en-US" sz="1200" b="1" dirty="0">
                <a:solidFill>
                  <a:schemeClr val="bg2">
                    <a:lumMod val="75000"/>
                  </a:schemeClr>
                </a:solidFill>
              </a:rPr>
              <a:t>Photo-resist spinning</a:t>
            </a:r>
          </a:p>
          <a:p>
            <a:pPr marL="228600" indent="-228600">
              <a:buFont typeface="+mj-lt"/>
              <a:buAutoNum type="arabicPeriod" startAt="24"/>
            </a:pPr>
            <a:r>
              <a:rPr lang="en-US" sz="1200" b="1" dirty="0">
                <a:solidFill>
                  <a:schemeClr val="bg2">
                    <a:lumMod val="75000"/>
                  </a:schemeClr>
                </a:solidFill>
              </a:rPr>
              <a:t>Mask 5 exposure (n LDD)</a:t>
            </a:r>
          </a:p>
          <a:p>
            <a:pPr marL="228600" indent="-228600">
              <a:buFont typeface="+mj-lt"/>
              <a:buAutoNum type="arabicPeriod" startAt="24"/>
            </a:pPr>
            <a:r>
              <a:rPr lang="en-US" sz="1200" b="1" dirty="0">
                <a:solidFill>
                  <a:schemeClr val="bg2">
                    <a:lumMod val="75000"/>
                  </a:schemeClr>
                </a:solidFill>
              </a:rPr>
              <a:t>n-LDD implant</a:t>
            </a:r>
          </a:p>
          <a:p>
            <a:pPr marL="228600" indent="-228600">
              <a:buFont typeface="+mj-lt"/>
              <a:buAutoNum type="arabicPeriod" startAt="24"/>
            </a:pPr>
            <a:r>
              <a:rPr lang="en-US" sz="1200" b="1" dirty="0"/>
              <a:t>Resist strip</a:t>
            </a:r>
          </a:p>
          <a:p>
            <a:pPr marL="228600" indent="-228600">
              <a:buFont typeface="+mj-lt"/>
              <a:buAutoNum type="arabicPeriod" startAt="24"/>
            </a:pPr>
            <a:r>
              <a:rPr lang="en-US" sz="1200" b="1" dirty="0">
                <a:solidFill>
                  <a:schemeClr val="bg2">
                    <a:lumMod val="75000"/>
                  </a:schemeClr>
                </a:solidFill>
              </a:rPr>
              <a:t>Photo-resist spinning</a:t>
            </a: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5</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r>
              <a:rPr lang="it-IT" sz="1200" dirty="0"/>
              <a:t>Note </a:t>
            </a:r>
            <a:r>
              <a:rPr lang="it-IT" sz="1200" dirty="0" err="1"/>
              <a:t>that</a:t>
            </a:r>
            <a:r>
              <a:rPr lang="it-IT" sz="1200" dirty="0"/>
              <a:t> n-</a:t>
            </a:r>
            <a:r>
              <a:rPr lang="it-IT" sz="1200" dirty="0" err="1"/>
              <a:t>dopants</a:t>
            </a:r>
            <a:r>
              <a:rPr lang="it-IT" sz="1200" dirty="0"/>
              <a:t> are </a:t>
            </a:r>
            <a:r>
              <a:rPr lang="it-IT" sz="1200" dirty="0" err="1"/>
              <a:t>also</a:t>
            </a:r>
            <a:r>
              <a:rPr lang="it-IT" sz="1200" dirty="0"/>
              <a:t> doping the gate </a:t>
            </a:r>
            <a:r>
              <a:rPr lang="it-IT" sz="1200" dirty="0" err="1"/>
              <a:t>poly</a:t>
            </a:r>
            <a:r>
              <a:rPr lang="it-IT" sz="1200" dirty="0"/>
              <a:t>-silicon</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pic>
        <p:nvPicPr>
          <p:cNvPr id="7" name="Picture 6">
            <a:extLst>
              <a:ext uri="{FF2B5EF4-FFF2-40B4-BE49-F238E27FC236}">
                <a16:creationId xmlns:a16="http://schemas.microsoft.com/office/drawing/2014/main" id="{C544C57C-E609-3AD6-E4F8-1E8326E40E0A}"/>
              </a:ext>
            </a:extLst>
          </p:cNvPr>
          <p:cNvPicPr>
            <a:picLocks noChangeAspect="1"/>
          </p:cNvPicPr>
          <p:nvPr/>
        </p:nvPicPr>
        <p:blipFill>
          <a:blip r:embed="rId4"/>
          <a:stretch>
            <a:fillRect/>
          </a:stretch>
        </p:blipFill>
        <p:spPr>
          <a:xfrm>
            <a:off x="4340837" y="1867586"/>
            <a:ext cx="1906157" cy="1616370"/>
          </a:xfrm>
          <a:prstGeom prst="rect">
            <a:avLst/>
          </a:prstGeom>
        </p:spPr>
      </p:pic>
      <p:pic>
        <p:nvPicPr>
          <p:cNvPr id="10" name="Picture 9">
            <a:extLst>
              <a:ext uri="{FF2B5EF4-FFF2-40B4-BE49-F238E27FC236}">
                <a16:creationId xmlns:a16="http://schemas.microsoft.com/office/drawing/2014/main" id="{17623B0F-285F-61D8-8CC5-98A16776F143}"/>
              </a:ext>
            </a:extLst>
          </p:cNvPr>
          <p:cNvPicPr>
            <a:picLocks noChangeAspect="1"/>
          </p:cNvPicPr>
          <p:nvPr/>
        </p:nvPicPr>
        <p:blipFill>
          <a:blip r:embed="rId5"/>
          <a:stretch>
            <a:fillRect/>
          </a:stretch>
        </p:blipFill>
        <p:spPr>
          <a:xfrm>
            <a:off x="4422245" y="1859661"/>
            <a:ext cx="1849628" cy="1624293"/>
          </a:xfrm>
          <a:prstGeom prst="rect">
            <a:avLst/>
          </a:prstGeom>
        </p:spPr>
      </p:pic>
    </p:spTree>
    <p:extLst>
      <p:ext uri="{BB962C8B-B14F-4D97-AF65-F5344CB8AC3E}">
        <p14:creationId xmlns:p14="http://schemas.microsoft.com/office/powerpoint/2010/main" val="186472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8"/>
            </a:pPr>
            <a:r>
              <a:rPr lang="en-US" sz="1200" b="1" dirty="0">
                <a:solidFill>
                  <a:schemeClr val="bg2">
                    <a:lumMod val="75000"/>
                  </a:schemeClr>
                </a:solidFill>
              </a:rPr>
              <a:t>n-LDD implant</a:t>
            </a:r>
          </a:p>
          <a:p>
            <a:pPr marL="228600" indent="-228600">
              <a:buFont typeface="+mj-lt"/>
              <a:buAutoNum type="arabicPeriod" startAt="28"/>
            </a:pPr>
            <a:r>
              <a:rPr lang="en-US" sz="1200" b="1" dirty="0">
                <a:solidFill>
                  <a:schemeClr val="bg2">
                    <a:lumMod val="75000"/>
                  </a:schemeClr>
                </a:solidFill>
              </a:rPr>
              <a:t>Resist strip</a:t>
            </a:r>
          </a:p>
          <a:p>
            <a:pPr marL="228600" indent="-228600">
              <a:buFont typeface="+mj-lt"/>
              <a:buAutoNum type="arabicPeriod" startAt="28"/>
            </a:pPr>
            <a:r>
              <a:rPr lang="en-US" sz="1200" b="1" dirty="0">
                <a:solidFill>
                  <a:schemeClr val="bg2">
                    <a:lumMod val="75000"/>
                  </a:schemeClr>
                </a:solidFill>
              </a:rPr>
              <a:t>Photo-resist spinning</a:t>
            </a:r>
          </a:p>
          <a:p>
            <a:pPr marL="228600" indent="-228600">
              <a:buFont typeface="+mj-lt"/>
              <a:buAutoNum type="arabicPeriod" startAt="28"/>
            </a:pPr>
            <a:r>
              <a:rPr lang="en-US" sz="1200" b="1" dirty="0"/>
              <a:t>Mask 6 exposure (p-LDD)</a:t>
            </a:r>
          </a:p>
          <a:p>
            <a:pPr marL="228600" indent="-228600">
              <a:buFont typeface="+mj-lt"/>
              <a:buAutoNum type="arabicPeriod" startAt="28"/>
            </a:pPr>
            <a:r>
              <a:rPr lang="en-US" sz="1200" b="1" dirty="0"/>
              <a:t>p-LDD implant</a:t>
            </a:r>
          </a:p>
          <a:p>
            <a:pPr marL="228600" indent="-228600">
              <a:buFont typeface="+mj-lt"/>
              <a:buAutoNum type="arabicPeriod" startAt="28"/>
            </a:pPr>
            <a:r>
              <a:rPr lang="en-US" sz="1200" b="1" dirty="0">
                <a:solidFill>
                  <a:schemeClr val="bg2">
                    <a:lumMod val="75000"/>
                  </a:schemeClr>
                </a:solidFill>
              </a:rPr>
              <a:t>Resist stripping</a:t>
            </a:r>
          </a:p>
          <a:p>
            <a:pPr marL="228600" indent="-228600">
              <a:buFont typeface="+mj-lt"/>
              <a:buAutoNum type="arabicPeriod" startAt="28"/>
            </a:pPr>
            <a:r>
              <a:rPr lang="en-US" sz="1200" b="1" dirty="0">
                <a:solidFill>
                  <a:schemeClr val="bg2">
                    <a:lumMod val="75000"/>
                  </a:schemeClr>
                </a:solidFill>
              </a:rPr>
              <a:t>Spacer dielectric deposition</a:t>
            </a:r>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341439" y="4004860"/>
            <a:ext cx="4079631" cy="129266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a:t>
            </a:r>
            <a:r>
              <a:rPr lang="it-IT" sz="1200" dirty="0" err="1"/>
              <a:t>ldd</a:t>
            </a:r>
            <a:r>
              <a:rPr lang="it-IT" sz="1200" dirty="0"/>
              <a:t> mask </a:t>
            </a:r>
            <a:r>
              <a:rPr lang="it-IT" sz="1200" dirty="0" err="1"/>
              <a:t>is</a:t>
            </a:r>
            <a:r>
              <a:rPr lang="it-IT" sz="1200" dirty="0"/>
              <a:t> </a:t>
            </a:r>
            <a:r>
              <a:rPr lang="it-IT" sz="1200" dirty="0" err="1"/>
              <a:t>exposed</a:t>
            </a:r>
            <a:r>
              <a:rPr lang="it-IT" sz="1200" dirty="0"/>
              <a:t>:</a:t>
            </a:r>
          </a:p>
          <a:p>
            <a:pPr marL="285750" indent="-285750">
              <a:buFont typeface="Arial" panose="020B0604020202020204" pitchFamily="34" charset="0"/>
              <a:buChar char="•"/>
            </a:pPr>
            <a:r>
              <a:rPr lang="it-IT" sz="1200" dirty="0" err="1"/>
              <a:t>Resist</a:t>
            </a:r>
            <a:r>
              <a:rPr lang="it-IT" sz="1200" dirty="0"/>
              <a:t> </a:t>
            </a:r>
            <a:r>
              <a:rPr lang="it-IT" sz="1200" dirty="0" err="1"/>
              <a:t>is</a:t>
            </a:r>
            <a:r>
              <a:rPr lang="it-IT" sz="1200" dirty="0"/>
              <a:t> </a:t>
            </a:r>
            <a:r>
              <a:rPr lang="it-IT" sz="1200" dirty="0" err="1"/>
              <a:t>removed</a:t>
            </a:r>
            <a:r>
              <a:rPr lang="it-IT" sz="1200" dirty="0"/>
              <a:t> from:</a:t>
            </a:r>
          </a:p>
          <a:p>
            <a:pPr marL="742950" lvl="1" indent="-285750">
              <a:buFont typeface="Arial" panose="020B0604020202020204" pitchFamily="34" charset="0"/>
              <a:buChar char="•"/>
            </a:pPr>
            <a:r>
              <a:rPr lang="it-IT" sz="1200" dirty="0"/>
              <a:t>p-</a:t>
            </a:r>
            <a:r>
              <a:rPr lang="it-IT" sz="1200" dirty="0" err="1"/>
              <a:t>channel</a:t>
            </a:r>
            <a:r>
              <a:rPr lang="it-IT" sz="1200" dirty="0"/>
              <a:t> transistor </a:t>
            </a:r>
            <a:r>
              <a:rPr lang="it-IT" sz="1200" dirty="0" err="1"/>
              <a:t>region</a:t>
            </a:r>
            <a:endParaRPr lang="it-IT" sz="1200" dirty="0"/>
          </a:p>
          <a:p>
            <a:pPr marL="742950" lvl="1" indent="-285750">
              <a:buFont typeface="Arial" panose="020B0604020202020204" pitchFamily="34" charset="0"/>
              <a:buChar char="•"/>
            </a:pPr>
            <a:r>
              <a:rPr lang="it-IT" sz="1200" dirty="0"/>
              <a:t>p-</a:t>
            </a:r>
            <a:r>
              <a:rPr lang="it-IT" sz="1200" dirty="0" err="1"/>
              <a:t>well</a:t>
            </a:r>
            <a:r>
              <a:rPr lang="it-IT" sz="1200" dirty="0"/>
              <a:t> contact area</a:t>
            </a:r>
          </a:p>
          <a:p>
            <a:pPr marL="285750" indent="-285750">
              <a:buFont typeface="Arial" panose="020B0604020202020204" pitchFamily="34" charset="0"/>
              <a:buChar char="•"/>
            </a:pPr>
            <a:r>
              <a:rPr lang="it-IT" sz="1200" dirty="0" err="1"/>
              <a:t>Shallow</a:t>
            </a:r>
            <a:r>
              <a:rPr lang="it-IT" sz="1200" dirty="0"/>
              <a:t>, low dose source and drain </a:t>
            </a:r>
            <a:r>
              <a:rPr lang="it-IT" sz="1200" dirty="0" err="1"/>
              <a:t>implant</a:t>
            </a:r>
            <a:r>
              <a:rPr lang="it-IT" sz="1200" dirty="0"/>
              <a:t> </a:t>
            </a:r>
            <a:r>
              <a:rPr lang="it-IT" sz="1200" dirty="0" err="1"/>
              <a:t>is</a:t>
            </a:r>
            <a:r>
              <a:rPr lang="it-IT" sz="1200" dirty="0"/>
              <a:t> </a:t>
            </a:r>
            <a:r>
              <a:rPr lang="it-IT" sz="1200" dirty="0" err="1"/>
              <a:t>performed</a:t>
            </a:r>
            <a:r>
              <a:rPr lang="it-IT" sz="1200" dirty="0"/>
              <a:t>:</a:t>
            </a:r>
          </a:p>
          <a:p>
            <a:pPr marL="742950" lvl="1" indent="-285750">
              <a:buFont typeface="Arial" panose="020B0604020202020204" pitchFamily="34" charset="0"/>
              <a:buChar char="•"/>
            </a:pPr>
            <a:r>
              <a:rPr lang="it-IT" sz="1200" dirty="0"/>
              <a:t>B and In are </a:t>
            </a:r>
            <a:r>
              <a:rPr lang="it-IT" sz="1200" dirty="0" err="1"/>
              <a:t>commonly</a:t>
            </a:r>
            <a:r>
              <a:rPr lang="it-IT" sz="1200" dirty="0"/>
              <a:t> </a:t>
            </a:r>
            <a:r>
              <a:rPr lang="it-IT" sz="1200" dirty="0" err="1"/>
              <a:t>used</a:t>
            </a:r>
            <a:endParaRPr lang="it-IT" sz="120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pic>
        <p:nvPicPr>
          <p:cNvPr id="8" name="Picture 7">
            <a:extLst>
              <a:ext uri="{FF2B5EF4-FFF2-40B4-BE49-F238E27FC236}">
                <a16:creationId xmlns:a16="http://schemas.microsoft.com/office/drawing/2014/main" id="{FED717AA-0F11-3A53-297F-79071AA9236B}"/>
              </a:ext>
            </a:extLst>
          </p:cNvPr>
          <p:cNvPicPr>
            <a:picLocks noChangeAspect="1"/>
          </p:cNvPicPr>
          <p:nvPr/>
        </p:nvPicPr>
        <p:blipFill>
          <a:blip r:embed="rId4"/>
          <a:stretch>
            <a:fillRect/>
          </a:stretch>
        </p:blipFill>
        <p:spPr>
          <a:xfrm>
            <a:off x="267870" y="2634598"/>
            <a:ext cx="3815299" cy="3177818"/>
          </a:xfrm>
          <a:prstGeom prst="rect">
            <a:avLst/>
          </a:prstGeom>
        </p:spPr>
      </p:pic>
      <p:sp>
        <p:nvSpPr>
          <p:cNvPr id="9" name="Oval 8">
            <a:extLst>
              <a:ext uri="{FF2B5EF4-FFF2-40B4-BE49-F238E27FC236}">
                <a16:creationId xmlns:a16="http://schemas.microsoft.com/office/drawing/2014/main" id="{B708B4BA-DD49-6CED-445E-481D40401AFD}"/>
              </a:ext>
            </a:extLst>
          </p:cNvPr>
          <p:cNvSpPr/>
          <p:nvPr/>
        </p:nvSpPr>
        <p:spPr>
          <a:xfrm rot="20438482">
            <a:off x="3191544" y="3842714"/>
            <a:ext cx="550438" cy="270568"/>
          </a:xfrm>
          <a:prstGeom prst="ellipse">
            <a:avLst/>
          </a:prstGeom>
          <a:noFill/>
          <a:ln w="28575"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3" name="Content Placeholder 9">
            <a:extLst>
              <a:ext uri="{FF2B5EF4-FFF2-40B4-BE49-F238E27FC236}">
                <a16:creationId xmlns:a16="http://schemas.microsoft.com/office/drawing/2014/main" id="{A64A6A4B-EEA7-B52C-8D13-8D2069D3A5A7}"/>
              </a:ext>
            </a:extLst>
          </p:cNvPr>
          <p:cNvPicPr>
            <a:picLocks noChangeAspect="1"/>
          </p:cNvPicPr>
          <p:nvPr/>
        </p:nvPicPr>
        <p:blipFill rotWithShape="1">
          <a:blip r:embed="rId5"/>
          <a:srcRect l="37217" t="19012" r="26665" b="12488"/>
          <a:stretch/>
        </p:blipFill>
        <p:spPr>
          <a:xfrm>
            <a:off x="6345011" y="4881789"/>
            <a:ext cx="1308535" cy="1861254"/>
          </a:xfrm>
          <a:prstGeom prst="rect">
            <a:avLst/>
          </a:prstGeom>
        </p:spPr>
      </p:pic>
      <p:sp>
        <p:nvSpPr>
          <p:cNvPr id="15" name="Rectangle 14">
            <a:extLst>
              <a:ext uri="{FF2B5EF4-FFF2-40B4-BE49-F238E27FC236}">
                <a16:creationId xmlns:a16="http://schemas.microsoft.com/office/drawing/2014/main" id="{332EA74A-97AD-62E5-2E73-2039207FE01F}"/>
              </a:ext>
            </a:extLst>
          </p:cNvPr>
          <p:cNvSpPr/>
          <p:nvPr/>
        </p:nvSpPr>
        <p:spPr>
          <a:xfrm>
            <a:off x="6874669" y="5276850"/>
            <a:ext cx="514350" cy="314326"/>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8" name="Rectangle 17">
            <a:extLst>
              <a:ext uri="{FF2B5EF4-FFF2-40B4-BE49-F238E27FC236}">
                <a16:creationId xmlns:a16="http://schemas.microsoft.com/office/drawing/2014/main" id="{64D1CCA2-BF5F-FCED-39BB-61E05C577769}"/>
              </a:ext>
            </a:extLst>
          </p:cNvPr>
          <p:cNvSpPr/>
          <p:nvPr/>
        </p:nvSpPr>
        <p:spPr>
          <a:xfrm>
            <a:off x="6577800" y="6209111"/>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538273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8"/>
            </a:pPr>
            <a:r>
              <a:rPr lang="en-US" sz="1200" b="1" dirty="0">
                <a:solidFill>
                  <a:schemeClr val="bg2">
                    <a:lumMod val="75000"/>
                  </a:schemeClr>
                </a:solidFill>
              </a:rPr>
              <a:t>n-LDD implant</a:t>
            </a:r>
          </a:p>
          <a:p>
            <a:pPr marL="228600" indent="-228600">
              <a:buFont typeface="+mj-lt"/>
              <a:buAutoNum type="arabicPeriod" startAt="28"/>
            </a:pPr>
            <a:r>
              <a:rPr lang="en-US" sz="1200" b="1" dirty="0">
                <a:solidFill>
                  <a:schemeClr val="bg2">
                    <a:lumMod val="75000"/>
                  </a:schemeClr>
                </a:solidFill>
              </a:rPr>
              <a:t>Resist strip</a:t>
            </a:r>
          </a:p>
          <a:p>
            <a:pPr marL="228600" indent="-228600">
              <a:buFont typeface="+mj-lt"/>
              <a:buAutoNum type="arabicPeriod" startAt="28"/>
            </a:pPr>
            <a:r>
              <a:rPr lang="en-US" sz="1200" b="1" dirty="0">
                <a:solidFill>
                  <a:schemeClr val="bg2">
                    <a:lumMod val="75000"/>
                  </a:schemeClr>
                </a:solidFill>
              </a:rPr>
              <a:t>Photo-resist spinning</a:t>
            </a:r>
          </a:p>
          <a:p>
            <a:pPr marL="228600" indent="-228600">
              <a:buFont typeface="+mj-lt"/>
              <a:buAutoNum type="arabicPeriod" startAt="28"/>
            </a:pPr>
            <a:r>
              <a:rPr lang="en-US" sz="1200" b="1" dirty="0">
                <a:solidFill>
                  <a:schemeClr val="bg2">
                    <a:lumMod val="75000"/>
                  </a:schemeClr>
                </a:solidFill>
              </a:rPr>
              <a:t>Mask 6 exposure (p-LDD)</a:t>
            </a:r>
          </a:p>
          <a:p>
            <a:pPr marL="228600" indent="-228600">
              <a:buFont typeface="+mj-lt"/>
              <a:buAutoNum type="arabicPeriod" startAt="28"/>
            </a:pPr>
            <a:r>
              <a:rPr lang="en-US" sz="1200" b="1" dirty="0">
                <a:solidFill>
                  <a:schemeClr val="bg2">
                    <a:lumMod val="75000"/>
                  </a:schemeClr>
                </a:solidFill>
              </a:rPr>
              <a:t>p-LDD implant</a:t>
            </a:r>
          </a:p>
          <a:p>
            <a:pPr marL="228600" indent="-228600">
              <a:buFont typeface="+mj-lt"/>
              <a:buAutoNum type="arabicPeriod" startAt="28"/>
            </a:pPr>
            <a:r>
              <a:rPr lang="en-US" sz="1200" b="1" dirty="0"/>
              <a:t>Resist stripping</a:t>
            </a:r>
          </a:p>
          <a:p>
            <a:pPr marL="228600" indent="-228600">
              <a:buFont typeface="+mj-lt"/>
              <a:buAutoNum type="arabicPeriod" startAt="28"/>
            </a:pPr>
            <a:r>
              <a:rPr lang="en-US" sz="1200" b="1" dirty="0">
                <a:solidFill>
                  <a:schemeClr val="bg2">
                    <a:lumMod val="75000"/>
                  </a:schemeClr>
                </a:solidFill>
              </a:rPr>
              <a:t>Spacer dielectric deposition</a:t>
            </a:r>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sp>
        <p:nvSpPr>
          <p:cNvPr id="9" name="Oval 8">
            <a:extLst>
              <a:ext uri="{FF2B5EF4-FFF2-40B4-BE49-F238E27FC236}">
                <a16:creationId xmlns:a16="http://schemas.microsoft.com/office/drawing/2014/main" id="{B708B4BA-DD49-6CED-445E-481D40401AFD}"/>
              </a:ext>
            </a:extLst>
          </p:cNvPr>
          <p:cNvSpPr/>
          <p:nvPr/>
        </p:nvSpPr>
        <p:spPr>
          <a:xfrm rot="20438482">
            <a:off x="3191544" y="3842714"/>
            <a:ext cx="550438" cy="270568"/>
          </a:xfrm>
          <a:prstGeom prst="ellipse">
            <a:avLst/>
          </a:prstGeom>
          <a:noFill/>
          <a:ln w="28575"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 name="TextBox 2">
            <a:extLst>
              <a:ext uri="{FF2B5EF4-FFF2-40B4-BE49-F238E27FC236}">
                <a16:creationId xmlns:a16="http://schemas.microsoft.com/office/drawing/2014/main" id="{9B452F40-87D3-2903-1706-DEFB1EABA631}"/>
              </a:ext>
            </a:extLst>
          </p:cNvPr>
          <p:cNvSpPr txBox="1"/>
          <p:nvPr/>
        </p:nvSpPr>
        <p:spPr>
          <a:xfrm>
            <a:off x="7341439" y="4004860"/>
            <a:ext cx="4079631" cy="553998"/>
          </a:xfrm>
          <a:prstGeom prst="rect">
            <a:avLst/>
          </a:prstGeom>
          <a:solidFill>
            <a:schemeClr val="accent5">
              <a:lumMod val="60000"/>
              <a:lumOff val="40000"/>
            </a:schemeClr>
          </a:solidFill>
        </p:spPr>
        <p:txBody>
          <a:bodyPr wrap="square" lIns="0" tIns="0" rIns="0" bIns="0" rtlCol="0">
            <a:spAutoFit/>
          </a:bodyPr>
          <a:lstStyle/>
          <a:p>
            <a:pPr marL="285750" indent="-285750">
              <a:buFont typeface="Arial" panose="020B0604020202020204" pitchFamily="34" charset="0"/>
              <a:buChar char="•"/>
            </a:pPr>
            <a:r>
              <a:rPr lang="it-IT" sz="1200" b="1" dirty="0" err="1"/>
              <a:t>Both</a:t>
            </a:r>
            <a:r>
              <a:rPr lang="it-IT" sz="1200" b="1" dirty="0"/>
              <a:t> n-</a:t>
            </a:r>
            <a:r>
              <a:rPr lang="it-IT" sz="1200" b="1" dirty="0" err="1"/>
              <a:t>channel</a:t>
            </a:r>
            <a:r>
              <a:rPr lang="it-IT" sz="1200" b="1" dirty="0"/>
              <a:t> and p-</a:t>
            </a:r>
            <a:r>
              <a:rPr lang="it-IT" sz="1200" b="1" dirty="0" err="1"/>
              <a:t>channel</a:t>
            </a:r>
            <a:r>
              <a:rPr lang="it-IT" sz="1200" b="1" dirty="0"/>
              <a:t> transistor cross </a:t>
            </a:r>
            <a:r>
              <a:rPr lang="it-IT" sz="1200" b="1" dirty="0" err="1"/>
              <a:t>sections</a:t>
            </a:r>
            <a:r>
              <a:rPr lang="it-IT" sz="1200" b="1" dirty="0"/>
              <a:t> </a:t>
            </a:r>
            <a:r>
              <a:rPr lang="it-IT" sz="1200" b="1" dirty="0" err="1"/>
              <a:t>will</a:t>
            </a:r>
            <a:r>
              <a:rPr lang="it-IT" sz="1200" b="1" dirty="0"/>
              <a:t> </a:t>
            </a:r>
            <a:r>
              <a:rPr lang="it-IT" sz="1200" b="1" dirty="0" err="1"/>
              <a:t>also</a:t>
            </a:r>
            <a:r>
              <a:rPr lang="it-IT" sz="1200" b="1" dirty="0"/>
              <a:t> be </a:t>
            </a:r>
            <a:r>
              <a:rPr lang="it-IT" sz="1200" b="1" dirty="0" err="1"/>
              <a:t>displayed</a:t>
            </a:r>
            <a:r>
              <a:rPr lang="it-IT" sz="1200" b="1" dirty="0"/>
              <a:t> from </a:t>
            </a:r>
            <a:r>
              <a:rPr lang="it-IT" sz="1200" b="1" dirty="0" err="1"/>
              <a:t>now</a:t>
            </a:r>
            <a:r>
              <a:rPr lang="it-IT" sz="1200" b="1" dirty="0"/>
              <a:t> on</a:t>
            </a:r>
          </a:p>
          <a:p>
            <a:pPr lvl="1"/>
            <a:endParaRPr lang="it-IT" sz="1200" dirty="0"/>
          </a:p>
        </p:txBody>
      </p:sp>
      <p:pic>
        <p:nvPicPr>
          <p:cNvPr id="10" name="Picture 9">
            <a:extLst>
              <a:ext uri="{FF2B5EF4-FFF2-40B4-BE49-F238E27FC236}">
                <a16:creationId xmlns:a16="http://schemas.microsoft.com/office/drawing/2014/main" id="{A5CF4CBD-AB4B-B803-63A7-CB340153F5A1}"/>
              </a:ext>
            </a:extLst>
          </p:cNvPr>
          <p:cNvPicPr>
            <a:picLocks noChangeAspect="1"/>
          </p:cNvPicPr>
          <p:nvPr/>
        </p:nvPicPr>
        <p:blipFill rotWithShape="1">
          <a:blip r:embed="rId4"/>
          <a:srcRect l="4344" r="12401" b="2212"/>
          <a:stretch/>
        </p:blipFill>
        <p:spPr>
          <a:xfrm>
            <a:off x="382953" y="2125786"/>
            <a:ext cx="3673231" cy="3914944"/>
          </a:xfrm>
          <a:prstGeom prst="rect">
            <a:avLst/>
          </a:prstGeom>
        </p:spPr>
      </p:pic>
      <p:sp>
        <p:nvSpPr>
          <p:cNvPr id="13" name="Arrow: Bent 12">
            <a:extLst>
              <a:ext uri="{FF2B5EF4-FFF2-40B4-BE49-F238E27FC236}">
                <a16:creationId xmlns:a16="http://schemas.microsoft.com/office/drawing/2014/main" id="{69211B0B-D87E-7CE6-5861-8AB116774BEB}"/>
              </a:ext>
            </a:extLst>
          </p:cNvPr>
          <p:cNvSpPr/>
          <p:nvPr/>
        </p:nvSpPr>
        <p:spPr>
          <a:xfrm>
            <a:off x="1602155" y="1583400"/>
            <a:ext cx="2683528" cy="1025875"/>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15" name="Arrow: Bent 14">
            <a:extLst>
              <a:ext uri="{FF2B5EF4-FFF2-40B4-BE49-F238E27FC236}">
                <a16:creationId xmlns:a16="http://schemas.microsoft.com/office/drawing/2014/main" id="{87807420-7A3F-9055-780D-6C3397EE77F1}"/>
              </a:ext>
            </a:extLst>
          </p:cNvPr>
          <p:cNvSpPr/>
          <p:nvPr/>
        </p:nvSpPr>
        <p:spPr>
          <a:xfrm flipV="1">
            <a:off x="2803130" y="5069622"/>
            <a:ext cx="1514588" cy="742793"/>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pic>
        <p:nvPicPr>
          <p:cNvPr id="21" name="Picture 20">
            <a:extLst>
              <a:ext uri="{FF2B5EF4-FFF2-40B4-BE49-F238E27FC236}">
                <a16:creationId xmlns:a16="http://schemas.microsoft.com/office/drawing/2014/main" id="{A64ED049-EEB0-D932-E4E2-2D709B3C0B37}"/>
              </a:ext>
            </a:extLst>
          </p:cNvPr>
          <p:cNvPicPr>
            <a:picLocks noChangeAspect="1"/>
          </p:cNvPicPr>
          <p:nvPr/>
        </p:nvPicPr>
        <p:blipFill>
          <a:blip r:embed="rId5"/>
          <a:stretch>
            <a:fillRect/>
          </a:stretch>
        </p:blipFill>
        <p:spPr>
          <a:xfrm>
            <a:off x="4317718" y="1917626"/>
            <a:ext cx="1938470" cy="1553154"/>
          </a:xfrm>
          <a:prstGeom prst="rect">
            <a:avLst/>
          </a:prstGeom>
        </p:spPr>
      </p:pic>
      <p:pic>
        <p:nvPicPr>
          <p:cNvPr id="23" name="Picture 22">
            <a:extLst>
              <a:ext uri="{FF2B5EF4-FFF2-40B4-BE49-F238E27FC236}">
                <a16:creationId xmlns:a16="http://schemas.microsoft.com/office/drawing/2014/main" id="{9CD697D7-B1E5-335B-7260-6E4958980063}"/>
              </a:ext>
            </a:extLst>
          </p:cNvPr>
          <p:cNvPicPr>
            <a:picLocks noChangeAspect="1"/>
          </p:cNvPicPr>
          <p:nvPr/>
        </p:nvPicPr>
        <p:blipFill>
          <a:blip r:embed="rId6"/>
          <a:stretch>
            <a:fillRect/>
          </a:stretch>
        </p:blipFill>
        <p:spPr>
          <a:xfrm>
            <a:off x="4653173" y="4841287"/>
            <a:ext cx="1442827" cy="1421400"/>
          </a:xfrm>
          <a:prstGeom prst="rect">
            <a:avLst/>
          </a:prstGeom>
        </p:spPr>
      </p:pic>
    </p:spTree>
    <p:extLst>
      <p:ext uri="{BB962C8B-B14F-4D97-AF65-F5344CB8AC3E}">
        <p14:creationId xmlns:p14="http://schemas.microsoft.com/office/powerpoint/2010/main" val="196752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89947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04285"/>
            <a:ext cx="1998661" cy="2363212"/>
          </a:xfrm>
          <a:prstGeom prst="rect">
            <a:avLst/>
          </a:prstGeom>
          <a:solidFill>
            <a:srgbClr val="CCCCC9"/>
          </a:solidFill>
          <a:ln w="38100" cap="sq">
            <a:solidFill>
              <a:srgbClr val="839167"/>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28"/>
            </a:pPr>
            <a:r>
              <a:rPr lang="en-US" sz="1200" b="1" dirty="0">
                <a:solidFill>
                  <a:schemeClr val="bg2">
                    <a:lumMod val="75000"/>
                  </a:schemeClr>
                </a:solidFill>
              </a:rPr>
              <a:t>n-LDD implant</a:t>
            </a:r>
          </a:p>
          <a:p>
            <a:pPr marL="228600" indent="-228600">
              <a:buFont typeface="+mj-lt"/>
              <a:buAutoNum type="arabicPeriod" startAt="28"/>
            </a:pPr>
            <a:r>
              <a:rPr lang="en-US" sz="1200" b="1" dirty="0">
                <a:solidFill>
                  <a:schemeClr val="bg2">
                    <a:lumMod val="75000"/>
                  </a:schemeClr>
                </a:solidFill>
              </a:rPr>
              <a:t>Resist strip</a:t>
            </a:r>
          </a:p>
          <a:p>
            <a:pPr marL="228600" indent="-228600">
              <a:buFont typeface="+mj-lt"/>
              <a:buAutoNum type="arabicPeriod" startAt="28"/>
            </a:pPr>
            <a:r>
              <a:rPr lang="en-US" sz="1200" b="1" dirty="0">
                <a:solidFill>
                  <a:schemeClr val="bg2">
                    <a:lumMod val="75000"/>
                  </a:schemeClr>
                </a:solidFill>
              </a:rPr>
              <a:t>Photo-resist spinning</a:t>
            </a:r>
          </a:p>
          <a:p>
            <a:pPr marL="228600" indent="-228600">
              <a:buFont typeface="+mj-lt"/>
              <a:buAutoNum type="arabicPeriod" startAt="28"/>
            </a:pPr>
            <a:r>
              <a:rPr lang="en-US" sz="1200" b="1" dirty="0">
                <a:solidFill>
                  <a:schemeClr val="bg2">
                    <a:lumMod val="75000"/>
                  </a:schemeClr>
                </a:solidFill>
              </a:rPr>
              <a:t>Mask 6 exposure (p-LDD)</a:t>
            </a:r>
          </a:p>
          <a:p>
            <a:pPr marL="228600" indent="-228600">
              <a:buFont typeface="+mj-lt"/>
              <a:buAutoNum type="arabicPeriod" startAt="28"/>
            </a:pPr>
            <a:r>
              <a:rPr lang="en-US" sz="1200" b="1" dirty="0">
                <a:solidFill>
                  <a:schemeClr val="bg2">
                    <a:lumMod val="75000"/>
                  </a:schemeClr>
                </a:solidFill>
              </a:rPr>
              <a:t>p-LDD implant</a:t>
            </a:r>
          </a:p>
          <a:p>
            <a:pPr marL="228600" indent="-228600">
              <a:buFont typeface="+mj-lt"/>
              <a:buAutoNum type="arabicPeriod" startAt="28"/>
            </a:pPr>
            <a:r>
              <a:rPr lang="en-US" sz="1200" b="1" dirty="0"/>
              <a:t>Resist stripping</a:t>
            </a:r>
          </a:p>
          <a:p>
            <a:pPr marL="228600" indent="-228600">
              <a:buFont typeface="+mj-lt"/>
              <a:buAutoNum type="arabicPeriod" startAt="28"/>
            </a:pPr>
            <a:r>
              <a:rPr lang="en-US" sz="1200" b="1" dirty="0">
                <a:solidFill>
                  <a:schemeClr val="bg2">
                    <a:lumMod val="75000"/>
                  </a:schemeClr>
                </a:solidFill>
              </a:rPr>
              <a:t>Spacer dielectric deposition</a:t>
            </a:r>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pic>
        <p:nvPicPr>
          <p:cNvPr id="6" name="Picture 5">
            <a:extLst>
              <a:ext uri="{FF2B5EF4-FFF2-40B4-BE49-F238E27FC236}">
                <a16:creationId xmlns:a16="http://schemas.microsoft.com/office/drawing/2014/main" id="{49797CB9-AE01-30F7-C719-D0E1CF766546}"/>
              </a:ext>
            </a:extLst>
          </p:cNvPr>
          <p:cNvPicPr>
            <a:picLocks noChangeAspect="1"/>
          </p:cNvPicPr>
          <p:nvPr/>
        </p:nvPicPr>
        <p:blipFill rotWithShape="1">
          <a:blip r:embed="rId3"/>
          <a:srcRect r="7812"/>
          <a:stretch/>
        </p:blipFill>
        <p:spPr>
          <a:xfrm>
            <a:off x="300025" y="2694203"/>
            <a:ext cx="3815299" cy="3118213"/>
          </a:xfrm>
          <a:prstGeom prst="rect">
            <a:avLst/>
          </a:prstGeom>
        </p:spPr>
      </p:pic>
      <p:sp>
        <p:nvSpPr>
          <p:cNvPr id="9" name="Oval 8">
            <a:extLst>
              <a:ext uri="{FF2B5EF4-FFF2-40B4-BE49-F238E27FC236}">
                <a16:creationId xmlns:a16="http://schemas.microsoft.com/office/drawing/2014/main" id="{B708B4BA-DD49-6CED-445E-481D40401AFD}"/>
              </a:ext>
            </a:extLst>
          </p:cNvPr>
          <p:cNvSpPr/>
          <p:nvPr/>
        </p:nvSpPr>
        <p:spPr>
          <a:xfrm rot="20438482">
            <a:off x="3191544" y="3842714"/>
            <a:ext cx="550438" cy="270568"/>
          </a:xfrm>
          <a:prstGeom prst="ellipse">
            <a:avLst/>
          </a:prstGeom>
          <a:noFill/>
          <a:ln w="28575"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10" name="Picture 9">
            <a:extLst>
              <a:ext uri="{FF2B5EF4-FFF2-40B4-BE49-F238E27FC236}">
                <a16:creationId xmlns:a16="http://schemas.microsoft.com/office/drawing/2014/main" id="{A5CF4CBD-AB4B-B803-63A7-CB340153F5A1}"/>
              </a:ext>
            </a:extLst>
          </p:cNvPr>
          <p:cNvPicPr>
            <a:picLocks noChangeAspect="1"/>
          </p:cNvPicPr>
          <p:nvPr/>
        </p:nvPicPr>
        <p:blipFill rotWithShape="1">
          <a:blip r:embed="rId4"/>
          <a:srcRect l="4344" r="12401" b="2212"/>
          <a:stretch/>
        </p:blipFill>
        <p:spPr>
          <a:xfrm>
            <a:off x="382953" y="2125786"/>
            <a:ext cx="3673231" cy="3914944"/>
          </a:xfrm>
          <a:prstGeom prst="rect">
            <a:avLst/>
          </a:prstGeom>
        </p:spPr>
      </p:pic>
      <p:sp>
        <p:nvSpPr>
          <p:cNvPr id="13" name="Arrow: Bent 12">
            <a:extLst>
              <a:ext uri="{FF2B5EF4-FFF2-40B4-BE49-F238E27FC236}">
                <a16:creationId xmlns:a16="http://schemas.microsoft.com/office/drawing/2014/main" id="{69211B0B-D87E-7CE6-5861-8AB116774BEB}"/>
              </a:ext>
            </a:extLst>
          </p:cNvPr>
          <p:cNvSpPr/>
          <p:nvPr/>
        </p:nvSpPr>
        <p:spPr>
          <a:xfrm>
            <a:off x="1602155" y="1583400"/>
            <a:ext cx="2683528" cy="1025875"/>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15" name="Arrow: Bent 14">
            <a:extLst>
              <a:ext uri="{FF2B5EF4-FFF2-40B4-BE49-F238E27FC236}">
                <a16:creationId xmlns:a16="http://schemas.microsoft.com/office/drawing/2014/main" id="{87807420-7A3F-9055-780D-6C3397EE77F1}"/>
              </a:ext>
            </a:extLst>
          </p:cNvPr>
          <p:cNvSpPr/>
          <p:nvPr/>
        </p:nvSpPr>
        <p:spPr>
          <a:xfrm flipV="1">
            <a:off x="2803130" y="5069622"/>
            <a:ext cx="1514588" cy="742793"/>
          </a:xfrm>
          <a:prstGeom prst="bentArrow">
            <a:avLst/>
          </a:prstGeom>
          <a:solidFill>
            <a:srgbClr val="839167"/>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pic>
        <p:nvPicPr>
          <p:cNvPr id="21" name="Picture 20">
            <a:extLst>
              <a:ext uri="{FF2B5EF4-FFF2-40B4-BE49-F238E27FC236}">
                <a16:creationId xmlns:a16="http://schemas.microsoft.com/office/drawing/2014/main" id="{A64ED049-EEB0-D932-E4E2-2D709B3C0B37}"/>
              </a:ext>
            </a:extLst>
          </p:cNvPr>
          <p:cNvPicPr>
            <a:picLocks noChangeAspect="1"/>
          </p:cNvPicPr>
          <p:nvPr/>
        </p:nvPicPr>
        <p:blipFill>
          <a:blip r:embed="rId5"/>
          <a:stretch>
            <a:fillRect/>
          </a:stretch>
        </p:blipFill>
        <p:spPr>
          <a:xfrm>
            <a:off x="4306151" y="1930801"/>
            <a:ext cx="1938470" cy="1553154"/>
          </a:xfrm>
          <a:prstGeom prst="rect">
            <a:avLst/>
          </a:prstGeom>
        </p:spPr>
      </p:pic>
      <p:pic>
        <p:nvPicPr>
          <p:cNvPr id="23" name="Picture 22">
            <a:extLst>
              <a:ext uri="{FF2B5EF4-FFF2-40B4-BE49-F238E27FC236}">
                <a16:creationId xmlns:a16="http://schemas.microsoft.com/office/drawing/2014/main" id="{9CD697D7-B1E5-335B-7260-6E4958980063}"/>
              </a:ext>
            </a:extLst>
          </p:cNvPr>
          <p:cNvPicPr>
            <a:picLocks noChangeAspect="1"/>
          </p:cNvPicPr>
          <p:nvPr/>
        </p:nvPicPr>
        <p:blipFill>
          <a:blip r:embed="rId6"/>
          <a:stretch>
            <a:fillRect/>
          </a:stretch>
        </p:blipFill>
        <p:spPr>
          <a:xfrm>
            <a:off x="4653173" y="4841287"/>
            <a:ext cx="1442827" cy="1421400"/>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Photo-</a:t>
            </a:r>
            <a:r>
              <a:rPr lang="it-IT" sz="1200" dirty="0" err="1"/>
              <a:t>resist</a:t>
            </a:r>
            <a:r>
              <a:rPr lang="it-IT" sz="1200" dirty="0"/>
              <a:t> </a:t>
            </a:r>
            <a:r>
              <a:rPr lang="it-IT" sz="1200" dirty="0" err="1"/>
              <a:t>is</a:t>
            </a:r>
            <a:r>
              <a:rPr lang="it-IT" sz="1200" dirty="0"/>
              <a:t> </a:t>
            </a:r>
            <a:r>
              <a:rPr lang="it-IT" sz="1200" dirty="0" err="1"/>
              <a:t>removed</a:t>
            </a:r>
            <a:r>
              <a:rPr lang="it-IT" sz="1200" dirty="0"/>
              <a:t>:</a:t>
            </a:r>
          </a:p>
          <a:p>
            <a:pPr marL="742950" lvl="1" indent="-285750">
              <a:buFont typeface="Arial" panose="020B0604020202020204" pitchFamily="34" charset="0"/>
              <a:buChar char="•"/>
            </a:pPr>
            <a:r>
              <a:rPr lang="it-IT" sz="1200" dirty="0"/>
              <a:t>O2 downstream plasma (no </a:t>
            </a:r>
            <a:r>
              <a:rPr lang="it-IT" sz="1200" dirty="0" err="1"/>
              <a:t>ion</a:t>
            </a:r>
            <a:r>
              <a:rPr lang="it-IT" sz="1200" dirty="0"/>
              <a:t> </a:t>
            </a:r>
            <a:r>
              <a:rPr lang="it-IT" sz="1200" dirty="0" err="1"/>
              <a:t>bombardment</a:t>
            </a:r>
            <a:r>
              <a:rPr lang="it-IT" sz="1200" dirty="0"/>
              <a:t>)</a:t>
            </a:r>
          </a:p>
          <a:p>
            <a:pPr marL="742950" lvl="1" indent="-285750">
              <a:buFont typeface="Arial" panose="020B0604020202020204" pitchFamily="34" charset="0"/>
              <a:buChar char="•"/>
            </a:pPr>
            <a:r>
              <a:rPr lang="it-IT" sz="1200" dirty="0"/>
              <a:t>Wet </a:t>
            </a:r>
            <a:r>
              <a:rPr lang="it-IT" sz="1200" dirty="0" err="1"/>
              <a:t>etching</a:t>
            </a:r>
            <a:r>
              <a:rPr lang="it-IT" sz="1200" dirty="0"/>
              <a:t> (e.g. H2SO4+H2O)</a:t>
            </a:r>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r>
              <a:rPr lang="it-IT" sz="1200" dirty="0"/>
              <a:t>Note </a:t>
            </a:r>
            <a:r>
              <a:rPr lang="it-IT" sz="1200" dirty="0" err="1"/>
              <a:t>that</a:t>
            </a:r>
            <a:r>
              <a:rPr lang="it-IT" sz="1200" dirty="0"/>
              <a:t> p-</a:t>
            </a:r>
            <a:r>
              <a:rPr lang="it-IT" sz="1200" dirty="0" err="1"/>
              <a:t>dopants</a:t>
            </a:r>
            <a:r>
              <a:rPr lang="it-IT" sz="1200" dirty="0"/>
              <a:t> are </a:t>
            </a:r>
            <a:r>
              <a:rPr lang="it-IT" sz="1200" dirty="0" err="1"/>
              <a:t>also</a:t>
            </a:r>
            <a:r>
              <a:rPr lang="it-IT" sz="1200" dirty="0"/>
              <a:t> doping the gate </a:t>
            </a:r>
            <a:r>
              <a:rPr lang="it-IT" sz="1200" dirty="0" err="1"/>
              <a:t>poly</a:t>
            </a:r>
            <a:r>
              <a:rPr lang="it-IT" sz="1200" dirty="0"/>
              <a:t>-silicon</a:t>
            </a:r>
          </a:p>
        </p:txBody>
      </p:sp>
    </p:spTree>
    <p:extLst>
      <p:ext uri="{BB962C8B-B14F-4D97-AF65-F5344CB8AC3E}">
        <p14:creationId xmlns:p14="http://schemas.microsoft.com/office/powerpoint/2010/main" val="1835250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2"/>
            </a:pPr>
            <a:r>
              <a:rPr lang="en-US" sz="1200" b="1" dirty="0">
                <a:solidFill>
                  <a:schemeClr val="bg2">
                    <a:lumMod val="75000"/>
                  </a:schemeClr>
                </a:solidFill>
              </a:rPr>
              <a:t>p-LDD implant</a:t>
            </a:r>
          </a:p>
          <a:p>
            <a:pPr marL="228600" indent="-228600">
              <a:buFont typeface="+mj-lt"/>
              <a:buAutoNum type="arabicPeriod" startAt="32"/>
            </a:pPr>
            <a:r>
              <a:rPr lang="en-US" sz="1200" b="1" dirty="0">
                <a:solidFill>
                  <a:schemeClr val="bg2">
                    <a:lumMod val="75000"/>
                  </a:schemeClr>
                </a:solidFill>
              </a:rPr>
              <a:t>Resist stripping</a:t>
            </a:r>
          </a:p>
          <a:p>
            <a:pPr marL="228600" indent="-228600">
              <a:buFont typeface="+mj-lt"/>
              <a:buAutoNum type="arabicPeriod" startAt="32"/>
            </a:pPr>
            <a:r>
              <a:rPr lang="en-US" sz="1200" b="1" dirty="0"/>
              <a:t>Spacer dielectric deposition</a:t>
            </a:r>
          </a:p>
          <a:p>
            <a:pPr marL="228600" indent="-228600">
              <a:buFont typeface="+mj-lt"/>
              <a:buAutoNum type="arabicPeriod" startAt="32"/>
            </a:pPr>
            <a:r>
              <a:rPr lang="en-US" sz="1200" b="1" dirty="0">
                <a:solidFill>
                  <a:schemeClr val="bg2">
                    <a:lumMod val="75000"/>
                  </a:schemeClr>
                </a:solidFill>
              </a:rPr>
              <a:t>Spacer dry etching</a:t>
            </a:r>
          </a:p>
          <a:p>
            <a:pPr marL="228600" indent="-228600">
              <a:buFont typeface="+mj-lt"/>
              <a:buAutoNum type="arabicPeriod" startAt="32"/>
            </a:pPr>
            <a:r>
              <a:rPr lang="en-US" sz="1200" b="1" dirty="0">
                <a:solidFill>
                  <a:schemeClr val="bg2">
                    <a:lumMod val="75000"/>
                  </a:schemeClr>
                </a:solidFill>
              </a:rPr>
              <a:t>Photo resist spinning</a:t>
            </a:r>
          </a:p>
          <a:p>
            <a:pPr marL="228600" indent="-228600">
              <a:buFont typeface="+mj-lt"/>
              <a:buAutoNum type="arabicPeriod" startAt="32"/>
            </a:pPr>
            <a:r>
              <a:rPr lang="en-US" sz="1200" b="1" dirty="0">
                <a:solidFill>
                  <a:schemeClr val="bg2">
                    <a:lumMod val="75000"/>
                  </a:schemeClr>
                </a:solidFill>
              </a:rPr>
              <a:t>Mask 7 exposure (n+)</a:t>
            </a:r>
          </a:p>
          <a:p>
            <a:pPr marL="228600" indent="-228600">
              <a:buFont typeface="+mj-lt"/>
              <a:buAutoNum type="arabicPeriod" startAt="32"/>
            </a:pPr>
            <a:r>
              <a:rPr lang="en-US" sz="1200" b="1" dirty="0">
                <a:solidFill>
                  <a:schemeClr val="bg2">
                    <a:lumMod val="75000"/>
                  </a:schemeClr>
                </a:solidFill>
              </a:rPr>
              <a:t>N+ implant</a:t>
            </a:r>
          </a:p>
          <a:p>
            <a:pPr marL="228600" indent="-228600">
              <a:buFont typeface="+mj-lt"/>
              <a:buAutoNum type="arabicPeriod" startAt="32"/>
            </a:pPr>
            <a:endParaRPr lang="en-US" sz="1200" b="1" dirty="0"/>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169551"/>
          </a:xfrm>
          <a:prstGeom prst="rect">
            <a:avLst/>
          </a:prstGeom>
          <a:noFill/>
        </p:spPr>
        <p:txBody>
          <a:bodyPr wrap="square" lIns="0" tIns="0" rIns="0" bIns="0" rtlCol="0">
            <a:spAutoFit/>
          </a:bodyPr>
          <a:lstStyle/>
          <a:p>
            <a:pPr lvl="1" eaLnBrk="1" hangingPunct="1">
              <a:spcBef>
                <a:spcPct val="50000"/>
              </a:spcBef>
              <a:buFont typeface="Times" panose="02020603050405020304" pitchFamily="18" charset="0"/>
              <a:buChar char="•"/>
            </a:pPr>
            <a:r>
              <a:rPr lang="en-GB" altLang="en-US" sz="1200" dirty="0"/>
              <a:t>LPCVD </a:t>
            </a:r>
            <a:r>
              <a:rPr lang="en-GB" altLang="en-US" sz="1200" b="1" dirty="0"/>
              <a:t>oxide or nitride</a:t>
            </a:r>
            <a:r>
              <a:rPr lang="en-GB" altLang="en-US" sz="1200" dirty="0"/>
              <a:t> are deposited</a:t>
            </a:r>
          </a:p>
          <a:p>
            <a:pPr lvl="2" eaLnBrk="1" hangingPunct="1">
              <a:spcBef>
                <a:spcPct val="50000"/>
              </a:spcBef>
              <a:buFont typeface="Times" panose="02020603050405020304" pitchFamily="18" charset="0"/>
              <a:buChar char="•"/>
            </a:pPr>
            <a:r>
              <a:rPr lang="en-GB" altLang="en-US" sz="1200" dirty="0"/>
              <a:t>E.g. 3SiH</a:t>
            </a:r>
            <a:r>
              <a:rPr lang="en-GB" altLang="en-US" sz="1200" baseline="-25000" dirty="0"/>
              <a:t>4</a:t>
            </a:r>
            <a:r>
              <a:rPr lang="en-GB" altLang="en-US" sz="1200" dirty="0"/>
              <a:t> + 4NH3 </a:t>
            </a:r>
            <a:r>
              <a:rPr lang="en-GB" altLang="en-US" sz="1200" dirty="0">
                <a:sym typeface="Wingdings" panose="05000000000000000000" pitchFamily="2" charset="2"/>
              </a:rPr>
              <a:t> Si3N4 +12H</a:t>
            </a:r>
            <a:r>
              <a:rPr lang="en-GB" altLang="en-US" sz="1200" baseline="-25000" dirty="0">
                <a:sym typeface="Wingdings" panose="05000000000000000000" pitchFamily="2" charset="2"/>
              </a:rPr>
              <a:t>2</a:t>
            </a:r>
            <a:r>
              <a:rPr lang="en-GB" altLang="en-US" sz="1200" dirty="0"/>
              <a:t> @ about 400 </a:t>
            </a:r>
            <a:r>
              <a:rPr lang="en-US" altLang="en-US" sz="1200" dirty="0">
                <a:cs typeface="Arial" panose="020B0604020202020204" pitchFamily="34" charset="0"/>
              </a:rPr>
              <a:t>°</a:t>
            </a:r>
            <a:r>
              <a:rPr lang="en-GB" altLang="en-US" sz="1200" dirty="0"/>
              <a:t>C</a:t>
            </a:r>
          </a:p>
          <a:p>
            <a:pPr lvl="1" eaLnBrk="1" hangingPunct="1">
              <a:spcBef>
                <a:spcPct val="50000"/>
              </a:spcBef>
              <a:buFont typeface="Times" panose="02020603050405020304" pitchFamily="18" charset="0"/>
              <a:buChar char="•"/>
            </a:pPr>
            <a:r>
              <a:rPr lang="en-GB" altLang="en-US" sz="1200" dirty="0"/>
              <a:t>The layer must be conformal: same thickness for every orientation</a:t>
            </a:r>
            <a:r>
              <a:rPr lang="en-GB" altLang="en-US" sz="1600" dirty="0"/>
              <a:t> </a:t>
            </a:r>
            <a:r>
              <a:rPr lang="en-GB" altLang="en-US" sz="1200" dirty="0"/>
              <a:t>(CVD or ALD deposition)</a:t>
            </a:r>
          </a:p>
        </p:txBody>
      </p:sp>
      <p:pic>
        <p:nvPicPr>
          <p:cNvPr id="8" name="Picture 7">
            <a:extLst>
              <a:ext uri="{FF2B5EF4-FFF2-40B4-BE49-F238E27FC236}">
                <a16:creationId xmlns:a16="http://schemas.microsoft.com/office/drawing/2014/main" id="{F1F7951F-DE3B-2B64-1785-A1633633EDCE}"/>
              </a:ext>
            </a:extLst>
          </p:cNvPr>
          <p:cNvPicPr>
            <a:picLocks noChangeAspect="1"/>
          </p:cNvPicPr>
          <p:nvPr/>
        </p:nvPicPr>
        <p:blipFill>
          <a:blip r:embed="rId3"/>
          <a:stretch>
            <a:fillRect/>
          </a:stretch>
        </p:blipFill>
        <p:spPr>
          <a:xfrm>
            <a:off x="363789" y="2770842"/>
            <a:ext cx="3751535" cy="3135024"/>
          </a:xfrm>
          <a:prstGeom prst="rect">
            <a:avLst/>
          </a:prstGeom>
        </p:spPr>
      </p:pic>
      <p:pic>
        <p:nvPicPr>
          <p:cNvPr id="18" name="Picture 17">
            <a:extLst>
              <a:ext uri="{FF2B5EF4-FFF2-40B4-BE49-F238E27FC236}">
                <a16:creationId xmlns:a16="http://schemas.microsoft.com/office/drawing/2014/main" id="{314452A8-7A5C-18AC-CF97-760424411E79}"/>
              </a:ext>
            </a:extLst>
          </p:cNvPr>
          <p:cNvPicPr>
            <a:picLocks noChangeAspect="1"/>
          </p:cNvPicPr>
          <p:nvPr/>
        </p:nvPicPr>
        <p:blipFill>
          <a:blip r:embed="rId4"/>
          <a:stretch>
            <a:fillRect/>
          </a:stretch>
        </p:blipFill>
        <p:spPr>
          <a:xfrm>
            <a:off x="4333755" y="1993723"/>
            <a:ext cx="1966585" cy="1605549"/>
          </a:xfrm>
          <a:prstGeom prst="rect">
            <a:avLst/>
          </a:prstGeom>
        </p:spPr>
      </p:pic>
      <p:pic>
        <p:nvPicPr>
          <p:cNvPr id="20" name="Picture 19">
            <a:extLst>
              <a:ext uri="{FF2B5EF4-FFF2-40B4-BE49-F238E27FC236}">
                <a16:creationId xmlns:a16="http://schemas.microsoft.com/office/drawing/2014/main" id="{8C885D0F-0953-FE4F-46EE-63D499691281}"/>
              </a:ext>
            </a:extLst>
          </p:cNvPr>
          <p:cNvPicPr>
            <a:picLocks noChangeAspect="1"/>
          </p:cNvPicPr>
          <p:nvPr/>
        </p:nvPicPr>
        <p:blipFill>
          <a:blip r:embed="rId5"/>
          <a:stretch>
            <a:fillRect/>
          </a:stretch>
        </p:blipFill>
        <p:spPr>
          <a:xfrm>
            <a:off x="4481177" y="4704740"/>
            <a:ext cx="1359124" cy="1448410"/>
          </a:xfrm>
          <a:prstGeom prst="rect">
            <a:avLst/>
          </a:prstGeom>
        </p:spPr>
      </p:pic>
    </p:spTree>
    <p:extLst>
      <p:ext uri="{BB962C8B-B14F-4D97-AF65-F5344CB8AC3E}">
        <p14:creationId xmlns:p14="http://schemas.microsoft.com/office/powerpoint/2010/main" val="137093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2"/>
            </a:pPr>
            <a:r>
              <a:rPr lang="en-US" sz="1200" b="1" dirty="0">
                <a:solidFill>
                  <a:schemeClr val="bg2">
                    <a:lumMod val="75000"/>
                  </a:schemeClr>
                </a:solidFill>
              </a:rPr>
              <a:t>p-LDD implant</a:t>
            </a:r>
          </a:p>
          <a:p>
            <a:pPr marL="228600" indent="-228600">
              <a:buFont typeface="+mj-lt"/>
              <a:buAutoNum type="arabicPeriod" startAt="32"/>
            </a:pPr>
            <a:r>
              <a:rPr lang="en-US" sz="1200" b="1" dirty="0">
                <a:solidFill>
                  <a:schemeClr val="bg2">
                    <a:lumMod val="75000"/>
                  </a:schemeClr>
                </a:solidFill>
              </a:rPr>
              <a:t>Resist stripping</a:t>
            </a:r>
          </a:p>
          <a:p>
            <a:pPr marL="228600" indent="-228600">
              <a:buFont typeface="+mj-lt"/>
              <a:buAutoNum type="arabicPeriod" startAt="32"/>
            </a:pPr>
            <a:r>
              <a:rPr lang="en-US" sz="1200" b="1" dirty="0">
                <a:solidFill>
                  <a:schemeClr val="bg2">
                    <a:lumMod val="75000"/>
                  </a:schemeClr>
                </a:solidFill>
              </a:rPr>
              <a:t>Spacer dielectric deposition</a:t>
            </a:r>
          </a:p>
          <a:p>
            <a:pPr marL="228600" indent="-228600">
              <a:buFont typeface="+mj-lt"/>
              <a:buAutoNum type="arabicPeriod" startAt="32"/>
            </a:pPr>
            <a:r>
              <a:rPr lang="en-US" sz="1200" b="1" dirty="0"/>
              <a:t>Spacer dry etching</a:t>
            </a:r>
          </a:p>
          <a:p>
            <a:pPr marL="228600" indent="-228600">
              <a:buFont typeface="+mj-lt"/>
              <a:buAutoNum type="arabicPeriod" startAt="32"/>
            </a:pPr>
            <a:r>
              <a:rPr lang="en-US" sz="1200" b="1" dirty="0">
                <a:solidFill>
                  <a:schemeClr val="bg2">
                    <a:lumMod val="75000"/>
                  </a:schemeClr>
                </a:solidFill>
              </a:rPr>
              <a:t>Photo resist spinning</a:t>
            </a:r>
          </a:p>
          <a:p>
            <a:pPr marL="228600" indent="-228600">
              <a:buFont typeface="+mj-lt"/>
              <a:buAutoNum type="arabicPeriod" startAt="32"/>
            </a:pPr>
            <a:r>
              <a:rPr lang="en-US" sz="1200" b="1" dirty="0">
                <a:solidFill>
                  <a:schemeClr val="bg2">
                    <a:lumMod val="75000"/>
                  </a:schemeClr>
                </a:solidFill>
              </a:rPr>
              <a:t>Mask 7 exposure (n+)</a:t>
            </a:r>
          </a:p>
          <a:p>
            <a:pPr marL="228600" indent="-228600">
              <a:buFont typeface="+mj-lt"/>
              <a:buAutoNum type="arabicPeriod" startAt="32"/>
            </a:pPr>
            <a:r>
              <a:rPr lang="en-US" sz="1200" b="1" dirty="0">
                <a:solidFill>
                  <a:schemeClr val="bg2">
                    <a:lumMod val="75000"/>
                  </a:schemeClr>
                </a:solidFill>
              </a:rPr>
              <a:t>N+ implant</a:t>
            </a:r>
          </a:p>
          <a:p>
            <a:pPr marL="228600" indent="-228600">
              <a:buFont typeface="+mj-lt"/>
              <a:buAutoNum type="arabicPeriod" startAt="32"/>
            </a:pPr>
            <a:endParaRPr lang="en-US" sz="1200" b="1" dirty="0"/>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6</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2308324"/>
          </a:xfrm>
          <a:prstGeom prst="rect">
            <a:avLst/>
          </a:prstGeom>
          <a:noFill/>
        </p:spPr>
        <p:txBody>
          <a:bodyPr wrap="square" lIns="0" tIns="0" rIns="0" bIns="0" rtlCol="0">
            <a:spAutoFit/>
          </a:bodyPr>
          <a:lstStyle/>
          <a:p>
            <a:pPr marL="285750" indent="-285750">
              <a:spcBef>
                <a:spcPct val="50000"/>
              </a:spcBef>
              <a:buFont typeface="Times" panose="02020603050405020304" pitchFamily="18" charset="0"/>
              <a:buChar char="•"/>
            </a:pPr>
            <a:r>
              <a:rPr lang="en-GB" altLang="en-US" sz="1200" dirty="0"/>
              <a:t>Spacer etching:</a:t>
            </a:r>
          </a:p>
          <a:p>
            <a:pPr marL="742950" lvl="1" indent="-285750">
              <a:spcBef>
                <a:spcPct val="50000"/>
              </a:spcBef>
              <a:buFont typeface="Times" panose="02020603050405020304" pitchFamily="18" charset="0"/>
              <a:buChar char="•"/>
            </a:pPr>
            <a:r>
              <a:rPr lang="en-GB" altLang="en-US" sz="1200" dirty="0"/>
              <a:t> Very anisotropic dry etching</a:t>
            </a:r>
          </a:p>
          <a:p>
            <a:pPr marL="742950" lvl="1" indent="-285750">
              <a:spcBef>
                <a:spcPct val="50000"/>
              </a:spcBef>
              <a:buFont typeface="Times" panose="02020603050405020304" pitchFamily="18" charset="0"/>
              <a:buChar char="•"/>
            </a:pPr>
            <a:r>
              <a:rPr lang="en-GB" altLang="en-US" sz="1200" dirty="0"/>
              <a:t> Since the etching proceeds only in the vertical direction, spacers are left on gate sidewalls.</a:t>
            </a:r>
          </a:p>
          <a:p>
            <a:pPr marL="742950" lvl="1" indent="-285750">
              <a:spcBef>
                <a:spcPct val="50000"/>
              </a:spcBef>
              <a:buFont typeface="Times" panose="02020603050405020304" pitchFamily="18" charset="0"/>
              <a:buChar char="•"/>
            </a:pPr>
            <a:r>
              <a:rPr lang="en-GB" altLang="en-US" sz="1200" dirty="0"/>
              <a:t>If nitride is used, selectivity to the underlying oxide could be required</a:t>
            </a:r>
          </a:p>
          <a:p>
            <a:pPr marL="285750" indent="-285750">
              <a:spcBef>
                <a:spcPct val="50000"/>
              </a:spcBef>
              <a:buFont typeface="Times" panose="02020603050405020304" pitchFamily="18" charset="0"/>
              <a:buChar char="•"/>
            </a:pPr>
            <a:r>
              <a:rPr lang="en-GB" altLang="en-US" sz="1200" b="1" dirty="0"/>
              <a:t>Spacers will be used to mask, in a self-aligned fashion, LDD areas from subsequent high dose/energy implants</a:t>
            </a:r>
          </a:p>
          <a:p>
            <a:pPr marL="285750" indent="-285750">
              <a:spcBef>
                <a:spcPct val="50000"/>
              </a:spcBef>
              <a:buFont typeface="Times" panose="02020603050405020304" pitchFamily="18" charset="0"/>
              <a:buChar char="•"/>
            </a:pPr>
            <a:endParaRPr lang="en-US" altLang="en-US" sz="1200" dirty="0"/>
          </a:p>
        </p:txBody>
      </p:sp>
      <p:pic>
        <p:nvPicPr>
          <p:cNvPr id="18" name="Picture 17">
            <a:extLst>
              <a:ext uri="{FF2B5EF4-FFF2-40B4-BE49-F238E27FC236}">
                <a16:creationId xmlns:a16="http://schemas.microsoft.com/office/drawing/2014/main" id="{314452A8-7A5C-18AC-CF97-760424411E79}"/>
              </a:ext>
            </a:extLst>
          </p:cNvPr>
          <p:cNvPicPr>
            <a:picLocks noChangeAspect="1"/>
          </p:cNvPicPr>
          <p:nvPr/>
        </p:nvPicPr>
        <p:blipFill>
          <a:blip r:embed="rId3"/>
          <a:stretch>
            <a:fillRect/>
          </a:stretch>
        </p:blipFill>
        <p:spPr>
          <a:xfrm>
            <a:off x="4333755" y="1993723"/>
            <a:ext cx="1966585" cy="1605549"/>
          </a:xfrm>
          <a:prstGeom prst="rect">
            <a:avLst/>
          </a:prstGeom>
        </p:spPr>
      </p:pic>
      <p:pic>
        <p:nvPicPr>
          <p:cNvPr id="20" name="Picture 19">
            <a:extLst>
              <a:ext uri="{FF2B5EF4-FFF2-40B4-BE49-F238E27FC236}">
                <a16:creationId xmlns:a16="http://schemas.microsoft.com/office/drawing/2014/main" id="{8C885D0F-0953-FE4F-46EE-63D499691281}"/>
              </a:ext>
            </a:extLst>
          </p:cNvPr>
          <p:cNvPicPr>
            <a:picLocks noChangeAspect="1"/>
          </p:cNvPicPr>
          <p:nvPr/>
        </p:nvPicPr>
        <p:blipFill>
          <a:blip r:embed="rId4"/>
          <a:stretch>
            <a:fillRect/>
          </a:stretch>
        </p:blipFill>
        <p:spPr>
          <a:xfrm>
            <a:off x="4481177" y="4704740"/>
            <a:ext cx="1359124" cy="1448410"/>
          </a:xfrm>
          <a:prstGeom prst="rect">
            <a:avLst/>
          </a:prstGeom>
        </p:spPr>
      </p:pic>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5"/>
          <a:stretch>
            <a:fillRect/>
          </a:stretch>
        </p:blipFill>
        <p:spPr>
          <a:xfrm>
            <a:off x="477481" y="2895097"/>
            <a:ext cx="3709794" cy="2921408"/>
          </a:xfrm>
          <a:prstGeom prst="rect">
            <a:avLst/>
          </a:prstGeom>
        </p:spPr>
      </p:pic>
      <p:pic>
        <p:nvPicPr>
          <p:cNvPr id="10" name="Picture 9">
            <a:extLst>
              <a:ext uri="{FF2B5EF4-FFF2-40B4-BE49-F238E27FC236}">
                <a16:creationId xmlns:a16="http://schemas.microsoft.com/office/drawing/2014/main" id="{C2A24E65-0057-E412-38A2-8C8F9353F1F4}"/>
              </a:ext>
            </a:extLst>
          </p:cNvPr>
          <p:cNvPicPr>
            <a:picLocks noChangeAspect="1"/>
          </p:cNvPicPr>
          <p:nvPr/>
        </p:nvPicPr>
        <p:blipFill rotWithShape="1">
          <a:blip r:embed="rId6"/>
          <a:srcRect r="8298"/>
          <a:stretch/>
        </p:blipFill>
        <p:spPr>
          <a:xfrm>
            <a:off x="4306925" y="1993723"/>
            <a:ext cx="1966585" cy="1550782"/>
          </a:xfrm>
          <a:prstGeom prst="rect">
            <a:avLst/>
          </a:prstGeom>
        </p:spPr>
      </p:pic>
      <p:pic>
        <p:nvPicPr>
          <p:cNvPr id="15" name="Picture 14">
            <a:extLst>
              <a:ext uri="{FF2B5EF4-FFF2-40B4-BE49-F238E27FC236}">
                <a16:creationId xmlns:a16="http://schemas.microsoft.com/office/drawing/2014/main" id="{4D129F47-6578-AE06-4846-3A22DA5CC8F2}"/>
              </a:ext>
            </a:extLst>
          </p:cNvPr>
          <p:cNvPicPr>
            <a:picLocks noChangeAspect="1"/>
          </p:cNvPicPr>
          <p:nvPr/>
        </p:nvPicPr>
        <p:blipFill>
          <a:blip r:embed="rId7"/>
          <a:stretch>
            <a:fillRect/>
          </a:stretch>
        </p:blipFill>
        <p:spPr>
          <a:xfrm>
            <a:off x="4459940" y="4624145"/>
            <a:ext cx="1516174" cy="1529005"/>
          </a:xfrm>
          <a:prstGeom prst="rect">
            <a:avLst/>
          </a:prstGeom>
        </p:spPr>
      </p:pic>
    </p:spTree>
    <p:extLst>
      <p:ext uri="{BB962C8B-B14F-4D97-AF65-F5344CB8AC3E}">
        <p14:creationId xmlns:p14="http://schemas.microsoft.com/office/powerpoint/2010/main" val="1469340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4"/>
            </a:pPr>
            <a:r>
              <a:rPr lang="en-US" sz="1200" b="1" dirty="0">
                <a:solidFill>
                  <a:schemeClr val="bg2">
                    <a:lumMod val="75000"/>
                  </a:schemeClr>
                </a:solidFill>
              </a:rPr>
              <a:t>Spacer dielectric deposition</a:t>
            </a:r>
          </a:p>
          <a:p>
            <a:pPr marL="228600" indent="-228600">
              <a:buFont typeface="+mj-lt"/>
              <a:buAutoNum type="arabicPeriod" startAt="34"/>
            </a:pPr>
            <a:r>
              <a:rPr lang="en-US" sz="1200" b="1" dirty="0">
                <a:solidFill>
                  <a:schemeClr val="bg2">
                    <a:lumMod val="75000"/>
                  </a:schemeClr>
                </a:solidFill>
              </a:rPr>
              <a:t>Spacer dry etching</a:t>
            </a:r>
          </a:p>
          <a:p>
            <a:pPr marL="228600" indent="-228600">
              <a:buFont typeface="+mj-lt"/>
              <a:buAutoNum type="arabicPeriod" startAt="34"/>
            </a:pPr>
            <a:r>
              <a:rPr lang="en-US" sz="1200" b="1" dirty="0"/>
              <a:t>Photo resist spinning</a:t>
            </a:r>
          </a:p>
          <a:p>
            <a:pPr marL="228600" indent="-228600">
              <a:buFont typeface="+mj-lt"/>
              <a:buAutoNum type="arabicPeriod" startAt="34"/>
            </a:pPr>
            <a:r>
              <a:rPr lang="en-US" sz="1200" b="1" dirty="0"/>
              <a:t>Mask 7 exposure (n+)</a:t>
            </a:r>
          </a:p>
          <a:p>
            <a:pPr marL="228600" indent="-228600">
              <a:buFont typeface="+mj-lt"/>
              <a:buAutoNum type="arabicPeriod" startAt="34"/>
            </a:pPr>
            <a:r>
              <a:rPr lang="en-US" sz="1200" b="1" dirty="0">
                <a:solidFill>
                  <a:schemeClr val="bg2">
                    <a:lumMod val="75000"/>
                  </a:schemeClr>
                </a:solidFill>
              </a:rPr>
              <a:t>N+ implant</a:t>
            </a:r>
          </a:p>
          <a:p>
            <a:pPr marL="228600" indent="-228600">
              <a:buFont typeface="+mj-lt"/>
              <a:buAutoNum type="arabicPeriod" startAt="34"/>
            </a:pPr>
            <a:r>
              <a:rPr lang="en-US" sz="1200" b="1" dirty="0">
                <a:solidFill>
                  <a:schemeClr val="bg2">
                    <a:lumMod val="75000"/>
                  </a:schemeClr>
                </a:solidFill>
              </a:rPr>
              <a:t>Resist stripping</a:t>
            </a:r>
          </a:p>
          <a:p>
            <a:pPr marL="228600" indent="-228600">
              <a:buFont typeface="+mj-lt"/>
              <a:buAutoNum type="arabicPeriod" startAt="34"/>
            </a:pPr>
            <a:r>
              <a:rPr lang="en-US" sz="1200" b="1" dirty="0">
                <a:solidFill>
                  <a:schemeClr val="bg2">
                    <a:lumMod val="75000"/>
                  </a:schemeClr>
                </a:solidFill>
              </a:rPr>
              <a:t>Photo resist spinning</a:t>
            </a:r>
          </a:p>
          <a:p>
            <a:pPr marL="228600" indent="-228600">
              <a:buFont typeface="+mj-lt"/>
              <a:buAutoNum type="arabicPeriod" startAt="34"/>
            </a:pPr>
            <a:endParaRPr lang="en-US" sz="1200" b="1" dirty="0"/>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7</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01566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N+ mask </a:t>
            </a:r>
            <a:r>
              <a:rPr lang="it-IT" sz="1200" dirty="0" err="1"/>
              <a:t>is</a:t>
            </a:r>
            <a:r>
              <a:rPr lang="it-IT" sz="1200" dirty="0"/>
              <a:t> </a:t>
            </a:r>
            <a:r>
              <a:rPr lang="it-IT" sz="1200" dirty="0" err="1"/>
              <a:t>exposed</a:t>
            </a:r>
            <a:r>
              <a:rPr lang="it-IT" sz="1200" dirty="0"/>
              <a:t>:</a:t>
            </a:r>
          </a:p>
          <a:p>
            <a:pPr marL="285750" indent="-285750">
              <a:buFont typeface="Arial" panose="020B0604020202020204" pitchFamily="34" charset="0"/>
              <a:buChar char="•"/>
            </a:pPr>
            <a:r>
              <a:rPr lang="it-IT" sz="1200" dirty="0" err="1"/>
              <a:t>Resist</a:t>
            </a:r>
            <a:r>
              <a:rPr lang="it-IT" sz="1200" dirty="0"/>
              <a:t> </a:t>
            </a:r>
            <a:r>
              <a:rPr lang="it-IT" sz="1200" dirty="0" err="1"/>
              <a:t>is</a:t>
            </a:r>
            <a:r>
              <a:rPr lang="it-IT" sz="1200" dirty="0"/>
              <a:t> </a:t>
            </a:r>
            <a:r>
              <a:rPr lang="it-IT" sz="1200" dirty="0" err="1"/>
              <a:t>removed</a:t>
            </a:r>
            <a:r>
              <a:rPr lang="it-IT" sz="1200" dirty="0"/>
              <a:t> from:</a:t>
            </a:r>
          </a:p>
          <a:p>
            <a:pPr marL="742950" lvl="1" indent="-285750">
              <a:buFont typeface="Arial" panose="020B0604020202020204" pitchFamily="34" charset="0"/>
              <a:buChar char="•"/>
            </a:pPr>
            <a:r>
              <a:rPr lang="it-IT" sz="1200" dirty="0"/>
              <a:t>N-</a:t>
            </a:r>
            <a:r>
              <a:rPr lang="it-IT" sz="1200" dirty="0" err="1"/>
              <a:t>channel</a:t>
            </a:r>
            <a:r>
              <a:rPr lang="it-IT" sz="1200" dirty="0"/>
              <a:t> transistor </a:t>
            </a:r>
            <a:r>
              <a:rPr lang="it-IT" sz="1200" dirty="0" err="1"/>
              <a:t>region</a:t>
            </a:r>
            <a:endParaRPr lang="it-IT" sz="1200" dirty="0"/>
          </a:p>
          <a:p>
            <a:pPr marL="742950" lvl="1" indent="-285750">
              <a:buFont typeface="Arial" panose="020B0604020202020204" pitchFamily="34" charset="0"/>
              <a:buChar char="•"/>
            </a:pPr>
            <a:r>
              <a:rPr lang="it-IT" sz="1200" dirty="0"/>
              <a:t>N-</a:t>
            </a:r>
            <a:r>
              <a:rPr lang="it-IT" sz="1200" dirty="0" err="1"/>
              <a:t>well</a:t>
            </a:r>
            <a:r>
              <a:rPr lang="it-IT" sz="1200" dirty="0"/>
              <a:t> contact area</a:t>
            </a:r>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319D8653-8177-A827-7EAD-525D71A9B302}"/>
              </a:ext>
            </a:extLst>
          </p:cNvPr>
          <p:cNvPicPr>
            <a:picLocks noChangeAspect="1"/>
          </p:cNvPicPr>
          <p:nvPr/>
        </p:nvPicPr>
        <p:blipFill>
          <a:blip r:embed="rId4"/>
          <a:stretch>
            <a:fillRect/>
          </a:stretch>
        </p:blipFill>
        <p:spPr>
          <a:xfrm>
            <a:off x="309013" y="2583465"/>
            <a:ext cx="3831017" cy="3201445"/>
          </a:xfrm>
          <a:prstGeom prst="rect">
            <a:avLst/>
          </a:prstGeom>
        </p:spPr>
      </p:pic>
      <p:pic>
        <p:nvPicPr>
          <p:cNvPr id="3" name="Content Placeholder 9">
            <a:extLst>
              <a:ext uri="{FF2B5EF4-FFF2-40B4-BE49-F238E27FC236}">
                <a16:creationId xmlns:a16="http://schemas.microsoft.com/office/drawing/2014/main" id="{68F47750-38FE-A9EA-264A-F87B2C32BD1A}"/>
              </a:ext>
            </a:extLst>
          </p:cNvPr>
          <p:cNvPicPr>
            <a:picLocks noChangeAspect="1"/>
          </p:cNvPicPr>
          <p:nvPr/>
        </p:nvPicPr>
        <p:blipFill rotWithShape="1">
          <a:blip r:embed="rId5"/>
          <a:srcRect l="37217" t="19012" r="26665" b="12488"/>
          <a:stretch/>
        </p:blipFill>
        <p:spPr>
          <a:xfrm>
            <a:off x="6390633" y="4656210"/>
            <a:ext cx="1308535" cy="1861254"/>
          </a:xfrm>
          <a:prstGeom prst="rect">
            <a:avLst/>
          </a:prstGeom>
        </p:spPr>
      </p:pic>
      <p:sp>
        <p:nvSpPr>
          <p:cNvPr id="9" name="Rectangle 8">
            <a:extLst>
              <a:ext uri="{FF2B5EF4-FFF2-40B4-BE49-F238E27FC236}">
                <a16:creationId xmlns:a16="http://schemas.microsoft.com/office/drawing/2014/main" id="{13E53BFE-FB7E-4C30-C490-885061557476}"/>
              </a:ext>
            </a:extLst>
          </p:cNvPr>
          <p:cNvSpPr/>
          <p:nvPr/>
        </p:nvSpPr>
        <p:spPr>
          <a:xfrm>
            <a:off x="6923457" y="5985248"/>
            <a:ext cx="509587" cy="160972"/>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0" name="Rectangle 9">
            <a:extLst>
              <a:ext uri="{FF2B5EF4-FFF2-40B4-BE49-F238E27FC236}">
                <a16:creationId xmlns:a16="http://schemas.microsoft.com/office/drawing/2014/main" id="{F1783BD4-6D6A-01AA-FF90-BCA5EFACD508}"/>
              </a:ext>
            </a:extLst>
          </p:cNvPr>
          <p:cNvSpPr/>
          <p:nvPr/>
        </p:nvSpPr>
        <p:spPr>
          <a:xfrm>
            <a:off x="6618659" y="5198791"/>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667735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4"/>
            </a:pPr>
            <a:r>
              <a:rPr lang="en-US" sz="1200" b="1" dirty="0">
                <a:solidFill>
                  <a:schemeClr val="bg2">
                    <a:lumMod val="75000"/>
                  </a:schemeClr>
                </a:solidFill>
              </a:rPr>
              <a:t>Spacer dielectric deposition</a:t>
            </a:r>
          </a:p>
          <a:p>
            <a:pPr marL="228600" indent="-228600">
              <a:buFont typeface="+mj-lt"/>
              <a:buAutoNum type="arabicPeriod" startAt="34"/>
            </a:pPr>
            <a:r>
              <a:rPr lang="en-US" sz="1200" b="1" dirty="0">
                <a:solidFill>
                  <a:schemeClr val="bg2">
                    <a:lumMod val="75000"/>
                  </a:schemeClr>
                </a:solidFill>
              </a:rPr>
              <a:t>Spacer dry etching</a:t>
            </a:r>
          </a:p>
          <a:p>
            <a:pPr marL="228600" indent="-228600">
              <a:buFont typeface="+mj-lt"/>
              <a:buAutoNum type="arabicPeriod" startAt="34"/>
            </a:pPr>
            <a:r>
              <a:rPr lang="en-US" sz="1200" b="1" dirty="0">
                <a:solidFill>
                  <a:schemeClr val="bg2">
                    <a:lumMod val="75000"/>
                  </a:schemeClr>
                </a:solidFill>
              </a:rPr>
              <a:t>Photo resist spinning</a:t>
            </a:r>
          </a:p>
          <a:p>
            <a:pPr marL="228600" indent="-228600">
              <a:buFont typeface="+mj-lt"/>
              <a:buAutoNum type="arabicPeriod" startAt="34"/>
            </a:pPr>
            <a:r>
              <a:rPr lang="en-US" sz="1200" b="1" dirty="0">
                <a:solidFill>
                  <a:schemeClr val="bg2">
                    <a:lumMod val="75000"/>
                  </a:schemeClr>
                </a:solidFill>
              </a:rPr>
              <a:t>Mask 7 exposure (n+)</a:t>
            </a:r>
          </a:p>
          <a:p>
            <a:pPr marL="228600" indent="-228600">
              <a:buFont typeface="+mj-lt"/>
              <a:buAutoNum type="arabicPeriod" startAt="34"/>
            </a:pPr>
            <a:r>
              <a:rPr lang="en-US" sz="1200" b="1" dirty="0"/>
              <a:t>N+ implant</a:t>
            </a:r>
          </a:p>
          <a:p>
            <a:pPr marL="228600" indent="-228600">
              <a:buFont typeface="+mj-lt"/>
              <a:buAutoNum type="arabicPeriod" startAt="34"/>
            </a:pPr>
            <a:r>
              <a:rPr lang="en-US" sz="1200" b="1" dirty="0"/>
              <a:t>Resist stripping</a:t>
            </a:r>
          </a:p>
          <a:p>
            <a:pPr marL="228600" indent="-228600">
              <a:buFont typeface="+mj-lt"/>
              <a:buAutoNum type="arabicPeriod" startAt="34"/>
            </a:pPr>
            <a:r>
              <a:rPr lang="en-US" sz="1200" b="1" dirty="0">
                <a:solidFill>
                  <a:schemeClr val="bg2">
                    <a:lumMod val="75000"/>
                  </a:schemeClr>
                </a:solidFill>
              </a:rPr>
              <a:t>Photo resist spinning</a:t>
            </a:r>
          </a:p>
          <a:p>
            <a:pPr marL="228600" indent="-228600">
              <a:buFont typeface="+mj-lt"/>
              <a:buAutoNum type="arabicPeriod" startAt="34"/>
            </a:pPr>
            <a:endParaRPr lang="en-US" sz="1200" b="1" dirty="0"/>
          </a:p>
          <a:p>
            <a:pPr marL="0" indent="0">
              <a:buNone/>
            </a:pPr>
            <a:endParaRPr lang="en-US" sz="1200" b="1" dirty="0">
              <a:solidFill>
                <a:schemeClr val="bg2">
                  <a:lumMod val="75000"/>
                </a:schemeClr>
              </a:solidFill>
            </a:endParaRPr>
          </a:p>
          <a:p>
            <a:pPr marL="0" indent="0">
              <a:buNone/>
            </a:pPr>
            <a:endParaRPr lang="en-US" sz="1200" b="1" dirty="0"/>
          </a:p>
          <a:p>
            <a:pPr marL="0" indent="0">
              <a:buNone/>
            </a:pPr>
            <a:endParaRPr lang="en-US" sz="1200" b="1" dirty="0"/>
          </a:p>
          <a:p>
            <a:pPr marL="228600" indent="-228600">
              <a:buFont typeface="+mj-lt"/>
              <a:buAutoNum type="arabicPeriod" startAt="16"/>
            </a:pPr>
            <a:endParaRPr lang="en-US" sz="1200" b="1" dirty="0"/>
          </a:p>
          <a:p>
            <a:pPr marL="342900" indent="-342900">
              <a:buFont typeface="+mj-lt"/>
              <a:buAutoNum type="arabicPeriod" startAt="4"/>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7</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38499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Deeper</a:t>
            </a:r>
            <a:r>
              <a:rPr lang="it-IT" sz="1200" dirty="0"/>
              <a:t>, </a:t>
            </a:r>
            <a:r>
              <a:rPr lang="it-IT" sz="1200" dirty="0" err="1"/>
              <a:t>higher</a:t>
            </a:r>
            <a:r>
              <a:rPr lang="it-IT" sz="1200" dirty="0"/>
              <a:t> dose source and drain </a:t>
            </a:r>
            <a:r>
              <a:rPr lang="it-IT" sz="1200" dirty="0" err="1"/>
              <a:t>implant</a:t>
            </a:r>
            <a:r>
              <a:rPr lang="it-IT" sz="1200" dirty="0"/>
              <a:t> are </a:t>
            </a:r>
            <a:r>
              <a:rPr lang="it-IT" sz="1200" dirty="0" err="1"/>
              <a:t>performed</a:t>
            </a:r>
            <a:r>
              <a:rPr lang="it-IT" sz="1200" dirty="0"/>
              <a:t>:</a:t>
            </a:r>
          </a:p>
          <a:p>
            <a:pPr marL="742950" lvl="1" indent="-285750">
              <a:buFont typeface="Arial" panose="020B0604020202020204" pitchFamily="34" charset="0"/>
              <a:buChar char="•"/>
            </a:pPr>
            <a:r>
              <a:rPr lang="it-IT" sz="1200" dirty="0" err="1"/>
              <a:t>As</a:t>
            </a:r>
            <a:r>
              <a:rPr lang="it-IT" sz="1200" dirty="0"/>
              <a:t> or P are </a:t>
            </a:r>
            <a:r>
              <a:rPr lang="it-IT" sz="1200" dirty="0" err="1"/>
              <a:t>commonly</a:t>
            </a:r>
            <a:r>
              <a:rPr lang="it-IT" sz="1200" dirty="0"/>
              <a:t> </a:t>
            </a:r>
            <a:r>
              <a:rPr lang="it-IT" sz="1200" dirty="0" err="1"/>
              <a:t>used</a:t>
            </a:r>
            <a:endParaRPr lang="it-IT" sz="1200" dirty="0"/>
          </a:p>
          <a:p>
            <a:pPr marL="742950" lvl="1" indent="-285750">
              <a:buFont typeface="Arial" panose="020B0604020202020204" pitchFamily="34" charset="0"/>
              <a:buChar char="•"/>
            </a:pPr>
            <a:r>
              <a:rPr lang="it-IT" sz="1200" dirty="0" err="1"/>
              <a:t>Spacers</a:t>
            </a:r>
            <a:r>
              <a:rPr lang="it-IT" sz="1200" dirty="0"/>
              <a:t> </a:t>
            </a:r>
            <a:r>
              <a:rPr lang="it-IT" sz="1200" dirty="0" err="1"/>
              <a:t>will</a:t>
            </a:r>
            <a:r>
              <a:rPr lang="it-IT" sz="1200" dirty="0"/>
              <a:t> mask LDD zones </a:t>
            </a:r>
            <a:r>
              <a:rPr lang="it-IT" sz="1200" dirty="0" err="1"/>
              <a:t>at</a:t>
            </a:r>
            <a:r>
              <a:rPr lang="it-IT" sz="1200" dirty="0"/>
              <a:t> the sides of the gate from </a:t>
            </a:r>
            <a:r>
              <a:rPr lang="it-IT" sz="1200" dirty="0" err="1"/>
              <a:t>additional</a:t>
            </a:r>
            <a:r>
              <a:rPr lang="it-IT" sz="1200" dirty="0"/>
              <a:t> </a:t>
            </a:r>
            <a:r>
              <a:rPr lang="it-IT" sz="1200" dirty="0" err="1"/>
              <a:t>implantation</a:t>
            </a:r>
            <a:endParaRPr lang="it-IT" sz="1200" dirty="0"/>
          </a:p>
          <a:p>
            <a:pPr marL="742950" lvl="1" indent="-285750">
              <a:buFont typeface="Arial" panose="020B0604020202020204" pitchFamily="34" charset="0"/>
              <a:buChar char="•"/>
            </a:pPr>
            <a:r>
              <a:rPr lang="it-IT" sz="1200" dirty="0" err="1"/>
              <a:t>Polysilicon</a:t>
            </a:r>
            <a:r>
              <a:rPr lang="it-IT" sz="1200" dirty="0"/>
              <a:t> gate </a:t>
            </a:r>
            <a:r>
              <a:rPr lang="it-IT" sz="1200" dirty="0" err="1"/>
              <a:t>is</a:t>
            </a:r>
            <a:r>
              <a:rPr lang="it-IT" sz="1200" dirty="0"/>
              <a:t> </a:t>
            </a:r>
            <a:r>
              <a:rPr lang="it-IT" sz="1200" dirty="0" err="1"/>
              <a:t>exposed</a:t>
            </a:r>
            <a:r>
              <a:rPr lang="it-IT" sz="1200" dirty="0"/>
              <a:t> to </a:t>
            </a:r>
            <a:r>
              <a:rPr lang="it-IT" sz="1200" dirty="0" err="1"/>
              <a:t>implant</a:t>
            </a:r>
            <a:r>
              <a:rPr lang="it-IT" sz="1200" dirty="0"/>
              <a:t> </a:t>
            </a:r>
            <a:r>
              <a:rPr lang="it-IT" sz="1200" dirty="0" err="1"/>
              <a:t>as</a:t>
            </a:r>
            <a:r>
              <a:rPr lang="it-IT" sz="1200" dirty="0"/>
              <a:t> </a:t>
            </a:r>
            <a:r>
              <a:rPr lang="it-IT" sz="1200" dirty="0" err="1"/>
              <a:t>well</a:t>
            </a: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13" name="Picture 12">
            <a:extLst>
              <a:ext uri="{FF2B5EF4-FFF2-40B4-BE49-F238E27FC236}">
                <a16:creationId xmlns:a16="http://schemas.microsoft.com/office/drawing/2014/main" id="{1E18B75B-7EE2-2048-5549-7A04C4D92FA1}"/>
              </a:ext>
            </a:extLst>
          </p:cNvPr>
          <p:cNvPicPr>
            <a:picLocks noChangeAspect="1"/>
          </p:cNvPicPr>
          <p:nvPr/>
        </p:nvPicPr>
        <p:blipFill rotWithShape="1">
          <a:blip r:embed="rId4"/>
          <a:srcRect r="7766"/>
          <a:stretch/>
        </p:blipFill>
        <p:spPr>
          <a:xfrm>
            <a:off x="302717" y="2651573"/>
            <a:ext cx="3709795" cy="3063317"/>
          </a:xfrm>
          <a:prstGeom prst="rect">
            <a:avLst/>
          </a:prstGeom>
        </p:spPr>
      </p:pic>
      <p:pic>
        <p:nvPicPr>
          <p:cNvPr id="19" name="Picture 18">
            <a:extLst>
              <a:ext uri="{FF2B5EF4-FFF2-40B4-BE49-F238E27FC236}">
                <a16:creationId xmlns:a16="http://schemas.microsoft.com/office/drawing/2014/main" id="{9AA852CD-CC6F-3FD6-508B-50A27516ED49}"/>
              </a:ext>
            </a:extLst>
          </p:cNvPr>
          <p:cNvPicPr>
            <a:picLocks noChangeAspect="1"/>
          </p:cNvPicPr>
          <p:nvPr/>
        </p:nvPicPr>
        <p:blipFill rotWithShape="1">
          <a:blip r:embed="rId5"/>
          <a:srcRect l="6765" r="5862"/>
          <a:stretch/>
        </p:blipFill>
        <p:spPr>
          <a:xfrm>
            <a:off x="4362039" y="1937348"/>
            <a:ext cx="1852644" cy="1661924"/>
          </a:xfrm>
          <a:prstGeom prst="rect">
            <a:avLst/>
          </a:prstGeom>
        </p:spPr>
      </p:pic>
      <p:pic>
        <p:nvPicPr>
          <p:cNvPr id="22" name="Picture 21">
            <a:extLst>
              <a:ext uri="{FF2B5EF4-FFF2-40B4-BE49-F238E27FC236}">
                <a16:creationId xmlns:a16="http://schemas.microsoft.com/office/drawing/2014/main" id="{7200B278-AAD9-A327-1944-5250308636AC}"/>
              </a:ext>
            </a:extLst>
          </p:cNvPr>
          <p:cNvPicPr>
            <a:picLocks noChangeAspect="1"/>
          </p:cNvPicPr>
          <p:nvPr/>
        </p:nvPicPr>
        <p:blipFill>
          <a:blip r:embed="rId6"/>
          <a:stretch>
            <a:fillRect/>
          </a:stretch>
        </p:blipFill>
        <p:spPr>
          <a:xfrm>
            <a:off x="4889024" y="4892605"/>
            <a:ext cx="1219059" cy="1307246"/>
          </a:xfrm>
          <a:prstGeom prst="rect">
            <a:avLst/>
          </a:prstGeom>
        </p:spPr>
      </p:pic>
      <p:sp>
        <p:nvSpPr>
          <p:cNvPr id="23" name="Oval 22">
            <a:extLst>
              <a:ext uri="{FF2B5EF4-FFF2-40B4-BE49-F238E27FC236}">
                <a16:creationId xmlns:a16="http://schemas.microsoft.com/office/drawing/2014/main" id="{691B89DE-B5DE-4A26-0D62-A3112C501070}"/>
              </a:ext>
            </a:extLst>
          </p:cNvPr>
          <p:cNvSpPr/>
          <p:nvPr/>
        </p:nvSpPr>
        <p:spPr>
          <a:xfrm>
            <a:off x="4889024" y="2651573"/>
            <a:ext cx="429391"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5" name="Oval 24">
            <a:extLst>
              <a:ext uri="{FF2B5EF4-FFF2-40B4-BE49-F238E27FC236}">
                <a16:creationId xmlns:a16="http://schemas.microsoft.com/office/drawing/2014/main" id="{09531A53-9181-EF40-1531-B541E19D95BC}"/>
              </a:ext>
            </a:extLst>
          </p:cNvPr>
          <p:cNvSpPr/>
          <p:nvPr/>
        </p:nvSpPr>
        <p:spPr>
          <a:xfrm>
            <a:off x="4620552" y="2560449"/>
            <a:ext cx="245439"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6" name="Oval 25">
            <a:extLst>
              <a:ext uri="{FF2B5EF4-FFF2-40B4-BE49-F238E27FC236}">
                <a16:creationId xmlns:a16="http://schemas.microsoft.com/office/drawing/2014/main" id="{AEE43096-541E-CD6D-84F5-A29BF1DAA033}"/>
              </a:ext>
            </a:extLst>
          </p:cNvPr>
          <p:cNvSpPr/>
          <p:nvPr/>
        </p:nvSpPr>
        <p:spPr>
          <a:xfrm>
            <a:off x="4843231" y="5156338"/>
            <a:ext cx="429391"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7" name="Oval 26">
            <a:extLst>
              <a:ext uri="{FF2B5EF4-FFF2-40B4-BE49-F238E27FC236}">
                <a16:creationId xmlns:a16="http://schemas.microsoft.com/office/drawing/2014/main" id="{1DA97D05-D87D-6B18-CAAC-2F0D61ABE536}"/>
              </a:ext>
            </a:extLst>
          </p:cNvPr>
          <p:cNvSpPr/>
          <p:nvPr/>
        </p:nvSpPr>
        <p:spPr>
          <a:xfrm>
            <a:off x="4743271" y="2351355"/>
            <a:ext cx="245439"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697287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8"/>
            </a:pPr>
            <a:r>
              <a:rPr lang="en-US" sz="1200" b="1" dirty="0">
                <a:solidFill>
                  <a:schemeClr val="bg2">
                    <a:lumMod val="75000"/>
                  </a:schemeClr>
                </a:solidFill>
              </a:rPr>
              <a:t>N+ implant</a:t>
            </a:r>
          </a:p>
          <a:p>
            <a:pPr marL="228600" indent="-228600">
              <a:buFont typeface="+mj-lt"/>
              <a:buAutoNum type="arabicPeriod" startAt="38"/>
            </a:pPr>
            <a:r>
              <a:rPr lang="en-US" sz="1200" b="1" dirty="0">
                <a:solidFill>
                  <a:schemeClr val="bg2">
                    <a:lumMod val="75000"/>
                  </a:schemeClr>
                </a:solidFill>
              </a:rPr>
              <a:t>Resist stripping</a:t>
            </a:r>
          </a:p>
          <a:p>
            <a:pPr marL="228600" indent="-228600">
              <a:buFont typeface="+mj-lt"/>
              <a:buAutoNum type="arabicPeriod" startAt="38"/>
            </a:pPr>
            <a:r>
              <a:rPr lang="en-US" sz="1200" b="1" dirty="0">
                <a:solidFill>
                  <a:schemeClr val="bg2">
                    <a:lumMod val="75000"/>
                  </a:schemeClr>
                </a:solidFill>
              </a:rPr>
              <a:t>Photo resist spinning</a:t>
            </a:r>
          </a:p>
          <a:p>
            <a:pPr marL="228600" indent="-228600">
              <a:buFont typeface="+mj-lt"/>
              <a:buAutoNum type="arabicPeriod" startAt="38"/>
            </a:pPr>
            <a:r>
              <a:rPr lang="en-US" sz="1200" b="1" dirty="0"/>
              <a:t>Mask 8 exposure (p+)</a:t>
            </a:r>
          </a:p>
          <a:p>
            <a:pPr marL="228600" indent="-228600">
              <a:buFont typeface="+mj-lt"/>
              <a:buAutoNum type="arabicPeriod" startAt="38"/>
            </a:pPr>
            <a:r>
              <a:rPr lang="en-US" sz="1200" b="1" dirty="0">
                <a:solidFill>
                  <a:schemeClr val="bg2">
                    <a:lumMod val="75000"/>
                  </a:schemeClr>
                </a:solidFill>
              </a:rPr>
              <a:t>p+ implant</a:t>
            </a:r>
          </a:p>
          <a:p>
            <a:pPr marL="228600" indent="-228600">
              <a:buFont typeface="+mj-lt"/>
              <a:buAutoNum type="arabicPeriod" startAt="38"/>
            </a:pPr>
            <a:r>
              <a:rPr lang="en-US" sz="1200" b="1" dirty="0">
                <a:solidFill>
                  <a:schemeClr val="bg2">
                    <a:lumMod val="75000"/>
                  </a:schemeClr>
                </a:solidFill>
              </a:rPr>
              <a:t>Resist stripping</a:t>
            </a:r>
          </a:p>
          <a:p>
            <a:pPr marL="228600" indent="-228600">
              <a:buFont typeface="+mj-lt"/>
              <a:buAutoNum type="arabicPeriod" startAt="38"/>
            </a:pPr>
            <a:r>
              <a:rPr lang="en-US" sz="1200" b="1" dirty="0">
                <a:solidFill>
                  <a:schemeClr val="bg2">
                    <a:lumMod val="75000"/>
                  </a:schemeClr>
                </a:solidFill>
              </a:rPr>
              <a:t>Dopant activation annealing</a:t>
            </a:r>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228600" indent="-228600">
              <a:buFont typeface="+mj-lt"/>
              <a:buAutoNum type="arabicPeriod" startAt="38"/>
            </a:pPr>
            <a:endParaRPr lang="en-US" sz="1200" b="1" dirty="0">
              <a:solidFill>
                <a:schemeClr val="bg2">
                  <a:lumMod val="75000"/>
                </a:schemeClr>
              </a:solidFill>
            </a:endParaRPr>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342900" indent="-342900">
              <a:buFont typeface="+mj-lt"/>
              <a:buAutoNum type="arabicPeriod" startAt="38"/>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01566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p+ mask </a:t>
            </a:r>
            <a:r>
              <a:rPr lang="it-IT" sz="1200" dirty="0" err="1"/>
              <a:t>is</a:t>
            </a:r>
            <a:r>
              <a:rPr lang="it-IT" sz="1200" dirty="0"/>
              <a:t> </a:t>
            </a:r>
            <a:r>
              <a:rPr lang="it-IT" sz="1200" dirty="0" err="1"/>
              <a:t>exposed</a:t>
            </a:r>
            <a:r>
              <a:rPr lang="it-IT" sz="1200" dirty="0"/>
              <a:t>:</a:t>
            </a:r>
          </a:p>
          <a:p>
            <a:pPr marL="285750" indent="-285750">
              <a:buFont typeface="Arial" panose="020B0604020202020204" pitchFamily="34" charset="0"/>
              <a:buChar char="•"/>
            </a:pPr>
            <a:r>
              <a:rPr lang="it-IT" sz="1200" dirty="0" err="1"/>
              <a:t>Resist</a:t>
            </a:r>
            <a:r>
              <a:rPr lang="it-IT" sz="1200" dirty="0"/>
              <a:t> </a:t>
            </a:r>
            <a:r>
              <a:rPr lang="it-IT" sz="1200" dirty="0" err="1"/>
              <a:t>is</a:t>
            </a:r>
            <a:r>
              <a:rPr lang="it-IT" sz="1200" dirty="0"/>
              <a:t> </a:t>
            </a:r>
            <a:r>
              <a:rPr lang="it-IT" sz="1200" dirty="0" err="1"/>
              <a:t>removed</a:t>
            </a:r>
            <a:r>
              <a:rPr lang="it-IT" sz="1200" dirty="0"/>
              <a:t> from:</a:t>
            </a:r>
          </a:p>
          <a:p>
            <a:pPr marL="742950" lvl="1" indent="-285750">
              <a:buFont typeface="Arial" panose="020B0604020202020204" pitchFamily="34" charset="0"/>
              <a:buChar char="•"/>
            </a:pPr>
            <a:r>
              <a:rPr lang="it-IT" sz="1200" dirty="0"/>
              <a:t>p-</a:t>
            </a:r>
            <a:r>
              <a:rPr lang="it-IT" sz="1200" dirty="0" err="1"/>
              <a:t>channel</a:t>
            </a:r>
            <a:r>
              <a:rPr lang="it-IT" sz="1200" dirty="0"/>
              <a:t> transistor </a:t>
            </a:r>
            <a:r>
              <a:rPr lang="it-IT" sz="1200" dirty="0" err="1"/>
              <a:t>region</a:t>
            </a:r>
            <a:endParaRPr lang="it-IT" sz="1200" dirty="0"/>
          </a:p>
          <a:p>
            <a:pPr marL="742950" lvl="1" indent="-285750">
              <a:buFont typeface="Arial" panose="020B0604020202020204" pitchFamily="34" charset="0"/>
              <a:buChar char="•"/>
            </a:pPr>
            <a:r>
              <a:rPr lang="it-IT" sz="1200" dirty="0"/>
              <a:t>p-</a:t>
            </a:r>
            <a:r>
              <a:rPr lang="it-IT" sz="1200" dirty="0" err="1"/>
              <a:t>well</a:t>
            </a:r>
            <a:r>
              <a:rPr lang="it-IT" sz="1200" dirty="0"/>
              <a:t> contact area</a:t>
            </a:r>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13" name="Picture 12">
            <a:extLst>
              <a:ext uri="{FF2B5EF4-FFF2-40B4-BE49-F238E27FC236}">
                <a16:creationId xmlns:a16="http://schemas.microsoft.com/office/drawing/2014/main" id="{1E18B75B-7EE2-2048-5549-7A04C4D92FA1}"/>
              </a:ext>
            </a:extLst>
          </p:cNvPr>
          <p:cNvPicPr>
            <a:picLocks noChangeAspect="1"/>
          </p:cNvPicPr>
          <p:nvPr/>
        </p:nvPicPr>
        <p:blipFill rotWithShape="1">
          <a:blip r:embed="rId4"/>
          <a:srcRect r="7766"/>
          <a:stretch/>
        </p:blipFill>
        <p:spPr>
          <a:xfrm>
            <a:off x="302717" y="2651573"/>
            <a:ext cx="3709795" cy="3063317"/>
          </a:xfrm>
          <a:prstGeom prst="rect">
            <a:avLst/>
          </a:prstGeom>
        </p:spPr>
      </p:pic>
      <p:pic>
        <p:nvPicPr>
          <p:cNvPr id="8" name="Picture 7">
            <a:extLst>
              <a:ext uri="{FF2B5EF4-FFF2-40B4-BE49-F238E27FC236}">
                <a16:creationId xmlns:a16="http://schemas.microsoft.com/office/drawing/2014/main" id="{4BC7AFD8-CCCC-4B40-E5E3-0C70BE265FA2}"/>
              </a:ext>
            </a:extLst>
          </p:cNvPr>
          <p:cNvPicPr>
            <a:picLocks noChangeAspect="1"/>
          </p:cNvPicPr>
          <p:nvPr/>
        </p:nvPicPr>
        <p:blipFill rotWithShape="1">
          <a:blip r:embed="rId5"/>
          <a:srcRect l="2536" r="-2536"/>
          <a:stretch/>
        </p:blipFill>
        <p:spPr>
          <a:xfrm>
            <a:off x="302717" y="2473117"/>
            <a:ext cx="3920926" cy="3216568"/>
          </a:xfrm>
          <a:prstGeom prst="rect">
            <a:avLst/>
          </a:prstGeom>
        </p:spPr>
      </p:pic>
      <p:pic>
        <p:nvPicPr>
          <p:cNvPr id="9" name="Content Placeholder 9">
            <a:extLst>
              <a:ext uri="{FF2B5EF4-FFF2-40B4-BE49-F238E27FC236}">
                <a16:creationId xmlns:a16="http://schemas.microsoft.com/office/drawing/2014/main" id="{C1C064A2-9361-0B97-36A0-80F71563BFB8}"/>
              </a:ext>
            </a:extLst>
          </p:cNvPr>
          <p:cNvPicPr>
            <a:picLocks noChangeAspect="1"/>
          </p:cNvPicPr>
          <p:nvPr/>
        </p:nvPicPr>
        <p:blipFill rotWithShape="1">
          <a:blip r:embed="rId6"/>
          <a:srcRect l="37217" t="19012" r="26665" b="12488"/>
          <a:stretch/>
        </p:blipFill>
        <p:spPr>
          <a:xfrm>
            <a:off x="6390633" y="4784263"/>
            <a:ext cx="1308535" cy="1861254"/>
          </a:xfrm>
          <a:prstGeom prst="rect">
            <a:avLst/>
          </a:prstGeom>
        </p:spPr>
      </p:pic>
      <p:sp>
        <p:nvSpPr>
          <p:cNvPr id="10" name="Rectangle 9">
            <a:extLst>
              <a:ext uri="{FF2B5EF4-FFF2-40B4-BE49-F238E27FC236}">
                <a16:creationId xmlns:a16="http://schemas.microsoft.com/office/drawing/2014/main" id="{9293701D-7E6A-6CA4-DEE4-5BF21341DB03}"/>
              </a:ext>
            </a:extLst>
          </p:cNvPr>
          <p:cNvSpPr/>
          <p:nvPr/>
        </p:nvSpPr>
        <p:spPr>
          <a:xfrm>
            <a:off x="6920291" y="5179324"/>
            <a:ext cx="514350" cy="314326"/>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A4A72BD5-B0A3-49E6-0C00-D8FD0F5084BA}"/>
              </a:ext>
            </a:extLst>
          </p:cNvPr>
          <p:cNvSpPr/>
          <p:nvPr/>
        </p:nvSpPr>
        <p:spPr>
          <a:xfrm>
            <a:off x="6623422" y="6111585"/>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111443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38"/>
            </a:pPr>
            <a:r>
              <a:rPr lang="en-US" sz="1200" b="1" dirty="0">
                <a:solidFill>
                  <a:schemeClr val="bg2">
                    <a:lumMod val="75000"/>
                  </a:schemeClr>
                </a:solidFill>
              </a:rPr>
              <a:t>N+ implant</a:t>
            </a:r>
          </a:p>
          <a:p>
            <a:pPr marL="228600" indent="-228600">
              <a:buFont typeface="+mj-lt"/>
              <a:buAutoNum type="arabicPeriod" startAt="38"/>
            </a:pPr>
            <a:r>
              <a:rPr lang="en-US" sz="1200" b="1" dirty="0">
                <a:solidFill>
                  <a:schemeClr val="bg2">
                    <a:lumMod val="75000"/>
                  </a:schemeClr>
                </a:solidFill>
              </a:rPr>
              <a:t>Resist stripping</a:t>
            </a:r>
          </a:p>
          <a:p>
            <a:pPr marL="228600" indent="-228600">
              <a:buFont typeface="+mj-lt"/>
              <a:buAutoNum type="arabicPeriod" startAt="38"/>
            </a:pPr>
            <a:r>
              <a:rPr lang="en-US" sz="1200" b="1" dirty="0">
                <a:solidFill>
                  <a:schemeClr val="bg2">
                    <a:lumMod val="75000"/>
                  </a:schemeClr>
                </a:solidFill>
              </a:rPr>
              <a:t>Photo resist spinning</a:t>
            </a:r>
          </a:p>
          <a:p>
            <a:pPr marL="228600" indent="-228600">
              <a:buFont typeface="+mj-lt"/>
              <a:buAutoNum type="arabicPeriod" startAt="38"/>
            </a:pPr>
            <a:r>
              <a:rPr lang="en-US" sz="1200" b="1" dirty="0">
                <a:solidFill>
                  <a:schemeClr val="bg2">
                    <a:lumMod val="75000"/>
                  </a:schemeClr>
                </a:solidFill>
              </a:rPr>
              <a:t>Mask 8 exposure (p+)</a:t>
            </a:r>
          </a:p>
          <a:p>
            <a:pPr marL="228600" indent="-228600">
              <a:buFont typeface="+mj-lt"/>
              <a:buAutoNum type="arabicPeriod" startAt="38"/>
            </a:pPr>
            <a:r>
              <a:rPr lang="en-US" sz="1200" b="1" dirty="0"/>
              <a:t>p+ implant</a:t>
            </a:r>
          </a:p>
          <a:p>
            <a:pPr marL="228600" indent="-228600">
              <a:buFont typeface="+mj-lt"/>
              <a:buAutoNum type="arabicPeriod" startAt="38"/>
            </a:pPr>
            <a:r>
              <a:rPr lang="en-US" sz="1200" b="1" dirty="0"/>
              <a:t>Resist stripping</a:t>
            </a:r>
          </a:p>
          <a:p>
            <a:pPr marL="228600" indent="-228600">
              <a:buFont typeface="+mj-lt"/>
              <a:buAutoNum type="arabicPeriod" startAt="38"/>
            </a:pPr>
            <a:r>
              <a:rPr lang="en-US" sz="1200" b="1" dirty="0">
                <a:solidFill>
                  <a:schemeClr val="bg2">
                    <a:lumMod val="75000"/>
                  </a:schemeClr>
                </a:solidFill>
              </a:rPr>
              <a:t>Dopant activation annealing</a:t>
            </a:r>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228600" indent="-228600">
              <a:buFont typeface="+mj-lt"/>
              <a:buAutoNum type="arabicPeriod" startAt="38"/>
            </a:pPr>
            <a:endParaRPr lang="en-US" sz="1200" b="1" dirty="0">
              <a:solidFill>
                <a:schemeClr val="bg2">
                  <a:lumMod val="75000"/>
                </a:schemeClr>
              </a:solidFill>
            </a:endParaRPr>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228600" indent="-228600">
              <a:buFont typeface="+mj-lt"/>
              <a:buAutoNum type="arabicPeriod" startAt="38"/>
            </a:pPr>
            <a:endParaRPr lang="en-US" sz="1200" b="1" dirty="0"/>
          </a:p>
          <a:p>
            <a:pPr marL="342900" indent="-342900">
              <a:buFont typeface="+mj-lt"/>
              <a:buAutoNum type="arabicPeriod" startAt="38"/>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38499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Deeper</a:t>
            </a:r>
            <a:r>
              <a:rPr lang="it-IT" sz="1200" dirty="0"/>
              <a:t>, </a:t>
            </a:r>
            <a:r>
              <a:rPr lang="it-IT" sz="1200" dirty="0" err="1"/>
              <a:t>higher</a:t>
            </a:r>
            <a:r>
              <a:rPr lang="it-IT" sz="1200" dirty="0"/>
              <a:t> dose source and drain </a:t>
            </a:r>
            <a:r>
              <a:rPr lang="it-IT" sz="1200" dirty="0" err="1"/>
              <a:t>implant</a:t>
            </a:r>
            <a:r>
              <a:rPr lang="it-IT" sz="1200" dirty="0"/>
              <a:t> are </a:t>
            </a:r>
            <a:r>
              <a:rPr lang="it-IT" sz="1200" dirty="0" err="1"/>
              <a:t>performed</a:t>
            </a:r>
            <a:r>
              <a:rPr lang="it-IT" sz="1200" dirty="0"/>
              <a:t>:</a:t>
            </a:r>
          </a:p>
          <a:p>
            <a:pPr marL="742950" lvl="1" indent="-285750">
              <a:buFont typeface="Arial" panose="020B0604020202020204" pitchFamily="34" charset="0"/>
              <a:buChar char="•"/>
            </a:pPr>
            <a:r>
              <a:rPr lang="it-IT" sz="1200" dirty="0"/>
              <a:t>B </a:t>
            </a:r>
            <a:r>
              <a:rPr lang="it-IT" sz="1200" dirty="0" err="1"/>
              <a:t>is</a:t>
            </a:r>
            <a:r>
              <a:rPr lang="it-IT" sz="1200" dirty="0"/>
              <a:t> </a:t>
            </a:r>
            <a:r>
              <a:rPr lang="it-IT" sz="1200" dirty="0" err="1"/>
              <a:t>commonly</a:t>
            </a:r>
            <a:r>
              <a:rPr lang="it-IT" sz="1200" dirty="0"/>
              <a:t> </a:t>
            </a:r>
            <a:r>
              <a:rPr lang="it-IT" sz="1200" dirty="0" err="1"/>
              <a:t>used</a:t>
            </a:r>
            <a:endParaRPr lang="it-IT" sz="1200" dirty="0"/>
          </a:p>
          <a:p>
            <a:pPr marL="742950" lvl="1" indent="-285750">
              <a:buFont typeface="Arial" panose="020B0604020202020204" pitchFamily="34" charset="0"/>
              <a:buChar char="•"/>
            </a:pPr>
            <a:r>
              <a:rPr lang="it-IT" sz="1200" dirty="0" err="1"/>
              <a:t>Spacers</a:t>
            </a:r>
            <a:r>
              <a:rPr lang="it-IT" sz="1200" dirty="0"/>
              <a:t> </a:t>
            </a:r>
            <a:r>
              <a:rPr lang="it-IT" sz="1200" dirty="0" err="1"/>
              <a:t>will</a:t>
            </a:r>
            <a:r>
              <a:rPr lang="it-IT" sz="1200" dirty="0"/>
              <a:t> mask LDD zones </a:t>
            </a:r>
            <a:r>
              <a:rPr lang="it-IT" sz="1200" dirty="0" err="1"/>
              <a:t>at</a:t>
            </a:r>
            <a:r>
              <a:rPr lang="it-IT" sz="1200" dirty="0"/>
              <a:t> the sides of the gate from </a:t>
            </a:r>
            <a:r>
              <a:rPr lang="it-IT" sz="1200" dirty="0" err="1"/>
              <a:t>additional</a:t>
            </a:r>
            <a:r>
              <a:rPr lang="it-IT" sz="1200" dirty="0"/>
              <a:t> </a:t>
            </a:r>
            <a:r>
              <a:rPr lang="it-IT" sz="1200" dirty="0" err="1"/>
              <a:t>implantation</a:t>
            </a:r>
            <a:endParaRPr lang="it-IT" sz="1200" dirty="0"/>
          </a:p>
          <a:p>
            <a:pPr marL="742950" lvl="1" indent="-285750">
              <a:buFont typeface="Arial" panose="020B0604020202020204" pitchFamily="34" charset="0"/>
              <a:buChar char="•"/>
            </a:pPr>
            <a:r>
              <a:rPr lang="it-IT" sz="1200" dirty="0" err="1"/>
              <a:t>Polysilicon</a:t>
            </a:r>
            <a:r>
              <a:rPr lang="it-IT" sz="1200" dirty="0"/>
              <a:t> gate </a:t>
            </a:r>
            <a:r>
              <a:rPr lang="it-IT" sz="1200" dirty="0" err="1"/>
              <a:t>is</a:t>
            </a:r>
            <a:r>
              <a:rPr lang="it-IT" sz="1200" dirty="0"/>
              <a:t> </a:t>
            </a:r>
            <a:r>
              <a:rPr lang="it-IT" sz="1200" dirty="0" err="1"/>
              <a:t>exposed</a:t>
            </a:r>
            <a:r>
              <a:rPr lang="it-IT" sz="1200" dirty="0"/>
              <a:t> to </a:t>
            </a:r>
            <a:r>
              <a:rPr lang="it-IT" sz="1200" dirty="0" err="1"/>
              <a:t>implant</a:t>
            </a:r>
            <a:r>
              <a:rPr lang="it-IT" sz="1200" dirty="0"/>
              <a:t> </a:t>
            </a:r>
            <a:r>
              <a:rPr lang="it-IT" sz="1200" dirty="0" err="1"/>
              <a:t>as</a:t>
            </a:r>
            <a:r>
              <a:rPr lang="it-IT" sz="1200" dirty="0"/>
              <a:t> </a:t>
            </a:r>
            <a:r>
              <a:rPr lang="it-IT" sz="1200" dirty="0" err="1"/>
              <a:t>well</a:t>
            </a: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13" name="Picture 12">
            <a:extLst>
              <a:ext uri="{FF2B5EF4-FFF2-40B4-BE49-F238E27FC236}">
                <a16:creationId xmlns:a16="http://schemas.microsoft.com/office/drawing/2014/main" id="{1E18B75B-7EE2-2048-5549-7A04C4D92FA1}"/>
              </a:ext>
            </a:extLst>
          </p:cNvPr>
          <p:cNvPicPr>
            <a:picLocks noChangeAspect="1"/>
          </p:cNvPicPr>
          <p:nvPr/>
        </p:nvPicPr>
        <p:blipFill rotWithShape="1">
          <a:blip r:embed="rId4"/>
          <a:srcRect r="7766"/>
          <a:stretch/>
        </p:blipFill>
        <p:spPr>
          <a:xfrm>
            <a:off x="302717" y="2651573"/>
            <a:ext cx="3709795" cy="3063317"/>
          </a:xfrm>
          <a:prstGeom prst="rect">
            <a:avLst/>
          </a:prstGeom>
        </p:spPr>
      </p:pic>
      <p:pic>
        <p:nvPicPr>
          <p:cNvPr id="9" name="Picture 8">
            <a:extLst>
              <a:ext uri="{FF2B5EF4-FFF2-40B4-BE49-F238E27FC236}">
                <a16:creationId xmlns:a16="http://schemas.microsoft.com/office/drawing/2014/main" id="{7187E7B6-05C0-A9B7-CBD1-B059CAD1569C}"/>
              </a:ext>
            </a:extLst>
          </p:cNvPr>
          <p:cNvPicPr>
            <a:picLocks noChangeAspect="1"/>
          </p:cNvPicPr>
          <p:nvPr/>
        </p:nvPicPr>
        <p:blipFill rotWithShape="1">
          <a:blip r:embed="rId5"/>
          <a:srcRect r="9324"/>
          <a:stretch/>
        </p:blipFill>
        <p:spPr>
          <a:xfrm>
            <a:off x="302717" y="2817333"/>
            <a:ext cx="3709795" cy="2975925"/>
          </a:xfrm>
          <a:prstGeom prst="rect">
            <a:avLst/>
          </a:prstGeom>
        </p:spPr>
      </p:pic>
      <p:pic>
        <p:nvPicPr>
          <p:cNvPr id="15" name="Picture 14">
            <a:extLst>
              <a:ext uri="{FF2B5EF4-FFF2-40B4-BE49-F238E27FC236}">
                <a16:creationId xmlns:a16="http://schemas.microsoft.com/office/drawing/2014/main" id="{9EBEAC10-ED1B-A789-A685-BEDB16D0D692}"/>
              </a:ext>
            </a:extLst>
          </p:cNvPr>
          <p:cNvPicPr>
            <a:picLocks noChangeAspect="1"/>
          </p:cNvPicPr>
          <p:nvPr/>
        </p:nvPicPr>
        <p:blipFill>
          <a:blip r:embed="rId6"/>
          <a:stretch>
            <a:fillRect/>
          </a:stretch>
        </p:blipFill>
        <p:spPr>
          <a:xfrm>
            <a:off x="4309434" y="2063468"/>
            <a:ext cx="1917124" cy="1505393"/>
          </a:xfrm>
          <a:prstGeom prst="rect">
            <a:avLst/>
          </a:prstGeom>
        </p:spPr>
      </p:pic>
      <p:pic>
        <p:nvPicPr>
          <p:cNvPr id="18" name="Picture 17">
            <a:extLst>
              <a:ext uri="{FF2B5EF4-FFF2-40B4-BE49-F238E27FC236}">
                <a16:creationId xmlns:a16="http://schemas.microsoft.com/office/drawing/2014/main" id="{DABED908-6177-2711-3C12-B3DADC55D095}"/>
              </a:ext>
            </a:extLst>
          </p:cNvPr>
          <p:cNvPicPr>
            <a:picLocks noChangeAspect="1"/>
          </p:cNvPicPr>
          <p:nvPr/>
        </p:nvPicPr>
        <p:blipFill>
          <a:blip r:embed="rId7"/>
          <a:stretch>
            <a:fillRect/>
          </a:stretch>
        </p:blipFill>
        <p:spPr>
          <a:xfrm>
            <a:off x="4768105" y="4777237"/>
            <a:ext cx="1420597" cy="1424806"/>
          </a:xfrm>
          <a:prstGeom prst="rect">
            <a:avLst/>
          </a:prstGeom>
        </p:spPr>
      </p:pic>
      <p:sp>
        <p:nvSpPr>
          <p:cNvPr id="19" name="Oval 18">
            <a:extLst>
              <a:ext uri="{FF2B5EF4-FFF2-40B4-BE49-F238E27FC236}">
                <a16:creationId xmlns:a16="http://schemas.microsoft.com/office/drawing/2014/main" id="{94A0337D-D870-0553-B39A-F953949080C9}"/>
              </a:ext>
            </a:extLst>
          </p:cNvPr>
          <p:cNvSpPr/>
          <p:nvPr/>
        </p:nvSpPr>
        <p:spPr>
          <a:xfrm>
            <a:off x="5426085" y="5246116"/>
            <a:ext cx="429391"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0" name="Oval 19">
            <a:extLst>
              <a:ext uri="{FF2B5EF4-FFF2-40B4-BE49-F238E27FC236}">
                <a16:creationId xmlns:a16="http://schemas.microsoft.com/office/drawing/2014/main" id="{D4169CD3-82CE-9A47-7341-79AD511A468E}"/>
              </a:ext>
            </a:extLst>
          </p:cNvPr>
          <p:cNvSpPr/>
          <p:nvPr/>
        </p:nvSpPr>
        <p:spPr>
          <a:xfrm>
            <a:off x="5109970" y="5189470"/>
            <a:ext cx="245439"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1" name="Oval 20">
            <a:extLst>
              <a:ext uri="{FF2B5EF4-FFF2-40B4-BE49-F238E27FC236}">
                <a16:creationId xmlns:a16="http://schemas.microsoft.com/office/drawing/2014/main" id="{A2A51A01-2E23-AF52-7D82-130B0024953E}"/>
              </a:ext>
            </a:extLst>
          </p:cNvPr>
          <p:cNvSpPr/>
          <p:nvPr/>
        </p:nvSpPr>
        <p:spPr>
          <a:xfrm>
            <a:off x="5296693" y="4925268"/>
            <a:ext cx="245439"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2" name="Oval 21">
            <a:extLst>
              <a:ext uri="{FF2B5EF4-FFF2-40B4-BE49-F238E27FC236}">
                <a16:creationId xmlns:a16="http://schemas.microsoft.com/office/drawing/2014/main" id="{9A55B18D-5647-58D3-FBAB-BCE78AC620F8}"/>
              </a:ext>
            </a:extLst>
          </p:cNvPr>
          <p:cNvSpPr/>
          <p:nvPr/>
        </p:nvSpPr>
        <p:spPr>
          <a:xfrm>
            <a:off x="4400165" y="2455014"/>
            <a:ext cx="245439" cy="243524"/>
          </a:xfrm>
          <a:prstGeom prst="ellipse">
            <a:avLst/>
          </a:prstGeom>
          <a:noFill/>
          <a:ln w="6350" cap="sq">
            <a:solidFill>
              <a:srgbClr val="FF00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6539040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42"/>
            </a:pPr>
            <a:r>
              <a:rPr lang="en-US" sz="1200" b="1" dirty="0">
                <a:solidFill>
                  <a:schemeClr val="bg2">
                    <a:lumMod val="75000"/>
                  </a:schemeClr>
                </a:solidFill>
              </a:rPr>
              <a:t>p+ implant</a:t>
            </a:r>
          </a:p>
          <a:p>
            <a:pPr marL="228600" indent="-228600">
              <a:buFont typeface="+mj-lt"/>
              <a:buAutoNum type="arabicPeriod" startAt="42"/>
            </a:pPr>
            <a:r>
              <a:rPr lang="en-US" sz="1200" b="1" dirty="0">
                <a:solidFill>
                  <a:schemeClr val="bg2">
                    <a:lumMod val="75000"/>
                  </a:schemeClr>
                </a:solidFill>
              </a:rPr>
              <a:t>Resist stripping</a:t>
            </a:r>
          </a:p>
          <a:p>
            <a:pPr marL="228600" indent="-228600">
              <a:buFont typeface="+mj-lt"/>
              <a:buAutoNum type="arabicPeriod" startAt="42"/>
            </a:pPr>
            <a:r>
              <a:rPr lang="en-US" sz="1200" b="1" dirty="0"/>
              <a:t>Dopant activation annealing</a:t>
            </a:r>
          </a:p>
          <a:p>
            <a:pPr marL="228600" indent="-228600">
              <a:buFont typeface="+mj-lt"/>
              <a:buAutoNum type="arabicPeriod" startAt="42"/>
            </a:pPr>
            <a:r>
              <a:rPr lang="en-US" sz="1200" b="1" dirty="0">
                <a:solidFill>
                  <a:schemeClr val="bg2">
                    <a:lumMod val="75000"/>
                  </a:schemeClr>
                </a:solidFill>
              </a:rPr>
              <a:t>Gate oxide removal</a:t>
            </a:r>
          </a:p>
          <a:p>
            <a:pPr marL="228600" indent="-228600">
              <a:buFont typeface="+mj-lt"/>
              <a:buAutoNum type="arabicPeriod" startAt="42"/>
            </a:pPr>
            <a:r>
              <a:rPr lang="en-US" sz="1200" b="1" dirty="0">
                <a:solidFill>
                  <a:schemeClr val="bg2">
                    <a:lumMod val="75000"/>
                  </a:schemeClr>
                </a:solidFill>
              </a:rPr>
              <a:t>Ti deposition</a:t>
            </a:r>
          </a:p>
          <a:p>
            <a:pPr marL="228600" indent="-228600">
              <a:buFont typeface="+mj-lt"/>
              <a:buAutoNum type="arabicPeriod" startAt="42"/>
            </a:pPr>
            <a:r>
              <a:rPr lang="en-US" sz="1200" b="1" dirty="0">
                <a:solidFill>
                  <a:schemeClr val="bg2">
                    <a:lumMod val="75000"/>
                  </a:schemeClr>
                </a:solidFill>
              </a:rPr>
              <a:t>Ti RTP</a:t>
            </a:r>
          </a:p>
          <a:p>
            <a:pPr marL="228600" indent="-228600">
              <a:buFont typeface="+mj-lt"/>
              <a:buAutoNum type="arabicPeriod" startAt="42"/>
            </a:pPr>
            <a:r>
              <a:rPr lang="en-US" sz="1200" b="1" dirty="0">
                <a:solidFill>
                  <a:schemeClr val="bg2">
                    <a:lumMod val="75000"/>
                  </a:schemeClr>
                </a:solidFill>
              </a:rPr>
              <a:t>Ti strip</a:t>
            </a: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solidFill>
                <a:schemeClr val="bg2">
                  <a:lumMod val="75000"/>
                </a:schemeClr>
              </a:solidFill>
            </a:endParaRP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230832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Rapid </a:t>
            </a:r>
            <a:r>
              <a:rPr lang="it-IT" sz="1200" dirty="0" err="1"/>
              <a:t>thermal</a:t>
            </a:r>
            <a:r>
              <a:rPr lang="it-IT" sz="1200" dirty="0"/>
              <a:t> </a:t>
            </a:r>
            <a:r>
              <a:rPr lang="it-IT" sz="1200" dirty="0" err="1"/>
              <a:t>treatements</a:t>
            </a:r>
            <a:r>
              <a:rPr lang="it-IT" sz="1200" dirty="0"/>
              <a:t> are </a:t>
            </a:r>
            <a:r>
              <a:rPr lang="it-IT" sz="1200" dirty="0" err="1"/>
              <a:t>used</a:t>
            </a:r>
            <a:r>
              <a:rPr lang="it-IT" sz="1200" dirty="0"/>
              <a:t> to </a:t>
            </a:r>
            <a:r>
              <a:rPr lang="it-IT" sz="1200" dirty="0" err="1"/>
              <a:t>activate</a:t>
            </a:r>
            <a:r>
              <a:rPr lang="it-IT" sz="1200" dirty="0"/>
              <a:t> </a:t>
            </a:r>
            <a:r>
              <a:rPr lang="it-IT" sz="1200" dirty="0" err="1"/>
              <a:t>teh</a:t>
            </a:r>
            <a:r>
              <a:rPr lang="it-IT" sz="1200" dirty="0"/>
              <a:t> </a:t>
            </a:r>
            <a:r>
              <a:rPr lang="it-IT" sz="1200" dirty="0" err="1"/>
              <a:t>junction</a:t>
            </a:r>
            <a:r>
              <a:rPr lang="it-IT" sz="1200" dirty="0"/>
              <a:t> </a:t>
            </a:r>
            <a:r>
              <a:rPr lang="it-IT" sz="1200" dirty="0" err="1"/>
              <a:t>dopants</a:t>
            </a:r>
            <a:r>
              <a:rPr lang="it-IT" sz="1200" dirty="0"/>
              <a:t>:</a:t>
            </a:r>
          </a:p>
          <a:p>
            <a:pPr marL="742950" lvl="1" indent="-285750">
              <a:buFont typeface="Arial" panose="020B0604020202020204" pitchFamily="34" charset="0"/>
              <a:buChar char="•"/>
            </a:pPr>
            <a:r>
              <a:rPr lang="it-IT" sz="1200" dirty="0"/>
              <a:t>High T (~1000 C) are </a:t>
            </a:r>
            <a:r>
              <a:rPr lang="it-IT" sz="1200" dirty="0" err="1"/>
              <a:t>needed</a:t>
            </a:r>
            <a:r>
              <a:rPr lang="it-IT" sz="1200" dirty="0"/>
              <a:t> to </a:t>
            </a:r>
            <a:r>
              <a:rPr lang="it-IT" sz="1200" dirty="0" err="1"/>
              <a:t>avoid</a:t>
            </a:r>
            <a:r>
              <a:rPr lang="it-IT" sz="1200" dirty="0"/>
              <a:t> </a:t>
            </a:r>
            <a:r>
              <a:rPr lang="it-IT" sz="1200" dirty="0" err="1"/>
              <a:t>anomaous</a:t>
            </a:r>
            <a:r>
              <a:rPr lang="it-IT" sz="1200" dirty="0"/>
              <a:t> </a:t>
            </a:r>
            <a:r>
              <a:rPr lang="it-IT" sz="1200" dirty="0" err="1"/>
              <a:t>diffusion</a:t>
            </a:r>
            <a:r>
              <a:rPr lang="it-IT" sz="1200" dirty="0"/>
              <a:t> </a:t>
            </a:r>
            <a:r>
              <a:rPr lang="it-IT" sz="1200" dirty="0" err="1"/>
              <a:t>effects</a:t>
            </a:r>
            <a:r>
              <a:rPr lang="it-IT" sz="1200" dirty="0"/>
              <a:t> (TED, </a:t>
            </a:r>
            <a:r>
              <a:rPr lang="it-IT" sz="1200" dirty="0" err="1"/>
              <a:t>transient</a:t>
            </a:r>
            <a:r>
              <a:rPr lang="it-IT" sz="1200" dirty="0"/>
              <a:t> </a:t>
            </a:r>
            <a:r>
              <a:rPr lang="it-IT" sz="1200" dirty="0" err="1"/>
              <a:t>enhanced</a:t>
            </a:r>
            <a:r>
              <a:rPr lang="it-IT" sz="1200" dirty="0"/>
              <a:t> </a:t>
            </a:r>
            <a:r>
              <a:rPr lang="it-IT" sz="1200" dirty="0" err="1"/>
              <a:t>diffusion</a:t>
            </a:r>
            <a:r>
              <a:rPr lang="it-IT" sz="1200" dirty="0"/>
              <a:t>)</a:t>
            </a:r>
          </a:p>
          <a:p>
            <a:pPr marL="742950" lvl="1" indent="-285750">
              <a:buFont typeface="Arial" panose="020B0604020202020204" pitchFamily="34" charset="0"/>
              <a:buChar char="•"/>
            </a:pPr>
            <a:r>
              <a:rPr lang="it-IT" sz="1200" dirty="0" err="1"/>
              <a:t>Annealing</a:t>
            </a:r>
            <a:r>
              <a:rPr lang="it-IT" sz="1200" dirty="0"/>
              <a:t> times must be </a:t>
            </a:r>
            <a:r>
              <a:rPr lang="it-IT" sz="1200" dirty="0" err="1"/>
              <a:t>very</a:t>
            </a:r>
            <a:r>
              <a:rPr lang="it-IT" sz="1200" dirty="0"/>
              <a:t> short to </a:t>
            </a:r>
            <a:r>
              <a:rPr lang="it-IT" sz="1200" dirty="0" err="1"/>
              <a:t>avoid</a:t>
            </a:r>
            <a:r>
              <a:rPr lang="it-IT" sz="1200" dirty="0"/>
              <a:t> </a:t>
            </a:r>
            <a:r>
              <a:rPr lang="it-IT" sz="1200" dirty="0" err="1"/>
              <a:t>excessive</a:t>
            </a:r>
            <a:r>
              <a:rPr lang="it-IT" sz="1200" dirty="0"/>
              <a:t> </a:t>
            </a:r>
            <a:r>
              <a:rPr lang="it-IT" sz="1200" dirty="0" err="1"/>
              <a:t>diffusion</a:t>
            </a:r>
            <a:r>
              <a:rPr lang="it-IT" sz="1200" dirty="0"/>
              <a:t> </a:t>
            </a:r>
          </a:p>
          <a:p>
            <a:pPr marL="742950" lvl="1" indent="-285750">
              <a:buFont typeface="Arial" panose="020B0604020202020204" pitchFamily="34" charset="0"/>
              <a:buChar char="•"/>
            </a:pPr>
            <a:r>
              <a:rPr lang="it-IT" sz="1200" dirty="0"/>
              <a:t>Common techniques are RTP (</a:t>
            </a:r>
            <a:r>
              <a:rPr lang="it-IT" sz="1200" dirty="0" err="1"/>
              <a:t>rapid</a:t>
            </a:r>
            <a:r>
              <a:rPr lang="it-IT" sz="1200" dirty="0"/>
              <a:t> </a:t>
            </a:r>
            <a:r>
              <a:rPr lang="it-IT" sz="1200" dirty="0" err="1"/>
              <a:t>thermal</a:t>
            </a:r>
            <a:r>
              <a:rPr lang="it-IT" sz="1200" dirty="0"/>
              <a:t> </a:t>
            </a:r>
            <a:r>
              <a:rPr lang="it-IT" sz="1200" dirty="0" err="1"/>
              <a:t>process</a:t>
            </a:r>
            <a:r>
              <a:rPr lang="it-IT" sz="1200" dirty="0"/>
              <a:t>), Spike or Flash </a:t>
            </a:r>
            <a:r>
              <a:rPr lang="it-IT" sz="1200" dirty="0" err="1"/>
              <a:t>anneal</a:t>
            </a:r>
            <a:r>
              <a:rPr lang="it-IT" sz="1200" dirty="0"/>
              <a:t>, Laser </a:t>
            </a:r>
            <a:r>
              <a:rPr lang="it-IT" sz="1200" dirty="0" err="1"/>
              <a:t>anneal</a:t>
            </a:r>
            <a:r>
              <a:rPr lang="it-IT" sz="1200" dirty="0"/>
              <a:t>.</a:t>
            </a:r>
          </a:p>
          <a:p>
            <a:pPr marL="285750" indent="-285750">
              <a:buFont typeface="Arial" panose="020B0604020202020204" pitchFamily="34" charset="0"/>
              <a:buChar char="•"/>
            </a:pPr>
            <a:r>
              <a:rPr lang="it-IT" sz="1200" dirty="0" err="1"/>
              <a:t>Dopants</a:t>
            </a:r>
            <a:r>
              <a:rPr lang="it-IT" sz="1200" dirty="0"/>
              <a:t> </a:t>
            </a:r>
            <a:r>
              <a:rPr lang="it-IT" sz="1200" dirty="0" err="1"/>
              <a:t>will</a:t>
            </a:r>
            <a:r>
              <a:rPr lang="it-IT" sz="1200" dirty="0"/>
              <a:t> diffuse (in </a:t>
            </a:r>
            <a:r>
              <a:rPr lang="it-IT" sz="1200" dirty="0" err="1"/>
              <a:t>both</a:t>
            </a:r>
            <a:r>
              <a:rPr lang="it-IT" sz="1200" dirty="0"/>
              <a:t> the </a:t>
            </a:r>
            <a:r>
              <a:rPr lang="it-IT" sz="1200" dirty="0" err="1"/>
              <a:t>channel</a:t>
            </a:r>
            <a:r>
              <a:rPr lang="it-IT" sz="1200" dirty="0"/>
              <a:t> </a:t>
            </a:r>
            <a:r>
              <a:rPr lang="it-IT" sz="1200" dirty="0" err="1"/>
              <a:t>region</a:t>
            </a:r>
            <a:r>
              <a:rPr lang="it-IT" sz="1200" dirty="0"/>
              <a:t> and the gate </a:t>
            </a:r>
            <a:r>
              <a:rPr lang="it-IT" sz="1200" dirty="0" err="1"/>
              <a:t>electrode</a:t>
            </a:r>
            <a:r>
              <a:rPr lang="it-IT" sz="1200" dirty="0"/>
              <a:t>)</a:t>
            </a:r>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5" name="Picture 24">
            <a:extLst>
              <a:ext uri="{FF2B5EF4-FFF2-40B4-BE49-F238E27FC236}">
                <a16:creationId xmlns:a16="http://schemas.microsoft.com/office/drawing/2014/main" id="{02DB333D-17D0-8271-1082-5A671FD00538}"/>
              </a:ext>
            </a:extLst>
          </p:cNvPr>
          <p:cNvPicPr>
            <a:picLocks noChangeAspect="1"/>
          </p:cNvPicPr>
          <p:nvPr/>
        </p:nvPicPr>
        <p:blipFill>
          <a:blip r:embed="rId6"/>
          <a:stretch>
            <a:fillRect/>
          </a:stretch>
        </p:blipFill>
        <p:spPr>
          <a:xfrm>
            <a:off x="4307586" y="2111982"/>
            <a:ext cx="1981535" cy="1566230"/>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7"/>
          <a:stretch>
            <a:fillRect/>
          </a:stretch>
        </p:blipFill>
        <p:spPr>
          <a:xfrm>
            <a:off x="4650473" y="4710152"/>
            <a:ext cx="1445506" cy="1386787"/>
          </a:xfrm>
          <a:prstGeom prst="rect">
            <a:avLst/>
          </a:prstGeom>
        </p:spPr>
      </p:pic>
    </p:spTree>
    <p:extLst>
      <p:ext uri="{BB962C8B-B14F-4D97-AF65-F5344CB8AC3E}">
        <p14:creationId xmlns:p14="http://schemas.microsoft.com/office/powerpoint/2010/main" val="2878362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LDD: Lightly doped drain (graded junctions)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228600" indent="-228600">
              <a:buFont typeface="+mj-lt"/>
              <a:buAutoNum type="arabicPeriod" startAt="42"/>
            </a:pPr>
            <a:r>
              <a:rPr lang="en-US" sz="1200" b="1" dirty="0">
                <a:solidFill>
                  <a:schemeClr val="bg2">
                    <a:lumMod val="75000"/>
                  </a:schemeClr>
                </a:solidFill>
              </a:rPr>
              <a:t>p+ implant</a:t>
            </a:r>
          </a:p>
          <a:p>
            <a:pPr marL="228600" indent="-228600">
              <a:buFont typeface="+mj-lt"/>
              <a:buAutoNum type="arabicPeriod" startAt="42"/>
            </a:pPr>
            <a:r>
              <a:rPr lang="en-US" sz="1200" b="1" dirty="0">
                <a:solidFill>
                  <a:schemeClr val="bg2">
                    <a:lumMod val="75000"/>
                  </a:schemeClr>
                </a:solidFill>
              </a:rPr>
              <a:t>Resist stripping</a:t>
            </a:r>
          </a:p>
          <a:p>
            <a:pPr marL="228600" indent="-228600">
              <a:buFont typeface="+mj-lt"/>
              <a:buAutoNum type="arabicPeriod" startAt="42"/>
            </a:pPr>
            <a:r>
              <a:rPr lang="en-US" sz="1200" b="1" dirty="0"/>
              <a:t>Dopant activation annealing</a:t>
            </a:r>
          </a:p>
          <a:p>
            <a:pPr marL="228600" indent="-228600">
              <a:buFont typeface="+mj-lt"/>
              <a:buAutoNum type="arabicPeriod" startAt="42"/>
            </a:pPr>
            <a:r>
              <a:rPr lang="en-US" sz="1200" b="1" dirty="0">
                <a:solidFill>
                  <a:schemeClr val="bg2">
                    <a:lumMod val="75000"/>
                  </a:schemeClr>
                </a:solidFill>
              </a:rPr>
              <a:t>Gate oxide removal</a:t>
            </a:r>
          </a:p>
          <a:p>
            <a:pPr marL="228600" indent="-228600">
              <a:buFont typeface="+mj-lt"/>
              <a:buAutoNum type="arabicPeriod" startAt="42"/>
            </a:pPr>
            <a:r>
              <a:rPr lang="en-US" sz="1200" b="1" dirty="0">
                <a:solidFill>
                  <a:schemeClr val="bg2">
                    <a:lumMod val="75000"/>
                  </a:schemeClr>
                </a:solidFill>
              </a:rPr>
              <a:t>Ti deposition</a:t>
            </a:r>
          </a:p>
          <a:p>
            <a:pPr marL="228600" indent="-228600">
              <a:buFont typeface="+mj-lt"/>
              <a:buAutoNum type="arabicPeriod" startAt="42"/>
            </a:pPr>
            <a:r>
              <a:rPr lang="en-US" sz="1200" b="1" dirty="0">
                <a:solidFill>
                  <a:schemeClr val="bg2">
                    <a:lumMod val="75000"/>
                  </a:schemeClr>
                </a:solidFill>
              </a:rPr>
              <a:t>Ti RTP</a:t>
            </a:r>
          </a:p>
          <a:p>
            <a:pPr marL="228600" indent="-228600">
              <a:buFont typeface="+mj-lt"/>
              <a:buAutoNum type="arabicPeriod" startAt="42"/>
            </a:pPr>
            <a:r>
              <a:rPr lang="en-US" sz="1200" b="1" dirty="0">
                <a:solidFill>
                  <a:schemeClr val="bg2">
                    <a:lumMod val="75000"/>
                  </a:schemeClr>
                </a:solidFill>
              </a:rPr>
              <a:t>Ti strip</a:t>
            </a: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solidFill>
                <a:schemeClr val="bg2">
                  <a:lumMod val="75000"/>
                </a:schemeClr>
              </a:solidFill>
            </a:endParaRP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2308324"/>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Rapid </a:t>
            </a:r>
            <a:r>
              <a:rPr lang="it-IT" sz="1200" dirty="0" err="1"/>
              <a:t>thermal</a:t>
            </a:r>
            <a:r>
              <a:rPr lang="it-IT" sz="1200" dirty="0"/>
              <a:t> </a:t>
            </a:r>
            <a:r>
              <a:rPr lang="it-IT" sz="1200" dirty="0" err="1"/>
              <a:t>treatements</a:t>
            </a:r>
            <a:r>
              <a:rPr lang="it-IT" sz="1200" dirty="0"/>
              <a:t> are </a:t>
            </a:r>
            <a:r>
              <a:rPr lang="it-IT" sz="1200" dirty="0" err="1"/>
              <a:t>used</a:t>
            </a:r>
            <a:r>
              <a:rPr lang="it-IT" sz="1200" dirty="0"/>
              <a:t> to </a:t>
            </a:r>
            <a:r>
              <a:rPr lang="it-IT" sz="1200" dirty="0" err="1"/>
              <a:t>activate</a:t>
            </a:r>
            <a:r>
              <a:rPr lang="it-IT" sz="1200" dirty="0"/>
              <a:t> </a:t>
            </a:r>
            <a:r>
              <a:rPr lang="it-IT" sz="1200" dirty="0" err="1"/>
              <a:t>teh</a:t>
            </a:r>
            <a:r>
              <a:rPr lang="it-IT" sz="1200" dirty="0"/>
              <a:t> </a:t>
            </a:r>
            <a:r>
              <a:rPr lang="it-IT" sz="1200" dirty="0" err="1"/>
              <a:t>junction</a:t>
            </a:r>
            <a:r>
              <a:rPr lang="it-IT" sz="1200" dirty="0"/>
              <a:t> </a:t>
            </a:r>
            <a:r>
              <a:rPr lang="it-IT" sz="1200" dirty="0" err="1"/>
              <a:t>dopants</a:t>
            </a:r>
            <a:r>
              <a:rPr lang="it-IT" sz="1200" dirty="0"/>
              <a:t>:</a:t>
            </a:r>
          </a:p>
          <a:p>
            <a:pPr marL="742950" lvl="1" indent="-285750">
              <a:buFont typeface="Arial" panose="020B0604020202020204" pitchFamily="34" charset="0"/>
              <a:buChar char="•"/>
            </a:pPr>
            <a:r>
              <a:rPr lang="it-IT" sz="1200" dirty="0"/>
              <a:t>High T (~1000 C) are </a:t>
            </a:r>
            <a:r>
              <a:rPr lang="it-IT" sz="1200" dirty="0" err="1"/>
              <a:t>needed</a:t>
            </a:r>
            <a:r>
              <a:rPr lang="it-IT" sz="1200" dirty="0"/>
              <a:t> to </a:t>
            </a:r>
            <a:r>
              <a:rPr lang="it-IT" sz="1200" dirty="0" err="1"/>
              <a:t>avoid</a:t>
            </a:r>
            <a:r>
              <a:rPr lang="it-IT" sz="1200" dirty="0"/>
              <a:t> </a:t>
            </a:r>
            <a:r>
              <a:rPr lang="it-IT" sz="1200" dirty="0" err="1"/>
              <a:t>anomaous</a:t>
            </a:r>
            <a:r>
              <a:rPr lang="it-IT" sz="1200" dirty="0"/>
              <a:t> </a:t>
            </a:r>
            <a:r>
              <a:rPr lang="it-IT" sz="1200" dirty="0" err="1"/>
              <a:t>diffusion</a:t>
            </a:r>
            <a:r>
              <a:rPr lang="it-IT" sz="1200" dirty="0"/>
              <a:t> </a:t>
            </a:r>
            <a:r>
              <a:rPr lang="it-IT" sz="1200" dirty="0" err="1"/>
              <a:t>effects</a:t>
            </a:r>
            <a:r>
              <a:rPr lang="it-IT" sz="1200" dirty="0"/>
              <a:t> (TED, </a:t>
            </a:r>
            <a:r>
              <a:rPr lang="it-IT" sz="1200" dirty="0" err="1"/>
              <a:t>transient</a:t>
            </a:r>
            <a:r>
              <a:rPr lang="it-IT" sz="1200" dirty="0"/>
              <a:t> </a:t>
            </a:r>
            <a:r>
              <a:rPr lang="it-IT" sz="1200" dirty="0" err="1"/>
              <a:t>enhanced</a:t>
            </a:r>
            <a:r>
              <a:rPr lang="it-IT" sz="1200" dirty="0"/>
              <a:t> </a:t>
            </a:r>
            <a:r>
              <a:rPr lang="it-IT" sz="1200" dirty="0" err="1"/>
              <a:t>diffusion</a:t>
            </a:r>
            <a:r>
              <a:rPr lang="it-IT" sz="1200" dirty="0"/>
              <a:t>)</a:t>
            </a:r>
          </a:p>
          <a:p>
            <a:pPr marL="742950" lvl="1" indent="-285750">
              <a:buFont typeface="Arial" panose="020B0604020202020204" pitchFamily="34" charset="0"/>
              <a:buChar char="•"/>
            </a:pPr>
            <a:r>
              <a:rPr lang="it-IT" sz="1200" dirty="0" err="1"/>
              <a:t>Annealing</a:t>
            </a:r>
            <a:r>
              <a:rPr lang="it-IT" sz="1200" dirty="0"/>
              <a:t> times must be </a:t>
            </a:r>
            <a:r>
              <a:rPr lang="it-IT" sz="1200" dirty="0" err="1"/>
              <a:t>very</a:t>
            </a:r>
            <a:r>
              <a:rPr lang="it-IT" sz="1200" dirty="0"/>
              <a:t> short to </a:t>
            </a:r>
            <a:r>
              <a:rPr lang="it-IT" sz="1200" dirty="0" err="1"/>
              <a:t>avoid</a:t>
            </a:r>
            <a:r>
              <a:rPr lang="it-IT" sz="1200" dirty="0"/>
              <a:t> </a:t>
            </a:r>
            <a:r>
              <a:rPr lang="it-IT" sz="1200" dirty="0" err="1"/>
              <a:t>excessive</a:t>
            </a:r>
            <a:r>
              <a:rPr lang="it-IT" sz="1200" dirty="0"/>
              <a:t> </a:t>
            </a:r>
            <a:r>
              <a:rPr lang="it-IT" sz="1200" dirty="0" err="1"/>
              <a:t>diffusion</a:t>
            </a:r>
            <a:r>
              <a:rPr lang="it-IT" sz="1200" dirty="0"/>
              <a:t> </a:t>
            </a:r>
          </a:p>
          <a:p>
            <a:pPr marL="742950" lvl="1" indent="-285750">
              <a:buFont typeface="Arial" panose="020B0604020202020204" pitchFamily="34" charset="0"/>
              <a:buChar char="•"/>
            </a:pPr>
            <a:r>
              <a:rPr lang="it-IT" sz="1200" dirty="0"/>
              <a:t>Common techniques are RTP (</a:t>
            </a:r>
            <a:r>
              <a:rPr lang="it-IT" sz="1200" dirty="0" err="1"/>
              <a:t>rapid</a:t>
            </a:r>
            <a:r>
              <a:rPr lang="it-IT" sz="1200" dirty="0"/>
              <a:t> </a:t>
            </a:r>
            <a:r>
              <a:rPr lang="it-IT" sz="1200" dirty="0" err="1"/>
              <a:t>thermal</a:t>
            </a:r>
            <a:r>
              <a:rPr lang="it-IT" sz="1200" dirty="0"/>
              <a:t> </a:t>
            </a:r>
            <a:r>
              <a:rPr lang="it-IT" sz="1200" dirty="0" err="1"/>
              <a:t>process</a:t>
            </a:r>
            <a:r>
              <a:rPr lang="it-IT" sz="1200" dirty="0"/>
              <a:t>), Spike or Flash </a:t>
            </a:r>
            <a:r>
              <a:rPr lang="it-IT" sz="1200" dirty="0" err="1"/>
              <a:t>anneal</a:t>
            </a:r>
            <a:r>
              <a:rPr lang="it-IT" sz="1200" dirty="0"/>
              <a:t>, Laser </a:t>
            </a:r>
            <a:r>
              <a:rPr lang="it-IT" sz="1200" dirty="0" err="1"/>
              <a:t>anneal</a:t>
            </a:r>
            <a:r>
              <a:rPr lang="it-IT" sz="1200" dirty="0"/>
              <a:t>.</a:t>
            </a:r>
          </a:p>
          <a:p>
            <a:pPr marL="285750" indent="-285750">
              <a:buFont typeface="Arial" panose="020B0604020202020204" pitchFamily="34" charset="0"/>
              <a:buChar char="•"/>
            </a:pPr>
            <a:r>
              <a:rPr lang="it-IT" sz="1200" dirty="0" err="1"/>
              <a:t>Dopants</a:t>
            </a:r>
            <a:r>
              <a:rPr lang="it-IT" sz="1200" dirty="0"/>
              <a:t> </a:t>
            </a:r>
            <a:r>
              <a:rPr lang="it-IT" sz="1200" dirty="0" err="1"/>
              <a:t>will</a:t>
            </a:r>
            <a:r>
              <a:rPr lang="it-IT" sz="1200" dirty="0"/>
              <a:t> diffuse (in </a:t>
            </a:r>
            <a:r>
              <a:rPr lang="it-IT" sz="1200" dirty="0" err="1"/>
              <a:t>both</a:t>
            </a:r>
            <a:r>
              <a:rPr lang="it-IT" sz="1200" dirty="0"/>
              <a:t> the </a:t>
            </a:r>
            <a:r>
              <a:rPr lang="it-IT" sz="1200" dirty="0" err="1"/>
              <a:t>channel</a:t>
            </a:r>
            <a:r>
              <a:rPr lang="it-IT" sz="1200" dirty="0"/>
              <a:t> </a:t>
            </a:r>
            <a:r>
              <a:rPr lang="it-IT" sz="1200" dirty="0" err="1"/>
              <a:t>region</a:t>
            </a:r>
            <a:r>
              <a:rPr lang="it-IT" sz="1200" dirty="0"/>
              <a:t> and the gate </a:t>
            </a:r>
            <a:r>
              <a:rPr lang="it-IT" sz="1200" dirty="0" err="1"/>
              <a:t>electrode</a:t>
            </a:r>
            <a:r>
              <a:rPr lang="it-IT" sz="1200" dirty="0"/>
              <a:t>)</a:t>
            </a:r>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5" name="Picture 24">
            <a:extLst>
              <a:ext uri="{FF2B5EF4-FFF2-40B4-BE49-F238E27FC236}">
                <a16:creationId xmlns:a16="http://schemas.microsoft.com/office/drawing/2014/main" id="{02DB333D-17D0-8271-1082-5A671FD00538}"/>
              </a:ext>
            </a:extLst>
          </p:cNvPr>
          <p:cNvPicPr>
            <a:picLocks noChangeAspect="1"/>
          </p:cNvPicPr>
          <p:nvPr/>
        </p:nvPicPr>
        <p:blipFill>
          <a:blip r:embed="rId6"/>
          <a:stretch>
            <a:fillRect/>
          </a:stretch>
        </p:blipFill>
        <p:spPr>
          <a:xfrm>
            <a:off x="4307586" y="2111982"/>
            <a:ext cx="1981535" cy="1566230"/>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7"/>
          <a:stretch>
            <a:fillRect/>
          </a:stretch>
        </p:blipFill>
        <p:spPr>
          <a:xfrm>
            <a:off x="4650473" y="4710152"/>
            <a:ext cx="1445506" cy="1386787"/>
          </a:xfrm>
          <a:prstGeom prst="rect">
            <a:avLst/>
          </a:prstGeom>
        </p:spPr>
      </p:pic>
    </p:spTree>
    <p:extLst>
      <p:ext uri="{BB962C8B-B14F-4D97-AF65-F5344CB8AC3E}">
        <p14:creationId xmlns:p14="http://schemas.microsoft.com/office/powerpoint/2010/main" val="3785374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Local interconnections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2"/>
            </a:pPr>
            <a:r>
              <a:rPr lang="en-US" sz="1200" b="1" dirty="0">
                <a:solidFill>
                  <a:schemeClr val="bg2">
                    <a:lumMod val="75000"/>
                  </a:schemeClr>
                </a:solidFill>
              </a:rPr>
              <a:t>p+ implant</a:t>
            </a:r>
          </a:p>
          <a:p>
            <a:pPr marL="228600" indent="-228600">
              <a:buFont typeface="+mj-lt"/>
              <a:buAutoNum type="arabicPeriod" startAt="42"/>
            </a:pPr>
            <a:r>
              <a:rPr lang="en-US" sz="1200" b="1" dirty="0">
                <a:solidFill>
                  <a:schemeClr val="bg2">
                    <a:lumMod val="75000"/>
                  </a:schemeClr>
                </a:solidFill>
              </a:rPr>
              <a:t>Resist stripping</a:t>
            </a:r>
          </a:p>
          <a:p>
            <a:pPr marL="228600" indent="-228600">
              <a:buFont typeface="+mj-lt"/>
              <a:buAutoNum type="arabicPeriod" startAt="42"/>
            </a:pPr>
            <a:r>
              <a:rPr lang="en-US" sz="1200" b="1" dirty="0">
                <a:solidFill>
                  <a:schemeClr val="bg2">
                    <a:lumMod val="75000"/>
                  </a:schemeClr>
                </a:solidFill>
              </a:rPr>
              <a:t>Dopant activation annealing</a:t>
            </a:r>
          </a:p>
          <a:p>
            <a:pPr marL="228600" indent="-228600">
              <a:buFont typeface="+mj-lt"/>
              <a:buAutoNum type="arabicPeriod" startAt="42"/>
            </a:pPr>
            <a:r>
              <a:rPr lang="en-US" sz="1200" b="1" dirty="0"/>
              <a:t>Gate oxide removal</a:t>
            </a:r>
          </a:p>
          <a:p>
            <a:pPr marL="228600" indent="-228600">
              <a:buFont typeface="+mj-lt"/>
              <a:buAutoNum type="arabicPeriod" startAt="42"/>
            </a:pPr>
            <a:r>
              <a:rPr lang="en-US" sz="1200" b="1" dirty="0">
                <a:solidFill>
                  <a:schemeClr val="bg2">
                    <a:lumMod val="75000"/>
                  </a:schemeClr>
                </a:solidFill>
              </a:rPr>
              <a:t>Ti deposition</a:t>
            </a:r>
          </a:p>
          <a:p>
            <a:pPr marL="228600" indent="-228600">
              <a:buFont typeface="+mj-lt"/>
              <a:buAutoNum type="arabicPeriod" startAt="42"/>
            </a:pPr>
            <a:r>
              <a:rPr lang="en-US" sz="1200" b="1" dirty="0">
                <a:solidFill>
                  <a:schemeClr val="bg2">
                    <a:lumMod val="75000"/>
                  </a:schemeClr>
                </a:solidFill>
              </a:rPr>
              <a:t>Ti RTP</a:t>
            </a:r>
          </a:p>
          <a:p>
            <a:pPr marL="228600" indent="-228600">
              <a:buFont typeface="+mj-lt"/>
              <a:buAutoNum type="arabicPeriod" startAt="42"/>
            </a:pPr>
            <a:r>
              <a:rPr lang="en-US" sz="1200" b="1" dirty="0">
                <a:solidFill>
                  <a:schemeClr val="bg2">
                    <a:lumMod val="75000"/>
                  </a:schemeClr>
                </a:solidFill>
              </a:rPr>
              <a:t>Ti strip</a:t>
            </a: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solidFill>
                <a:schemeClr val="bg2">
                  <a:lumMod val="75000"/>
                </a:schemeClr>
              </a:solidFill>
            </a:endParaRPr>
          </a:p>
          <a:p>
            <a:pPr marL="228600" indent="-228600">
              <a:buFont typeface="+mj-lt"/>
              <a:buAutoNum type="arabicPeriod" startAt="4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20032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Exposed</a:t>
            </a:r>
            <a:r>
              <a:rPr lang="it-IT" sz="1200" dirty="0"/>
              <a:t> tunnel </a:t>
            </a:r>
            <a:r>
              <a:rPr lang="it-IT" sz="1200" dirty="0" err="1"/>
              <a:t>oxied</a:t>
            </a:r>
            <a:r>
              <a:rPr lang="it-IT" sz="1200" dirty="0"/>
              <a:t> </a:t>
            </a:r>
            <a:r>
              <a:rPr lang="it-IT" sz="1200" dirty="0" err="1"/>
              <a:t>is</a:t>
            </a:r>
            <a:r>
              <a:rPr lang="it-IT" sz="1200" dirty="0"/>
              <a:t> </a:t>
            </a:r>
            <a:r>
              <a:rPr lang="it-IT" sz="1200" dirty="0" err="1"/>
              <a:t>remove</a:t>
            </a:r>
            <a:r>
              <a:rPr lang="it-IT" sz="1200" dirty="0"/>
              <a:t> by </a:t>
            </a:r>
            <a:r>
              <a:rPr lang="it-IT" sz="1200" dirty="0" err="1"/>
              <a:t>wet</a:t>
            </a:r>
            <a:r>
              <a:rPr lang="it-IT" sz="1200" dirty="0"/>
              <a:t> </a:t>
            </a:r>
            <a:r>
              <a:rPr lang="it-IT" sz="1200" dirty="0" err="1"/>
              <a:t>etching</a:t>
            </a:r>
            <a:r>
              <a:rPr lang="it-IT" sz="1200" dirty="0"/>
              <a:t>:</a:t>
            </a:r>
          </a:p>
          <a:p>
            <a:pPr marL="742950" lvl="1" indent="-285750">
              <a:buFont typeface="Arial" panose="020B0604020202020204" pitchFamily="34" charset="0"/>
              <a:buChar char="•"/>
            </a:pPr>
            <a:r>
              <a:rPr lang="it-IT" sz="1200" dirty="0" err="1"/>
              <a:t>Metallic</a:t>
            </a:r>
            <a:r>
              <a:rPr lang="it-IT" sz="1200" dirty="0"/>
              <a:t> </a:t>
            </a:r>
            <a:r>
              <a:rPr lang="it-IT" sz="1200" dirty="0" err="1"/>
              <a:t>contaminants</a:t>
            </a:r>
            <a:r>
              <a:rPr lang="it-IT" sz="1200" dirty="0"/>
              <a:t> from </a:t>
            </a:r>
            <a:r>
              <a:rPr lang="it-IT" sz="1200" dirty="0" err="1"/>
              <a:t>ion</a:t>
            </a:r>
            <a:r>
              <a:rPr lang="it-IT" sz="1200" dirty="0"/>
              <a:t> </a:t>
            </a:r>
            <a:r>
              <a:rPr lang="it-IT" sz="1200" dirty="0" err="1"/>
              <a:t>implantation</a:t>
            </a:r>
            <a:r>
              <a:rPr lang="it-IT" sz="1200" dirty="0"/>
              <a:t> are </a:t>
            </a:r>
            <a:r>
              <a:rPr lang="it-IT" sz="1200" dirty="0" err="1"/>
              <a:t>removed</a:t>
            </a:r>
            <a:endParaRPr lang="it-IT" sz="1200" dirty="0"/>
          </a:p>
          <a:p>
            <a:pPr marL="742950" lvl="1" indent="-285750">
              <a:buFont typeface="Arial" panose="020B0604020202020204" pitchFamily="34" charset="0"/>
              <a:buChar char="•"/>
            </a:pPr>
            <a:r>
              <a:rPr lang="it-IT" sz="1200" dirty="0"/>
              <a:t>Silicon </a:t>
            </a:r>
            <a:r>
              <a:rPr lang="it-IT" sz="1200" dirty="0" err="1"/>
              <a:t>is</a:t>
            </a:r>
            <a:r>
              <a:rPr lang="it-IT" sz="1200" dirty="0"/>
              <a:t> </a:t>
            </a:r>
            <a:r>
              <a:rPr lang="it-IT" sz="1200" dirty="0" err="1"/>
              <a:t>exposed</a:t>
            </a:r>
            <a:r>
              <a:rPr lang="it-IT" sz="1200" dirty="0"/>
              <a:t> for </a:t>
            </a:r>
            <a:r>
              <a:rPr lang="it-IT" sz="1200" dirty="0" err="1"/>
              <a:t>subsequent</a:t>
            </a:r>
            <a:r>
              <a:rPr lang="it-IT" sz="1200" dirty="0"/>
              <a:t> </a:t>
            </a:r>
            <a:r>
              <a:rPr lang="it-IT" sz="1200" dirty="0" err="1"/>
              <a:t>silicide</a:t>
            </a:r>
            <a:r>
              <a:rPr lang="it-IT" sz="1200" dirty="0"/>
              <a:t> </a:t>
            </a:r>
            <a:r>
              <a:rPr lang="it-IT" sz="1200" dirty="0" err="1"/>
              <a:t>formation</a:t>
            </a: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5" name="Picture 24">
            <a:extLst>
              <a:ext uri="{FF2B5EF4-FFF2-40B4-BE49-F238E27FC236}">
                <a16:creationId xmlns:a16="http://schemas.microsoft.com/office/drawing/2014/main" id="{02DB333D-17D0-8271-1082-5A671FD00538}"/>
              </a:ext>
            </a:extLst>
          </p:cNvPr>
          <p:cNvPicPr>
            <a:picLocks noChangeAspect="1"/>
          </p:cNvPicPr>
          <p:nvPr/>
        </p:nvPicPr>
        <p:blipFill>
          <a:blip r:embed="rId6"/>
          <a:stretch>
            <a:fillRect/>
          </a:stretch>
        </p:blipFill>
        <p:spPr>
          <a:xfrm>
            <a:off x="4307586" y="2111982"/>
            <a:ext cx="1981535" cy="1566230"/>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7"/>
          <a:stretch>
            <a:fillRect/>
          </a:stretch>
        </p:blipFill>
        <p:spPr>
          <a:xfrm>
            <a:off x="4650473" y="4710152"/>
            <a:ext cx="1445506" cy="1386787"/>
          </a:xfrm>
          <a:prstGeom prst="rect">
            <a:avLst/>
          </a:prstGeom>
        </p:spPr>
      </p:pic>
      <p:sp>
        <p:nvSpPr>
          <p:cNvPr id="3" name="TextBox 2">
            <a:extLst>
              <a:ext uri="{FF2B5EF4-FFF2-40B4-BE49-F238E27FC236}">
                <a16:creationId xmlns:a16="http://schemas.microsoft.com/office/drawing/2014/main" id="{F3CF2C90-DA7A-9FDD-B45A-00F3C958A683}"/>
              </a:ext>
            </a:extLst>
          </p:cNvPr>
          <p:cNvSpPr txBox="1"/>
          <p:nvPr/>
        </p:nvSpPr>
        <p:spPr>
          <a:xfrm>
            <a:off x="7141394" y="5040611"/>
            <a:ext cx="4079631" cy="1292662"/>
          </a:xfrm>
          <a:prstGeom prst="rect">
            <a:avLst/>
          </a:prstGeom>
          <a:solidFill>
            <a:schemeClr val="accent5">
              <a:lumMod val="60000"/>
              <a:lumOff val="40000"/>
            </a:schemeClr>
          </a:solidFill>
        </p:spPr>
        <p:txBody>
          <a:bodyPr wrap="square" lIns="0" tIns="0" rIns="0" bIns="0" rtlCol="0">
            <a:spAutoFit/>
          </a:bodyPr>
          <a:lstStyle/>
          <a:p>
            <a:pPr marL="285750" indent="-285750">
              <a:buFont typeface="Arial" panose="020B0604020202020204" pitchFamily="34" charset="0"/>
              <a:buChar char="•"/>
            </a:pPr>
            <a:r>
              <a:rPr lang="it-IT" sz="1200" b="1" dirty="0"/>
              <a:t>The following </a:t>
            </a:r>
            <a:r>
              <a:rPr lang="it-IT" sz="1200" b="1" dirty="0" err="1"/>
              <a:t>process</a:t>
            </a:r>
            <a:r>
              <a:rPr lang="it-IT" sz="1200" b="1" dirty="0"/>
              <a:t> steps </a:t>
            </a:r>
            <a:r>
              <a:rPr lang="it-IT" sz="1200" b="1" dirty="0" err="1"/>
              <a:t>will</a:t>
            </a:r>
            <a:r>
              <a:rPr lang="it-IT" sz="1200" b="1" dirty="0"/>
              <a:t> </a:t>
            </a:r>
            <a:r>
              <a:rPr lang="it-IT" sz="1200" b="1" dirty="0" err="1"/>
              <a:t>grow</a:t>
            </a:r>
            <a:r>
              <a:rPr lang="it-IT" sz="1200" b="1" dirty="0"/>
              <a:t> a metal (</a:t>
            </a:r>
            <a:r>
              <a:rPr lang="it-IT" sz="1200" b="1" dirty="0" err="1"/>
              <a:t>Titanium</a:t>
            </a:r>
            <a:r>
              <a:rPr lang="it-IT" sz="1200" b="1" dirty="0"/>
              <a:t> </a:t>
            </a:r>
            <a:r>
              <a:rPr lang="it-IT" sz="1200" b="1" dirty="0" err="1"/>
              <a:t>silicide</a:t>
            </a:r>
            <a:r>
              <a:rPr lang="it-IT" sz="1200" b="1" dirty="0"/>
              <a:t>) on </a:t>
            </a:r>
            <a:r>
              <a:rPr lang="it-IT" sz="1200" b="1" dirty="0" err="1"/>
              <a:t>expsoed</a:t>
            </a:r>
            <a:r>
              <a:rPr lang="it-IT" sz="1200" b="1" dirty="0"/>
              <a:t> silicon and </a:t>
            </a:r>
            <a:r>
              <a:rPr lang="it-IT" sz="1200" b="1" dirty="0" err="1"/>
              <a:t>poly</a:t>
            </a:r>
            <a:r>
              <a:rPr lang="it-IT" sz="1200" b="1" dirty="0"/>
              <a:t>-silicon </a:t>
            </a:r>
            <a:r>
              <a:rPr lang="it-IT" sz="1200" b="1" dirty="0" err="1"/>
              <a:t>areas</a:t>
            </a:r>
            <a:r>
              <a:rPr lang="it-IT" sz="1200" b="1" dirty="0"/>
              <a:t>.</a:t>
            </a:r>
          </a:p>
          <a:p>
            <a:pPr marL="742950" lvl="1" indent="-285750">
              <a:buFont typeface="Arial" panose="020B0604020202020204" pitchFamily="34" charset="0"/>
              <a:buChar char="•"/>
            </a:pPr>
            <a:r>
              <a:rPr lang="it-IT" sz="1200" b="1" dirty="0"/>
              <a:t>Local </a:t>
            </a:r>
            <a:r>
              <a:rPr lang="it-IT" sz="1200" b="1" dirty="0" err="1"/>
              <a:t>interonnections</a:t>
            </a:r>
            <a:r>
              <a:rPr lang="it-IT" sz="1200" b="1" dirty="0"/>
              <a:t> </a:t>
            </a:r>
            <a:r>
              <a:rPr lang="it-IT" sz="1200" b="1" dirty="0" err="1"/>
              <a:t>sheet</a:t>
            </a:r>
            <a:r>
              <a:rPr lang="it-IT" sz="1200" b="1" dirty="0"/>
              <a:t> </a:t>
            </a:r>
            <a:r>
              <a:rPr lang="it-IT" sz="1200" b="1" dirty="0" err="1"/>
              <a:t>resistance</a:t>
            </a:r>
            <a:r>
              <a:rPr lang="it-IT" sz="1200" b="1" dirty="0"/>
              <a:t> </a:t>
            </a:r>
            <a:r>
              <a:rPr lang="it-IT" sz="1200" b="1" dirty="0" err="1"/>
              <a:t>reduction</a:t>
            </a:r>
            <a:r>
              <a:rPr lang="it-IT" sz="1200" b="1" dirty="0"/>
              <a:t> (e.g. transistor gates)</a:t>
            </a:r>
          </a:p>
          <a:p>
            <a:pPr marL="742950" lvl="1" indent="-285750">
              <a:buFont typeface="Arial" panose="020B0604020202020204" pitchFamily="34" charset="0"/>
              <a:buChar char="•"/>
            </a:pPr>
            <a:r>
              <a:rPr lang="it-IT" sz="1200" b="1" dirty="0"/>
              <a:t>Better </a:t>
            </a:r>
            <a:r>
              <a:rPr lang="it-IT" sz="1200" b="1" dirty="0" err="1"/>
              <a:t>interface</a:t>
            </a:r>
            <a:r>
              <a:rPr lang="it-IT" sz="1200" b="1" dirty="0"/>
              <a:t> to </a:t>
            </a:r>
            <a:r>
              <a:rPr lang="it-IT" sz="1200" b="1" dirty="0" err="1"/>
              <a:t>metallic</a:t>
            </a:r>
            <a:r>
              <a:rPr lang="it-IT" sz="1200" b="1" dirty="0"/>
              <a:t> </a:t>
            </a:r>
            <a:r>
              <a:rPr lang="it-IT" sz="1200" b="1" dirty="0" err="1"/>
              <a:t>contacts</a:t>
            </a:r>
            <a:endParaRPr lang="it-IT" sz="1200" b="1" dirty="0"/>
          </a:p>
          <a:p>
            <a:pPr lvl="1"/>
            <a:endParaRPr lang="it-IT" sz="1200" dirty="0"/>
          </a:p>
        </p:txBody>
      </p:sp>
    </p:spTree>
    <p:extLst>
      <p:ext uri="{BB962C8B-B14F-4D97-AF65-F5344CB8AC3E}">
        <p14:creationId xmlns:p14="http://schemas.microsoft.com/office/powerpoint/2010/main" val="3359946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Local interconnections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2"/>
            </a:pPr>
            <a:r>
              <a:rPr lang="en-US" sz="1200" b="1" dirty="0">
                <a:solidFill>
                  <a:schemeClr val="bg2">
                    <a:lumMod val="75000"/>
                  </a:schemeClr>
                </a:solidFill>
              </a:rPr>
              <a:t>p+ implant</a:t>
            </a:r>
          </a:p>
          <a:p>
            <a:pPr marL="228600" indent="-228600">
              <a:buFont typeface="+mj-lt"/>
              <a:buAutoNum type="arabicPeriod" startAt="42"/>
            </a:pPr>
            <a:r>
              <a:rPr lang="en-US" sz="1200" b="1" dirty="0">
                <a:solidFill>
                  <a:schemeClr val="bg2">
                    <a:lumMod val="75000"/>
                  </a:schemeClr>
                </a:solidFill>
              </a:rPr>
              <a:t>Resist stripping</a:t>
            </a:r>
          </a:p>
          <a:p>
            <a:pPr marL="228600" indent="-228600">
              <a:buFont typeface="+mj-lt"/>
              <a:buAutoNum type="arabicPeriod" startAt="42"/>
            </a:pPr>
            <a:r>
              <a:rPr lang="en-US" sz="1200" b="1" dirty="0">
                <a:solidFill>
                  <a:schemeClr val="bg2">
                    <a:lumMod val="75000"/>
                  </a:schemeClr>
                </a:solidFill>
              </a:rPr>
              <a:t>Dopant activation annealing</a:t>
            </a:r>
          </a:p>
          <a:p>
            <a:pPr marL="228600" indent="-228600">
              <a:buFont typeface="+mj-lt"/>
              <a:buAutoNum type="arabicPeriod" startAt="42"/>
            </a:pPr>
            <a:r>
              <a:rPr lang="en-US" sz="1200" b="1" dirty="0">
                <a:solidFill>
                  <a:schemeClr val="bg2">
                    <a:lumMod val="75000"/>
                  </a:schemeClr>
                </a:solidFill>
              </a:rPr>
              <a:t>Gate oxide removal</a:t>
            </a:r>
          </a:p>
          <a:p>
            <a:pPr marL="228600" indent="-228600">
              <a:buFont typeface="+mj-lt"/>
              <a:buAutoNum type="arabicPeriod" startAt="42"/>
            </a:pPr>
            <a:r>
              <a:rPr lang="en-US" sz="1200" b="1" dirty="0"/>
              <a:t>Ti deposition</a:t>
            </a:r>
          </a:p>
          <a:p>
            <a:pPr marL="228600" indent="-228600">
              <a:buFont typeface="+mj-lt"/>
              <a:buAutoNum type="arabicPeriod" startAt="42"/>
            </a:pPr>
            <a:r>
              <a:rPr lang="en-US" sz="1200" b="1" dirty="0">
                <a:solidFill>
                  <a:schemeClr val="bg2">
                    <a:lumMod val="75000"/>
                  </a:schemeClr>
                </a:solidFill>
              </a:rPr>
              <a:t>Ti RTP</a:t>
            </a:r>
          </a:p>
          <a:p>
            <a:pPr marL="228600" indent="-228600">
              <a:buFont typeface="+mj-lt"/>
              <a:buAutoNum type="arabicPeriod" startAt="42"/>
            </a:pPr>
            <a:r>
              <a:rPr lang="en-US" sz="1200" b="1" dirty="0">
                <a:solidFill>
                  <a:schemeClr val="bg2">
                    <a:lumMod val="75000"/>
                  </a:schemeClr>
                </a:solidFill>
              </a:rPr>
              <a:t>Ti strip</a:t>
            </a:r>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p>
          <a:p>
            <a:pPr marL="228600" indent="-228600">
              <a:buFont typeface="+mj-lt"/>
              <a:buAutoNum type="arabicPeriod" startAt="42"/>
            </a:pPr>
            <a:endParaRPr lang="en-US" sz="1200" b="1" dirty="0">
              <a:solidFill>
                <a:schemeClr val="bg2">
                  <a:lumMod val="75000"/>
                </a:schemeClr>
              </a:solidFill>
            </a:endParaRPr>
          </a:p>
          <a:p>
            <a:pPr marL="228600" indent="-228600">
              <a:buFont typeface="+mj-lt"/>
              <a:buAutoNum type="arabicPeriod" startAt="4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01566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Titanium</a:t>
            </a:r>
            <a:r>
              <a:rPr lang="it-IT" sz="1200" dirty="0"/>
              <a:t> </a:t>
            </a:r>
            <a:r>
              <a:rPr lang="it-IT" sz="1200" dirty="0" err="1"/>
              <a:t>is</a:t>
            </a:r>
            <a:r>
              <a:rPr lang="it-IT" sz="1200" dirty="0"/>
              <a:t> </a:t>
            </a:r>
            <a:r>
              <a:rPr lang="it-IT" sz="1200" dirty="0" err="1"/>
              <a:t>deposited</a:t>
            </a:r>
            <a:r>
              <a:rPr lang="it-IT" sz="1200" dirty="0"/>
              <a:t> by PVD (</a:t>
            </a:r>
            <a:r>
              <a:rPr lang="it-IT" sz="1200" dirty="0" err="1"/>
              <a:t>Physical</a:t>
            </a:r>
            <a:r>
              <a:rPr lang="it-IT" sz="1200" dirty="0"/>
              <a:t> Vapor </a:t>
            </a:r>
            <a:r>
              <a:rPr lang="it-IT" sz="1200" dirty="0" err="1"/>
              <a:t>Deposition</a:t>
            </a:r>
            <a:r>
              <a:rPr lang="it-IT" sz="1200" dirty="0"/>
              <a:t>):</a:t>
            </a:r>
          </a:p>
          <a:p>
            <a:pPr marL="742950" lvl="1" indent="-285750">
              <a:buFont typeface="Arial" panose="020B0604020202020204" pitchFamily="34" charset="0"/>
              <a:buChar char="•"/>
            </a:pPr>
            <a:r>
              <a:rPr lang="it-IT" sz="1200" dirty="0"/>
              <a:t>Room T, </a:t>
            </a:r>
            <a:r>
              <a:rPr lang="it-IT" sz="1200" dirty="0" err="1"/>
              <a:t>typical</a:t>
            </a:r>
            <a:r>
              <a:rPr lang="it-IT" sz="1200" dirty="0"/>
              <a:t> </a:t>
            </a:r>
            <a:r>
              <a:rPr lang="it-IT" sz="1200" dirty="0" err="1"/>
              <a:t>thickness</a:t>
            </a:r>
            <a:r>
              <a:rPr lang="it-IT" sz="1200" dirty="0"/>
              <a:t> </a:t>
            </a:r>
            <a:r>
              <a:rPr lang="it-IT" sz="1200" dirty="0" err="1"/>
              <a:t>is</a:t>
            </a:r>
            <a:r>
              <a:rPr lang="it-IT" sz="1200" dirty="0"/>
              <a:t> in the </a:t>
            </a:r>
            <a:r>
              <a:rPr lang="it-IT" sz="1200" dirty="0" err="1"/>
              <a:t>tenths</a:t>
            </a:r>
            <a:r>
              <a:rPr lang="it-IT" sz="1200" dirty="0"/>
              <a:t> of nm range</a:t>
            </a:r>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6"/>
          <a:stretch>
            <a:fillRect/>
          </a:stretch>
        </p:blipFill>
        <p:spPr>
          <a:xfrm>
            <a:off x="4650473" y="4710152"/>
            <a:ext cx="1445506" cy="1386787"/>
          </a:xfrm>
          <a:prstGeom prst="rect">
            <a:avLst/>
          </a:prstGeom>
        </p:spPr>
      </p:pic>
      <p:pic>
        <p:nvPicPr>
          <p:cNvPr id="10" name="Picture 9">
            <a:extLst>
              <a:ext uri="{FF2B5EF4-FFF2-40B4-BE49-F238E27FC236}">
                <a16:creationId xmlns:a16="http://schemas.microsoft.com/office/drawing/2014/main" id="{6A8F518D-68C2-F00C-0B8D-068C9AFBD8F9}"/>
              </a:ext>
            </a:extLst>
          </p:cNvPr>
          <p:cNvPicPr>
            <a:picLocks noChangeAspect="1"/>
          </p:cNvPicPr>
          <p:nvPr/>
        </p:nvPicPr>
        <p:blipFill rotWithShape="1">
          <a:blip r:embed="rId7"/>
          <a:srcRect r="6263"/>
          <a:stretch/>
        </p:blipFill>
        <p:spPr>
          <a:xfrm>
            <a:off x="231208" y="2558697"/>
            <a:ext cx="3825327" cy="3144017"/>
          </a:xfrm>
          <a:prstGeom prst="rect">
            <a:avLst/>
          </a:prstGeom>
        </p:spPr>
      </p:pic>
      <p:pic>
        <p:nvPicPr>
          <p:cNvPr id="15" name="Picture 14">
            <a:extLst>
              <a:ext uri="{FF2B5EF4-FFF2-40B4-BE49-F238E27FC236}">
                <a16:creationId xmlns:a16="http://schemas.microsoft.com/office/drawing/2014/main" id="{7EE6ACEA-4039-3441-BC51-5ADCA10E6EBA}"/>
              </a:ext>
            </a:extLst>
          </p:cNvPr>
          <p:cNvPicPr>
            <a:picLocks noChangeAspect="1"/>
          </p:cNvPicPr>
          <p:nvPr/>
        </p:nvPicPr>
        <p:blipFill>
          <a:blip r:embed="rId8"/>
          <a:stretch>
            <a:fillRect/>
          </a:stretch>
        </p:blipFill>
        <p:spPr>
          <a:xfrm>
            <a:off x="4353458" y="2088543"/>
            <a:ext cx="1742522" cy="1468066"/>
          </a:xfrm>
          <a:prstGeom prst="rect">
            <a:avLst/>
          </a:prstGeom>
        </p:spPr>
      </p:pic>
      <p:pic>
        <p:nvPicPr>
          <p:cNvPr id="19" name="Picture 18">
            <a:extLst>
              <a:ext uri="{FF2B5EF4-FFF2-40B4-BE49-F238E27FC236}">
                <a16:creationId xmlns:a16="http://schemas.microsoft.com/office/drawing/2014/main" id="{24881A97-CE3E-75BB-624F-0C4C873A6900}"/>
              </a:ext>
            </a:extLst>
          </p:cNvPr>
          <p:cNvPicPr>
            <a:picLocks noChangeAspect="1"/>
          </p:cNvPicPr>
          <p:nvPr/>
        </p:nvPicPr>
        <p:blipFill>
          <a:blip r:embed="rId9"/>
          <a:stretch>
            <a:fillRect/>
          </a:stretch>
        </p:blipFill>
        <p:spPr>
          <a:xfrm>
            <a:off x="4593376" y="4639820"/>
            <a:ext cx="1445506" cy="1513330"/>
          </a:xfrm>
          <a:prstGeom prst="rect">
            <a:avLst/>
          </a:prstGeom>
        </p:spPr>
      </p:pic>
    </p:spTree>
    <p:extLst>
      <p:ext uri="{BB962C8B-B14F-4D97-AF65-F5344CB8AC3E}">
        <p14:creationId xmlns:p14="http://schemas.microsoft.com/office/powerpoint/2010/main" val="1497012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Local interconnections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5"/>
            </a:pPr>
            <a:r>
              <a:rPr lang="en-US" sz="1200" b="1" dirty="0">
                <a:solidFill>
                  <a:schemeClr val="bg2">
                    <a:lumMod val="75000"/>
                  </a:schemeClr>
                </a:solidFill>
              </a:rPr>
              <a:t>Gate oxide removal</a:t>
            </a:r>
          </a:p>
          <a:p>
            <a:pPr marL="228600" indent="-228600">
              <a:buFont typeface="+mj-lt"/>
              <a:buAutoNum type="arabicPeriod" startAt="45"/>
            </a:pPr>
            <a:r>
              <a:rPr lang="en-US" sz="1200" b="1" dirty="0">
                <a:solidFill>
                  <a:schemeClr val="bg2">
                    <a:lumMod val="75000"/>
                  </a:schemeClr>
                </a:solidFill>
              </a:rPr>
              <a:t>Ti deposition</a:t>
            </a:r>
          </a:p>
          <a:p>
            <a:pPr marL="228600" indent="-228600">
              <a:buFont typeface="+mj-lt"/>
              <a:buAutoNum type="arabicPeriod" startAt="45"/>
            </a:pPr>
            <a:r>
              <a:rPr lang="en-US" sz="1200" b="1" dirty="0"/>
              <a:t>Ti RTP</a:t>
            </a:r>
          </a:p>
          <a:p>
            <a:pPr marL="228600" indent="-228600">
              <a:buFont typeface="+mj-lt"/>
              <a:buAutoNum type="arabicPeriod" startAt="45"/>
            </a:pPr>
            <a:r>
              <a:rPr lang="en-US" sz="1200" b="1" dirty="0">
                <a:solidFill>
                  <a:schemeClr val="bg2">
                    <a:lumMod val="75000"/>
                  </a:schemeClr>
                </a:solidFill>
              </a:rPr>
              <a:t>Ti strip</a:t>
            </a:r>
          </a:p>
          <a:p>
            <a:pPr marL="228600" indent="-228600">
              <a:buFont typeface="+mj-lt"/>
              <a:buAutoNum type="arabicPeriod" startAt="45"/>
            </a:pPr>
            <a:r>
              <a:rPr lang="en-US" sz="1200" b="1" dirty="0">
                <a:solidFill>
                  <a:schemeClr val="bg2">
                    <a:lumMod val="75000"/>
                  </a:schemeClr>
                </a:solidFill>
              </a:rPr>
              <a:t>PMD nitride deposition</a:t>
            </a:r>
          </a:p>
          <a:p>
            <a:pPr marL="228600" indent="-228600">
              <a:buFont typeface="+mj-lt"/>
              <a:buAutoNum type="arabicPeriod" startAt="45"/>
            </a:pPr>
            <a:r>
              <a:rPr lang="en-US" sz="1200" b="1" dirty="0">
                <a:solidFill>
                  <a:schemeClr val="bg2">
                    <a:lumMod val="75000"/>
                  </a:schemeClr>
                </a:solidFill>
              </a:rPr>
              <a:t>PMD oxide deposition</a:t>
            </a:r>
          </a:p>
          <a:p>
            <a:pPr marL="228600" indent="-228600">
              <a:buFont typeface="+mj-lt"/>
              <a:buAutoNum type="arabicPeriod" startAt="45"/>
            </a:pPr>
            <a:r>
              <a:rPr lang="en-US" sz="1200" b="1" dirty="0">
                <a:solidFill>
                  <a:schemeClr val="bg2">
                    <a:lumMod val="75000"/>
                  </a:schemeClr>
                </a:solidFill>
              </a:rPr>
              <a:t>PMD oxide CMP</a:t>
            </a:r>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solidFill>
                <a:schemeClr val="bg2">
                  <a:lumMod val="75000"/>
                </a:schemeClr>
              </a:solidFill>
            </a:endParaRPr>
          </a:p>
          <a:p>
            <a:pPr marL="228600" indent="-228600">
              <a:buFont typeface="+mj-lt"/>
              <a:buAutoNum type="arabicPeriod" startAt="45"/>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079631" cy="156966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a:t>A </a:t>
            </a:r>
            <a:r>
              <a:rPr lang="it-IT" sz="1200" dirty="0" err="1"/>
              <a:t>thermal</a:t>
            </a:r>
            <a:r>
              <a:rPr lang="it-IT" sz="1200" dirty="0"/>
              <a:t> treatment (RTP) </a:t>
            </a:r>
            <a:r>
              <a:rPr lang="it-IT" sz="1200" dirty="0" err="1"/>
              <a:t>is</a:t>
            </a:r>
            <a:r>
              <a:rPr lang="it-IT" sz="1200" dirty="0"/>
              <a:t> </a:t>
            </a:r>
            <a:r>
              <a:rPr lang="it-IT" sz="1200" dirty="0" err="1"/>
              <a:t>performed</a:t>
            </a:r>
            <a:r>
              <a:rPr lang="it-IT" sz="1200" dirty="0"/>
              <a:t> </a:t>
            </a:r>
            <a:r>
              <a:rPr lang="it-IT" sz="1200" dirty="0" err="1"/>
              <a:t>at</a:t>
            </a:r>
            <a:r>
              <a:rPr lang="it-IT" sz="1200" dirty="0"/>
              <a:t> ~700 C:</a:t>
            </a:r>
          </a:p>
          <a:p>
            <a:pPr marL="285750" indent="-285750">
              <a:buFont typeface="Arial" panose="020B0604020202020204" pitchFamily="34" charset="0"/>
              <a:buChar char="•"/>
            </a:pPr>
            <a:r>
              <a:rPr lang="it-IT" sz="1200" dirty="0"/>
              <a:t>Ti </a:t>
            </a:r>
            <a:r>
              <a:rPr lang="it-IT" sz="1200" dirty="0" err="1"/>
              <a:t>reacts</a:t>
            </a:r>
            <a:r>
              <a:rPr lang="it-IT" sz="1200" dirty="0"/>
              <a:t> with Si on source and drain </a:t>
            </a:r>
            <a:r>
              <a:rPr lang="it-IT" sz="1200" dirty="0" err="1"/>
              <a:t>areas</a:t>
            </a:r>
            <a:r>
              <a:rPr lang="it-IT" sz="1200" dirty="0"/>
              <a:t>, </a:t>
            </a:r>
            <a:r>
              <a:rPr lang="it-IT" sz="1200" dirty="0" err="1"/>
              <a:t>poly</a:t>
            </a:r>
            <a:r>
              <a:rPr lang="it-IT" sz="1200" dirty="0"/>
              <a:t>-Si gates:</a:t>
            </a:r>
          </a:p>
          <a:p>
            <a:pPr marL="742950" lvl="1" indent="-285750">
              <a:buFont typeface="Arial" panose="020B0604020202020204" pitchFamily="34" charset="0"/>
              <a:buChar char="•"/>
            </a:pPr>
            <a:r>
              <a:rPr lang="it-IT" sz="1200" dirty="0"/>
              <a:t>TiSi2 </a:t>
            </a:r>
            <a:r>
              <a:rPr lang="it-IT" sz="1200" dirty="0" err="1"/>
              <a:t>is</a:t>
            </a:r>
            <a:r>
              <a:rPr lang="it-IT" sz="1200" dirty="0"/>
              <a:t> </a:t>
            </a:r>
            <a:r>
              <a:rPr lang="it-IT" sz="1200" dirty="0" err="1"/>
              <a:t>formed</a:t>
            </a:r>
            <a:endParaRPr lang="it-IT" sz="1200" dirty="0"/>
          </a:p>
          <a:p>
            <a:pPr marL="742950" lvl="1" indent="-285750">
              <a:buFont typeface="Arial" panose="020B0604020202020204" pitchFamily="34" charset="0"/>
              <a:buChar char="•"/>
            </a:pPr>
            <a:r>
              <a:rPr lang="it-IT" sz="1200" dirty="0"/>
              <a:t>No TiSi2 </a:t>
            </a:r>
            <a:r>
              <a:rPr lang="it-IT" sz="1200" dirty="0" err="1"/>
              <a:t>formation</a:t>
            </a:r>
            <a:r>
              <a:rPr lang="it-IT" sz="1200" dirty="0"/>
              <a:t> on </a:t>
            </a:r>
            <a:r>
              <a:rPr lang="it-IT" sz="1200" dirty="0" err="1"/>
              <a:t>dielectrics</a:t>
            </a:r>
            <a:endParaRPr lang="it-IT" sz="1200" dirty="0"/>
          </a:p>
          <a:p>
            <a:endParaRPr lang="it-IT" sz="1200" dirty="0"/>
          </a:p>
          <a:p>
            <a:pPr marL="285750" indent="-285750">
              <a:buFont typeface="Arial" panose="020B0604020202020204" pitchFamily="34" charset="0"/>
              <a:buChar char="•"/>
            </a:pP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6"/>
          <a:stretch>
            <a:fillRect/>
          </a:stretch>
        </p:blipFill>
        <p:spPr>
          <a:xfrm>
            <a:off x="4650473" y="4710152"/>
            <a:ext cx="1445506" cy="1386787"/>
          </a:xfrm>
          <a:prstGeom prst="rect">
            <a:avLst/>
          </a:prstGeom>
        </p:spPr>
      </p:pic>
      <p:pic>
        <p:nvPicPr>
          <p:cNvPr id="15" name="Picture 14">
            <a:extLst>
              <a:ext uri="{FF2B5EF4-FFF2-40B4-BE49-F238E27FC236}">
                <a16:creationId xmlns:a16="http://schemas.microsoft.com/office/drawing/2014/main" id="{7EE6ACEA-4039-3441-BC51-5ADCA10E6EBA}"/>
              </a:ext>
            </a:extLst>
          </p:cNvPr>
          <p:cNvPicPr>
            <a:picLocks noChangeAspect="1"/>
          </p:cNvPicPr>
          <p:nvPr/>
        </p:nvPicPr>
        <p:blipFill>
          <a:blip r:embed="rId7"/>
          <a:stretch>
            <a:fillRect/>
          </a:stretch>
        </p:blipFill>
        <p:spPr>
          <a:xfrm>
            <a:off x="4353458" y="2088543"/>
            <a:ext cx="1742522" cy="1468066"/>
          </a:xfrm>
          <a:prstGeom prst="rect">
            <a:avLst/>
          </a:prstGeom>
        </p:spPr>
      </p:pic>
      <p:pic>
        <p:nvPicPr>
          <p:cNvPr id="19" name="Picture 18">
            <a:extLst>
              <a:ext uri="{FF2B5EF4-FFF2-40B4-BE49-F238E27FC236}">
                <a16:creationId xmlns:a16="http://schemas.microsoft.com/office/drawing/2014/main" id="{24881A97-CE3E-75BB-624F-0C4C873A6900}"/>
              </a:ext>
            </a:extLst>
          </p:cNvPr>
          <p:cNvPicPr>
            <a:picLocks noChangeAspect="1"/>
          </p:cNvPicPr>
          <p:nvPr/>
        </p:nvPicPr>
        <p:blipFill>
          <a:blip r:embed="rId8"/>
          <a:stretch>
            <a:fillRect/>
          </a:stretch>
        </p:blipFill>
        <p:spPr>
          <a:xfrm>
            <a:off x="4593376" y="4639820"/>
            <a:ext cx="1445506" cy="1513330"/>
          </a:xfrm>
          <a:prstGeom prst="rect">
            <a:avLst/>
          </a:prstGeom>
        </p:spPr>
      </p:pic>
      <p:pic>
        <p:nvPicPr>
          <p:cNvPr id="9" name="Picture 8">
            <a:extLst>
              <a:ext uri="{FF2B5EF4-FFF2-40B4-BE49-F238E27FC236}">
                <a16:creationId xmlns:a16="http://schemas.microsoft.com/office/drawing/2014/main" id="{EC106028-806A-C5E6-97F5-CE20699FF37F}"/>
              </a:ext>
            </a:extLst>
          </p:cNvPr>
          <p:cNvPicPr>
            <a:picLocks noChangeAspect="1"/>
          </p:cNvPicPr>
          <p:nvPr/>
        </p:nvPicPr>
        <p:blipFill>
          <a:blip r:embed="rId9"/>
          <a:stretch>
            <a:fillRect/>
          </a:stretch>
        </p:blipFill>
        <p:spPr>
          <a:xfrm>
            <a:off x="329399" y="3106544"/>
            <a:ext cx="3824014" cy="2732432"/>
          </a:xfrm>
          <a:prstGeom prst="rect">
            <a:avLst/>
          </a:prstGeom>
        </p:spPr>
      </p:pic>
      <p:pic>
        <p:nvPicPr>
          <p:cNvPr id="13" name="Picture 12">
            <a:extLst>
              <a:ext uri="{FF2B5EF4-FFF2-40B4-BE49-F238E27FC236}">
                <a16:creationId xmlns:a16="http://schemas.microsoft.com/office/drawing/2014/main" id="{42E4E20C-332A-5143-12BB-E502575A58F5}"/>
              </a:ext>
            </a:extLst>
          </p:cNvPr>
          <p:cNvPicPr>
            <a:picLocks noChangeAspect="1"/>
          </p:cNvPicPr>
          <p:nvPr/>
        </p:nvPicPr>
        <p:blipFill rotWithShape="1">
          <a:blip r:embed="rId9"/>
          <a:srcRect l="26170" t="18652" r="39243" b="49344"/>
          <a:stretch/>
        </p:blipFill>
        <p:spPr>
          <a:xfrm>
            <a:off x="549433" y="1648198"/>
            <a:ext cx="2238375" cy="1479934"/>
          </a:xfrm>
          <a:prstGeom prst="rect">
            <a:avLst/>
          </a:prstGeom>
          <a:noFill/>
          <a:ln w="57150" cap="sq">
            <a:solidFill>
              <a:srgbClr val="EC0B00"/>
            </a:solidFill>
            <a:miter lim="800000"/>
          </a:ln>
        </p:spPr>
      </p:pic>
      <p:sp>
        <p:nvSpPr>
          <p:cNvPr id="18" name="Rectangle 17">
            <a:extLst>
              <a:ext uri="{FF2B5EF4-FFF2-40B4-BE49-F238E27FC236}">
                <a16:creationId xmlns:a16="http://schemas.microsoft.com/office/drawing/2014/main" id="{6E025209-60F4-E1FB-1BCB-A33A2D5C2DE0}"/>
              </a:ext>
            </a:extLst>
          </p:cNvPr>
          <p:cNvSpPr/>
          <p:nvPr/>
        </p:nvSpPr>
        <p:spPr>
          <a:xfrm>
            <a:off x="1781175" y="4033435"/>
            <a:ext cx="752475" cy="357590"/>
          </a:xfrm>
          <a:prstGeom prst="rect">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cxnSp>
        <p:nvCxnSpPr>
          <p:cNvPr id="21" name="Straight Connector 20">
            <a:extLst>
              <a:ext uri="{FF2B5EF4-FFF2-40B4-BE49-F238E27FC236}">
                <a16:creationId xmlns:a16="http://schemas.microsoft.com/office/drawing/2014/main" id="{B64FCF70-23D3-7157-1CBC-B7FE385BC7DD}"/>
              </a:ext>
            </a:extLst>
          </p:cNvPr>
          <p:cNvCxnSpPr>
            <a:cxnSpLocks/>
            <a:stCxn id="18" idx="0"/>
            <a:endCxn id="13" idx="2"/>
          </p:cNvCxnSpPr>
          <p:nvPr/>
        </p:nvCxnSpPr>
        <p:spPr>
          <a:xfrm flipH="1" flipV="1">
            <a:off x="1668621" y="3128132"/>
            <a:ext cx="488792" cy="905303"/>
          </a:xfrm>
          <a:prstGeom prst="line">
            <a:avLst/>
          </a:prstGeom>
          <a:noFill/>
          <a:ln w="57150" cap="sq">
            <a:solidFill>
              <a:srgbClr val="EC0B00"/>
            </a:solidFill>
            <a:miter lim="800000"/>
          </a:ln>
        </p:spPr>
        <p:style>
          <a:lnRef idx="1">
            <a:schemeClr val="tx1"/>
          </a:lnRef>
          <a:fillRef idx="0">
            <a:schemeClr val="tx1"/>
          </a:fillRef>
          <a:effectRef idx="0">
            <a:srgbClr val="000000"/>
          </a:effectRef>
          <a:fontRef idx="minor">
            <a:schemeClr val="bg1"/>
          </a:fontRef>
        </p:style>
      </p:cxnSp>
      <p:sp>
        <p:nvSpPr>
          <p:cNvPr id="22" name="Oval 21">
            <a:extLst>
              <a:ext uri="{FF2B5EF4-FFF2-40B4-BE49-F238E27FC236}">
                <a16:creationId xmlns:a16="http://schemas.microsoft.com/office/drawing/2014/main" id="{850D16DE-8822-3567-2991-AD5754F6100F}"/>
              </a:ext>
            </a:extLst>
          </p:cNvPr>
          <p:cNvSpPr/>
          <p:nvPr/>
        </p:nvSpPr>
        <p:spPr>
          <a:xfrm>
            <a:off x="1552575" y="2438594"/>
            <a:ext cx="752475" cy="344082"/>
          </a:xfrm>
          <a:prstGeom prst="ellipse">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endParaRPr lang="en-US"/>
          </a:p>
        </p:txBody>
      </p:sp>
      <p:pic>
        <p:nvPicPr>
          <p:cNvPr id="26" name="Picture 25">
            <a:extLst>
              <a:ext uri="{FF2B5EF4-FFF2-40B4-BE49-F238E27FC236}">
                <a16:creationId xmlns:a16="http://schemas.microsoft.com/office/drawing/2014/main" id="{EF7E59FA-544C-BCFE-D1A8-C7E36C4CE2C5}"/>
              </a:ext>
            </a:extLst>
          </p:cNvPr>
          <p:cNvPicPr>
            <a:picLocks noChangeAspect="1"/>
          </p:cNvPicPr>
          <p:nvPr/>
        </p:nvPicPr>
        <p:blipFill>
          <a:blip r:embed="rId10"/>
          <a:stretch>
            <a:fillRect/>
          </a:stretch>
        </p:blipFill>
        <p:spPr>
          <a:xfrm>
            <a:off x="4343234" y="2127591"/>
            <a:ext cx="1952790" cy="1465874"/>
          </a:xfrm>
          <a:prstGeom prst="rect">
            <a:avLst/>
          </a:prstGeom>
        </p:spPr>
      </p:pic>
      <p:sp>
        <p:nvSpPr>
          <p:cNvPr id="28" name="Rectangle 27">
            <a:extLst>
              <a:ext uri="{FF2B5EF4-FFF2-40B4-BE49-F238E27FC236}">
                <a16:creationId xmlns:a16="http://schemas.microsoft.com/office/drawing/2014/main" id="{FEBA1D79-F01D-CDA3-6A51-5805CCE46850}"/>
              </a:ext>
            </a:extLst>
          </p:cNvPr>
          <p:cNvSpPr/>
          <p:nvPr/>
        </p:nvSpPr>
        <p:spPr>
          <a:xfrm>
            <a:off x="4597101" y="2425085"/>
            <a:ext cx="752475" cy="506927"/>
          </a:xfrm>
          <a:prstGeom prst="rect">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29" name="Picture 28">
            <a:extLst>
              <a:ext uri="{FF2B5EF4-FFF2-40B4-BE49-F238E27FC236}">
                <a16:creationId xmlns:a16="http://schemas.microsoft.com/office/drawing/2014/main" id="{7DA0DFDE-1C3B-A5F5-3654-D76A09464B44}"/>
              </a:ext>
            </a:extLst>
          </p:cNvPr>
          <p:cNvPicPr>
            <a:picLocks noChangeAspect="1"/>
          </p:cNvPicPr>
          <p:nvPr/>
        </p:nvPicPr>
        <p:blipFill rotWithShape="1">
          <a:blip r:embed="rId10"/>
          <a:srcRect l="19166" t="20065" r="57632" b="42958"/>
          <a:stretch/>
        </p:blipFill>
        <p:spPr>
          <a:xfrm>
            <a:off x="5296693" y="761061"/>
            <a:ext cx="1128082" cy="1349551"/>
          </a:xfrm>
          <a:prstGeom prst="rect">
            <a:avLst/>
          </a:prstGeom>
          <a:noFill/>
          <a:ln w="57150" cap="sq">
            <a:solidFill>
              <a:srgbClr val="EC0B00"/>
            </a:solidFill>
            <a:miter lim="800000"/>
          </a:ln>
        </p:spPr>
      </p:pic>
      <p:cxnSp>
        <p:nvCxnSpPr>
          <p:cNvPr id="30" name="Straight Connector 29">
            <a:extLst>
              <a:ext uri="{FF2B5EF4-FFF2-40B4-BE49-F238E27FC236}">
                <a16:creationId xmlns:a16="http://schemas.microsoft.com/office/drawing/2014/main" id="{403D2D15-0936-85AD-098F-19F7AF4318F6}"/>
              </a:ext>
            </a:extLst>
          </p:cNvPr>
          <p:cNvCxnSpPr>
            <a:cxnSpLocks/>
            <a:endCxn id="29" idx="1"/>
          </p:cNvCxnSpPr>
          <p:nvPr/>
        </p:nvCxnSpPr>
        <p:spPr>
          <a:xfrm flipV="1">
            <a:off x="4963505" y="1435837"/>
            <a:ext cx="333188" cy="961142"/>
          </a:xfrm>
          <a:prstGeom prst="line">
            <a:avLst/>
          </a:prstGeom>
          <a:noFill/>
          <a:ln w="57150" cap="sq">
            <a:solidFill>
              <a:srgbClr val="EC0B00"/>
            </a:solidFill>
            <a:miter lim="800000"/>
          </a:ln>
        </p:spPr>
        <p:style>
          <a:lnRef idx="1">
            <a:schemeClr val="tx1"/>
          </a:lnRef>
          <a:fillRef idx="0">
            <a:schemeClr val="tx1"/>
          </a:fillRef>
          <a:effectRef idx="0">
            <a:srgbClr val="000000"/>
          </a:effectRef>
          <a:fontRef idx="minor">
            <a:schemeClr val="bg1"/>
          </a:fontRef>
        </p:style>
      </p:cxnSp>
      <p:sp>
        <p:nvSpPr>
          <p:cNvPr id="32" name="Oval 31">
            <a:extLst>
              <a:ext uri="{FF2B5EF4-FFF2-40B4-BE49-F238E27FC236}">
                <a16:creationId xmlns:a16="http://schemas.microsoft.com/office/drawing/2014/main" id="{6D5FF25F-96FA-D9AF-405C-00EFE6D5EF11}"/>
              </a:ext>
            </a:extLst>
          </p:cNvPr>
          <p:cNvSpPr/>
          <p:nvPr/>
        </p:nvSpPr>
        <p:spPr>
          <a:xfrm>
            <a:off x="5484496" y="777146"/>
            <a:ext cx="752475" cy="344082"/>
          </a:xfrm>
          <a:prstGeom prst="ellipse">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endParaRPr lang="en-US"/>
          </a:p>
        </p:txBody>
      </p:sp>
      <p:sp>
        <p:nvSpPr>
          <p:cNvPr id="33" name="Oval 32">
            <a:extLst>
              <a:ext uri="{FF2B5EF4-FFF2-40B4-BE49-F238E27FC236}">
                <a16:creationId xmlns:a16="http://schemas.microsoft.com/office/drawing/2014/main" id="{3BBC31B5-BAA0-0166-BAED-90D935DAA03F}"/>
              </a:ext>
            </a:extLst>
          </p:cNvPr>
          <p:cNvSpPr/>
          <p:nvPr/>
        </p:nvSpPr>
        <p:spPr>
          <a:xfrm>
            <a:off x="6095979" y="1591944"/>
            <a:ext cx="389377" cy="344082"/>
          </a:xfrm>
          <a:prstGeom prst="ellipse">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endParaRPr lang="en-US"/>
          </a:p>
        </p:txBody>
      </p:sp>
      <p:sp>
        <p:nvSpPr>
          <p:cNvPr id="34" name="Oval 33">
            <a:extLst>
              <a:ext uri="{FF2B5EF4-FFF2-40B4-BE49-F238E27FC236}">
                <a16:creationId xmlns:a16="http://schemas.microsoft.com/office/drawing/2014/main" id="{8BF4FE3B-80C4-3C32-D70E-3F21B74339F0}"/>
              </a:ext>
            </a:extLst>
          </p:cNvPr>
          <p:cNvSpPr/>
          <p:nvPr/>
        </p:nvSpPr>
        <p:spPr>
          <a:xfrm>
            <a:off x="5314428" y="1305496"/>
            <a:ext cx="389377" cy="344082"/>
          </a:xfrm>
          <a:prstGeom prst="ellipse">
            <a:avLst/>
          </a:prstGeom>
          <a:noFill/>
          <a:ln w="57150" cap="sq">
            <a:solidFill>
              <a:srgbClr val="EC0B00"/>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endParaRPr lang="en-US"/>
          </a:p>
        </p:txBody>
      </p:sp>
    </p:spTree>
    <p:extLst>
      <p:ext uri="{BB962C8B-B14F-4D97-AF65-F5344CB8AC3E}">
        <p14:creationId xmlns:p14="http://schemas.microsoft.com/office/powerpoint/2010/main" val="12804405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Local interconnections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5"/>
            </a:pPr>
            <a:r>
              <a:rPr lang="en-US" sz="1200" b="1" dirty="0">
                <a:solidFill>
                  <a:schemeClr val="bg2">
                    <a:lumMod val="75000"/>
                  </a:schemeClr>
                </a:solidFill>
              </a:rPr>
              <a:t>Gate oxide removal</a:t>
            </a:r>
          </a:p>
          <a:p>
            <a:pPr marL="228600" indent="-228600">
              <a:buFont typeface="+mj-lt"/>
              <a:buAutoNum type="arabicPeriod" startAt="45"/>
            </a:pPr>
            <a:r>
              <a:rPr lang="en-US" sz="1200" b="1" dirty="0">
                <a:solidFill>
                  <a:schemeClr val="bg2">
                    <a:lumMod val="75000"/>
                  </a:schemeClr>
                </a:solidFill>
              </a:rPr>
              <a:t>Ti deposition</a:t>
            </a:r>
          </a:p>
          <a:p>
            <a:pPr marL="228600" indent="-228600">
              <a:buFont typeface="+mj-lt"/>
              <a:buAutoNum type="arabicPeriod" startAt="45"/>
            </a:pPr>
            <a:r>
              <a:rPr lang="en-US" sz="1200" b="1" dirty="0">
                <a:solidFill>
                  <a:schemeClr val="bg2">
                    <a:lumMod val="75000"/>
                  </a:schemeClr>
                </a:solidFill>
              </a:rPr>
              <a:t>Ti RTP</a:t>
            </a:r>
          </a:p>
          <a:p>
            <a:pPr marL="228600" indent="-228600">
              <a:buFont typeface="+mj-lt"/>
              <a:buAutoNum type="arabicPeriod" startAt="45"/>
            </a:pPr>
            <a:r>
              <a:rPr lang="en-US" sz="1200" b="1" dirty="0"/>
              <a:t>Ti strip</a:t>
            </a:r>
          </a:p>
          <a:p>
            <a:pPr marL="228600" indent="-228600">
              <a:buFont typeface="+mj-lt"/>
              <a:buAutoNum type="arabicPeriod" startAt="45"/>
            </a:pPr>
            <a:r>
              <a:rPr lang="en-US" sz="1200" b="1" dirty="0">
                <a:solidFill>
                  <a:schemeClr val="bg2">
                    <a:lumMod val="75000"/>
                  </a:schemeClr>
                </a:solidFill>
              </a:rPr>
              <a:t>PMD nitride deposition</a:t>
            </a:r>
          </a:p>
          <a:p>
            <a:pPr marL="228600" indent="-228600">
              <a:buFont typeface="+mj-lt"/>
              <a:buAutoNum type="arabicPeriod" startAt="45"/>
            </a:pPr>
            <a:r>
              <a:rPr lang="en-US" sz="1200" b="1" dirty="0">
                <a:solidFill>
                  <a:schemeClr val="bg2">
                    <a:lumMod val="75000"/>
                  </a:schemeClr>
                </a:solidFill>
              </a:rPr>
              <a:t>PMD oxide deposition</a:t>
            </a:r>
          </a:p>
          <a:p>
            <a:pPr marL="228600" indent="-228600">
              <a:buFont typeface="+mj-lt"/>
              <a:buAutoNum type="arabicPeriod" startAt="45"/>
            </a:pPr>
            <a:r>
              <a:rPr lang="en-US" sz="1200" b="1" dirty="0">
                <a:solidFill>
                  <a:schemeClr val="bg2">
                    <a:lumMod val="75000"/>
                  </a:schemeClr>
                </a:solidFill>
              </a:rPr>
              <a:t>PMD oxide CMP</a:t>
            </a:r>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solidFill>
                <a:schemeClr val="bg2">
                  <a:lumMod val="75000"/>
                </a:schemeClr>
              </a:solidFill>
            </a:endParaRPr>
          </a:p>
          <a:p>
            <a:pPr marL="228600" indent="-228600">
              <a:buFont typeface="+mj-lt"/>
              <a:buAutoNum type="arabicPeriod" startAt="45"/>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450762" cy="138499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it-IT" sz="1200" dirty="0" err="1"/>
              <a:t>Unreacted</a:t>
            </a:r>
            <a:r>
              <a:rPr lang="it-IT" sz="1200" dirty="0"/>
              <a:t> Ti </a:t>
            </a:r>
            <a:r>
              <a:rPr lang="it-IT" sz="1200" dirty="0" err="1"/>
              <a:t>is</a:t>
            </a:r>
            <a:r>
              <a:rPr lang="it-IT" sz="1200" dirty="0"/>
              <a:t> </a:t>
            </a:r>
            <a:r>
              <a:rPr lang="it-IT" sz="1200" dirty="0" err="1"/>
              <a:t>removed</a:t>
            </a:r>
            <a:r>
              <a:rPr lang="it-IT" sz="1200" dirty="0"/>
              <a:t> by </a:t>
            </a:r>
            <a:r>
              <a:rPr lang="it-IT" sz="1200" dirty="0" err="1"/>
              <a:t>wet</a:t>
            </a:r>
            <a:r>
              <a:rPr lang="it-IT" sz="1200" dirty="0"/>
              <a:t> </a:t>
            </a:r>
            <a:r>
              <a:rPr lang="it-IT" sz="1200" dirty="0" err="1"/>
              <a:t>etching</a:t>
            </a:r>
            <a:r>
              <a:rPr lang="it-IT" sz="1200" dirty="0"/>
              <a:t> (</a:t>
            </a:r>
            <a:r>
              <a:rPr lang="en-GB" altLang="en-US" sz="1200" dirty="0"/>
              <a:t>NH</a:t>
            </a:r>
            <a:r>
              <a:rPr lang="en-GB" altLang="en-US" sz="1200" baseline="-25000" dirty="0"/>
              <a:t>4</a:t>
            </a:r>
            <a:r>
              <a:rPr lang="en-GB" altLang="en-US" sz="1200" dirty="0"/>
              <a:t>OH:H</a:t>
            </a:r>
            <a:r>
              <a:rPr lang="en-GB" altLang="en-US" sz="1200" baseline="-25000" dirty="0"/>
              <a:t>2</a:t>
            </a:r>
            <a:r>
              <a:rPr lang="en-GB" altLang="en-US" sz="1200" dirty="0"/>
              <a:t>O</a:t>
            </a:r>
            <a:r>
              <a:rPr lang="en-GB" altLang="en-US" sz="1200" baseline="-25000" dirty="0"/>
              <a:t>2</a:t>
            </a:r>
            <a:r>
              <a:rPr lang="en-GB" altLang="en-US" sz="1200" dirty="0"/>
              <a:t>:H</a:t>
            </a:r>
            <a:r>
              <a:rPr lang="en-GB" altLang="en-US" sz="1200" baseline="-25000" dirty="0"/>
              <a:t>2</a:t>
            </a:r>
            <a:r>
              <a:rPr lang="en-GB" altLang="en-US" sz="1200" dirty="0"/>
              <a:t>O)</a:t>
            </a:r>
          </a:p>
          <a:p>
            <a:pPr marL="285750" indent="-285750">
              <a:buFont typeface="Arial" panose="020B0604020202020204" pitchFamily="34" charset="0"/>
              <a:buChar char="•"/>
            </a:pPr>
            <a:r>
              <a:rPr lang="en-GB" altLang="en-US" sz="1200" dirty="0"/>
              <a:t>The chemistry is selective to TiSi2</a:t>
            </a:r>
          </a:p>
          <a:p>
            <a:pPr marL="285750" indent="-285750">
              <a:buFont typeface="Arial" panose="020B0604020202020204" pitchFamily="34" charset="0"/>
              <a:buChar char="•"/>
            </a:pPr>
            <a:r>
              <a:rPr lang="en-GB" altLang="en-US" sz="1200" dirty="0"/>
              <a:t>Titanium silicide is left on active areas and gates </a:t>
            </a:r>
            <a:r>
              <a:rPr lang="en-GB" altLang="en-US" sz="1200" dirty="0">
                <a:sym typeface="Wingdings" panose="05000000000000000000" pitchFamily="2" charset="2"/>
              </a:rPr>
              <a:t> </a:t>
            </a:r>
            <a:r>
              <a:rPr lang="en-GB" altLang="en-US" sz="1200" b="1" dirty="0">
                <a:sym typeface="Wingdings" panose="05000000000000000000" pitchFamily="2" charset="2"/>
              </a:rPr>
              <a:t>self aligned process (aka </a:t>
            </a:r>
            <a:r>
              <a:rPr lang="en-GB" altLang="en-US" sz="1200" b="1" dirty="0" err="1">
                <a:sym typeface="Wingdings" panose="05000000000000000000" pitchFamily="2" charset="2"/>
              </a:rPr>
              <a:t>salicide</a:t>
            </a:r>
            <a:r>
              <a:rPr lang="en-GB" altLang="en-US" sz="1200" b="1" dirty="0">
                <a:sym typeface="Wingdings" panose="05000000000000000000" pitchFamily="2" charset="2"/>
              </a:rPr>
              <a:t>)</a:t>
            </a:r>
            <a:endParaRPr lang="en-GB" altLang="en-US" sz="1200" b="1" dirty="0"/>
          </a:p>
          <a:p>
            <a:pPr marL="285750" indent="-285750">
              <a:buFont typeface="Arial" panose="020B0604020202020204" pitchFamily="34" charset="0"/>
              <a:buChar char="•"/>
            </a:pPr>
            <a:endParaRPr lang="it-IT" sz="1200" dirty="0"/>
          </a:p>
          <a:p>
            <a:pPr marL="285750" indent="-285750">
              <a:buFont typeface="Arial" panose="020B0604020202020204" pitchFamily="34" charset="0"/>
              <a:buChar char="•"/>
            </a:pP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27" name="Picture 26">
            <a:extLst>
              <a:ext uri="{FF2B5EF4-FFF2-40B4-BE49-F238E27FC236}">
                <a16:creationId xmlns:a16="http://schemas.microsoft.com/office/drawing/2014/main" id="{E839C7DC-61B8-AB57-B74F-790F0F5215FA}"/>
              </a:ext>
            </a:extLst>
          </p:cNvPr>
          <p:cNvPicPr>
            <a:picLocks noChangeAspect="1"/>
          </p:cNvPicPr>
          <p:nvPr/>
        </p:nvPicPr>
        <p:blipFill>
          <a:blip r:embed="rId6"/>
          <a:stretch>
            <a:fillRect/>
          </a:stretch>
        </p:blipFill>
        <p:spPr>
          <a:xfrm>
            <a:off x="4650473" y="4710152"/>
            <a:ext cx="1445506" cy="1386787"/>
          </a:xfrm>
          <a:prstGeom prst="rect">
            <a:avLst/>
          </a:prstGeom>
        </p:spPr>
      </p:pic>
      <p:pic>
        <p:nvPicPr>
          <p:cNvPr id="36" name="Picture 35">
            <a:extLst>
              <a:ext uri="{FF2B5EF4-FFF2-40B4-BE49-F238E27FC236}">
                <a16:creationId xmlns:a16="http://schemas.microsoft.com/office/drawing/2014/main" id="{CAEB520F-828F-55F8-84FE-F79A80EABDEC}"/>
              </a:ext>
            </a:extLst>
          </p:cNvPr>
          <p:cNvPicPr>
            <a:picLocks noChangeAspect="1"/>
          </p:cNvPicPr>
          <p:nvPr/>
        </p:nvPicPr>
        <p:blipFill>
          <a:blip r:embed="rId7"/>
          <a:stretch>
            <a:fillRect/>
          </a:stretch>
        </p:blipFill>
        <p:spPr>
          <a:xfrm>
            <a:off x="349388" y="3199085"/>
            <a:ext cx="3409246" cy="2473966"/>
          </a:xfrm>
          <a:prstGeom prst="rect">
            <a:avLst/>
          </a:prstGeom>
        </p:spPr>
      </p:pic>
      <p:pic>
        <p:nvPicPr>
          <p:cNvPr id="38" name="Picture 37">
            <a:extLst>
              <a:ext uri="{FF2B5EF4-FFF2-40B4-BE49-F238E27FC236}">
                <a16:creationId xmlns:a16="http://schemas.microsoft.com/office/drawing/2014/main" id="{A2F23DC0-AD8A-2631-DDA8-0F2071165FD8}"/>
              </a:ext>
            </a:extLst>
          </p:cNvPr>
          <p:cNvPicPr>
            <a:picLocks noChangeAspect="1"/>
          </p:cNvPicPr>
          <p:nvPr/>
        </p:nvPicPr>
        <p:blipFill rotWithShape="1">
          <a:blip r:embed="rId8"/>
          <a:srcRect r="4507"/>
          <a:stretch/>
        </p:blipFill>
        <p:spPr>
          <a:xfrm>
            <a:off x="4319084" y="2041662"/>
            <a:ext cx="1998661" cy="1557276"/>
          </a:xfrm>
          <a:prstGeom prst="rect">
            <a:avLst/>
          </a:prstGeom>
        </p:spPr>
      </p:pic>
      <p:pic>
        <p:nvPicPr>
          <p:cNvPr id="40" name="Picture 39">
            <a:extLst>
              <a:ext uri="{FF2B5EF4-FFF2-40B4-BE49-F238E27FC236}">
                <a16:creationId xmlns:a16="http://schemas.microsoft.com/office/drawing/2014/main" id="{521E752F-92D6-0F51-E149-5ADC11332717}"/>
              </a:ext>
            </a:extLst>
          </p:cNvPr>
          <p:cNvPicPr>
            <a:picLocks noChangeAspect="1"/>
          </p:cNvPicPr>
          <p:nvPr/>
        </p:nvPicPr>
        <p:blipFill rotWithShape="1">
          <a:blip r:embed="rId9"/>
          <a:srcRect r="9892"/>
          <a:stretch/>
        </p:blipFill>
        <p:spPr>
          <a:xfrm>
            <a:off x="4530068" y="4581199"/>
            <a:ext cx="1632607" cy="1628162"/>
          </a:xfrm>
          <a:prstGeom prst="rect">
            <a:avLst/>
          </a:prstGeom>
        </p:spPr>
      </p:pic>
    </p:spTree>
    <p:extLst>
      <p:ext uri="{BB962C8B-B14F-4D97-AF65-F5344CB8AC3E}">
        <p14:creationId xmlns:p14="http://schemas.microsoft.com/office/powerpoint/2010/main" val="1031474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5"/>
            </a:pPr>
            <a:r>
              <a:rPr lang="en-US" sz="1200" b="1" dirty="0">
                <a:solidFill>
                  <a:schemeClr val="bg2">
                    <a:lumMod val="75000"/>
                  </a:schemeClr>
                </a:solidFill>
              </a:rPr>
              <a:t>Gate oxide removal</a:t>
            </a:r>
          </a:p>
          <a:p>
            <a:pPr marL="228600" indent="-228600">
              <a:buFont typeface="+mj-lt"/>
              <a:buAutoNum type="arabicPeriod" startAt="45"/>
            </a:pPr>
            <a:r>
              <a:rPr lang="en-US" sz="1200" b="1" dirty="0">
                <a:solidFill>
                  <a:schemeClr val="bg2">
                    <a:lumMod val="75000"/>
                  </a:schemeClr>
                </a:solidFill>
              </a:rPr>
              <a:t>Ti deposition</a:t>
            </a:r>
          </a:p>
          <a:p>
            <a:pPr marL="228600" indent="-228600">
              <a:buFont typeface="+mj-lt"/>
              <a:buAutoNum type="arabicPeriod" startAt="45"/>
            </a:pPr>
            <a:r>
              <a:rPr lang="en-US" sz="1200" b="1" dirty="0">
                <a:solidFill>
                  <a:schemeClr val="bg2">
                    <a:lumMod val="75000"/>
                  </a:schemeClr>
                </a:solidFill>
              </a:rPr>
              <a:t>Ti RTP</a:t>
            </a:r>
          </a:p>
          <a:p>
            <a:pPr marL="228600" indent="-228600">
              <a:buFont typeface="+mj-lt"/>
              <a:buAutoNum type="arabicPeriod" startAt="45"/>
            </a:pPr>
            <a:r>
              <a:rPr lang="en-US" sz="1200" b="1" dirty="0">
                <a:solidFill>
                  <a:schemeClr val="bg2">
                    <a:lumMod val="75000"/>
                  </a:schemeClr>
                </a:solidFill>
              </a:rPr>
              <a:t>Ti strip</a:t>
            </a:r>
          </a:p>
          <a:p>
            <a:pPr marL="228600" indent="-228600">
              <a:buFont typeface="+mj-lt"/>
              <a:buAutoNum type="arabicPeriod" startAt="45"/>
            </a:pPr>
            <a:r>
              <a:rPr lang="en-US" sz="1200" b="1" dirty="0"/>
              <a:t>PMD nitride deposition</a:t>
            </a:r>
          </a:p>
          <a:p>
            <a:pPr marL="228600" indent="-228600">
              <a:buFont typeface="+mj-lt"/>
              <a:buAutoNum type="arabicPeriod" startAt="45"/>
            </a:pPr>
            <a:r>
              <a:rPr lang="en-US" sz="1200" b="1" dirty="0">
                <a:solidFill>
                  <a:schemeClr val="bg2">
                    <a:lumMod val="75000"/>
                  </a:schemeClr>
                </a:solidFill>
              </a:rPr>
              <a:t>PMD oxide deposition</a:t>
            </a:r>
          </a:p>
          <a:p>
            <a:pPr marL="228600" indent="-228600">
              <a:buFont typeface="+mj-lt"/>
              <a:buAutoNum type="arabicPeriod" startAt="45"/>
            </a:pPr>
            <a:r>
              <a:rPr lang="en-US" sz="1200" b="1" dirty="0">
                <a:solidFill>
                  <a:schemeClr val="bg2">
                    <a:lumMod val="75000"/>
                  </a:schemeClr>
                </a:solidFill>
              </a:rPr>
              <a:t>PMD oxide CMP</a:t>
            </a:r>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p>
          <a:p>
            <a:pPr marL="228600" indent="-228600">
              <a:buFont typeface="+mj-lt"/>
              <a:buAutoNum type="arabicPeriod" startAt="45"/>
            </a:pPr>
            <a:endParaRPr lang="en-US" sz="1200" b="1" dirty="0">
              <a:solidFill>
                <a:schemeClr val="bg2">
                  <a:lumMod val="75000"/>
                </a:schemeClr>
              </a:solidFill>
            </a:endParaRPr>
          </a:p>
          <a:p>
            <a:pPr marL="228600" indent="-228600">
              <a:buFont typeface="+mj-lt"/>
              <a:buAutoNum type="arabicPeriod" startAt="45"/>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450762" cy="830997"/>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t>A conformal silicon nitride is deposited (CVD)</a:t>
            </a:r>
          </a:p>
          <a:p>
            <a:pPr marL="285750" indent="-285750">
              <a:buFont typeface="Arial" panose="020B0604020202020204" pitchFamily="34" charset="0"/>
              <a:buChar char="•"/>
            </a:pPr>
            <a:r>
              <a:rPr lang="en-US" sz="1200" dirty="0"/>
              <a:t>Will act as a stopping layer for contact etch</a:t>
            </a:r>
            <a:endParaRPr lang="it-IT" sz="1200" dirty="0"/>
          </a:p>
          <a:p>
            <a:pPr marL="285750" indent="-285750">
              <a:buFont typeface="Arial" panose="020B0604020202020204" pitchFamily="34" charset="0"/>
              <a:buChar char="•"/>
            </a:pP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36" name="Picture 35">
            <a:extLst>
              <a:ext uri="{FF2B5EF4-FFF2-40B4-BE49-F238E27FC236}">
                <a16:creationId xmlns:a16="http://schemas.microsoft.com/office/drawing/2014/main" id="{CAEB520F-828F-55F8-84FE-F79A80EABDEC}"/>
              </a:ext>
            </a:extLst>
          </p:cNvPr>
          <p:cNvPicPr>
            <a:picLocks noChangeAspect="1"/>
          </p:cNvPicPr>
          <p:nvPr/>
        </p:nvPicPr>
        <p:blipFill>
          <a:blip r:embed="rId6"/>
          <a:stretch>
            <a:fillRect/>
          </a:stretch>
        </p:blipFill>
        <p:spPr>
          <a:xfrm>
            <a:off x="349388" y="3199085"/>
            <a:ext cx="3409246" cy="2473966"/>
          </a:xfrm>
          <a:prstGeom prst="rect">
            <a:avLst/>
          </a:prstGeom>
        </p:spPr>
      </p:pic>
      <p:pic>
        <p:nvPicPr>
          <p:cNvPr id="18" name="Picture 17">
            <a:extLst>
              <a:ext uri="{FF2B5EF4-FFF2-40B4-BE49-F238E27FC236}">
                <a16:creationId xmlns:a16="http://schemas.microsoft.com/office/drawing/2014/main" id="{33C4B0E2-42FD-D64E-36E5-7EEBAB20FDFC}"/>
              </a:ext>
            </a:extLst>
          </p:cNvPr>
          <p:cNvPicPr>
            <a:picLocks noChangeAspect="1"/>
          </p:cNvPicPr>
          <p:nvPr/>
        </p:nvPicPr>
        <p:blipFill>
          <a:blip r:embed="rId7"/>
          <a:stretch>
            <a:fillRect/>
          </a:stretch>
        </p:blipFill>
        <p:spPr>
          <a:xfrm>
            <a:off x="349388" y="3211179"/>
            <a:ext cx="3498712" cy="2347481"/>
          </a:xfrm>
          <a:prstGeom prst="rect">
            <a:avLst/>
          </a:prstGeom>
        </p:spPr>
      </p:pic>
    </p:spTree>
    <p:extLst>
      <p:ext uri="{BB962C8B-B14F-4D97-AF65-F5344CB8AC3E}">
        <p14:creationId xmlns:p14="http://schemas.microsoft.com/office/powerpoint/2010/main" val="9332711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8"/>
            </a:pPr>
            <a:r>
              <a:rPr lang="en-US" sz="1200" b="1" dirty="0">
                <a:solidFill>
                  <a:schemeClr val="bg2">
                    <a:lumMod val="75000"/>
                  </a:schemeClr>
                </a:solidFill>
              </a:rPr>
              <a:t>Ti strip</a:t>
            </a:r>
          </a:p>
          <a:p>
            <a:pPr marL="228600" indent="-228600">
              <a:buFont typeface="+mj-lt"/>
              <a:buAutoNum type="arabicPeriod" startAt="48"/>
            </a:pPr>
            <a:r>
              <a:rPr lang="en-US" sz="1200" b="1" dirty="0">
                <a:solidFill>
                  <a:schemeClr val="bg2">
                    <a:lumMod val="75000"/>
                  </a:schemeClr>
                </a:solidFill>
              </a:rPr>
              <a:t>PMD nitride deposition</a:t>
            </a:r>
          </a:p>
          <a:p>
            <a:pPr marL="228600" indent="-228600">
              <a:buFont typeface="+mj-lt"/>
              <a:buAutoNum type="arabicPeriod" startAt="48"/>
            </a:pPr>
            <a:r>
              <a:rPr lang="en-US" sz="1200" b="1" dirty="0"/>
              <a:t>PMD oxide deposition</a:t>
            </a:r>
          </a:p>
          <a:p>
            <a:pPr marL="228600" indent="-228600">
              <a:buFont typeface="+mj-lt"/>
              <a:buAutoNum type="arabicPeriod" startAt="48"/>
            </a:pPr>
            <a:r>
              <a:rPr lang="en-US" sz="1200" b="1" dirty="0"/>
              <a:t>PMD oxide CMP</a:t>
            </a:r>
          </a:p>
          <a:p>
            <a:pPr marL="228600" indent="-228600">
              <a:buFont typeface="+mj-lt"/>
              <a:buAutoNum type="arabicPeriod" startAt="48"/>
            </a:pPr>
            <a:r>
              <a:rPr lang="en-US" sz="1200" b="1" dirty="0">
                <a:solidFill>
                  <a:schemeClr val="bg2">
                    <a:lumMod val="75000"/>
                  </a:schemeClr>
                </a:solidFill>
              </a:rPr>
              <a:t>Photo-resist spinning</a:t>
            </a:r>
          </a:p>
          <a:p>
            <a:pPr marL="228600" indent="-228600">
              <a:buFont typeface="+mj-lt"/>
              <a:buAutoNum type="arabicPeriod" startAt="48"/>
            </a:pPr>
            <a:r>
              <a:rPr lang="en-US" sz="1200" b="1" dirty="0">
                <a:solidFill>
                  <a:schemeClr val="bg2">
                    <a:lumMod val="75000"/>
                  </a:schemeClr>
                </a:solidFill>
              </a:rPr>
              <a:t>Mask 9 exposure (contact)</a:t>
            </a:r>
          </a:p>
          <a:p>
            <a:pPr marL="228600" indent="-228600">
              <a:buFont typeface="+mj-lt"/>
              <a:buAutoNum type="arabicPeriod" startAt="48"/>
            </a:pPr>
            <a:r>
              <a:rPr lang="en-US" sz="1200" b="1" dirty="0">
                <a:solidFill>
                  <a:schemeClr val="bg2">
                    <a:lumMod val="75000"/>
                  </a:schemeClr>
                </a:solidFill>
              </a:rPr>
              <a:t>Contact dry etching</a:t>
            </a:r>
          </a:p>
          <a:p>
            <a:pPr marL="228600" indent="-228600">
              <a:buFont typeface="+mj-lt"/>
              <a:buAutoNum type="arabicPeriod" startAt="48"/>
            </a:pPr>
            <a:endParaRPr lang="en-US" sz="1200" b="1" dirty="0"/>
          </a:p>
          <a:p>
            <a:pPr marL="228600" indent="-228600">
              <a:buFont typeface="+mj-lt"/>
              <a:buAutoNum type="arabicPeriod" startAt="48"/>
            </a:pPr>
            <a:endParaRPr lang="en-US" sz="1200" b="1" dirty="0"/>
          </a:p>
          <a:p>
            <a:pPr marL="228600" indent="-228600">
              <a:buFont typeface="+mj-lt"/>
              <a:buAutoNum type="arabicPeriod" startAt="48"/>
            </a:pPr>
            <a:endParaRPr lang="en-US" sz="1200" b="1" dirty="0"/>
          </a:p>
          <a:p>
            <a:pPr marL="228600" indent="-228600">
              <a:buFont typeface="+mj-lt"/>
              <a:buAutoNum type="arabicPeriod" startAt="48"/>
            </a:pPr>
            <a:endParaRPr lang="en-US" sz="1200" b="1" dirty="0">
              <a:solidFill>
                <a:schemeClr val="bg2">
                  <a:lumMod val="75000"/>
                </a:schemeClr>
              </a:solidFill>
            </a:endParaRPr>
          </a:p>
          <a:p>
            <a:pPr marL="228600" indent="-228600">
              <a:buFont typeface="+mj-lt"/>
              <a:buAutoNum type="arabicPeriod" startAt="48"/>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8</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450762" cy="830997"/>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t>Pre metal dielectric (PMD) is deposited (PE-CVD SiO2) and planarized by CMP.</a:t>
            </a:r>
            <a:endParaRPr lang="it-IT" sz="1200" dirty="0"/>
          </a:p>
          <a:p>
            <a:pPr marL="285750" indent="-285750">
              <a:buFont typeface="Arial" panose="020B0604020202020204" pitchFamily="34" charset="0"/>
              <a:buChar char="•"/>
            </a:pPr>
            <a:endParaRPr lang="it-IT" sz="1200" dirty="0"/>
          </a:p>
          <a:p>
            <a:pPr marL="285750" indent="-285750">
              <a:spcBef>
                <a:spcPct val="50000"/>
              </a:spcBef>
              <a:buFont typeface="Times" panose="02020603050405020304" pitchFamily="18" charset="0"/>
              <a:buChar char="•"/>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spTree>
    <p:extLst>
      <p:ext uri="{BB962C8B-B14F-4D97-AF65-F5344CB8AC3E}">
        <p14:creationId xmlns:p14="http://schemas.microsoft.com/office/powerpoint/2010/main" val="2275373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48"/>
            </a:pPr>
            <a:r>
              <a:rPr lang="en-US" sz="1200" b="1" dirty="0">
                <a:solidFill>
                  <a:schemeClr val="bg2">
                    <a:lumMod val="75000"/>
                  </a:schemeClr>
                </a:solidFill>
              </a:rPr>
              <a:t>Ti strip</a:t>
            </a:r>
          </a:p>
          <a:p>
            <a:pPr marL="228600" indent="-228600">
              <a:buFont typeface="+mj-lt"/>
              <a:buAutoNum type="arabicPeriod" startAt="48"/>
            </a:pPr>
            <a:r>
              <a:rPr lang="en-US" sz="1200" b="1" dirty="0">
                <a:solidFill>
                  <a:schemeClr val="bg2">
                    <a:lumMod val="75000"/>
                  </a:schemeClr>
                </a:solidFill>
              </a:rPr>
              <a:t>PMD nitride deposition</a:t>
            </a:r>
          </a:p>
          <a:p>
            <a:pPr marL="228600" indent="-228600">
              <a:buFont typeface="+mj-lt"/>
              <a:buAutoNum type="arabicPeriod" startAt="48"/>
            </a:pPr>
            <a:r>
              <a:rPr lang="en-US" sz="1200" b="1" dirty="0">
                <a:solidFill>
                  <a:schemeClr val="bg2">
                    <a:lumMod val="75000"/>
                  </a:schemeClr>
                </a:solidFill>
              </a:rPr>
              <a:t>PMD oxide deposition</a:t>
            </a:r>
          </a:p>
          <a:p>
            <a:pPr marL="228600" indent="-228600">
              <a:buFont typeface="+mj-lt"/>
              <a:buAutoNum type="arabicPeriod" startAt="48"/>
            </a:pPr>
            <a:r>
              <a:rPr lang="en-US" sz="1200" b="1" dirty="0">
                <a:solidFill>
                  <a:schemeClr val="bg2">
                    <a:lumMod val="75000"/>
                  </a:schemeClr>
                </a:solidFill>
              </a:rPr>
              <a:t>PMD oxide CMP</a:t>
            </a:r>
          </a:p>
          <a:p>
            <a:pPr marL="228600" indent="-228600">
              <a:buFont typeface="+mj-lt"/>
              <a:buAutoNum type="arabicPeriod" startAt="48"/>
            </a:pPr>
            <a:r>
              <a:rPr lang="en-US" sz="1200" b="1" dirty="0"/>
              <a:t>Photo-resist spinning</a:t>
            </a:r>
          </a:p>
          <a:p>
            <a:pPr marL="228600" indent="-228600">
              <a:buFont typeface="+mj-lt"/>
              <a:buAutoNum type="arabicPeriod" startAt="48"/>
            </a:pPr>
            <a:r>
              <a:rPr lang="en-US" sz="1200" b="1" dirty="0"/>
              <a:t>Mask 9 exposure (contact)</a:t>
            </a:r>
          </a:p>
          <a:p>
            <a:pPr marL="228600" indent="-228600">
              <a:buFont typeface="+mj-lt"/>
              <a:buAutoNum type="arabicPeriod" startAt="48"/>
            </a:pPr>
            <a:r>
              <a:rPr lang="en-US" sz="1200" b="1" dirty="0">
                <a:solidFill>
                  <a:schemeClr val="bg2">
                    <a:lumMod val="75000"/>
                  </a:schemeClr>
                </a:solidFill>
              </a:rPr>
              <a:t>Contact dry etching</a:t>
            </a:r>
          </a:p>
          <a:p>
            <a:pPr marL="228600" indent="-228600">
              <a:buFont typeface="+mj-lt"/>
              <a:buAutoNum type="arabicPeriod" startAt="48"/>
            </a:pPr>
            <a:endParaRPr lang="en-US" sz="1200" b="1" dirty="0"/>
          </a:p>
          <a:p>
            <a:pPr marL="228600" indent="-228600">
              <a:buFont typeface="+mj-lt"/>
              <a:buAutoNum type="arabicPeriod" startAt="48"/>
            </a:pPr>
            <a:endParaRPr lang="en-US" sz="1200" b="1" dirty="0"/>
          </a:p>
          <a:p>
            <a:pPr marL="228600" indent="-228600">
              <a:buFont typeface="+mj-lt"/>
              <a:buAutoNum type="arabicPeriod" startAt="48"/>
            </a:pPr>
            <a:endParaRPr lang="en-US" sz="1200" b="1" dirty="0"/>
          </a:p>
          <a:p>
            <a:pPr marL="228600" indent="-228600">
              <a:buFont typeface="+mj-lt"/>
              <a:buAutoNum type="arabicPeriod" startAt="48"/>
            </a:pPr>
            <a:endParaRPr lang="en-US" sz="1200" b="1" dirty="0">
              <a:solidFill>
                <a:schemeClr val="bg2">
                  <a:lumMod val="75000"/>
                </a:schemeClr>
              </a:solidFill>
            </a:endParaRPr>
          </a:p>
          <a:p>
            <a:pPr marL="228600" indent="-228600">
              <a:buFont typeface="+mj-lt"/>
              <a:buAutoNum type="arabicPeriod" startAt="48"/>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341439" y="4004860"/>
            <a:ext cx="4450762" cy="369332"/>
          </a:xfrm>
          <a:prstGeom prst="rect">
            <a:avLst/>
          </a:prstGeom>
          <a:noFill/>
        </p:spPr>
        <p:txBody>
          <a:bodyPr wrap="square" lIns="0" tIns="0" rIns="0" bIns="0" rtlCol="0">
            <a:spAutoFit/>
          </a:bodyPr>
          <a:lstStyle/>
          <a:p>
            <a:pPr marL="285750" indent="-285750">
              <a:spcBef>
                <a:spcPct val="50000"/>
              </a:spcBef>
              <a:buFont typeface="Times" panose="02020603050405020304" pitchFamily="18" charset="0"/>
              <a:buChar char="•"/>
            </a:pPr>
            <a:r>
              <a:rPr lang="en-US" altLang="en-US" sz="1200" dirty="0"/>
              <a:t>Resist is removed where contacts to gate and active areas will be patterned</a:t>
            </a:r>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0" name="Picture 9">
            <a:extLst>
              <a:ext uri="{FF2B5EF4-FFF2-40B4-BE49-F238E27FC236}">
                <a16:creationId xmlns:a16="http://schemas.microsoft.com/office/drawing/2014/main" id="{FA0891D8-9570-7071-BD46-8F7977A3C69F}"/>
              </a:ext>
            </a:extLst>
          </p:cNvPr>
          <p:cNvPicPr>
            <a:picLocks noChangeAspect="1"/>
          </p:cNvPicPr>
          <p:nvPr/>
        </p:nvPicPr>
        <p:blipFill>
          <a:blip r:embed="rId7"/>
          <a:stretch>
            <a:fillRect/>
          </a:stretch>
        </p:blipFill>
        <p:spPr>
          <a:xfrm>
            <a:off x="386289" y="2367573"/>
            <a:ext cx="3501549" cy="3445889"/>
          </a:xfrm>
          <a:prstGeom prst="rect">
            <a:avLst/>
          </a:prstGeom>
        </p:spPr>
      </p:pic>
      <p:pic>
        <p:nvPicPr>
          <p:cNvPr id="13" name="Content Placeholder 9">
            <a:extLst>
              <a:ext uri="{FF2B5EF4-FFF2-40B4-BE49-F238E27FC236}">
                <a16:creationId xmlns:a16="http://schemas.microsoft.com/office/drawing/2014/main" id="{450D0969-FEDE-2014-D5F1-D599B49C99B0}"/>
              </a:ext>
            </a:extLst>
          </p:cNvPr>
          <p:cNvPicPr>
            <a:picLocks noChangeAspect="1"/>
          </p:cNvPicPr>
          <p:nvPr/>
        </p:nvPicPr>
        <p:blipFill rotWithShape="1">
          <a:blip r:embed="rId8"/>
          <a:srcRect l="37217" t="19012" r="26665" b="12488"/>
          <a:stretch/>
        </p:blipFill>
        <p:spPr>
          <a:xfrm>
            <a:off x="6345011" y="4881789"/>
            <a:ext cx="1308535" cy="1861254"/>
          </a:xfrm>
          <a:prstGeom prst="rect">
            <a:avLst/>
          </a:prstGeom>
        </p:spPr>
      </p:pic>
      <p:sp>
        <p:nvSpPr>
          <p:cNvPr id="15" name="Rectangle 14">
            <a:extLst>
              <a:ext uri="{FF2B5EF4-FFF2-40B4-BE49-F238E27FC236}">
                <a16:creationId xmlns:a16="http://schemas.microsoft.com/office/drawing/2014/main" id="{AB9DB056-7526-F68B-AAB9-314675960507}"/>
              </a:ext>
            </a:extLst>
          </p:cNvPr>
          <p:cNvSpPr/>
          <p:nvPr/>
        </p:nvSpPr>
        <p:spPr>
          <a:xfrm>
            <a:off x="6874669" y="5455444"/>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9" name="Rectangle 18">
            <a:extLst>
              <a:ext uri="{FF2B5EF4-FFF2-40B4-BE49-F238E27FC236}">
                <a16:creationId xmlns:a16="http://schemas.microsoft.com/office/drawing/2014/main" id="{5EA45C2D-24BD-BC0E-766A-2DED15AEE10D}"/>
              </a:ext>
            </a:extLst>
          </p:cNvPr>
          <p:cNvSpPr/>
          <p:nvPr/>
        </p:nvSpPr>
        <p:spPr>
          <a:xfrm>
            <a:off x="7239000" y="5455444"/>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0" name="Rectangle 19">
            <a:extLst>
              <a:ext uri="{FF2B5EF4-FFF2-40B4-BE49-F238E27FC236}">
                <a16:creationId xmlns:a16="http://schemas.microsoft.com/office/drawing/2014/main" id="{1534B876-A60F-D415-7846-EF2D3FF4EC6F}"/>
              </a:ext>
            </a:extLst>
          </p:cNvPr>
          <p:cNvSpPr/>
          <p:nvPr/>
        </p:nvSpPr>
        <p:spPr>
          <a:xfrm>
            <a:off x="6596849" y="5455444"/>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1" name="Rectangle 20">
            <a:extLst>
              <a:ext uri="{FF2B5EF4-FFF2-40B4-BE49-F238E27FC236}">
                <a16:creationId xmlns:a16="http://schemas.microsoft.com/office/drawing/2014/main" id="{8E13E9D8-11D8-7AAA-CD73-F05724421689}"/>
              </a:ext>
            </a:extLst>
          </p:cNvPr>
          <p:cNvSpPr/>
          <p:nvPr/>
        </p:nvSpPr>
        <p:spPr>
          <a:xfrm>
            <a:off x="6930222" y="5838630"/>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2" name="Rectangle 21">
            <a:extLst>
              <a:ext uri="{FF2B5EF4-FFF2-40B4-BE49-F238E27FC236}">
                <a16:creationId xmlns:a16="http://schemas.microsoft.com/office/drawing/2014/main" id="{1DF416FA-541E-F606-FD8C-909FEC8A840A}"/>
              </a:ext>
            </a:extLst>
          </p:cNvPr>
          <p:cNvSpPr/>
          <p:nvPr/>
        </p:nvSpPr>
        <p:spPr>
          <a:xfrm>
            <a:off x="6892122" y="6229946"/>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3" name="Rectangle 22">
            <a:extLst>
              <a:ext uri="{FF2B5EF4-FFF2-40B4-BE49-F238E27FC236}">
                <a16:creationId xmlns:a16="http://schemas.microsoft.com/office/drawing/2014/main" id="{DCBCE282-ED05-7316-E160-95C5EFD13071}"/>
              </a:ext>
            </a:extLst>
          </p:cNvPr>
          <p:cNvSpPr/>
          <p:nvPr/>
        </p:nvSpPr>
        <p:spPr>
          <a:xfrm>
            <a:off x="7044522" y="6382346"/>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5" name="Rectangle 24">
            <a:extLst>
              <a:ext uri="{FF2B5EF4-FFF2-40B4-BE49-F238E27FC236}">
                <a16:creationId xmlns:a16="http://schemas.microsoft.com/office/drawing/2014/main" id="{482DC2F8-6F32-F9D2-E3A7-8264B87DDE71}"/>
              </a:ext>
            </a:extLst>
          </p:cNvPr>
          <p:cNvSpPr/>
          <p:nvPr/>
        </p:nvSpPr>
        <p:spPr>
          <a:xfrm>
            <a:off x="6596849" y="6231137"/>
            <a:ext cx="138112" cy="12144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482405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2"/>
            </a:pPr>
            <a:r>
              <a:rPr lang="en-US" sz="1200" b="1" dirty="0">
                <a:solidFill>
                  <a:schemeClr val="bg2">
                    <a:lumMod val="75000"/>
                  </a:schemeClr>
                </a:solidFill>
              </a:rPr>
              <a:t>Photo-resist spinning</a:t>
            </a:r>
          </a:p>
          <a:p>
            <a:pPr marL="228600" indent="-228600">
              <a:buFont typeface="+mj-lt"/>
              <a:buAutoNum type="arabicPeriod" startAt="52"/>
            </a:pPr>
            <a:r>
              <a:rPr lang="en-US" sz="1200" b="1" dirty="0">
                <a:solidFill>
                  <a:schemeClr val="bg2">
                    <a:lumMod val="75000"/>
                  </a:schemeClr>
                </a:solidFill>
              </a:rPr>
              <a:t>Mask 9 exposure (contact)</a:t>
            </a:r>
          </a:p>
          <a:p>
            <a:pPr marL="228600" indent="-228600">
              <a:buFont typeface="+mj-lt"/>
              <a:buAutoNum type="arabicPeriod" startAt="52"/>
            </a:pPr>
            <a:r>
              <a:rPr lang="en-US" sz="1200" b="1" dirty="0"/>
              <a:t>Contact dry etching</a:t>
            </a:r>
          </a:p>
          <a:p>
            <a:pPr marL="228600" indent="-228600">
              <a:buFont typeface="+mj-lt"/>
              <a:buAutoNum type="arabicPeriod" startAt="52"/>
            </a:pPr>
            <a:r>
              <a:rPr lang="en-US" sz="1200" b="1" dirty="0"/>
              <a:t>Resist stripping</a:t>
            </a:r>
          </a:p>
          <a:p>
            <a:pPr marL="228600" indent="-228600">
              <a:buFont typeface="+mj-lt"/>
              <a:buAutoNum type="arabicPeriod" startAt="52"/>
            </a:pPr>
            <a:r>
              <a:rPr lang="en-US" sz="1200" b="1" dirty="0">
                <a:solidFill>
                  <a:schemeClr val="bg2">
                    <a:lumMod val="75000"/>
                  </a:schemeClr>
                </a:solidFill>
              </a:rPr>
              <a:t>Ti/</a:t>
            </a:r>
            <a:r>
              <a:rPr lang="en-US" sz="1200" b="1" dirty="0" err="1">
                <a:solidFill>
                  <a:schemeClr val="bg2">
                    <a:lumMod val="75000"/>
                  </a:schemeClr>
                </a:solidFill>
              </a:rPr>
              <a:t>TiN</a:t>
            </a:r>
            <a:r>
              <a:rPr lang="en-US" sz="1200" b="1" dirty="0">
                <a:solidFill>
                  <a:schemeClr val="bg2">
                    <a:lumMod val="75000"/>
                  </a:schemeClr>
                </a:solidFill>
              </a:rPr>
              <a:t> barrier deposition</a:t>
            </a:r>
          </a:p>
          <a:p>
            <a:pPr marL="228600" indent="-228600">
              <a:buFont typeface="+mj-lt"/>
              <a:buAutoNum type="arabicPeriod" startAt="52"/>
            </a:pPr>
            <a:r>
              <a:rPr lang="en-US" sz="1200" b="1" dirty="0">
                <a:solidFill>
                  <a:schemeClr val="bg2">
                    <a:lumMod val="75000"/>
                  </a:schemeClr>
                </a:solidFill>
              </a:rPr>
              <a:t>W deposition</a:t>
            </a:r>
          </a:p>
          <a:p>
            <a:pPr marL="228600" indent="-228600">
              <a:buFont typeface="+mj-lt"/>
              <a:buAutoNum type="arabicPeriod" startAt="52"/>
            </a:pPr>
            <a:r>
              <a:rPr lang="en-US" sz="1200" b="1" dirty="0">
                <a:solidFill>
                  <a:schemeClr val="bg2">
                    <a:lumMod val="75000"/>
                  </a:schemeClr>
                </a:solidFill>
              </a:rPr>
              <a:t>Metal CMP</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2585323"/>
          </a:xfrm>
          <a:prstGeom prst="rect">
            <a:avLst/>
          </a:prstGeom>
          <a:noFill/>
        </p:spPr>
        <p:txBody>
          <a:bodyPr wrap="square" lIns="0" tIns="0" rIns="0" bIns="0" rtlCol="0">
            <a:spAutoFit/>
          </a:bodyPr>
          <a:lstStyle/>
          <a:p>
            <a:pPr marL="285750" indent="-285750">
              <a:spcBef>
                <a:spcPct val="50000"/>
              </a:spcBef>
              <a:buFont typeface="Times" panose="02020603050405020304" pitchFamily="18" charset="0"/>
              <a:buChar char="•"/>
            </a:pPr>
            <a:r>
              <a:rPr lang="en-US" altLang="en-US" sz="1200" dirty="0"/>
              <a:t>PMD oxide is dry etched to form contact holes</a:t>
            </a:r>
          </a:p>
          <a:p>
            <a:pPr marL="285750" indent="-285750">
              <a:spcBef>
                <a:spcPct val="50000"/>
              </a:spcBef>
              <a:buFont typeface="Times" panose="02020603050405020304" pitchFamily="18" charset="0"/>
              <a:buChar char="•"/>
            </a:pPr>
            <a:r>
              <a:rPr lang="en-US" altLang="en-US" sz="1200" dirty="0"/>
              <a:t>Contacts land on both </a:t>
            </a:r>
            <a:r>
              <a:rPr lang="en-US" altLang="en-US" sz="1200" dirty="0" err="1"/>
              <a:t>slicided</a:t>
            </a:r>
            <a:r>
              <a:rPr lang="en-US" altLang="en-US" sz="1200" dirty="0"/>
              <a:t> silicon active areas and gate </a:t>
            </a:r>
            <a:r>
              <a:rPr lang="en-US" altLang="en-US" sz="1200" dirty="0" err="1"/>
              <a:t>electodes</a:t>
            </a:r>
            <a:endParaRPr lang="en-US" altLang="en-US" sz="1200" dirty="0"/>
          </a:p>
          <a:p>
            <a:pPr marL="285750" indent="-285750">
              <a:spcBef>
                <a:spcPct val="50000"/>
              </a:spcBef>
              <a:buFont typeface="Times" panose="02020603050405020304" pitchFamily="18" charset="0"/>
              <a:buChar char="•"/>
            </a:pPr>
            <a:r>
              <a:rPr lang="en-US" altLang="en-US" sz="1200" dirty="0"/>
              <a:t>The etch is composed of two steps:</a:t>
            </a:r>
          </a:p>
          <a:p>
            <a:pPr marL="742950" lvl="1" indent="-285750">
              <a:spcBef>
                <a:spcPct val="50000"/>
              </a:spcBef>
              <a:buFont typeface="Times" panose="02020603050405020304" pitchFamily="18" charset="0"/>
              <a:buChar char="•"/>
            </a:pPr>
            <a:r>
              <a:rPr lang="en-US" altLang="en-US" sz="1200" dirty="0"/>
              <a:t>Oxide etch, selective to silicon nitride </a:t>
            </a:r>
            <a:r>
              <a:rPr lang="en-US" altLang="en-US" sz="1200" dirty="0">
                <a:sym typeface="Wingdings" panose="05000000000000000000" pitchFamily="2" charset="2"/>
              </a:rPr>
              <a:t> allows for simultaneous etching of different oxide thickness n top of gates (thinner) and active areas (thicker). When the oxide on top of gates I consumed, the nitride will avoid the additional etch needed to land on active areas to damage the gate electrode.</a:t>
            </a:r>
          </a:p>
          <a:p>
            <a:pPr marL="742950" lvl="1" indent="-285750">
              <a:spcBef>
                <a:spcPct val="50000"/>
              </a:spcBef>
              <a:buFont typeface="Times" panose="02020603050405020304" pitchFamily="18" charset="0"/>
              <a:buChar char="•"/>
            </a:pPr>
            <a:r>
              <a:rPr lang="en-US" altLang="en-US" sz="1200" dirty="0">
                <a:sym typeface="Wingdings" panose="05000000000000000000" pitchFamily="2" charset="2"/>
              </a:rPr>
              <a:t>Nitride etch, selective to TiSi2  safe landing on gate and active areas</a:t>
            </a: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3" name="Picture 12">
            <a:extLst>
              <a:ext uri="{FF2B5EF4-FFF2-40B4-BE49-F238E27FC236}">
                <a16:creationId xmlns:a16="http://schemas.microsoft.com/office/drawing/2014/main" id="{27DBEBBC-CB73-D760-8F33-AD0EAE7FF056}"/>
              </a:ext>
            </a:extLst>
          </p:cNvPr>
          <p:cNvPicPr>
            <a:picLocks noChangeAspect="1"/>
          </p:cNvPicPr>
          <p:nvPr/>
        </p:nvPicPr>
        <p:blipFill>
          <a:blip r:embed="rId7"/>
          <a:stretch>
            <a:fillRect/>
          </a:stretch>
        </p:blipFill>
        <p:spPr>
          <a:xfrm>
            <a:off x="408469" y="2967737"/>
            <a:ext cx="3466280" cy="2766988"/>
          </a:xfrm>
          <a:prstGeom prst="rect">
            <a:avLst/>
          </a:prstGeom>
        </p:spPr>
      </p:pic>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8"/>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9"/>
          <a:stretch>
            <a:fillRect/>
          </a:stretch>
        </p:blipFill>
        <p:spPr>
          <a:xfrm>
            <a:off x="4504903" y="4394127"/>
            <a:ext cx="1609178" cy="1868560"/>
          </a:xfrm>
          <a:prstGeom prst="rect">
            <a:avLst/>
          </a:prstGeom>
        </p:spPr>
      </p:pic>
    </p:spTree>
    <p:extLst>
      <p:ext uri="{BB962C8B-B14F-4D97-AF65-F5344CB8AC3E}">
        <p14:creationId xmlns:p14="http://schemas.microsoft.com/office/powerpoint/2010/main" val="11371904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2"/>
            </a:pPr>
            <a:r>
              <a:rPr lang="en-US" sz="1200" b="1" dirty="0">
                <a:solidFill>
                  <a:schemeClr val="bg2">
                    <a:lumMod val="75000"/>
                  </a:schemeClr>
                </a:solidFill>
              </a:rPr>
              <a:t>Photo-resist spinning</a:t>
            </a:r>
          </a:p>
          <a:p>
            <a:pPr marL="228600" indent="-228600">
              <a:buFont typeface="+mj-lt"/>
              <a:buAutoNum type="arabicPeriod" startAt="52"/>
            </a:pPr>
            <a:r>
              <a:rPr lang="en-US" sz="1200" b="1" dirty="0">
                <a:solidFill>
                  <a:schemeClr val="bg2">
                    <a:lumMod val="75000"/>
                  </a:schemeClr>
                </a:solidFill>
              </a:rPr>
              <a:t>Mask 9 exposure (contact)</a:t>
            </a:r>
          </a:p>
          <a:p>
            <a:pPr marL="228600" indent="-228600">
              <a:buFont typeface="+mj-lt"/>
              <a:buAutoNum type="arabicPeriod" startAt="52"/>
            </a:pPr>
            <a:r>
              <a:rPr lang="en-US" sz="1200" b="1" dirty="0"/>
              <a:t>Contact dry etching</a:t>
            </a:r>
          </a:p>
          <a:p>
            <a:pPr marL="228600" indent="-228600">
              <a:buFont typeface="+mj-lt"/>
              <a:buAutoNum type="arabicPeriod" startAt="52"/>
            </a:pPr>
            <a:r>
              <a:rPr lang="en-US" sz="1200" b="1" dirty="0"/>
              <a:t>Resist stripping</a:t>
            </a:r>
          </a:p>
          <a:p>
            <a:pPr marL="228600" indent="-228600">
              <a:buFont typeface="+mj-lt"/>
              <a:buAutoNum type="arabicPeriod" startAt="52"/>
            </a:pPr>
            <a:r>
              <a:rPr lang="en-US" sz="1200" b="1" dirty="0">
                <a:solidFill>
                  <a:schemeClr val="bg2">
                    <a:lumMod val="75000"/>
                  </a:schemeClr>
                </a:solidFill>
              </a:rPr>
              <a:t>Ti/</a:t>
            </a:r>
            <a:r>
              <a:rPr lang="en-US" sz="1200" b="1" dirty="0" err="1">
                <a:solidFill>
                  <a:schemeClr val="bg2">
                    <a:lumMod val="75000"/>
                  </a:schemeClr>
                </a:solidFill>
              </a:rPr>
              <a:t>TiN</a:t>
            </a:r>
            <a:r>
              <a:rPr lang="en-US" sz="1200" b="1" dirty="0">
                <a:solidFill>
                  <a:schemeClr val="bg2">
                    <a:lumMod val="75000"/>
                  </a:schemeClr>
                </a:solidFill>
              </a:rPr>
              <a:t> barrier deposition</a:t>
            </a:r>
          </a:p>
          <a:p>
            <a:pPr marL="228600" indent="-228600">
              <a:buFont typeface="+mj-lt"/>
              <a:buAutoNum type="arabicPeriod" startAt="52"/>
            </a:pPr>
            <a:r>
              <a:rPr lang="en-US" sz="1200" b="1" dirty="0">
                <a:solidFill>
                  <a:schemeClr val="bg2">
                    <a:lumMod val="75000"/>
                  </a:schemeClr>
                </a:solidFill>
              </a:rPr>
              <a:t>W deposition</a:t>
            </a:r>
          </a:p>
          <a:p>
            <a:pPr marL="228600" indent="-228600">
              <a:buFont typeface="+mj-lt"/>
              <a:buAutoNum type="arabicPeriod" startAt="52"/>
            </a:pPr>
            <a:r>
              <a:rPr lang="en-US" sz="1200" b="1" dirty="0">
                <a:solidFill>
                  <a:schemeClr val="bg2">
                    <a:lumMod val="75000"/>
                  </a:schemeClr>
                </a:solidFill>
              </a:rPr>
              <a:t>Metal CMP</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2585323"/>
          </a:xfrm>
          <a:prstGeom prst="rect">
            <a:avLst/>
          </a:prstGeom>
          <a:noFill/>
        </p:spPr>
        <p:txBody>
          <a:bodyPr wrap="square" lIns="0" tIns="0" rIns="0" bIns="0" rtlCol="0">
            <a:spAutoFit/>
          </a:bodyPr>
          <a:lstStyle/>
          <a:p>
            <a:pPr marL="285750" indent="-285750">
              <a:spcBef>
                <a:spcPct val="50000"/>
              </a:spcBef>
              <a:buFont typeface="Times" panose="02020603050405020304" pitchFamily="18" charset="0"/>
              <a:buChar char="•"/>
            </a:pPr>
            <a:r>
              <a:rPr lang="en-US" altLang="en-US" sz="1200" dirty="0"/>
              <a:t>PMD oxide is dry etched to form contact holes</a:t>
            </a:r>
          </a:p>
          <a:p>
            <a:pPr marL="285750" indent="-285750">
              <a:spcBef>
                <a:spcPct val="50000"/>
              </a:spcBef>
              <a:buFont typeface="Times" panose="02020603050405020304" pitchFamily="18" charset="0"/>
              <a:buChar char="•"/>
            </a:pPr>
            <a:r>
              <a:rPr lang="en-US" altLang="en-US" sz="1200" dirty="0"/>
              <a:t>Contacts land on both </a:t>
            </a:r>
            <a:r>
              <a:rPr lang="en-US" altLang="en-US" sz="1200" dirty="0" err="1"/>
              <a:t>slicided</a:t>
            </a:r>
            <a:r>
              <a:rPr lang="en-US" altLang="en-US" sz="1200" dirty="0"/>
              <a:t> silicon active areas and gate </a:t>
            </a:r>
            <a:r>
              <a:rPr lang="en-US" altLang="en-US" sz="1200" dirty="0" err="1"/>
              <a:t>electodes</a:t>
            </a:r>
            <a:endParaRPr lang="en-US" altLang="en-US" sz="1200" dirty="0"/>
          </a:p>
          <a:p>
            <a:pPr marL="285750" indent="-285750">
              <a:spcBef>
                <a:spcPct val="50000"/>
              </a:spcBef>
              <a:buFont typeface="Times" panose="02020603050405020304" pitchFamily="18" charset="0"/>
              <a:buChar char="•"/>
            </a:pPr>
            <a:r>
              <a:rPr lang="en-US" altLang="en-US" sz="1200" dirty="0"/>
              <a:t>The etch is composed of two steps:</a:t>
            </a:r>
          </a:p>
          <a:p>
            <a:pPr marL="742950" lvl="1" indent="-285750">
              <a:spcBef>
                <a:spcPct val="50000"/>
              </a:spcBef>
              <a:buFont typeface="Times" panose="02020603050405020304" pitchFamily="18" charset="0"/>
              <a:buChar char="•"/>
            </a:pPr>
            <a:r>
              <a:rPr lang="en-US" altLang="en-US" sz="1200" dirty="0"/>
              <a:t>Oxide etch, selective to silicon nitride </a:t>
            </a:r>
            <a:r>
              <a:rPr lang="en-US" altLang="en-US" sz="1200" dirty="0">
                <a:sym typeface="Wingdings" panose="05000000000000000000" pitchFamily="2" charset="2"/>
              </a:rPr>
              <a:t> allows for simultaneous etching of different oxide thickness n top of gates (thinner) and active areas (thicker). When the oxide on top of gates I consumed, the nitride will avoid the additional etch needed to land on active areas to damage the gate electrode.</a:t>
            </a:r>
          </a:p>
          <a:p>
            <a:pPr marL="742950" lvl="1" indent="-285750">
              <a:spcBef>
                <a:spcPct val="50000"/>
              </a:spcBef>
              <a:buFont typeface="Times" panose="02020603050405020304" pitchFamily="18" charset="0"/>
              <a:buChar char="•"/>
            </a:pPr>
            <a:r>
              <a:rPr lang="en-US" altLang="en-US" sz="1200" dirty="0">
                <a:sym typeface="Wingdings" panose="05000000000000000000" pitchFamily="2" charset="2"/>
              </a:rPr>
              <a:t>Nitride etch, selective to TiSi2  safe landing on gate and active areas</a:t>
            </a: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3" name="Picture 12">
            <a:extLst>
              <a:ext uri="{FF2B5EF4-FFF2-40B4-BE49-F238E27FC236}">
                <a16:creationId xmlns:a16="http://schemas.microsoft.com/office/drawing/2014/main" id="{27DBEBBC-CB73-D760-8F33-AD0EAE7FF056}"/>
              </a:ext>
            </a:extLst>
          </p:cNvPr>
          <p:cNvPicPr>
            <a:picLocks noChangeAspect="1"/>
          </p:cNvPicPr>
          <p:nvPr/>
        </p:nvPicPr>
        <p:blipFill>
          <a:blip r:embed="rId7"/>
          <a:stretch>
            <a:fillRect/>
          </a:stretch>
        </p:blipFill>
        <p:spPr>
          <a:xfrm>
            <a:off x="408469" y="2967737"/>
            <a:ext cx="3466280" cy="2766988"/>
          </a:xfrm>
          <a:prstGeom prst="rect">
            <a:avLst/>
          </a:prstGeom>
        </p:spPr>
      </p:pic>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8"/>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9"/>
          <a:stretch>
            <a:fillRect/>
          </a:stretch>
        </p:blipFill>
        <p:spPr>
          <a:xfrm>
            <a:off x="4504903" y="4394127"/>
            <a:ext cx="1609178" cy="1868560"/>
          </a:xfrm>
          <a:prstGeom prst="rect">
            <a:avLst/>
          </a:prstGeom>
        </p:spPr>
      </p:pic>
      <p:pic>
        <p:nvPicPr>
          <p:cNvPr id="10" name="Picture 9">
            <a:extLst>
              <a:ext uri="{FF2B5EF4-FFF2-40B4-BE49-F238E27FC236}">
                <a16:creationId xmlns:a16="http://schemas.microsoft.com/office/drawing/2014/main" id="{B7DD6988-4389-86B7-EC86-0EE309D53647}"/>
              </a:ext>
            </a:extLst>
          </p:cNvPr>
          <p:cNvPicPr>
            <a:picLocks noChangeAspect="1"/>
          </p:cNvPicPr>
          <p:nvPr/>
        </p:nvPicPr>
        <p:blipFill rotWithShape="1">
          <a:blip r:embed="rId10"/>
          <a:srcRect b="30303"/>
          <a:stretch/>
        </p:blipFill>
        <p:spPr>
          <a:xfrm>
            <a:off x="1426197" y="882884"/>
            <a:ext cx="2786694" cy="1694769"/>
          </a:xfrm>
          <a:prstGeom prst="rect">
            <a:avLst/>
          </a:prstGeom>
          <a:ln w="38100">
            <a:solidFill>
              <a:srgbClr val="E60177"/>
            </a:solidFill>
          </a:ln>
        </p:spPr>
      </p:pic>
      <p:cxnSp>
        <p:nvCxnSpPr>
          <p:cNvPr id="19" name="Straight Arrow Connector 18">
            <a:extLst>
              <a:ext uri="{FF2B5EF4-FFF2-40B4-BE49-F238E27FC236}">
                <a16:creationId xmlns:a16="http://schemas.microsoft.com/office/drawing/2014/main" id="{DD9E1D51-405C-8DF4-B7AE-07BF5115A2B5}"/>
              </a:ext>
            </a:extLst>
          </p:cNvPr>
          <p:cNvCxnSpPr/>
          <p:nvPr/>
        </p:nvCxnSpPr>
        <p:spPr>
          <a:xfrm flipV="1">
            <a:off x="1988820" y="2577653"/>
            <a:ext cx="449580" cy="759907"/>
          </a:xfrm>
          <a:prstGeom prst="straightConnector1">
            <a:avLst/>
          </a:prstGeom>
          <a:ln w="38100" cap="sq">
            <a:solidFill>
              <a:srgbClr val="E81245"/>
            </a:solidFill>
            <a:miter lim="800000"/>
            <a:headEnd type="none" w="med" len="med"/>
            <a:tailEnd type="none" w="med" len="med"/>
          </a:ln>
        </p:spPr>
        <p:style>
          <a:lnRef idx="1">
            <a:schemeClr val="tx1"/>
          </a:lnRef>
          <a:fillRef idx="0">
            <a:schemeClr val="tx1"/>
          </a:fillRef>
          <a:effectRef idx="0">
            <a:srgbClr val="000000"/>
          </a:effectRef>
          <a:fontRef idx="minor">
            <a:schemeClr val="bg1"/>
          </a:fontRef>
        </p:style>
      </p:cxnSp>
      <p:sp>
        <p:nvSpPr>
          <p:cNvPr id="21" name="TextBox 20">
            <a:extLst>
              <a:ext uri="{FF2B5EF4-FFF2-40B4-BE49-F238E27FC236}">
                <a16:creationId xmlns:a16="http://schemas.microsoft.com/office/drawing/2014/main" id="{238E96AF-E0E7-0B53-F5E3-C2C3A3C1DF04}"/>
              </a:ext>
            </a:extLst>
          </p:cNvPr>
          <p:cNvSpPr txBox="1"/>
          <p:nvPr/>
        </p:nvSpPr>
        <p:spPr>
          <a:xfrm>
            <a:off x="1592580" y="960120"/>
            <a:ext cx="1844040" cy="184666"/>
          </a:xfrm>
          <a:prstGeom prst="rect">
            <a:avLst/>
          </a:prstGeom>
          <a:noFill/>
        </p:spPr>
        <p:txBody>
          <a:bodyPr wrap="square" lIns="0" tIns="0" rIns="0" bIns="0" rtlCol="0">
            <a:spAutoFit/>
          </a:bodyPr>
          <a:lstStyle/>
          <a:p>
            <a:pPr algn="l">
              <a:lnSpc>
                <a:spcPct val="100000"/>
              </a:lnSpc>
            </a:pPr>
            <a:r>
              <a:rPr lang="en-US" sz="1200" dirty="0"/>
              <a:t>Gate contact cross section</a:t>
            </a:r>
          </a:p>
        </p:txBody>
      </p:sp>
    </p:spTree>
    <p:extLst>
      <p:ext uri="{BB962C8B-B14F-4D97-AF65-F5344CB8AC3E}">
        <p14:creationId xmlns:p14="http://schemas.microsoft.com/office/powerpoint/2010/main" val="19980878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2"/>
            </a:pPr>
            <a:r>
              <a:rPr lang="en-US" sz="1200" b="1" dirty="0">
                <a:solidFill>
                  <a:schemeClr val="bg2">
                    <a:lumMod val="75000"/>
                  </a:schemeClr>
                </a:solidFill>
              </a:rPr>
              <a:t>Photo-resist spinning</a:t>
            </a:r>
          </a:p>
          <a:p>
            <a:pPr marL="228600" indent="-228600">
              <a:buFont typeface="+mj-lt"/>
              <a:buAutoNum type="arabicPeriod" startAt="52"/>
            </a:pPr>
            <a:r>
              <a:rPr lang="en-US" sz="1200" b="1" dirty="0">
                <a:solidFill>
                  <a:schemeClr val="bg2">
                    <a:lumMod val="75000"/>
                  </a:schemeClr>
                </a:solidFill>
              </a:rPr>
              <a:t>Mask 9 exposure (contact)</a:t>
            </a:r>
          </a:p>
          <a:p>
            <a:pPr marL="228600" indent="-228600">
              <a:buFont typeface="+mj-lt"/>
              <a:buAutoNum type="arabicPeriod" startAt="52"/>
            </a:pPr>
            <a:r>
              <a:rPr lang="en-US" sz="1200" b="1" dirty="0">
                <a:solidFill>
                  <a:schemeClr val="bg2">
                    <a:lumMod val="75000"/>
                  </a:schemeClr>
                </a:solidFill>
              </a:rPr>
              <a:t>Contact dry etching</a:t>
            </a:r>
          </a:p>
          <a:p>
            <a:pPr marL="228600" indent="-228600">
              <a:buFont typeface="+mj-lt"/>
              <a:buAutoNum type="arabicPeriod" startAt="52"/>
            </a:pPr>
            <a:r>
              <a:rPr lang="en-US" sz="1200" b="1" dirty="0">
                <a:solidFill>
                  <a:schemeClr val="bg2">
                    <a:lumMod val="75000"/>
                  </a:schemeClr>
                </a:solidFill>
              </a:rPr>
              <a:t>Resist stripping</a:t>
            </a:r>
          </a:p>
          <a:p>
            <a:pPr marL="228600" indent="-228600">
              <a:buFont typeface="+mj-lt"/>
              <a:buAutoNum type="arabicPeriod" startAt="52"/>
            </a:pPr>
            <a:r>
              <a:rPr lang="en-US" sz="1200" b="1" dirty="0"/>
              <a:t>Ti/</a:t>
            </a:r>
            <a:r>
              <a:rPr lang="en-US" sz="1200" b="1" dirty="0" err="1"/>
              <a:t>TiN</a:t>
            </a:r>
            <a:r>
              <a:rPr lang="en-US" sz="1200" b="1" dirty="0"/>
              <a:t> barrier deposition</a:t>
            </a:r>
          </a:p>
          <a:p>
            <a:pPr marL="228600" indent="-228600">
              <a:buFont typeface="+mj-lt"/>
              <a:buAutoNum type="arabicPeriod" startAt="52"/>
            </a:pPr>
            <a:r>
              <a:rPr lang="en-US" sz="1200" b="1" dirty="0">
                <a:solidFill>
                  <a:schemeClr val="bg2">
                    <a:lumMod val="75000"/>
                  </a:schemeClr>
                </a:solidFill>
              </a:rPr>
              <a:t>W deposition</a:t>
            </a:r>
          </a:p>
          <a:p>
            <a:pPr marL="228600" indent="-228600">
              <a:buFont typeface="+mj-lt"/>
              <a:buAutoNum type="arabicPeriod" startAt="52"/>
            </a:pPr>
            <a:r>
              <a:rPr lang="en-US" sz="1200" b="1" dirty="0">
                <a:solidFill>
                  <a:schemeClr val="bg2">
                    <a:lumMod val="75000"/>
                  </a:schemeClr>
                </a:solidFill>
              </a:rPr>
              <a:t>Metal CMP</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923330"/>
          </a:xfrm>
          <a:prstGeom prst="rect">
            <a:avLst/>
          </a:prstGeom>
          <a:noFill/>
        </p:spPr>
        <p:txBody>
          <a:bodyPr wrap="square" lIns="0" tIns="0" rIns="0" bIns="0" rtlCol="0">
            <a:spAutoFit/>
          </a:bodyPr>
          <a:lstStyle/>
          <a:p>
            <a:pPr marL="285750" indent="-285750">
              <a:spcBef>
                <a:spcPct val="50000"/>
              </a:spcBef>
              <a:buFont typeface="Times" panose="02020603050405020304" pitchFamily="18" charset="0"/>
              <a:buChar char="•"/>
            </a:pPr>
            <a:r>
              <a:rPr lang="en-US" altLang="en-US" sz="1200" dirty="0"/>
              <a:t>Thin layers of Ti/</a:t>
            </a:r>
            <a:r>
              <a:rPr lang="en-US" altLang="en-US" sz="1200" dirty="0" err="1"/>
              <a:t>TiN</a:t>
            </a:r>
            <a:r>
              <a:rPr lang="en-US" altLang="en-US" sz="1200" dirty="0"/>
              <a:t> are deposited (CVD):</a:t>
            </a:r>
          </a:p>
          <a:p>
            <a:pPr marL="742950" lvl="1" indent="-285750">
              <a:spcBef>
                <a:spcPct val="50000"/>
              </a:spcBef>
              <a:buFont typeface="Times" panose="02020603050405020304" pitchFamily="18" charset="0"/>
              <a:buChar char="•"/>
            </a:pPr>
            <a:r>
              <a:rPr lang="en-US" altLang="en-US" sz="1200" dirty="0"/>
              <a:t>Promotes W adhesion</a:t>
            </a:r>
          </a:p>
          <a:p>
            <a:pPr marL="742950" lvl="1" indent="-285750">
              <a:spcBef>
                <a:spcPct val="50000"/>
              </a:spcBef>
              <a:buFont typeface="Times" panose="02020603050405020304" pitchFamily="18" charset="0"/>
              <a:buChar char="•"/>
            </a:pPr>
            <a:r>
              <a:rPr lang="en-US" altLang="en-US" sz="1200" dirty="0"/>
              <a:t>Since W will be deposited by WF6 (CVD) </a:t>
            </a:r>
            <a:r>
              <a:rPr lang="en-US" altLang="en-US" sz="1200" dirty="0">
                <a:sym typeface="Wingdings" panose="05000000000000000000" pitchFamily="2" charset="2"/>
              </a:rPr>
              <a:t> protects silicon oxide from F etch</a:t>
            </a: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3" name="Picture 12">
            <a:extLst>
              <a:ext uri="{FF2B5EF4-FFF2-40B4-BE49-F238E27FC236}">
                <a16:creationId xmlns:a16="http://schemas.microsoft.com/office/drawing/2014/main" id="{27DBEBBC-CB73-D760-8F33-AD0EAE7FF056}"/>
              </a:ext>
            </a:extLst>
          </p:cNvPr>
          <p:cNvPicPr>
            <a:picLocks noChangeAspect="1"/>
          </p:cNvPicPr>
          <p:nvPr/>
        </p:nvPicPr>
        <p:blipFill>
          <a:blip r:embed="rId7"/>
          <a:stretch>
            <a:fillRect/>
          </a:stretch>
        </p:blipFill>
        <p:spPr>
          <a:xfrm>
            <a:off x="408469" y="2967737"/>
            <a:ext cx="3466280" cy="2766988"/>
          </a:xfrm>
          <a:prstGeom prst="rect">
            <a:avLst/>
          </a:prstGeom>
        </p:spPr>
      </p:pic>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8"/>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9"/>
          <a:stretch>
            <a:fillRect/>
          </a:stretch>
        </p:blipFill>
        <p:spPr>
          <a:xfrm>
            <a:off x="4504903" y="4394127"/>
            <a:ext cx="1609178" cy="1868560"/>
          </a:xfrm>
          <a:prstGeom prst="rect">
            <a:avLst/>
          </a:prstGeom>
        </p:spPr>
      </p:pic>
      <p:pic>
        <p:nvPicPr>
          <p:cNvPr id="10" name="Picture 9">
            <a:extLst>
              <a:ext uri="{FF2B5EF4-FFF2-40B4-BE49-F238E27FC236}">
                <a16:creationId xmlns:a16="http://schemas.microsoft.com/office/drawing/2014/main" id="{29597799-AA61-C48F-E58C-200A615A727E}"/>
              </a:ext>
            </a:extLst>
          </p:cNvPr>
          <p:cNvPicPr>
            <a:picLocks noChangeAspect="1"/>
          </p:cNvPicPr>
          <p:nvPr/>
        </p:nvPicPr>
        <p:blipFill>
          <a:blip r:embed="rId10"/>
          <a:stretch>
            <a:fillRect/>
          </a:stretch>
        </p:blipFill>
        <p:spPr>
          <a:xfrm>
            <a:off x="292360" y="2725779"/>
            <a:ext cx="3771711" cy="3008946"/>
          </a:xfrm>
          <a:prstGeom prst="rect">
            <a:avLst/>
          </a:prstGeom>
        </p:spPr>
      </p:pic>
      <p:pic>
        <p:nvPicPr>
          <p:cNvPr id="19" name="Picture 18">
            <a:extLst>
              <a:ext uri="{FF2B5EF4-FFF2-40B4-BE49-F238E27FC236}">
                <a16:creationId xmlns:a16="http://schemas.microsoft.com/office/drawing/2014/main" id="{28D9486B-484D-4B77-55DB-714E19039780}"/>
              </a:ext>
            </a:extLst>
          </p:cNvPr>
          <p:cNvPicPr>
            <a:picLocks noChangeAspect="1"/>
          </p:cNvPicPr>
          <p:nvPr/>
        </p:nvPicPr>
        <p:blipFill>
          <a:blip r:embed="rId11"/>
          <a:stretch>
            <a:fillRect/>
          </a:stretch>
        </p:blipFill>
        <p:spPr>
          <a:xfrm>
            <a:off x="4420782" y="1951507"/>
            <a:ext cx="1751822" cy="1590940"/>
          </a:xfrm>
          <a:prstGeom prst="rect">
            <a:avLst/>
          </a:prstGeom>
        </p:spPr>
      </p:pic>
      <p:pic>
        <p:nvPicPr>
          <p:cNvPr id="22" name="Picture 21">
            <a:extLst>
              <a:ext uri="{FF2B5EF4-FFF2-40B4-BE49-F238E27FC236}">
                <a16:creationId xmlns:a16="http://schemas.microsoft.com/office/drawing/2014/main" id="{709D8E4A-DCD3-C723-0407-73210736AAAD}"/>
              </a:ext>
            </a:extLst>
          </p:cNvPr>
          <p:cNvPicPr>
            <a:picLocks noChangeAspect="1"/>
          </p:cNvPicPr>
          <p:nvPr/>
        </p:nvPicPr>
        <p:blipFill>
          <a:blip r:embed="rId12"/>
          <a:stretch>
            <a:fillRect/>
          </a:stretch>
        </p:blipFill>
        <p:spPr>
          <a:xfrm>
            <a:off x="4448549" y="4392915"/>
            <a:ext cx="1609178" cy="1845822"/>
          </a:xfrm>
          <a:prstGeom prst="rect">
            <a:avLst/>
          </a:prstGeom>
        </p:spPr>
      </p:pic>
    </p:spTree>
    <p:extLst>
      <p:ext uri="{BB962C8B-B14F-4D97-AF65-F5344CB8AC3E}">
        <p14:creationId xmlns:p14="http://schemas.microsoft.com/office/powerpoint/2010/main" val="20338886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2"/>
            </a:pPr>
            <a:r>
              <a:rPr lang="en-US" sz="1200" b="1" dirty="0">
                <a:solidFill>
                  <a:schemeClr val="bg2">
                    <a:lumMod val="75000"/>
                  </a:schemeClr>
                </a:solidFill>
              </a:rPr>
              <a:t>Photo-resist spinning</a:t>
            </a:r>
          </a:p>
          <a:p>
            <a:pPr marL="228600" indent="-228600">
              <a:buFont typeface="+mj-lt"/>
              <a:buAutoNum type="arabicPeriod" startAt="52"/>
            </a:pPr>
            <a:r>
              <a:rPr lang="en-US" sz="1200" b="1" dirty="0">
                <a:solidFill>
                  <a:schemeClr val="bg2">
                    <a:lumMod val="75000"/>
                  </a:schemeClr>
                </a:solidFill>
              </a:rPr>
              <a:t>Mask 9 exposure (contact)</a:t>
            </a:r>
          </a:p>
          <a:p>
            <a:pPr marL="228600" indent="-228600">
              <a:buFont typeface="+mj-lt"/>
              <a:buAutoNum type="arabicPeriod" startAt="52"/>
            </a:pPr>
            <a:r>
              <a:rPr lang="en-US" sz="1200" b="1" dirty="0">
                <a:solidFill>
                  <a:schemeClr val="bg2">
                    <a:lumMod val="75000"/>
                  </a:schemeClr>
                </a:solidFill>
              </a:rPr>
              <a:t>Contact dry etching</a:t>
            </a:r>
          </a:p>
          <a:p>
            <a:pPr marL="228600" indent="-228600">
              <a:buFont typeface="+mj-lt"/>
              <a:buAutoNum type="arabicPeriod" startAt="52"/>
            </a:pPr>
            <a:r>
              <a:rPr lang="en-US" sz="1200" b="1" dirty="0">
                <a:solidFill>
                  <a:schemeClr val="bg2">
                    <a:lumMod val="75000"/>
                  </a:schemeClr>
                </a:solidFill>
              </a:rPr>
              <a:t>Resist stripping</a:t>
            </a:r>
          </a:p>
          <a:p>
            <a:pPr marL="228600" indent="-228600">
              <a:buFont typeface="+mj-lt"/>
              <a:buAutoNum type="arabicPeriod" startAt="52"/>
            </a:pPr>
            <a:r>
              <a:rPr lang="en-US" sz="1200" b="1" dirty="0">
                <a:solidFill>
                  <a:schemeClr val="bg2">
                    <a:lumMod val="75000"/>
                  </a:schemeClr>
                </a:solidFill>
              </a:rPr>
              <a:t>Ti/</a:t>
            </a:r>
            <a:r>
              <a:rPr lang="en-US" sz="1200" b="1" dirty="0" err="1">
                <a:solidFill>
                  <a:schemeClr val="bg2">
                    <a:lumMod val="75000"/>
                  </a:schemeClr>
                </a:solidFill>
              </a:rPr>
              <a:t>TiN</a:t>
            </a:r>
            <a:r>
              <a:rPr lang="en-US" sz="1200" b="1" dirty="0">
                <a:solidFill>
                  <a:schemeClr val="bg2">
                    <a:lumMod val="75000"/>
                  </a:schemeClr>
                </a:solidFill>
              </a:rPr>
              <a:t> barrier deposition</a:t>
            </a:r>
          </a:p>
          <a:p>
            <a:pPr marL="228600" indent="-228600">
              <a:buFont typeface="+mj-lt"/>
              <a:buAutoNum type="arabicPeriod" startAt="52"/>
            </a:pPr>
            <a:r>
              <a:rPr lang="en-US" sz="1200" b="1" dirty="0"/>
              <a:t>W deposition</a:t>
            </a:r>
          </a:p>
          <a:p>
            <a:pPr marL="228600" indent="-228600">
              <a:buFont typeface="+mj-lt"/>
              <a:buAutoNum type="arabicPeriod" startAt="52"/>
            </a:pPr>
            <a:r>
              <a:rPr lang="en-US" sz="1200" b="1" dirty="0">
                <a:solidFill>
                  <a:schemeClr val="bg2">
                    <a:lumMod val="75000"/>
                  </a:schemeClr>
                </a:solidFill>
              </a:rPr>
              <a:t>Metal CMP</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738664"/>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Tungsten is deposited by CVD:</a:t>
            </a:r>
          </a:p>
          <a:p>
            <a:pPr marL="628650" lvl="1" indent="-171450">
              <a:spcBef>
                <a:spcPct val="50000"/>
              </a:spcBef>
              <a:buFont typeface="Arial" panose="020B0604020202020204" pitchFamily="34" charset="0"/>
              <a:buChar char="•"/>
            </a:pPr>
            <a:r>
              <a:rPr lang="en-US" altLang="en-US" sz="1200" dirty="0"/>
              <a:t>WF6 </a:t>
            </a:r>
            <a:r>
              <a:rPr lang="en-US" altLang="en-US" sz="1200" dirty="0">
                <a:sym typeface="Wingdings" panose="05000000000000000000" pitchFamily="2" charset="2"/>
              </a:rPr>
              <a:t> W + 3F2</a:t>
            </a:r>
          </a:p>
          <a:p>
            <a:pPr marL="171450" indent="-171450">
              <a:spcBef>
                <a:spcPct val="50000"/>
              </a:spcBef>
              <a:buFont typeface="Arial" panose="020B0604020202020204" pitchFamily="34" charset="0"/>
              <a:buChar char="•"/>
            </a:pPr>
            <a:r>
              <a:rPr lang="en-US" altLang="en-US" sz="1200" dirty="0">
                <a:sym typeface="Wingdings" panose="05000000000000000000" pitchFamily="2" charset="2"/>
              </a:rPr>
              <a:t>Low resistance material for contacts</a:t>
            </a:r>
            <a:r>
              <a:rPr lang="en-US" altLang="en-US" sz="1200" dirty="0"/>
              <a:t> </a:t>
            </a:r>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3" name="Picture 12">
            <a:extLst>
              <a:ext uri="{FF2B5EF4-FFF2-40B4-BE49-F238E27FC236}">
                <a16:creationId xmlns:a16="http://schemas.microsoft.com/office/drawing/2014/main" id="{27DBEBBC-CB73-D760-8F33-AD0EAE7FF056}"/>
              </a:ext>
            </a:extLst>
          </p:cNvPr>
          <p:cNvPicPr>
            <a:picLocks noChangeAspect="1"/>
          </p:cNvPicPr>
          <p:nvPr/>
        </p:nvPicPr>
        <p:blipFill>
          <a:blip r:embed="rId7"/>
          <a:stretch>
            <a:fillRect/>
          </a:stretch>
        </p:blipFill>
        <p:spPr>
          <a:xfrm>
            <a:off x="408469" y="2967737"/>
            <a:ext cx="3466280" cy="2766988"/>
          </a:xfrm>
          <a:prstGeom prst="rect">
            <a:avLst/>
          </a:prstGeom>
        </p:spPr>
      </p:pic>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8"/>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9"/>
          <a:stretch>
            <a:fillRect/>
          </a:stretch>
        </p:blipFill>
        <p:spPr>
          <a:xfrm>
            <a:off x="4504903" y="4394127"/>
            <a:ext cx="1609178" cy="1868560"/>
          </a:xfrm>
          <a:prstGeom prst="rect">
            <a:avLst/>
          </a:prstGeom>
        </p:spPr>
      </p:pic>
      <p:pic>
        <p:nvPicPr>
          <p:cNvPr id="19" name="Picture 18">
            <a:extLst>
              <a:ext uri="{FF2B5EF4-FFF2-40B4-BE49-F238E27FC236}">
                <a16:creationId xmlns:a16="http://schemas.microsoft.com/office/drawing/2014/main" id="{28D9486B-484D-4B77-55DB-714E19039780}"/>
              </a:ext>
            </a:extLst>
          </p:cNvPr>
          <p:cNvPicPr>
            <a:picLocks noChangeAspect="1"/>
          </p:cNvPicPr>
          <p:nvPr/>
        </p:nvPicPr>
        <p:blipFill>
          <a:blip r:embed="rId10"/>
          <a:stretch>
            <a:fillRect/>
          </a:stretch>
        </p:blipFill>
        <p:spPr>
          <a:xfrm>
            <a:off x="4420782" y="1951507"/>
            <a:ext cx="1751822" cy="1590940"/>
          </a:xfrm>
          <a:prstGeom prst="rect">
            <a:avLst/>
          </a:prstGeom>
        </p:spPr>
      </p:pic>
      <p:pic>
        <p:nvPicPr>
          <p:cNvPr id="22" name="Picture 21">
            <a:extLst>
              <a:ext uri="{FF2B5EF4-FFF2-40B4-BE49-F238E27FC236}">
                <a16:creationId xmlns:a16="http://schemas.microsoft.com/office/drawing/2014/main" id="{709D8E4A-DCD3-C723-0407-73210736AAAD}"/>
              </a:ext>
            </a:extLst>
          </p:cNvPr>
          <p:cNvPicPr>
            <a:picLocks noChangeAspect="1"/>
          </p:cNvPicPr>
          <p:nvPr/>
        </p:nvPicPr>
        <p:blipFill>
          <a:blip r:embed="rId11"/>
          <a:stretch>
            <a:fillRect/>
          </a:stretch>
        </p:blipFill>
        <p:spPr>
          <a:xfrm>
            <a:off x="4448549" y="4392915"/>
            <a:ext cx="1609178" cy="1845822"/>
          </a:xfrm>
          <a:prstGeom prst="rect">
            <a:avLst/>
          </a:prstGeom>
        </p:spPr>
      </p:pic>
      <p:pic>
        <p:nvPicPr>
          <p:cNvPr id="15" name="Picture 14">
            <a:extLst>
              <a:ext uri="{FF2B5EF4-FFF2-40B4-BE49-F238E27FC236}">
                <a16:creationId xmlns:a16="http://schemas.microsoft.com/office/drawing/2014/main" id="{0ADDE3AA-CDC8-B77F-0C8D-7F44D39D6DC3}"/>
              </a:ext>
            </a:extLst>
          </p:cNvPr>
          <p:cNvPicPr>
            <a:picLocks noChangeAspect="1"/>
          </p:cNvPicPr>
          <p:nvPr/>
        </p:nvPicPr>
        <p:blipFill>
          <a:blip r:embed="rId12"/>
          <a:stretch>
            <a:fillRect/>
          </a:stretch>
        </p:blipFill>
        <p:spPr>
          <a:xfrm>
            <a:off x="173185" y="2846975"/>
            <a:ext cx="3709794" cy="2824051"/>
          </a:xfrm>
          <a:prstGeom prst="rect">
            <a:avLst/>
          </a:prstGeom>
        </p:spPr>
      </p:pic>
      <p:pic>
        <p:nvPicPr>
          <p:cNvPr id="23" name="Picture 22">
            <a:extLst>
              <a:ext uri="{FF2B5EF4-FFF2-40B4-BE49-F238E27FC236}">
                <a16:creationId xmlns:a16="http://schemas.microsoft.com/office/drawing/2014/main" id="{DFFEC1FB-104A-4CBD-E1C0-BE7D5B650135}"/>
              </a:ext>
            </a:extLst>
          </p:cNvPr>
          <p:cNvPicPr>
            <a:picLocks noChangeAspect="1"/>
          </p:cNvPicPr>
          <p:nvPr/>
        </p:nvPicPr>
        <p:blipFill>
          <a:blip r:embed="rId13"/>
          <a:stretch>
            <a:fillRect/>
          </a:stretch>
        </p:blipFill>
        <p:spPr>
          <a:xfrm>
            <a:off x="4307586" y="1893988"/>
            <a:ext cx="1865018" cy="1691790"/>
          </a:xfrm>
          <a:prstGeom prst="rect">
            <a:avLst/>
          </a:prstGeom>
        </p:spPr>
      </p:pic>
      <p:pic>
        <p:nvPicPr>
          <p:cNvPr id="26" name="Picture 25">
            <a:extLst>
              <a:ext uri="{FF2B5EF4-FFF2-40B4-BE49-F238E27FC236}">
                <a16:creationId xmlns:a16="http://schemas.microsoft.com/office/drawing/2014/main" id="{AB093AF4-C0D2-4583-6FA3-8A45E420E22C}"/>
              </a:ext>
            </a:extLst>
          </p:cNvPr>
          <p:cNvPicPr>
            <a:picLocks noChangeAspect="1"/>
          </p:cNvPicPr>
          <p:nvPr/>
        </p:nvPicPr>
        <p:blipFill>
          <a:blip r:embed="rId14"/>
          <a:stretch>
            <a:fillRect/>
          </a:stretch>
        </p:blipFill>
        <p:spPr>
          <a:xfrm>
            <a:off x="4504903" y="4406388"/>
            <a:ext cx="1609178" cy="1832349"/>
          </a:xfrm>
          <a:prstGeom prst="rect">
            <a:avLst/>
          </a:prstGeom>
        </p:spPr>
      </p:pic>
    </p:spTree>
    <p:extLst>
      <p:ext uri="{BB962C8B-B14F-4D97-AF65-F5344CB8AC3E}">
        <p14:creationId xmlns:p14="http://schemas.microsoft.com/office/powerpoint/2010/main" val="2453302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Contacts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2"/>
            </a:pPr>
            <a:r>
              <a:rPr lang="en-US" sz="1200" b="1" dirty="0">
                <a:solidFill>
                  <a:schemeClr val="bg2">
                    <a:lumMod val="75000"/>
                  </a:schemeClr>
                </a:solidFill>
              </a:rPr>
              <a:t>Photo-resist spinning</a:t>
            </a:r>
          </a:p>
          <a:p>
            <a:pPr marL="228600" indent="-228600">
              <a:buFont typeface="+mj-lt"/>
              <a:buAutoNum type="arabicPeriod" startAt="52"/>
            </a:pPr>
            <a:r>
              <a:rPr lang="en-US" sz="1200" b="1" dirty="0">
                <a:solidFill>
                  <a:schemeClr val="bg2">
                    <a:lumMod val="75000"/>
                  </a:schemeClr>
                </a:solidFill>
              </a:rPr>
              <a:t>Mask 9 exposure (contact)</a:t>
            </a:r>
          </a:p>
          <a:p>
            <a:pPr marL="228600" indent="-228600">
              <a:buFont typeface="+mj-lt"/>
              <a:buAutoNum type="arabicPeriod" startAt="52"/>
            </a:pPr>
            <a:r>
              <a:rPr lang="en-US" sz="1200" b="1" dirty="0">
                <a:solidFill>
                  <a:schemeClr val="bg2">
                    <a:lumMod val="75000"/>
                  </a:schemeClr>
                </a:solidFill>
              </a:rPr>
              <a:t>Contact dry etching</a:t>
            </a:r>
          </a:p>
          <a:p>
            <a:pPr marL="228600" indent="-228600">
              <a:buFont typeface="+mj-lt"/>
              <a:buAutoNum type="arabicPeriod" startAt="52"/>
            </a:pPr>
            <a:r>
              <a:rPr lang="en-US" sz="1200" b="1" dirty="0">
                <a:solidFill>
                  <a:schemeClr val="bg2">
                    <a:lumMod val="75000"/>
                  </a:schemeClr>
                </a:solidFill>
              </a:rPr>
              <a:t>Resist stripping</a:t>
            </a:r>
          </a:p>
          <a:p>
            <a:pPr marL="228600" indent="-228600">
              <a:buFont typeface="+mj-lt"/>
              <a:buAutoNum type="arabicPeriod" startAt="52"/>
            </a:pPr>
            <a:r>
              <a:rPr lang="en-US" sz="1200" b="1" dirty="0">
                <a:solidFill>
                  <a:schemeClr val="bg2">
                    <a:lumMod val="75000"/>
                  </a:schemeClr>
                </a:solidFill>
              </a:rPr>
              <a:t>Ti/</a:t>
            </a:r>
            <a:r>
              <a:rPr lang="en-US" sz="1200" b="1" dirty="0" err="1">
                <a:solidFill>
                  <a:schemeClr val="bg2">
                    <a:lumMod val="75000"/>
                  </a:schemeClr>
                </a:solidFill>
              </a:rPr>
              <a:t>TiN</a:t>
            </a:r>
            <a:r>
              <a:rPr lang="en-US" sz="1200" b="1" dirty="0">
                <a:solidFill>
                  <a:schemeClr val="bg2">
                    <a:lumMod val="75000"/>
                  </a:schemeClr>
                </a:solidFill>
              </a:rPr>
              <a:t> barrier deposition</a:t>
            </a:r>
          </a:p>
          <a:p>
            <a:pPr marL="228600" indent="-228600">
              <a:buFont typeface="+mj-lt"/>
              <a:buAutoNum type="arabicPeriod" startAt="52"/>
            </a:pPr>
            <a:r>
              <a:rPr lang="en-US" sz="1200" b="1" dirty="0">
                <a:solidFill>
                  <a:schemeClr val="bg2">
                    <a:lumMod val="75000"/>
                  </a:schemeClr>
                </a:solidFill>
              </a:rPr>
              <a:t>W deposition</a:t>
            </a:r>
          </a:p>
          <a:p>
            <a:pPr marL="228600" indent="-228600">
              <a:buFont typeface="+mj-lt"/>
              <a:buAutoNum type="arabicPeriod" startAt="52"/>
            </a:pPr>
            <a:r>
              <a:rPr lang="en-US" sz="1200" b="1" dirty="0"/>
              <a:t>Metal CMP</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9</a:t>
            </a:r>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646331"/>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Chemical mechanical polishing removes Excess W and Ti/</a:t>
            </a:r>
            <a:r>
              <a:rPr lang="en-US" altLang="en-US" sz="1200" dirty="0" err="1"/>
              <a:t>TiN</a:t>
            </a:r>
            <a:r>
              <a:rPr lang="en-US" altLang="en-US" sz="1200" dirty="0"/>
              <a:t> landing selectively on silicon oxide</a:t>
            </a:r>
          </a:p>
          <a:p>
            <a:pPr>
              <a:spcBef>
                <a:spcPct val="50000"/>
              </a:spcBef>
            </a:pPr>
            <a:endParaRPr lang="en-US" altLang="en-US" sz="1200" dirty="0"/>
          </a:p>
        </p:txBody>
      </p:sp>
      <p:pic>
        <p:nvPicPr>
          <p:cNvPr id="6" name="Picture 5">
            <a:extLst>
              <a:ext uri="{FF2B5EF4-FFF2-40B4-BE49-F238E27FC236}">
                <a16:creationId xmlns:a16="http://schemas.microsoft.com/office/drawing/2014/main" id="{2D97E4AE-57AB-41CA-607C-07F8084270B3}"/>
              </a:ext>
            </a:extLst>
          </p:cNvPr>
          <p:cNvPicPr>
            <a:picLocks noChangeAspect="1"/>
          </p:cNvPicPr>
          <p:nvPr/>
        </p:nvPicPr>
        <p:blipFill>
          <a:blip r:embed="rId3"/>
          <a:stretch>
            <a:fillRect/>
          </a:stretch>
        </p:blipFill>
        <p:spPr>
          <a:xfrm>
            <a:off x="477481" y="2895097"/>
            <a:ext cx="3709794" cy="2921408"/>
          </a:xfrm>
          <a:prstGeom prst="rect">
            <a:avLst/>
          </a:prstGeom>
        </p:spPr>
      </p:pic>
      <p:pic>
        <p:nvPicPr>
          <p:cNvPr id="8" name="Picture 7">
            <a:extLst>
              <a:ext uri="{FF2B5EF4-FFF2-40B4-BE49-F238E27FC236}">
                <a16:creationId xmlns:a16="http://schemas.microsoft.com/office/drawing/2014/main" id="{22886024-CCD8-64D7-DD40-8492C5C7258C}"/>
              </a:ext>
            </a:extLst>
          </p:cNvPr>
          <p:cNvPicPr>
            <a:picLocks noChangeAspect="1"/>
          </p:cNvPicPr>
          <p:nvPr/>
        </p:nvPicPr>
        <p:blipFill>
          <a:blip r:embed="rId4"/>
          <a:stretch>
            <a:fillRect/>
          </a:stretch>
        </p:blipFill>
        <p:spPr>
          <a:xfrm>
            <a:off x="399799" y="3008888"/>
            <a:ext cx="3568574" cy="2693826"/>
          </a:xfrm>
          <a:prstGeom prst="rect">
            <a:avLst/>
          </a:prstGeom>
        </p:spPr>
      </p:pic>
      <p:pic>
        <p:nvPicPr>
          <p:cNvPr id="17" name="Picture 16">
            <a:extLst>
              <a:ext uri="{FF2B5EF4-FFF2-40B4-BE49-F238E27FC236}">
                <a16:creationId xmlns:a16="http://schemas.microsoft.com/office/drawing/2014/main" id="{7CE3B5A5-EC77-BE64-5608-667A4801EF17}"/>
              </a:ext>
            </a:extLst>
          </p:cNvPr>
          <p:cNvPicPr>
            <a:picLocks noChangeAspect="1"/>
          </p:cNvPicPr>
          <p:nvPr/>
        </p:nvPicPr>
        <p:blipFill>
          <a:blip r:embed="rId5"/>
          <a:stretch>
            <a:fillRect/>
          </a:stretch>
        </p:blipFill>
        <p:spPr>
          <a:xfrm>
            <a:off x="216207" y="2932013"/>
            <a:ext cx="3830105" cy="2841973"/>
          </a:xfrm>
          <a:prstGeom prst="rect">
            <a:avLst/>
          </a:prstGeom>
        </p:spPr>
      </p:pic>
      <p:pic>
        <p:nvPicPr>
          <p:cNvPr id="9" name="Picture 8">
            <a:extLst>
              <a:ext uri="{FF2B5EF4-FFF2-40B4-BE49-F238E27FC236}">
                <a16:creationId xmlns:a16="http://schemas.microsoft.com/office/drawing/2014/main" id="{E24A7032-12FB-2BF6-561A-1398375C7ABF}"/>
              </a:ext>
            </a:extLst>
          </p:cNvPr>
          <p:cNvPicPr>
            <a:picLocks noChangeAspect="1"/>
          </p:cNvPicPr>
          <p:nvPr/>
        </p:nvPicPr>
        <p:blipFill>
          <a:blip r:embed="rId6"/>
          <a:stretch>
            <a:fillRect/>
          </a:stretch>
        </p:blipFill>
        <p:spPr>
          <a:xfrm>
            <a:off x="301248" y="3113718"/>
            <a:ext cx="3501549" cy="2660268"/>
          </a:xfrm>
          <a:prstGeom prst="rect">
            <a:avLst/>
          </a:prstGeom>
        </p:spPr>
      </p:pic>
      <p:pic>
        <p:nvPicPr>
          <p:cNvPr id="13" name="Picture 12">
            <a:extLst>
              <a:ext uri="{FF2B5EF4-FFF2-40B4-BE49-F238E27FC236}">
                <a16:creationId xmlns:a16="http://schemas.microsoft.com/office/drawing/2014/main" id="{27DBEBBC-CB73-D760-8F33-AD0EAE7FF056}"/>
              </a:ext>
            </a:extLst>
          </p:cNvPr>
          <p:cNvPicPr>
            <a:picLocks noChangeAspect="1"/>
          </p:cNvPicPr>
          <p:nvPr/>
        </p:nvPicPr>
        <p:blipFill>
          <a:blip r:embed="rId7"/>
          <a:stretch>
            <a:fillRect/>
          </a:stretch>
        </p:blipFill>
        <p:spPr>
          <a:xfrm>
            <a:off x="408469" y="2967737"/>
            <a:ext cx="3466280" cy="2766988"/>
          </a:xfrm>
          <a:prstGeom prst="rect">
            <a:avLst/>
          </a:prstGeom>
        </p:spPr>
      </p:pic>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8"/>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9"/>
          <a:stretch>
            <a:fillRect/>
          </a:stretch>
        </p:blipFill>
        <p:spPr>
          <a:xfrm>
            <a:off x="4504903" y="4394127"/>
            <a:ext cx="1609178" cy="1868560"/>
          </a:xfrm>
          <a:prstGeom prst="rect">
            <a:avLst/>
          </a:prstGeom>
        </p:spPr>
      </p:pic>
      <p:pic>
        <p:nvPicPr>
          <p:cNvPr id="19" name="Picture 18">
            <a:extLst>
              <a:ext uri="{FF2B5EF4-FFF2-40B4-BE49-F238E27FC236}">
                <a16:creationId xmlns:a16="http://schemas.microsoft.com/office/drawing/2014/main" id="{28D9486B-484D-4B77-55DB-714E19039780}"/>
              </a:ext>
            </a:extLst>
          </p:cNvPr>
          <p:cNvPicPr>
            <a:picLocks noChangeAspect="1"/>
          </p:cNvPicPr>
          <p:nvPr/>
        </p:nvPicPr>
        <p:blipFill>
          <a:blip r:embed="rId10"/>
          <a:stretch>
            <a:fillRect/>
          </a:stretch>
        </p:blipFill>
        <p:spPr>
          <a:xfrm>
            <a:off x="4420782" y="1951507"/>
            <a:ext cx="1751822" cy="1590940"/>
          </a:xfrm>
          <a:prstGeom prst="rect">
            <a:avLst/>
          </a:prstGeom>
        </p:spPr>
      </p:pic>
      <p:pic>
        <p:nvPicPr>
          <p:cNvPr id="22" name="Picture 21">
            <a:extLst>
              <a:ext uri="{FF2B5EF4-FFF2-40B4-BE49-F238E27FC236}">
                <a16:creationId xmlns:a16="http://schemas.microsoft.com/office/drawing/2014/main" id="{709D8E4A-DCD3-C723-0407-73210736AAAD}"/>
              </a:ext>
            </a:extLst>
          </p:cNvPr>
          <p:cNvPicPr>
            <a:picLocks noChangeAspect="1"/>
          </p:cNvPicPr>
          <p:nvPr/>
        </p:nvPicPr>
        <p:blipFill>
          <a:blip r:embed="rId11"/>
          <a:stretch>
            <a:fillRect/>
          </a:stretch>
        </p:blipFill>
        <p:spPr>
          <a:xfrm>
            <a:off x="4448549" y="4392915"/>
            <a:ext cx="1609178" cy="1845822"/>
          </a:xfrm>
          <a:prstGeom prst="rect">
            <a:avLst/>
          </a:prstGeom>
        </p:spPr>
      </p:pic>
      <p:pic>
        <p:nvPicPr>
          <p:cNvPr id="10" name="Picture 9">
            <a:extLst>
              <a:ext uri="{FF2B5EF4-FFF2-40B4-BE49-F238E27FC236}">
                <a16:creationId xmlns:a16="http://schemas.microsoft.com/office/drawing/2014/main" id="{806761C6-07F9-4AD6-12DF-A49429CF79CB}"/>
              </a:ext>
            </a:extLst>
          </p:cNvPr>
          <p:cNvPicPr>
            <a:picLocks noChangeAspect="1"/>
          </p:cNvPicPr>
          <p:nvPr/>
        </p:nvPicPr>
        <p:blipFill>
          <a:blip r:embed="rId12"/>
          <a:stretch>
            <a:fillRect/>
          </a:stretch>
        </p:blipFill>
        <p:spPr>
          <a:xfrm>
            <a:off x="260555" y="2833345"/>
            <a:ext cx="3785758" cy="3046452"/>
          </a:xfrm>
          <a:prstGeom prst="rect">
            <a:avLst/>
          </a:prstGeom>
        </p:spPr>
      </p:pic>
      <p:pic>
        <p:nvPicPr>
          <p:cNvPr id="25" name="Picture 24">
            <a:extLst>
              <a:ext uri="{FF2B5EF4-FFF2-40B4-BE49-F238E27FC236}">
                <a16:creationId xmlns:a16="http://schemas.microsoft.com/office/drawing/2014/main" id="{E2D8E91F-CF91-F099-B926-3735C0F4D497}"/>
              </a:ext>
            </a:extLst>
          </p:cNvPr>
          <p:cNvPicPr>
            <a:picLocks noChangeAspect="1"/>
          </p:cNvPicPr>
          <p:nvPr/>
        </p:nvPicPr>
        <p:blipFill rotWithShape="1">
          <a:blip r:embed="rId13"/>
          <a:srcRect l="5430" r="9353"/>
          <a:stretch/>
        </p:blipFill>
        <p:spPr>
          <a:xfrm>
            <a:off x="4378986" y="1860220"/>
            <a:ext cx="1816767" cy="1703642"/>
          </a:xfrm>
          <a:prstGeom prst="rect">
            <a:avLst/>
          </a:prstGeom>
        </p:spPr>
      </p:pic>
      <p:pic>
        <p:nvPicPr>
          <p:cNvPr id="28" name="Picture 27">
            <a:extLst>
              <a:ext uri="{FF2B5EF4-FFF2-40B4-BE49-F238E27FC236}">
                <a16:creationId xmlns:a16="http://schemas.microsoft.com/office/drawing/2014/main" id="{CA3E98F5-3D1A-BE92-C82C-CF781933A111}"/>
              </a:ext>
            </a:extLst>
          </p:cNvPr>
          <p:cNvPicPr>
            <a:picLocks noChangeAspect="1"/>
          </p:cNvPicPr>
          <p:nvPr/>
        </p:nvPicPr>
        <p:blipFill>
          <a:blip r:embed="rId14"/>
          <a:stretch>
            <a:fillRect/>
          </a:stretch>
        </p:blipFill>
        <p:spPr>
          <a:xfrm>
            <a:off x="4469679" y="4433215"/>
            <a:ext cx="1664596" cy="1845822"/>
          </a:xfrm>
          <a:prstGeom prst="rect">
            <a:avLst/>
          </a:prstGeom>
        </p:spPr>
      </p:pic>
    </p:spTree>
    <p:extLst>
      <p:ext uri="{BB962C8B-B14F-4D97-AF65-F5344CB8AC3E}">
        <p14:creationId xmlns:p14="http://schemas.microsoft.com/office/powerpoint/2010/main" val="25169424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Multi level metals: metal 1</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57"/>
            </a:pPr>
            <a:r>
              <a:rPr lang="en-US" sz="1200" b="1" dirty="0">
                <a:solidFill>
                  <a:schemeClr val="bg2">
                    <a:lumMod val="75000"/>
                  </a:schemeClr>
                </a:solidFill>
              </a:rPr>
              <a:t>Metal CMP</a:t>
            </a:r>
          </a:p>
          <a:p>
            <a:pPr marL="228600" indent="-228600">
              <a:buFont typeface="+mj-lt"/>
              <a:buAutoNum type="arabicPeriod" startAt="57"/>
            </a:pPr>
            <a:r>
              <a:rPr lang="en-US" sz="1200" b="1" dirty="0" err="1"/>
              <a:t>TiN+Al</a:t>
            </a:r>
            <a:r>
              <a:rPr lang="it-IT" sz="1200" b="1" dirty="0"/>
              <a:t>(Cu)</a:t>
            </a:r>
            <a:r>
              <a:rPr lang="en-US" sz="1200" b="1" dirty="0"/>
              <a:t> deposition</a:t>
            </a:r>
          </a:p>
          <a:p>
            <a:pPr marL="228600" indent="-228600">
              <a:buFont typeface="+mj-lt"/>
              <a:buAutoNum type="arabicPeriod" startAt="57"/>
            </a:pPr>
            <a:r>
              <a:rPr lang="en-US" sz="1200" b="1" dirty="0"/>
              <a:t>Photo </a:t>
            </a:r>
            <a:r>
              <a:rPr lang="en-US" sz="1200" b="1" dirty="0" err="1"/>
              <a:t>reist</a:t>
            </a:r>
            <a:r>
              <a:rPr lang="en-US" sz="1200" b="1" dirty="0"/>
              <a:t> spinning</a:t>
            </a:r>
          </a:p>
          <a:p>
            <a:pPr marL="228600" indent="-228600">
              <a:buFont typeface="+mj-lt"/>
              <a:buAutoNum type="arabicPeriod" startAt="57"/>
            </a:pPr>
            <a:r>
              <a:rPr lang="en-US" sz="1200" b="1" dirty="0"/>
              <a:t>Mask 10 exposure (Metal1)</a:t>
            </a:r>
          </a:p>
          <a:p>
            <a:pPr marL="228600" indent="-228600">
              <a:buFont typeface="+mj-lt"/>
              <a:buAutoNum type="arabicPeriod" startAt="57"/>
            </a:pPr>
            <a:r>
              <a:rPr lang="en-US" sz="1200" b="1" dirty="0"/>
              <a:t>Metal 1 etch</a:t>
            </a:r>
          </a:p>
          <a:p>
            <a:pPr marL="228600" indent="-228600">
              <a:buFont typeface="+mj-lt"/>
              <a:buAutoNum type="arabicPeriod" startAt="57"/>
            </a:pPr>
            <a:r>
              <a:rPr lang="en-US" sz="1200" b="1" dirty="0"/>
              <a:t>Resist strip</a:t>
            </a:r>
          </a:p>
          <a:p>
            <a:pPr marL="228600" indent="-228600">
              <a:buFont typeface="+mj-lt"/>
              <a:buAutoNum type="arabicPeriod" startAt="57"/>
            </a:pPr>
            <a:r>
              <a:rPr lang="en-US" sz="1200" b="1" dirty="0"/>
              <a:t>Surface clean</a:t>
            </a:r>
          </a:p>
          <a:p>
            <a:pPr marL="0" indent="0">
              <a:buNone/>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p>
          <a:p>
            <a:pPr marL="228600" indent="-228600">
              <a:buFont typeface="+mj-lt"/>
              <a:buAutoNum type="arabicPeriod" startAt="52"/>
            </a:pPr>
            <a:endParaRPr lang="en-US" sz="1200" b="1" dirty="0">
              <a:solidFill>
                <a:schemeClr val="bg2">
                  <a:lumMod val="75000"/>
                </a:schemeClr>
              </a:solidFill>
            </a:endParaRPr>
          </a:p>
          <a:p>
            <a:pPr marL="228600" indent="-228600">
              <a:buFont typeface="+mj-lt"/>
              <a:buAutoNum type="arabicPeriod" startAt="52"/>
            </a:pPr>
            <a:endParaRPr lang="en-US" sz="1200" b="1" dirty="0"/>
          </a:p>
          <a:p>
            <a:pPr marL="0" indent="0">
              <a:buNone/>
            </a:pPr>
            <a:endParaRPr lang="en-US" sz="1200" b="1" dirty="0"/>
          </a:p>
          <a:p>
            <a:pPr marL="228600" indent="-228600">
              <a:buFont typeface="+mj-lt"/>
              <a:buAutoNum type="arabicPeriod" startAt="42"/>
            </a:pPr>
            <a:endParaRPr lang="en-US" sz="1200" b="1" dirty="0"/>
          </a:p>
          <a:p>
            <a:pPr marL="342900" indent="-342900">
              <a:buFont typeface="+mj-lt"/>
              <a:buAutoNum type="arabicPeriod" startAt="42"/>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a:t>
            </a:r>
            <a:r>
              <a:rPr lang="en-US" dirty="0"/>
              <a:t>10</a:t>
            </a:r>
            <a:endParaRPr lang="en-US" sz="1800" dirty="0"/>
          </a:p>
        </p:txBody>
      </p:sp>
      <p:pic>
        <p:nvPicPr>
          <p:cNvPr id="12" name="Picture 11">
            <a:extLst>
              <a:ext uri="{FF2B5EF4-FFF2-40B4-BE49-F238E27FC236}">
                <a16:creationId xmlns:a16="http://schemas.microsoft.com/office/drawing/2014/main" id="{7669931C-C73A-28DA-4160-AD1CAC53C2F4}"/>
              </a:ext>
            </a:extLst>
          </p:cNvPr>
          <p:cNvPicPr>
            <a:picLocks noChangeAspect="1"/>
          </p:cNvPicPr>
          <p:nvPr/>
        </p:nvPicPr>
        <p:blipFill>
          <a:blip r:embed="rId2"/>
          <a:stretch>
            <a:fillRect/>
          </a:stretch>
        </p:blipFill>
        <p:spPr>
          <a:xfrm>
            <a:off x="549433" y="3156237"/>
            <a:ext cx="3565891" cy="2660268"/>
          </a:xfrm>
          <a:prstGeom prst="rect">
            <a:avLst/>
          </a:prstGeom>
        </p:spPr>
      </p:pic>
      <p:sp>
        <p:nvSpPr>
          <p:cNvPr id="7" name="TextBox 6">
            <a:extLst>
              <a:ext uri="{FF2B5EF4-FFF2-40B4-BE49-F238E27FC236}">
                <a16:creationId xmlns:a16="http://schemas.microsoft.com/office/drawing/2014/main" id="{916EF37A-15B8-5D6D-12CD-4052600CE5AC}"/>
              </a:ext>
            </a:extLst>
          </p:cNvPr>
          <p:cNvSpPr txBox="1"/>
          <p:nvPr/>
        </p:nvSpPr>
        <p:spPr>
          <a:xfrm>
            <a:off x="7881469" y="3944841"/>
            <a:ext cx="4450762" cy="2585323"/>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err="1"/>
              <a:t>TiN</a:t>
            </a:r>
            <a:r>
              <a:rPr lang="en-US" altLang="en-US" sz="1200" dirty="0"/>
              <a:t> +  Al stack is deposited (PVD </a:t>
            </a:r>
            <a:r>
              <a:rPr lang="en-US" altLang="en-US" sz="1200" dirty="0" err="1"/>
              <a:t>depostion</a:t>
            </a:r>
            <a:r>
              <a:rPr lang="en-US" altLang="en-US" sz="1200" dirty="0"/>
              <a:t>)</a:t>
            </a:r>
          </a:p>
          <a:p>
            <a:pPr marL="628650" lvl="1" indent="-171450">
              <a:spcBef>
                <a:spcPct val="50000"/>
              </a:spcBef>
              <a:buFont typeface="Arial" panose="020B0604020202020204" pitchFamily="34" charset="0"/>
              <a:buChar char="•"/>
            </a:pPr>
            <a:r>
              <a:rPr lang="en-US" altLang="en-US" sz="1200" dirty="0" err="1"/>
              <a:t>TiN</a:t>
            </a:r>
            <a:r>
              <a:rPr lang="en-US" altLang="en-US" sz="1200" dirty="0"/>
              <a:t> can act a as a shunt in case of Al cracks due to electromigration induced failures</a:t>
            </a:r>
          </a:p>
          <a:p>
            <a:pPr marL="628650" lvl="1" indent="-171450">
              <a:spcBef>
                <a:spcPct val="50000"/>
              </a:spcBef>
              <a:buFont typeface="Arial" panose="020B0604020202020204" pitchFamily="34" charset="0"/>
              <a:buChar char="•"/>
            </a:pPr>
            <a:r>
              <a:rPr lang="en-US" altLang="en-US" sz="1200" dirty="0"/>
              <a:t>Some Cu (few %) is usually added to Al to mitigate electromigration</a:t>
            </a:r>
          </a:p>
          <a:p>
            <a:pPr marL="171450" indent="-171450">
              <a:spcBef>
                <a:spcPct val="50000"/>
              </a:spcBef>
              <a:buFont typeface="Arial" panose="020B0604020202020204" pitchFamily="34" charset="0"/>
              <a:buChar char="•"/>
            </a:pPr>
            <a:r>
              <a:rPr lang="en-US" altLang="en-US" sz="1200" dirty="0"/>
              <a:t>Metal1 mask is exposed</a:t>
            </a:r>
          </a:p>
          <a:p>
            <a:pPr marL="171450" indent="-171450">
              <a:spcBef>
                <a:spcPct val="50000"/>
              </a:spcBef>
              <a:buFont typeface="Arial" panose="020B0604020202020204" pitchFamily="34" charset="0"/>
              <a:buChar char="•"/>
            </a:pPr>
            <a:r>
              <a:rPr lang="en-US" altLang="en-US" sz="1200" dirty="0" err="1"/>
              <a:t>Al+TiN</a:t>
            </a:r>
            <a:r>
              <a:rPr lang="en-US" altLang="en-US" sz="1200" dirty="0"/>
              <a:t> stack is dry etched to form desired metal1 interconnections</a:t>
            </a:r>
          </a:p>
          <a:p>
            <a:pPr marL="171450" indent="-171450">
              <a:spcBef>
                <a:spcPct val="50000"/>
              </a:spcBef>
              <a:buFont typeface="Arial" panose="020B0604020202020204" pitchFamily="34" charset="0"/>
              <a:buChar char="•"/>
            </a:pPr>
            <a:r>
              <a:rPr lang="en-US" altLang="en-US" sz="1200" dirty="0"/>
              <a:t>Etch by products cleaning (wet etch) is needed to avoid metal corrosion (due to Cl2 in etch chemistry) </a:t>
            </a:r>
          </a:p>
          <a:p>
            <a:pPr>
              <a:spcBef>
                <a:spcPct val="50000"/>
              </a:spcBef>
            </a:pPr>
            <a:endParaRPr lang="en-US" altLang="en-US" sz="1200" dirty="0"/>
          </a:p>
        </p:txBody>
      </p:sp>
      <p:pic>
        <p:nvPicPr>
          <p:cNvPr id="18" name="Picture 17">
            <a:extLst>
              <a:ext uri="{FF2B5EF4-FFF2-40B4-BE49-F238E27FC236}">
                <a16:creationId xmlns:a16="http://schemas.microsoft.com/office/drawing/2014/main" id="{02230F93-1981-D69C-EBD4-EE353B370486}"/>
              </a:ext>
            </a:extLst>
          </p:cNvPr>
          <p:cNvPicPr>
            <a:picLocks noChangeAspect="1"/>
          </p:cNvPicPr>
          <p:nvPr/>
        </p:nvPicPr>
        <p:blipFill rotWithShape="1">
          <a:blip r:embed="rId3"/>
          <a:srcRect l="662" t="5649" r="-662" b="6725"/>
          <a:stretch/>
        </p:blipFill>
        <p:spPr>
          <a:xfrm>
            <a:off x="4343234" y="1999747"/>
            <a:ext cx="1932516" cy="1569115"/>
          </a:xfrm>
          <a:prstGeom prst="rect">
            <a:avLst/>
          </a:prstGeom>
        </p:spPr>
      </p:pic>
      <p:pic>
        <p:nvPicPr>
          <p:cNvPr id="20" name="Picture 19">
            <a:extLst>
              <a:ext uri="{FF2B5EF4-FFF2-40B4-BE49-F238E27FC236}">
                <a16:creationId xmlns:a16="http://schemas.microsoft.com/office/drawing/2014/main" id="{618BEECD-5C04-36FC-5205-5B631399CCEE}"/>
              </a:ext>
            </a:extLst>
          </p:cNvPr>
          <p:cNvPicPr>
            <a:picLocks noChangeAspect="1"/>
          </p:cNvPicPr>
          <p:nvPr/>
        </p:nvPicPr>
        <p:blipFill>
          <a:blip r:embed="rId4"/>
          <a:stretch>
            <a:fillRect/>
          </a:stretch>
        </p:blipFill>
        <p:spPr>
          <a:xfrm>
            <a:off x="4504903" y="4394127"/>
            <a:ext cx="1609178" cy="1868560"/>
          </a:xfrm>
          <a:prstGeom prst="rect">
            <a:avLst/>
          </a:prstGeom>
        </p:spPr>
      </p:pic>
      <p:pic>
        <p:nvPicPr>
          <p:cNvPr id="19" name="Picture 18">
            <a:extLst>
              <a:ext uri="{FF2B5EF4-FFF2-40B4-BE49-F238E27FC236}">
                <a16:creationId xmlns:a16="http://schemas.microsoft.com/office/drawing/2014/main" id="{28D9486B-484D-4B77-55DB-714E19039780}"/>
              </a:ext>
            </a:extLst>
          </p:cNvPr>
          <p:cNvPicPr>
            <a:picLocks noChangeAspect="1"/>
          </p:cNvPicPr>
          <p:nvPr/>
        </p:nvPicPr>
        <p:blipFill>
          <a:blip r:embed="rId5"/>
          <a:stretch>
            <a:fillRect/>
          </a:stretch>
        </p:blipFill>
        <p:spPr>
          <a:xfrm>
            <a:off x="4420782" y="1951507"/>
            <a:ext cx="1751822" cy="1590940"/>
          </a:xfrm>
          <a:prstGeom prst="rect">
            <a:avLst/>
          </a:prstGeom>
        </p:spPr>
      </p:pic>
      <p:pic>
        <p:nvPicPr>
          <p:cNvPr id="22" name="Picture 21">
            <a:extLst>
              <a:ext uri="{FF2B5EF4-FFF2-40B4-BE49-F238E27FC236}">
                <a16:creationId xmlns:a16="http://schemas.microsoft.com/office/drawing/2014/main" id="{709D8E4A-DCD3-C723-0407-73210736AAAD}"/>
              </a:ext>
            </a:extLst>
          </p:cNvPr>
          <p:cNvPicPr>
            <a:picLocks noChangeAspect="1"/>
          </p:cNvPicPr>
          <p:nvPr/>
        </p:nvPicPr>
        <p:blipFill>
          <a:blip r:embed="rId6"/>
          <a:stretch>
            <a:fillRect/>
          </a:stretch>
        </p:blipFill>
        <p:spPr>
          <a:xfrm>
            <a:off x="4448549" y="4392915"/>
            <a:ext cx="1609178" cy="1845822"/>
          </a:xfrm>
          <a:prstGeom prst="rect">
            <a:avLst/>
          </a:prstGeom>
        </p:spPr>
      </p:pic>
      <p:pic>
        <p:nvPicPr>
          <p:cNvPr id="25" name="Picture 24">
            <a:extLst>
              <a:ext uri="{FF2B5EF4-FFF2-40B4-BE49-F238E27FC236}">
                <a16:creationId xmlns:a16="http://schemas.microsoft.com/office/drawing/2014/main" id="{E2D8E91F-CF91-F099-B926-3735C0F4D497}"/>
              </a:ext>
            </a:extLst>
          </p:cNvPr>
          <p:cNvPicPr>
            <a:picLocks noChangeAspect="1"/>
          </p:cNvPicPr>
          <p:nvPr/>
        </p:nvPicPr>
        <p:blipFill rotWithShape="1">
          <a:blip r:embed="rId7"/>
          <a:srcRect l="5430" r="9353"/>
          <a:stretch/>
        </p:blipFill>
        <p:spPr>
          <a:xfrm>
            <a:off x="4378986" y="1860220"/>
            <a:ext cx="1816767" cy="1703642"/>
          </a:xfrm>
          <a:prstGeom prst="rect">
            <a:avLst/>
          </a:prstGeom>
        </p:spPr>
      </p:pic>
      <p:pic>
        <p:nvPicPr>
          <p:cNvPr id="28" name="Picture 27">
            <a:extLst>
              <a:ext uri="{FF2B5EF4-FFF2-40B4-BE49-F238E27FC236}">
                <a16:creationId xmlns:a16="http://schemas.microsoft.com/office/drawing/2014/main" id="{CA3E98F5-3D1A-BE92-C82C-CF781933A111}"/>
              </a:ext>
            </a:extLst>
          </p:cNvPr>
          <p:cNvPicPr>
            <a:picLocks noChangeAspect="1"/>
          </p:cNvPicPr>
          <p:nvPr/>
        </p:nvPicPr>
        <p:blipFill>
          <a:blip r:embed="rId8"/>
          <a:stretch>
            <a:fillRect/>
          </a:stretch>
        </p:blipFill>
        <p:spPr>
          <a:xfrm>
            <a:off x="4469679" y="4433215"/>
            <a:ext cx="1664596" cy="1845822"/>
          </a:xfrm>
          <a:prstGeom prst="rect">
            <a:avLst/>
          </a:prstGeom>
        </p:spPr>
      </p:pic>
      <p:pic>
        <p:nvPicPr>
          <p:cNvPr id="15" name="Picture 14">
            <a:extLst>
              <a:ext uri="{FF2B5EF4-FFF2-40B4-BE49-F238E27FC236}">
                <a16:creationId xmlns:a16="http://schemas.microsoft.com/office/drawing/2014/main" id="{5496A9CD-864A-A520-D67D-9B17A6990F1E}"/>
              </a:ext>
            </a:extLst>
          </p:cNvPr>
          <p:cNvPicPr>
            <a:picLocks noChangeAspect="1"/>
          </p:cNvPicPr>
          <p:nvPr/>
        </p:nvPicPr>
        <p:blipFill>
          <a:blip r:embed="rId9"/>
          <a:stretch>
            <a:fillRect/>
          </a:stretch>
        </p:blipFill>
        <p:spPr>
          <a:xfrm>
            <a:off x="536766" y="2567023"/>
            <a:ext cx="3624525" cy="3225952"/>
          </a:xfrm>
          <a:prstGeom prst="rect">
            <a:avLst/>
          </a:prstGeom>
        </p:spPr>
      </p:pic>
      <p:pic>
        <p:nvPicPr>
          <p:cNvPr id="23" name="Picture 22">
            <a:extLst>
              <a:ext uri="{FF2B5EF4-FFF2-40B4-BE49-F238E27FC236}">
                <a16:creationId xmlns:a16="http://schemas.microsoft.com/office/drawing/2014/main" id="{4EFEC6C6-4BC8-C889-5C8B-016DA935B149}"/>
              </a:ext>
            </a:extLst>
          </p:cNvPr>
          <p:cNvPicPr>
            <a:picLocks noChangeAspect="1"/>
          </p:cNvPicPr>
          <p:nvPr/>
        </p:nvPicPr>
        <p:blipFill>
          <a:blip r:embed="rId10"/>
          <a:stretch>
            <a:fillRect/>
          </a:stretch>
        </p:blipFill>
        <p:spPr>
          <a:xfrm>
            <a:off x="4372556" y="1619529"/>
            <a:ext cx="1903194" cy="1869960"/>
          </a:xfrm>
          <a:prstGeom prst="rect">
            <a:avLst/>
          </a:prstGeom>
        </p:spPr>
      </p:pic>
      <p:pic>
        <p:nvPicPr>
          <p:cNvPr id="31" name="Content Placeholder 9">
            <a:extLst>
              <a:ext uri="{FF2B5EF4-FFF2-40B4-BE49-F238E27FC236}">
                <a16:creationId xmlns:a16="http://schemas.microsoft.com/office/drawing/2014/main" id="{72F8E14A-0D9C-82A2-ED24-D80DE33EC917}"/>
              </a:ext>
            </a:extLst>
          </p:cNvPr>
          <p:cNvPicPr>
            <a:picLocks noChangeAspect="1"/>
          </p:cNvPicPr>
          <p:nvPr/>
        </p:nvPicPr>
        <p:blipFill rotWithShape="1">
          <a:blip r:embed="rId11"/>
          <a:srcRect l="37217" t="19012" r="26665" b="12488"/>
          <a:stretch/>
        </p:blipFill>
        <p:spPr>
          <a:xfrm>
            <a:off x="6447210" y="4767678"/>
            <a:ext cx="1308535" cy="1861254"/>
          </a:xfrm>
          <a:prstGeom prst="rect">
            <a:avLst/>
          </a:prstGeom>
        </p:spPr>
      </p:pic>
      <p:sp>
        <p:nvSpPr>
          <p:cNvPr id="32" name="Rectangle 31">
            <a:extLst>
              <a:ext uri="{FF2B5EF4-FFF2-40B4-BE49-F238E27FC236}">
                <a16:creationId xmlns:a16="http://schemas.microsoft.com/office/drawing/2014/main" id="{48616DCE-B27E-E8BD-B708-3C393406F7F2}"/>
              </a:ext>
            </a:extLst>
          </p:cNvPr>
          <p:cNvSpPr/>
          <p:nvPr/>
        </p:nvSpPr>
        <p:spPr>
          <a:xfrm>
            <a:off x="6579394" y="4860131"/>
            <a:ext cx="1021556" cy="130969"/>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3" name="Rectangle 32">
            <a:extLst>
              <a:ext uri="{FF2B5EF4-FFF2-40B4-BE49-F238E27FC236}">
                <a16:creationId xmlns:a16="http://schemas.microsoft.com/office/drawing/2014/main" id="{9EE318B4-98BF-E2B2-03D3-A488BA5990E5}"/>
              </a:ext>
            </a:extLst>
          </p:cNvPr>
          <p:cNvSpPr/>
          <p:nvPr/>
        </p:nvSpPr>
        <p:spPr>
          <a:xfrm>
            <a:off x="6679999" y="6095000"/>
            <a:ext cx="176211" cy="163114"/>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4" name="Rectangle 33">
            <a:extLst>
              <a:ext uri="{FF2B5EF4-FFF2-40B4-BE49-F238E27FC236}">
                <a16:creationId xmlns:a16="http://schemas.microsoft.com/office/drawing/2014/main" id="{CE003FDD-E738-D44E-7DF2-A58AF1153F76}"/>
              </a:ext>
            </a:extLst>
          </p:cNvPr>
          <p:cNvSpPr/>
          <p:nvPr/>
        </p:nvSpPr>
        <p:spPr>
          <a:xfrm>
            <a:off x="6696076" y="4986338"/>
            <a:ext cx="133350" cy="545305"/>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5" name="Rectangle 34">
            <a:extLst>
              <a:ext uri="{FF2B5EF4-FFF2-40B4-BE49-F238E27FC236}">
                <a16:creationId xmlns:a16="http://schemas.microsoft.com/office/drawing/2014/main" id="{5AC3F282-D1E9-D818-2224-9C6B2D3482DF}"/>
              </a:ext>
            </a:extLst>
          </p:cNvPr>
          <p:cNvSpPr/>
          <p:nvPr/>
        </p:nvSpPr>
        <p:spPr>
          <a:xfrm>
            <a:off x="6987755" y="4986338"/>
            <a:ext cx="133350" cy="545305"/>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6" name="Rectangle 35">
            <a:extLst>
              <a:ext uri="{FF2B5EF4-FFF2-40B4-BE49-F238E27FC236}">
                <a16:creationId xmlns:a16="http://schemas.microsoft.com/office/drawing/2014/main" id="{4E2857D1-D5C8-9A96-0FF5-23DD255A5638}"/>
              </a:ext>
            </a:extLst>
          </p:cNvPr>
          <p:cNvSpPr/>
          <p:nvPr/>
        </p:nvSpPr>
        <p:spPr>
          <a:xfrm>
            <a:off x="7337799" y="5280099"/>
            <a:ext cx="133350" cy="1025752"/>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7" name="Rectangle 36">
            <a:extLst>
              <a:ext uri="{FF2B5EF4-FFF2-40B4-BE49-F238E27FC236}">
                <a16:creationId xmlns:a16="http://schemas.microsoft.com/office/drawing/2014/main" id="{7143D7F2-C28D-F027-D3D5-B611DFFB7A4F}"/>
              </a:ext>
            </a:extLst>
          </p:cNvPr>
          <p:cNvSpPr/>
          <p:nvPr/>
        </p:nvSpPr>
        <p:spPr>
          <a:xfrm rot="16200000">
            <a:off x="7021399" y="5984174"/>
            <a:ext cx="133350" cy="1025752"/>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8" name="Rectangle 37">
            <a:extLst>
              <a:ext uri="{FF2B5EF4-FFF2-40B4-BE49-F238E27FC236}">
                <a16:creationId xmlns:a16="http://schemas.microsoft.com/office/drawing/2014/main" id="{FC8D7F8C-73C4-3AE9-7BF0-7721A9DCC817}"/>
              </a:ext>
            </a:extLst>
          </p:cNvPr>
          <p:cNvSpPr/>
          <p:nvPr/>
        </p:nvSpPr>
        <p:spPr>
          <a:xfrm>
            <a:off x="6696076" y="6040729"/>
            <a:ext cx="133350" cy="393159"/>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9" name="Rectangle 38">
            <a:extLst>
              <a:ext uri="{FF2B5EF4-FFF2-40B4-BE49-F238E27FC236}">
                <a16:creationId xmlns:a16="http://schemas.microsoft.com/office/drawing/2014/main" id="{2F1DA188-5BBD-83E4-0B21-8E91B0EE4F51}"/>
              </a:ext>
            </a:extLst>
          </p:cNvPr>
          <p:cNvSpPr/>
          <p:nvPr/>
        </p:nvSpPr>
        <p:spPr>
          <a:xfrm>
            <a:off x="6985622" y="6046602"/>
            <a:ext cx="133350" cy="393159"/>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40" name="Rectangle 39">
            <a:extLst>
              <a:ext uri="{FF2B5EF4-FFF2-40B4-BE49-F238E27FC236}">
                <a16:creationId xmlns:a16="http://schemas.microsoft.com/office/drawing/2014/main" id="{31EDCAED-A3D0-A083-C18A-AA19AFB17AEF}"/>
              </a:ext>
            </a:extLst>
          </p:cNvPr>
          <p:cNvSpPr/>
          <p:nvPr/>
        </p:nvSpPr>
        <p:spPr>
          <a:xfrm rot="16200000">
            <a:off x="6903399" y="5515093"/>
            <a:ext cx="133350" cy="537857"/>
          </a:xfrm>
          <a:prstGeom prst="rect">
            <a:avLst/>
          </a:prstGeom>
          <a:solidFill>
            <a:srgbClr val="FFF2D2">
              <a:alpha val="50196"/>
            </a:srgbClr>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702373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Multi level metals: vias 1</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63"/>
            </a:pPr>
            <a:r>
              <a:rPr lang="en-US" sz="1200" b="1" dirty="0">
                <a:solidFill>
                  <a:schemeClr val="bg2">
                    <a:lumMod val="75000"/>
                  </a:schemeClr>
                </a:solidFill>
              </a:rPr>
              <a:t>Surface clean</a:t>
            </a:r>
          </a:p>
          <a:p>
            <a:pPr marL="228600" indent="-228600">
              <a:buFont typeface="+mj-lt"/>
              <a:buAutoNum type="arabicPeriod" startAt="63"/>
            </a:pPr>
            <a:r>
              <a:rPr lang="en-US" sz="1200" b="1" dirty="0"/>
              <a:t>IMD oxide deposition</a:t>
            </a:r>
          </a:p>
          <a:p>
            <a:pPr marL="228600" indent="-228600">
              <a:buFont typeface="+mj-lt"/>
              <a:buAutoNum type="arabicPeriod" startAt="63"/>
            </a:pPr>
            <a:r>
              <a:rPr lang="en-US" sz="1200" b="1" dirty="0"/>
              <a:t>IMD CMP</a:t>
            </a:r>
          </a:p>
          <a:p>
            <a:pPr marL="228600" indent="-228600">
              <a:buFont typeface="+mj-lt"/>
              <a:buAutoNum type="arabicPeriod" startAt="63"/>
            </a:pPr>
            <a:r>
              <a:rPr lang="en-US" sz="1200" b="1" dirty="0"/>
              <a:t>Photo resist spinning</a:t>
            </a:r>
          </a:p>
          <a:p>
            <a:pPr marL="228600" indent="-228600">
              <a:buFont typeface="+mj-lt"/>
              <a:buAutoNum type="arabicPeriod" startAt="63"/>
            </a:pPr>
            <a:r>
              <a:rPr lang="en-US" sz="1200" b="1" dirty="0"/>
              <a:t>Mask 11 exposure (Via1)</a:t>
            </a:r>
          </a:p>
          <a:p>
            <a:pPr marL="228600" indent="-228600">
              <a:buFont typeface="+mj-lt"/>
              <a:buAutoNum type="arabicPeriod" startAt="63"/>
            </a:pPr>
            <a:r>
              <a:rPr lang="en-US" sz="1200" b="1" dirty="0"/>
              <a:t>Via 1 dry etch</a:t>
            </a:r>
          </a:p>
          <a:p>
            <a:pPr marL="228600" indent="-228600">
              <a:buFont typeface="+mj-lt"/>
              <a:buAutoNum type="arabicPeriod" startAt="63"/>
            </a:pPr>
            <a:r>
              <a:rPr lang="en-US" sz="1200" b="1" dirty="0"/>
              <a:t>Resist stripping</a:t>
            </a:r>
          </a:p>
          <a:p>
            <a:pPr marL="0" indent="0">
              <a:buNone/>
            </a:pPr>
            <a:endParaRPr lang="en-US" sz="1200" b="1" dirty="0"/>
          </a:p>
          <a:p>
            <a:pPr marL="228600" indent="-228600">
              <a:buFont typeface="+mj-lt"/>
              <a:buAutoNum type="arabicPeriod" startAt="63"/>
            </a:pPr>
            <a:endParaRPr lang="en-US" sz="1200" b="1" dirty="0"/>
          </a:p>
          <a:p>
            <a:pPr marL="228600" indent="-228600">
              <a:buFont typeface="+mj-lt"/>
              <a:buAutoNum type="arabicPeriod" startAt="63"/>
            </a:pPr>
            <a:endParaRPr lang="en-US" sz="1200" b="1" dirty="0"/>
          </a:p>
          <a:p>
            <a:pPr marL="228600" indent="-228600">
              <a:buFont typeface="+mj-lt"/>
              <a:buAutoNum type="arabicPeriod" startAt="63"/>
            </a:pPr>
            <a:endParaRPr lang="en-US" sz="1200" b="1" dirty="0">
              <a:solidFill>
                <a:schemeClr val="bg2">
                  <a:lumMod val="75000"/>
                </a:schemeClr>
              </a:solidFill>
            </a:endParaRPr>
          </a:p>
          <a:p>
            <a:pPr marL="228600" indent="-228600">
              <a:buFont typeface="+mj-lt"/>
              <a:buAutoNum type="arabicPeriod" startAt="63"/>
            </a:pPr>
            <a:endParaRPr lang="en-US" sz="1200" b="1" dirty="0"/>
          </a:p>
          <a:p>
            <a:pPr marL="228600" indent="-228600">
              <a:buFont typeface="+mj-lt"/>
              <a:buAutoNum type="arabicPeriod" startAt="63"/>
            </a:pPr>
            <a:endParaRPr lang="en-US" sz="1200" b="1" dirty="0"/>
          </a:p>
          <a:p>
            <a:pPr marL="228600" indent="-228600">
              <a:buFont typeface="+mj-lt"/>
              <a:buAutoNum type="arabicPeriod" startAt="63"/>
            </a:pPr>
            <a:endParaRPr lang="en-US" sz="1200" b="1" dirty="0"/>
          </a:p>
          <a:p>
            <a:pPr marL="228600" indent="-228600">
              <a:buFont typeface="+mj-lt"/>
              <a:buAutoNum type="arabicPeriod" startAt="63"/>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a:t>
            </a:r>
            <a:r>
              <a:rPr lang="en-US" dirty="0"/>
              <a:t>11</a:t>
            </a:r>
            <a:endParaRPr lang="en-US" sz="1800" dirty="0"/>
          </a:p>
        </p:txBody>
      </p:sp>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2123658"/>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The contacts formation process is repeated once again (contact between metal layers are called vias=)</a:t>
            </a:r>
          </a:p>
          <a:p>
            <a:pPr marL="628650" lvl="1" indent="-171450">
              <a:spcBef>
                <a:spcPct val="50000"/>
              </a:spcBef>
              <a:buFont typeface="Arial" panose="020B0604020202020204" pitchFamily="34" charset="0"/>
              <a:buChar char="•"/>
            </a:pPr>
            <a:r>
              <a:rPr lang="en-US" altLang="en-US" sz="1200" dirty="0"/>
              <a:t>Inter-metal dielectric (IMD) silicon oxide is deposited and planarized by CMP</a:t>
            </a:r>
          </a:p>
          <a:p>
            <a:pPr marL="628650" lvl="1" indent="-171450">
              <a:spcBef>
                <a:spcPct val="50000"/>
              </a:spcBef>
              <a:buFont typeface="Arial" panose="020B0604020202020204" pitchFamily="34" charset="0"/>
              <a:buChar char="•"/>
            </a:pPr>
            <a:r>
              <a:rPr lang="en-US" altLang="en-US" sz="1200" dirty="0"/>
              <a:t>Via 1 mask is exposed and vias are dry etched</a:t>
            </a:r>
          </a:p>
          <a:p>
            <a:pPr marL="628650" lvl="1" indent="-171450">
              <a:spcBef>
                <a:spcPct val="50000"/>
              </a:spcBef>
              <a:buFont typeface="Arial" panose="020B0604020202020204" pitchFamily="34" charset="0"/>
              <a:buChar char="•"/>
            </a:pPr>
            <a:r>
              <a:rPr lang="en-US" altLang="en-US" sz="1200" dirty="0" err="1"/>
              <a:t>Ti+TiN</a:t>
            </a:r>
            <a:r>
              <a:rPr lang="en-US" altLang="en-US" sz="1200" dirty="0"/>
              <a:t> barrier layers are deposited</a:t>
            </a:r>
          </a:p>
          <a:p>
            <a:pPr marL="628650" lvl="1" indent="-171450">
              <a:spcBef>
                <a:spcPct val="50000"/>
              </a:spcBef>
              <a:buFont typeface="Arial" panose="020B0604020202020204" pitchFamily="34" charset="0"/>
              <a:buChar char="•"/>
            </a:pPr>
            <a:r>
              <a:rPr lang="en-US" altLang="en-US" sz="1200" dirty="0"/>
              <a:t>W is deposited</a:t>
            </a:r>
          </a:p>
          <a:p>
            <a:pPr marL="628650" lvl="1" indent="-171450">
              <a:spcBef>
                <a:spcPct val="50000"/>
              </a:spcBef>
              <a:buFont typeface="Arial" panose="020B0604020202020204" pitchFamily="34" charset="0"/>
              <a:buChar char="•"/>
            </a:pPr>
            <a:r>
              <a:rPr lang="en-US" altLang="en-US" sz="1200" dirty="0"/>
              <a:t>W and Ti/</a:t>
            </a:r>
            <a:r>
              <a:rPr lang="en-US" altLang="en-US" sz="1200" dirty="0" err="1"/>
              <a:t>TiN</a:t>
            </a:r>
            <a:r>
              <a:rPr lang="en-US" altLang="en-US" sz="1200" dirty="0"/>
              <a:t> are removed by CMP stopping on IMD silicon oxide</a:t>
            </a:r>
          </a:p>
        </p:txBody>
      </p:sp>
      <p:pic>
        <p:nvPicPr>
          <p:cNvPr id="3" name="Picture 2">
            <a:extLst>
              <a:ext uri="{FF2B5EF4-FFF2-40B4-BE49-F238E27FC236}">
                <a16:creationId xmlns:a16="http://schemas.microsoft.com/office/drawing/2014/main" id="{51EF7755-35EF-1E3D-9906-12853C44DAE2}"/>
              </a:ext>
            </a:extLst>
          </p:cNvPr>
          <p:cNvPicPr>
            <a:picLocks noChangeAspect="1"/>
          </p:cNvPicPr>
          <p:nvPr/>
        </p:nvPicPr>
        <p:blipFill>
          <a:blip r:embed="rId2"/>
          <a:stretch>
            <a:fillRect/>
          </a:stretch>
        </p:blipFill>
        <p:spPr>
          <a:xfrm>
            <a:off x="626185" y="2311078"/>
            <a:ext cx="3564332" cy="3437191"/>
          </a:xfrm>
          <a:prstGeom prst="rect">
            <a:avLst/>
          </a:prstGeom>
        </p:spPr>
      </p:pic>
      <p:pic>
        <p:nvPicPr>
          <p:cNvPr id="6" name="Picture 5">
            <a:extLst>
              <a:ext uri="{FF2B5EF4-FFF2-40B4-BE49-F238E27FC236}">
                <a16:creationId xmlns:a16="http://schemas.microsoft.com/office/drawing/2014/main" id="{29BBF1FA-F49F-4878-D001-C7D396913196}"/>
              </a:ext>
            </a:extLst>
          </p:cNvPr>
          <p:cNvPicPr>
            <a:picLocks noChangeAspect="1"/>
          </p:cNvPicPr>
          <p:nvPr/>
        </p:nvPicPr>
        <p:blipFill rotWithShape="1">
          <a:blip r:embed="rId3"/>
          <a:srcRect l="6393"/>
          <a:stretch/>
        </p:blipFill>
        <p:spPr>
          <a:xfrm>
            <a:off x="4530054" y="1729231"/>
            <a:ext cx="1645667" cy="1850160"/>
          </a:xfrm>
          <a:prstGeom prst="rect">
            <a:avLst/>
          </a:prstGeom>
        </p:spPr>
      </p:pic>
      <p:pic>
        <p:nvPicPr>
          <p:cNvPr id="8" name="Picture 7">
            <a:extLst>
              <a:ext uri="{FF2B5EF4-FFF2-40B4-BE49-F238E27FC236}">
                <a16:creationId xmlns:a16="http://schemas.microsoft.com/office/drawing/2014/main" id="{ADE47D17-449C-2EC7-84A0-250E15361704}"/>
              </a:ext>
            </a:extLst>
          </p:cNvPr>
          <p:cNvPicPr>
            <a:picLocks noChangeAspect="1"/>
          </p:cNvPicPr>
          <p:nvPr/>
        </p:nvPicPr>
        <p:blipFill>
          <a:blip r:embed="rId4"/>
          <a:stretch>
            <a:fillRect/>
          </a:stretch>
        </p:blipFill>
        <p:spPr>
          <a:xfrm>
            <a:off x="4678812" y="4349315"/>
            <a:ext cx="1392467" cy="1913372"/>
          </a:xfrm>
          <a:prstGeom prst="rect">
            <a:avLst/>
          </a:prstGeom>
        </p:spPr>
      </p:pic>
    </p:spTree>
    <p:extLst>
      <p:ext uri="{BB962C8B-B14F-4D97-AF65-F5344CB8AC3E}">
        <p14:creationId xmlns:p14="http://schemas.microsoft.com/office/powerpoint/2010/main" val="15314975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Multi level metals: vias 1</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68"/>
            </a:pPr>
            <a:r>
              <a:rPr lang="en-US" sz="1200" b="1" dirty="0"/>
              <a:t>Via 1 dry etch</a:t>
            </a:r>
          </a:p>
          <a:p>
            <a:pPr marL="228600" indent="-228600">
              <a:buFont typeface="+mj-lt"/>
              <a:buAutoNum type="arabicPeriod" startAt="68"/>
            </a:pPr>
            <a:r>
              <a:rPr lang="en-US" sz="1200" b="1" dirty="0"/>
              <a:t>Resist stripping</a:t>
            </a:r>
          </a:p>
          <a:p>
            <a:pPr marL="228600" indent="-228600">
              <a:buFont typeface="+mj-lt"/>
              <a:buAutoNum type="arabicPeriod" startAt="68"/>
            </a:pPr>
            <a:r>
              <a:rPr lang="en-US" sz="1200" b="1" dirty="0"/>
              <a:t>Ti/</a:t>
            </a:r>
            <a:r>
              <a:rPr lang="en-US" sz="1200" b="1" dirty="0" err="1"/>
              <a:t>TiN</a:t>
            </a:r>
            <a:r>
              <a:rPr lang="en-US" sz="1200" b="1" dirty="0"/>
              <a:t> deposition</a:t>
            </a:r>
          </a:p>
          <a:p>
            <a:pPr marL="228600" indent="-228600">
              <a:buFont typeface="+mj-lt"/>
              <a:buAutoNum type="arabicPeriod" startAt="68"/>
            </a:pPr>
            <a:r>
              <a:rPr lang="en-US" sz="1200" b="1" dirty="0"/>
              <a:t>W deposition</a:t>
            </a:r>
          </a:p>
          <a:p>
            <a:pPr marL="228600" indent="-228600">
              <a:buFont typeface="+mj-lt"/>
              <a:buAutoNum type="arabicPeriod" startAt="68"/>
            </a:pPr>
            <a:r>
              <a:rPr lang="en-US" sz="1200" b="1" dirty="0"/>
              <a:t>Metal CMP</a:t>
            </a:r>
          </a:p>
          <a:p>
            <a:pPr marL="228600" indent="-228600">
              <a:buFont typeface="+mj-lt"/>
              <a:buAutoNum type="arabicPeriod" startAt="68"/>
            </a:pPr>
            <a:r>
              <a:rPr lang="en-US" sz="1200" b="1" dirty="0" err="1">
                <a:solidFill>
                  <a:schemeClr val="bg2">
                    <a:lumMod val="75000"/>
                  </a:schemeClr>
                </a:solidFill>
              </a:rPr>
              <a:t>TiN</a:t>
            </a:r>
            <a:r>
              <a:rPr lang="en-US" sz="1200" b="1" dirty="0">
                <a:solidFill>
                  <a:schemeClr val="bg2">
                    <a:lumMod val="75000"/>
                  </a:schemeClr>
                </a:solidFill>
              </a:rPr>
              <a:t> + Al deposition</a:t>
            </a:r>
          </a:p>
          <a:p>
            <a:pPr marL="228600" indent="-228600">
              <a:buFont typeface="+mj-lt"/>
              <a:buAutoNum type="arabicPeriod" startAt="68"/>
            </a:pPr>
            <a:r>
              <a:rPr lang="en-US" sz="1200" b="1" dirty="0">
                <a:solidFill>
                  <a:schemeClr val="bg2">
                    <a:lumMod val="75000"/>
                  </a:schemeClr>
                </a:solidFill>
              </a:rPr>
              <a:t>Photo resist spinning</a:t>
            </a:r>
          </a:p>
          <a:p>
            <a:pPr marL="0" indent="0">
              <a:buNone/>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solidFill>
                <a:schemeClr val="bg2">
                  <a:lumMod val="75000"/>
                </a:schemeClr>
              </a:solidFill>
            </a:endParaRPr>
          </a:p>
          <a:p>
            <a:pPr marL="228600" indent="-228600">
              <a:buFont typeface="+mj-lt"/>
              <a:buAutoNum type="arabicPeriod" startAt="68"/>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p>
          <a:p>
            <a:pPr marL="228600" indent="-228600">
              <a:buFont typeface="+mj-lt"/>
              <a:buAutoNum type="arabicPeriod" startAt="68"/>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a:t>
            </a:r>
            <a:r>
              <a:rPr lang="en-US" dirty="0"/>
              <a:t>11</a:t>
            </a:r>
            <a:endParaRPr lang="en-US" sz="1800" dirty="0"/>
          </a:p>
        </p:txBody>
      </p:sp>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1384995"/>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The contacts formation process is repeated once again (contact between metal layers are called vias=)</a:t>
            </a:r>
          </a:p>
          <a:p>
            <a:pPr marL="628650" lvl="1" indent="-171450">
              <a:spcBef>
                <a:spcPct val="50000"/>
              </a:spcBef>
              <a:buFont typeface="Arial" panose="020B0604020202020204" pitchFamily="34" charset="0"/>
              <a:buChar char="•"/>
            </a:pPr>
            <a:r>
              <a:rPr lang="en-US" altLang="en-US" sz="1200" dirty="0"/>
              <a:t>Inter-metal dielectric (IMD) silicon oxide is deposited and planarized by CMP</a:t>
            </a:r>
          </a:p>
          <a:p>
            <a:pPr marL="628650" lvl="1" indent="-171450">
              <a:spcBef>
                <a:spcPct val="50000"/>
              </a:spcBef>
              <a:buFont typeface="Arial" panose="020B0604020202020204" pitchFamily="34" charset="0"/>
              <a:buChar char="•"/>
            </a:pPr>
            <a:r>
              <a:rPr lang="en-US" altLang="en-US" sz="1200" dirty="0"/>
              <a:t>Via 1 mask is exposed and vias are dry etched</a:t>
            </a:r>
          </a:p>
          <a:p>
            <a:pPr marL="628650" lvl="1" indent="-171450">
              <a:spcBef>
                <a:spcPct val="50000"/>
              </a:spcBef>
              <a:buFont typeface="Arial" panose="020B0604020202020204" pitchFamily="34" charset="0"/>
              <a:buChar char="•"/>
            </a:pPr>
            <a:r>
              <a:rPr lang="en-US" altLang="en-US" sz="1200" dirty="0" err="1"/>
              <a:t>Ti+TiN</a:t>
            </a:r>
            <a:r>
              <a:rPr lang="en-US" altLang="en-US" sz="1200" dirty="0"/>
              <a:t> barrier layers are deposited</a:t>
            </a:r>
          </a:p>
        </p:txBody>
      </p:sp>
      <p:sp>
        <p:nvSpPr>
          <p:cNvPr id="3" name="TextBox 2">
            <a:extLst>
              <a:ext uri="{FF2B5EF4-FFF2-40B4-BE49-F238E27FC236}">
                <a16:creationId xmlns:a16="http://schemas.microsoft.com/office/drawing/2014/main" id="{B88D655F-1B03-AE49-38BA-F1286AF98910}"/>
              </a:ext>
            </a:extLst>
          </p:cNvPr>
          <p:cNvSpPr txBox="1"/>
          <p:nvPr/>
        </p:nvSpPr>
        <p:spPr>
          <a:xfrm>
            <a:off x="7239000" y="3931250"/>
            <a:ext cx="4450762" cy="2123658"/>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The contacts formation process is repeated once again (contact between metal layers are called vias=)</a:t>
            </a:r>
          </a:p>
          <a:p>
            <a:pPr marL="628650" lvl="1" indent="-171450">
              <a:spcBef>
                <a:spcPct val="50000"/>
              </a:spcBef>
              <a:buFont typeface="Arial" panose="020B0604020202020204" pitchFamily="34" charset="0"/>
              <a:buChar char="•"/>
            </a:pPr>
            <a:r>
              <a:rPr lang="en-US" altLang="en-US" sz="1200" dirty="0"/>
              <a:t>Inter-metal dielectric (IMD) silicon oxide is deposited and planarized by CMP</a:t>
            </a:r>
          </a:p>
          <a:p>
            <a:pPr marL="628650" lvl="1" indent="-171450">
              <a:spcBef>
                <a:spcPct val="50000"/>
              </a:spcBef>
              <a:buFont typeface="Arial" panose="020B0604020202020204" pitchFamily="34" charset="0"/>
              <a:buChar char="•"/>
            </a:pPr>
            <a:r>
              <a:rPr lang="en-US" altLang="en-US" sz="1200" dirty="0"/>
              <a:t>Via 1 mask is exposed and vias are dry etched</a:t>
            </a:r>
          </a:p>
          <a:p>
            <a:pPr marL="628650" lvl="1" indent="-171450">
              <a:spcBef>
                <a:spcPct val="50000"/>
              </a:spcBef>
              <a:buFont typeface="Arial" panose="020B0604020202020204" pitchFamily="34" charset="0"/>
              <a:buChar char="•"/>
            </a:pPr>
            <a:r>
              <a:rPr lang="en-US" altLang="en-US" sz="1200" dirty="0" err="1"/>
              <a:t>Ti+TiN</a:t>
            </a:r>
            <a:r>
              <a:rPr lang="en-US" altLang="en-US" sz="1200" dirty="0"/>
              <a:t> barrier layers are deposited</a:t>
            </a:r>
          </a:p>
          <a:p>
            <a:pPr marL="628650" lvl="1" indent="-171450">
              <a:spcBef>
                <a:spcPct val="50000"/>
              </a:spcBef>
              <a:buFont typeface="Arial" panose="020B0604020202020204" pitchFamily="34" charset="0"/>
              <a:buChar char="•"/>
            </a:pPr>
            <a:r>
              <a:rPr lang="en-US" altLang="en-US" sz="1200" dirty="0"/>
              <a:t>W is deposited</a:t>
            </a:r>
          </a:p>
          <a:p>
            <a:pPr marL="628650" lvl="1" indent="-171450">
              <a:spcBef>
                <a:spcPct val="50000"/>
              </a:spcBef>
              <a:buFont typeface="Arial" panose="020B0604020202020204" pitchFamily="34" charset="0"/>
              <a:buChar char="•"/>
            </a:pPr>
            <a:r>
              <a:rPr lang="en-US" altLang="en-US" sz="1200" dirty="0"/>
              <a:t>W and Ti/</a:t>
            </a:r>
            <a:r>
              <a:rPr lang="en-US" altLang="en-US" sz="1200" dirty="0" err="1"/>
              <a:t>TiN</a:t>
            </a:r>
            <a:r>
              <a:rPr lang="en-US" altLang="en-US" sz="1200" dirty="0"/>
              <a:t> are removed by CMP stopping on IMD silicon oxide</a:t>
            </a:r>
          </a:p>
        </p:txBody>
      </p:sp>
      <p:pic>
        <p:nvPicPr>
          <p:cNvPr id="6" name="Picture 5">
            <a:extLst>
              <a:ext uri="{FF2B5EF4-FFF2-40B4-BE49-F238E27FC236}">
                <a16:creationId xmlns:a16="http://schemas.microsoft.com/office/drawing/2014/main" id="{581BDED5-7072-292C-B2F3-E47A59EB3882}"/>
              </a:ext>
            </a:extLst>
          </p:cNvPr>
          <p:cNvPicPr>
            <a:picLocks noChangeAspect="1"/>
          </p:cNvPicPr>
          <p:nvPr/>
        </p:nvPicPr>
        <p:blipFill>
          <a:blip r:embed="rId2"/>
          <a:stretch>
            <a:fillRect/>
          </a:stretch>
        </p:blipFill>
        <p:spPr>
          <a:xfrm>
            <a:off x="626185" y="2311078"/>
            <a:ext cx="3564332" cy="3437191"/>
          </a:xfrm>
          <a:prstGeom prst="rect">
            <a:avLst/>
          </a:prstGeom>
        </p:spPr>
      </p:pic>
      <p:pic>
        <p:nvPicPr>
          <p:cNvPr id="9" name="Picture 8">
            <a:extLst>
              <a:ext uri="{FF2B5EF4-FFF2-40B4-BE49-F238E27FC236}">
                <a16:creationId xmlns:a16="http://schemas.microsoft.com/office/drawing/2014/main" id="{68DD5FE8-146C-414F-0F93-90AB181846FF}"/>
              </a:ext>
            </a:extLst>
          </p:cNvPr>
          <p:cNvPicPr>
            <a:picLocks noChangeAspect="1"/>
          </p:cNvPicPr>
          <p:nvPr/>
        </p:nvPicPr>
        <p:blipFill rotWithShape="1">
          <a:blip r:embed="rId3"/>
          <a:srcRect l="6393"/>
          <a:stretch/>
        </p:blipFill>
        <p:spPr>
          <a:xfrm>
            <a:off x="4530054" y="1729231"/>
            <a:ext cx="1645667" cy="1850160"/>
          </a:xfrm>
          <a:prstGeom prst="rect">
            <a:avLst/>
          </a:prstGeom>
        </p:spPr>
      </p:pic>
      <p:pic>
        <p:nvPicPr>
          <p:cNvPr id="12" name="Picture 11">
            <a:extLst>
              <a:ext uri="{FF2B5EF4-FFF2-40B4-BE49-F238E27FC236}">
                <a16:creationId xmlns:a16="http://schemas.microsoft.com/office/drawing/2014/main" id="{78AE65E6-4423-73BD-2F74-7B4CDFFB7371}"/>
              </a:ext>
            </a:extLst>
          </p:cNvPr>
          <p:cNvPicPr>
            <a:picLocks noChangeAspect="1"/>
          </p:cNvPicPr>
          <p:nvPr/>
        </p:nvPicPr>
        <p:blipFill>
          <a:blip r:embed="rId4"/>
          <a:stretch>
            <a:fillRect/>
          </a:stretch>
        </p:blipFill>
        <p:spPr>
          <a:xfrm>
            <a:off x="4678812" y="4349315"/>
            <a:ext cx="1392467" cy="1913372"/>
          </a:xfrm>
          <a:prstGeom prst="rect">
            <a:avLst/>
          </a:prstGeom>
        </p:spPr>
      </p:pic>
    </p:spTree>
    <p:extLst>
      <p:ext uri="{BB962C8B-B14F-4D97-AF65-F5344CB8AC3E}">
        <p14:creationId xmlns:p14="http://schemas.microsoft.com/office/powerpoint/2010/main" val="4810235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36B1D1-1396-E6A2-3416-2C3A85FC8DA8}"/>
              </a:ext>
            </a:extLst>
          </p:cNvPr>
          <p:cNvSpPr/>
          <p:nvPr/>
        </p:nvSpPr>
        <p:spPr>
          <a:xfrm>
            <a:off x="4297363" y="393125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800C4114-FDC9-5AEA-0996-11792072D1A6}"/>
              </a:ext>
            </a:extLst>
          </p:cNvPr>
          <p:cNvSpPr/>
          <p:nvPr/>
        </p:nvSpPr>
        <p:spPr>
          <a:xfrm>
            <a:off x="180559" y="1477537"/>
            <a:ext cx="4022195" cy="456319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4" name="Rectangle 23">
            <a:extLst>
              <a:ext uri="{FF2B5EF4-FFF2-40B4-BE49-F238E27FC236}">
                <a16:creationId xmlns:a16="http://schemas.microsoft.com/office/drawing/2014/main" id="{833243BC-8C62-1C3B-779F-1BF781383395}"/>
              </a:ext>
            </a:extLst>
          </p:cNvPr>
          <p:cNvSpPr/>
          <p:nvPr/>
        </p:nvSpPr>
        <p:spPr>
          <a:xfrm>
            <a:off x="4297363" y="1236060"/>
            <a:ext cx="1998661" cy="2363212"/>
          </a:xfrm>
          <a:prstGeom prst="rect">
            <a:avLst/>
          </a:prstGeom>
          <a:solidFill>
            <a:srgbClr val="CCCCC9"/>
          </a:solidFill>
          <a:ln w="38100" cap="sq">
            <a:no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a:xfrm>
            <a:off x="484630" y="484632"/>
            <a:ext cx="6754370" cy="530352"/>
          </a:xfrm>
        </p:spPr>
        <p:txBody>
          <a:bodyPr/>
          <a:lstStyle/>
          <a:p>
            <a:r>
              <a:rPr lang="en-US" dirty="0"/>
              <a:t>Multi level metals: bonding pads</a:t>
            </a:r>
          </a:p>
        </p:txBody>
      </p:sp>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297277"/>
          </a:xfrm>
          <a:solidFill>
            <a:schemeClr val="accent3">
              <a:lumMod val="20000"/>
              <a:lumOff val="80000"/>
            </a:schemeClr>
          </a:solidFill>
        </p:spPr>
        <p:txBody>
          <a:bodyPr/>
          <a:lstStyle/>
          <a:p>
            <a:pPr marL="228600" indent="-228600">
              <a:buFont typeface="+mj-lt"/>
              <a:buAutoNum type="arabicPeriod" startAt="71"/>
            </a:pPr>
            <a:r>
              <a:rPr lang="en-US" sz="1200" b="1" dirty="0">
                <a:solidFill>
                  <a:schemeClr val="bg2">
                    <a:lumMod val="75000"/>
                  </a:schemeClr>
                </a:solidFill>
              </a:rPr>
              <a:t>W deposition</a:t>
            </a:r>
          </a:p>
          <a:p>
            <a:pPr marL="228600" indent="-228600">
              <a:buFont typeface="+mj-lt"/>
              <a:buAutoNum type="arabicPeriod" startAt="71"/>
            </a:pPr>
            <a:r>
              <a:rPr lang="en-US" sz="1200" b="1" dirty="0">
                <a:solidFill>
                  <a:schemeClr val="bg2">
                    <a:lumMod val="75000"/>
                  </a:schemeClr>
                </a:solidFill>
              </a:rPr>
              <a:t>Metal CMP</a:t>
            </a:r>
          </a:p>
          <a:p>
            <a:pPr marL="228600" indent="-228600">
              <a:buFont typeface="+mj-lt"/>
              <a:buAutoNum type="arabicPeriod" startAt="71"/>
            </a:pPr>
            <a:r>
              <a:rPr lang="en-US" sz="1200" b="1" dirty="0" err="1"/>
              <a:t>TiN</a:t>
            </a:r>
            <a:r>
              <a:rPr lang="en-US" sz="1200" b="1" dirty="0"/>
              <a:t> + Al deposition</a:t>
            </a:r>
          </a:p>
          <a:p>
            <a:pPr marL="228600" indent="-228600">
              <a:buFont typeface="+mj-lt"/>
              <a:buAutoNum type="arabicPeriod" startAt="71"/>
            </a:pPr>
            <a:r>
              <a:rPr lang="en-US" sz="1200" b="1" dirty="0"/>
              <a:t>Photo resist spinning</a:t>
            </a:r>
          </a:p>
          <a:p>
            <a:pPr marL="228600" indent="-228600">
              <a:buFont typeface="+mj-lt"/>
              <a:buAutoNum type="arabicPeriod" startAt="71"/>
            </a:pPr>
            <a:r>
              <a:rPr lang="en-US" sz="1200" b="1" dirty="0"/>
              <a:t>Mask 12 exposure (Bonding pads)</a:t>
            </a:r>
          </a:p>
          <a:p>
            <a:pPr marL="228600" indent="-228600">
              <a:buFont typeface="+mj-lt"/>
              <a:buAutoNum type="arabicPeriod" startAt="71"/>
            </a:pPr>
            <a:r>
              <a:rPr lang="en-US" sz="1200" b="1" dirty="0"/>
              <a:t>Bonding pad dry etch</a:t>
            </a:r>
          </a:p>
          <a:p>
            <a:pPr marL="228600" indent="-228600">
              <a:buFont typeface="+mj-lt"/>
              <a:buAutoNum type="arabicPeriod" startAt="71"/>
            </a:pPr>
            <a:r>
              <a:rPr lang="en-US" sz="1200" b="1" dirty="0"/>
              <a:t>Surface clean</a:t>
            </a:r>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solidFill>
                <a:schemeClr val="bg2">
                  <a:lumMod val="75000"/>
                </a:schemeClr>
              </a:solidFill>
            </a:endParaRPr>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p>
          <a:p>
            <a:pPr marL="228600" indent="-228600">
              <a:buFont typeface="+mj-lt"/>
              <a:buAutoNum type="arabicPeriod" startAt="71"/>
            </a:pPr>
            <a:endParaRPr lang="en-US" sz="1200" b="1" dirty="0">
              <a:solidFill>
                <a:schemeClr val="bg2">
                  <a:lumMod val="75000"/>
                </a:schemeClr>
              </a:solidFill>
            </a:endParaRP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a:t>
            </a:r>
            <a:r>
              <a:rPr lang="en-US" dirty="0"/>
              <a:t>12</a:t>
            </a:r>
            <a:endParaRPr lang="en-US" sz="1800" dirty="0"/>
          </a:p>
        </p:txBody>
      </p:sp>
      <p:sp>
        <p:nvSpPr>
          <p:cNvPr id="7" name="TextBox 6">
            <a:extLst>
              <a:ext uri="{FF2B5EF4-FFF2-40B4-BE49-F238E27FC236}">
                <a16:creationId xmlns:a16="http://schemas.microsoft.com/office/drawing/2014/main" id="{916EF37A-15B8-5D6D-12CD-4052600CE5AC}"/>
              </a:ext>
            </a:extLst>
          </p:cNvPr>
          <p:cNvSpPr txBox="1"/>
          <p:nvPr/>
        </p:nvSpPr>
        <p:spPr>
          <a:xfrm>
            <a:off x="7239000" y="3931250"/>
            <a:ext cx="4450762" cy="1535036"/>
          </a:xfrm>
          <a:prstGeom prst="rect">
            <a:avLst/>
          </a:prstGeom>
          <a:noFill/>
        </p:spPr>
        <p:txBody>
          <a:bodyPr wrap="square" lIns="0" tIns="0" rIns="0" bIns="0" rtlCol="0">
            <a:spAutoFit/>
          </a:bodyPr>
          <a:lstStyle/>
          <a:p>
            <a:pPr marL="171450" indent="-171450">
              <a:spcBef>
                <a:spcPct val="50000"/>
              </a:spcBef>
              <a:buFont typeface="Arial" panose="020B0604020202020204" pitchFamily="34" charset="0"/>
              <a:buChar char="•"/>
            </a:pPr>
            <a:r>
              <a:rPr lang="en-US" altLang="en-US" sz="1200" dirty="0"/>
              <a:t>Last level of metal (bonding pads) is formed (same as metal1):</a:t>
            </a:r>
          </a:p>
          <a:p>
            <a:pPr marL="628650" lvl="1" indent="-171450">
              <a:spcBef>
                <a:spcPct val="50000"/>
              </a:spcBef>
              <a:buFont typeface="Arial" panose="020B0604020202020204" pitchFamily="34" charset="0"/>
              <a:buChar char="•"/>
            </a:pPr>
            <a:r>
              <a:rPr lang="en-US" altLang="en-US" sz="1200" dirty="0" err="1"/>
              <a:t>TiN</a:t>
            </a:r>
            <a:r>
              <a:rPr lang="en-US" altLang="en-US" sz="1200" dirty="0"/>
              <a:t> + Al deposition</a:t>
            </a:r>
          </a:p>
          <a:p>
            <a:pPr marL="628650" lvl="1" indent="-171450">
              <a:spcBef>
                <a:spcPct val="50000"/>
              </a:spcBef>
              <a:buFont typeface="Arial" panose="020B0604020202020204" pitchFamily="34" charset="0"/>
              <a:buChar char="•"/>
            </a:pPr>
            <a:r>
              <a:rPr lang="en-US" altLang="en-US" sz="1200" dirty="0"/>
              <a:t>Bonding pad mask exposure</a:t>
            </a:r>
          </a:p>
          <a:p>
            <a:pPr marL="628650" lvl="1" indent="-171450">
              <a:spcBef>
                <a:spcPct val="50000"/>
              </a:spcBef>
              <a:buFont typeface="Arial" panose="020B0604020202020204" pitchFamily="34" charset="0"/>
              <a:buChar char="•"/>
            </a:pPr>
            <a:r>
              <a:rPr lang="en-US" altLang="en-US" sz="1200" dirty="0"/>
              <a:t>Metal dry etching</a:t>
            </a:r>
          </a:p>
          <a:p>
            <a:pPr marL="628650" lvl="1" indent="-171450">
              <a:spcBef>
                <a:spcPct val="50000"/>
              </a:spcBef>
              <a:buFont typeface="Arial" panose="020B0604020202020204" pitchFamily="34" charset="0"/>
              <a:buChar char="•"/>
            </a:pPr>
            <a:r>
              <a:rPr lang="en-US" altLang="en-US" sz="1200" dirty="0"/>
              <a:t>Surface clean</a:t>
            </a:r>
          </a:p>
          <a:p>
            <a:pPr>
              <a:spcBef>
                <a:spcPct val="50000"/>
              </a:spcBef>
            </a:pPr>
            <a:r>
              <a:rPr lang="en-US" altLang="en-US" sz="1050" i="1" dirty="0"/>
              <a:t>Note: only two of the four needed bonding pads are shown in the pictures</a:t>
            </a:r>
          </a:p>
        </p:txBody>
      </p:sp>
      <p:pic>
        <p:nvPicPr>
          <p:cNvPr id="6" name="Picture 5">
            <a:extLst>
              <a:ext uri="{FF2B5EF4-FFF2-40B4-BE49-F238E27FC236}">
                <a16:creationId xmlns:a16="http://schemas.microsoft.com/office/drawing/2014/main" id="{581BDED5-7072-292C-B2F3-E47A59EB3882}"/>
              </a:ext>
            </a:extLst>
          </p:cNvPr>
          <p:cNvPicPr>
            <a:picLocks noChangeAspect="1"/>
          </p:cNvPicPr>
          <p:nvPr/>
        </p:nvPicPr>
        <p:blipFill>
          <a:blip r:embed="rId2"/>
          <a:stretch>
            <a:fillRect/>
          </a:stretch>
        </p:blipFill>
        <p:spPr>
          <a:xfrm>
            <a:off x="626185" y="2311078"/>
            <a:ext cx="3564332" cy="3437191"/>
          </a:xfrm>
          <a:prstGeom prst="rect">
            <a:avLst/>
          </a:prstGeom>
        </p:spPr>
      </p:pic>
      <p:pic>
        <p:nvPicPr>
          <p:cNvPr id="9" name="Picture 8">
            <a:extLst>
              <a:ext uri="{FF2B5EF4-FFF2-40B4-BE49-F238E27FC236}">
                <a16:creationId xmlns:a16="http://schemas.microsoft.com/office/drawing/2014/main" id="{68DD5FE8-146C-414F-0F93-90AB181846FF}"/>
              </a:ext>
            </a:extLst>
          </p:cNvPr>
          <p:cNvPicPr>
            <a:picLocks noChangeAspect="1"/>
          </p:cNvPicPr>
          <p:nvPr/>
        </p:nvPicPr>
        <p:blipFill rotWithShape="1">
          <a:blip r:embed="rId3"/>
          <a:srcRect l="6393"/>
          <a:stretch/>
        </p:blipFill>
        <p:spPr>
          <a:xfrm>
            <a:off x="4530054" y="1729231"/>
            <a:ext cx="1645667" cy="1850160"/>
          </a:xfrm>
          <a:prstGeom prst="rect">
            <a:avLst/>
          </a:prstGeom>
        </p:spPr>
      </p:pic>
      <p:pic>
        <p:nvPicPr>
          <p:cNvPr id="12" name="Picture 11">
            <a:extLst>
              <a:ext uri="{FF2B5EF4-FFF2-40B4-BE49-F238E27FC236}">
                <a16:creationId xmlns:a16="http://schemas.microsoft.com/office/drawing/2014/main" id="{78AE65E6-4423-73BD-2F74-7B4CDFFB7371}"/>
              </a:ext>
            </a:extLst>
          </p:cNvPr>
          <p:cNvPicPr>
            <a:picLocks noChangeAspect="1"/>
          </p:cNvPicPr>
          <p:nvPr/>
        </p:nvPicPr>
        <p:blipFill>
          <a:blip r:embed="rId4"/>
          <a:stretch>
            <a:fillRect/>
          </a:stretch>
        </p:blipFill>
        <p:spPr>
          <a:xfrm>
            <a:off x="4678812" y="4349315"/>
            <a:ext cx="1392467" cy="1913372"/>
          </a:xfrm>
          <a:prstGeom prst="rect">
            <a:avLst/>
          </a:prstGeom>
        </p:spPr>
      </p:pic>
      <p:pic>
        <p:nvPicPr>
          <p:cNvPr id="10" name="Picture 9">
            <a:extLst>
              <a:ext uri="{FF2B5EF4-FFF2-40B4-BE49-F238E27FC236}">
                <a16:creationId xmlns:a16="http://schemas.microsoft.com/office/drawing/2014/main" id="{DD91B447-B257-704F-33A1-4341CB745CDD}"/>
              </a:ext>
            </a:extLst>
          </p:cNvPr>
          <p:cNvPicPr>
            <a:picLocks noChangeAspect="1"/>
          </p:cNvPicPr>
          <p:nvPr/>
        </p:nvPicPr>
        <p:blipFill>
          <a:blip r:embed="rId5"/>
          <a:stretch>
            <a:fillRect/>
          </a:stretch>
        </p:blipFill>
        <p:spPr>
          <a:xfrm>
            <a:off x="396088" y="1883689"/>
            <a:ext cx="3780972" cy="3864580"/>
          </a:xfrm>
          <a:prstGeom prst="rect">
            <a:avLst/>
          </a:prstGeom>
        </p:spPr>
      </p:pic>
    </p:spTree>
    <p:extLst>
      <p:ext uri="{BB962C8B-B14F-4D97-AF65-F5344CB8AC3E}">
        <p14:creationId xmlns:p14="http://schemas.microsoft.com/office/powerpoint/2010/main" val="2107952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33243BC-8C62-1C3B-779F-1BF781383395}"/>
              </a:ext>
            </a:extLst>
          </p:cNvPr>
          <p:cNvSpPr/>
          <p:nvPr/>
        </p:nvSpPr>
        <p:spPr>
          <a:xfrm>
            <a:off x="4417436" y="3715256"/>
            <a:ext cx="1998661" cy="2363212"/>
          </a:xfrm>
          <a:prstGeom prst="rect">
            <a:avLst/>
          </a:prstGeom>
          <a:solidFill>
            <a:srgbClr val="CCCCC9"/>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548D7C39-C8ED-7C5E-81E8-E5E3E91A8209}"/>
              </a:ext>
            </a:extLst>
          </p:cNvPr>
          <p:cNvSpPr>
            <a:spLocks noGrp="1"/>
          </p:cNvSpPr>
          <p:nvPr>
            <p:ph type="title"/>
          </p:nvPr>
        </p:nvSpPr>
        <p:spPr/>
        <p:txBody>
          <a:bodyPr/>
          <a:lstStyle/>
          <a:p>
            <a:r>
              <a:rPr lang="en-US" dirty="0"/>
              <a:t>Passivation and pad opening</a:t>
            </a:r>
          </a:p>
        </p:txBody>
      </p:sp>
      <p:pic>
        <p:nvPicPr>
          <p:cNvPr id="8" name="Content Placeholder 7">
            <a:extLst>
              <a:ext uri="{FF2B5EF4-FFF2-40B4-BE49-F238E27FC236}">
                <a16:creationId xmlns:a16="http://schemas.microsoft.com/office/drawing/2014/main" id="{2FC3C852-49D0-BF4D-9F1F-F53AEA66C34B}"/>
              </a:ext>
            </a:extLst>
          </p:cNvPr>
          <p:cNvPicPr>
            <a:picLocks noGrp="1" noChangeAspect="1"/>
          </p:cNvPicPr>
          <p:nvPr>
            <p:ph sz="half" idx="1"/>
          </p:nvPr>
        </p:nvPicPr>
        <p:blipFill>
          <a:blip r:embed="rId2"/>
          <a:stretch>
            <a:fillRect/>
          </a:stretch>
        </p:blipFill>
        <p:spPr>
          <a:xfrm>
            <a:off x="180559" y="1482916"/>
            <a:ext cx="4022195" cy="3313019"/>
          </a:xfrm>
        </p:spPr>
      </p:pic>
      <p:sp>
        <p:nvSpPr>
          <p:cNvPr id="4" name="Content Placeholder 3">
            <a:extLst>
              <a:ext uri="{FF2B5EF4-FFF2-40B4-BE49-F238E27FC236}">
                <a16:creationId xmlns:a16="http://schemas.microsoft.com/office/drawing/2014/main" id="{A42AC98C-3FFB-CA49-1D0B-F656647C42BB}"/>
              </a:ext>
            </a:extLst>
          </p:cNvPr>
          <p:cNvSpPr>
            <a:spLocks noGrp="1"/>
          </p:cNvSpPr>
          <p:nvPr>
            <p:ph sz="half" idx="2"/>
          </p:nvPr>
        </p:nvSpPr>
        <p:spPr>
          <a:xfrm>
            <a:off x="7427164" y="1380935"/>
            <a:ext cx="4277151" cy="2303244"/>
          </a:xfrm>
          <a:solidFill>
            <a:schemeClr val="accent3">
              <a:lumMod val="20000"/>
              <a:lumOff val="80000"/>
            </a:schemeClr>
          </a:solidFill>
        </p:spPr>
        <p:txBody>
          <a:bodyPr/>
          <a:lstStyle/>
          <a:p>
            <a:pPr marL="342900" indent="-342900">
              <a:buFont typeface="+mj-lt"/>
              <a:buAutoNum type="arabicPeriod" startAt="77"/>
            </a:pPr>
            <a:r>
              <a:rPr lang="en-US" sz="1200" b="1" dirty="0">
                <a:solidFill>
                  <a:schemeClr val="bg2">
                    <a:lumMod val="75000"/>
                  </a:schemeClr>
                </a:solidFill>
              </a:rPr>
              <a:t>Surface clean</a:t>
            </a:r>
          </a:p>
          <a:p>
            <a:pPr marL="342900" indent="-342900">
              <a:buFont typeface="+mj-lt"/>
              <a:buAutoNum type="arabicPeriod" startAt="77"/>
            </a:pPr>
            <a:r>
              <a:rPr lang="en-US" sz="1200" b="1" dirty="0"/>
              <a:t>Passivation deposition</a:t>
            </a:r>
          </a:p>
          <a:p>
            <a:pPr marL="342900" indent="-342900">
              <a:buFont typeface="+mj-lt"/>
              <a:buAutoNum type="arabicPeriod" startAt="77"/>
            </a:pPr>
            <a:r>
              <a:rPr lang="en-US" sz="1200" b="1" dirty="0"/>
              <a:t>Resist spinning</a:t>
            </a:r>
          </a:p>
          <a:p>
            <a:pPr marL="342900" indent="-342900">
              <a:buFont typeface="+mj-lt"/>
              <a:buAutoNum type="arabicPeriod" startAt="77"/>
            </a:pPr>
            <a:r>
              <a:rPr lang="en-US" sz="1200" b="1" dirty="0"/>
              <a:t>Mask 13 exposure (passivation opening)</a:t>
            </a:r>
          </a:p>
          <a:p>
            <a:pPr marL="342900" indent="-342900">
              <a:buFont typeface="+mj-lt"/>
              <a:buAutoNum type="arabicPeriod" startAt="77"/>
            </a:pPr>
            <a:r>
              <a:rPr lang="en-US" sz="1200" b="1" dirty="0"/>
              <a:t>Passivation dry etch</a:t>
            </a:r>
          </a:p>
          <a:p>
            <a:pPr marL="342900" indent="-342900">
              <a:buFont typeface="+mj-lt"/>
              <a:buAutoNum type="arabicPeriod" startAt="77"/>
            </a:pPr>
            <a:r>
              <a:rPr lang="en-US" sz="1200" b="1" dirty="0"/>
              <a:t>Resist strip</a:t>
            </a:r>
          </a:p>
          <a:p>
            <a:pPr marL="342900" indent="-342900">
              <a:buFont typeface="+mj-lt"/>
              <a:buAutoNum type="arabicPeriod" startAt="77"/>
            </a:pPr>
            <a:r>
              <a:rPr lang="en-US" sz="1200" b="1" dirty="0"/>
              <a:t>Final alloy</a:t>
            </a:r>
          </a:p>
        </p:txBody>
      </p:sp>
      <p:sp>
        <p:nvSpPr>
          <p:cNvPr id="5" name="Text Placeholder 4">
            <a:extLst>
              <a:ext uri="{FF2B5EF4-FFF2-40B4-BE49-F238E27FC236}">
                <a16:creationId xmlns:a16="http://schemas.microsoft.com/office/drawing/2014/main" id="{E7F28E5E-8462-39AA-71A5-4DC630C0D905}"/>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AF387B88-DB04-1876-D353-052A0656380C}"/>
              </a:ext>
            </a:extLst>
          </p:cNvPr>
          <p:cNvSpPr>
            <a:spLocks noGrp="1"/>
          </p:cNvSpPr>
          <p:nvPr>
            <p:ph type="body" sz="quarter" idx="10"/>
          </p:nvPr>
        </p:nvSpPr>
        <p:spPr>
          <a:xfrm>
            <a:off x="484631" y="1033272"/>
            <a:ext cx="3812733" cy="347663"/>
          </a:xfrm>
        </p:spPr>
        <p:txBody>
          <a:bodyPr/>
          <a:lstStyle/>
          <a:p>
            <a:endParaRPr lang="en-US" dirty="0"/>
          </a:p>
        </p:txBody>
      </p:sp>
      <p:sp>
        <p:nvSpPr>
          <p:cNvPr id="16" name="TextBox 15">
            <a:extLst>
              <a:ext uri="{FF2B5EF4-FFF2-40B4-BE49-F238E27FC236}">
                <a16:creationId xmlns:a16="http://schemas.microsoft.com/office/drawing/2014/main" id="{2D42C50D-1ED5-1447-CFB7-071324BCA0CE}"/>
              </a:ext>
            </a:extLst>
          </p:cNvPr>
          <p:cNvSpPr txBox="1"/>
          <p:nvPr/>
        </p:nvSpPr>
        <p:spPr>
          <a:xfrm>
            <a:off x="7825581" y="570102"/>
            <a:ext cx="3480319" cy="276999"/>
          </a:xfrm>
          <a:prstGeom prst="rect">
            <a:avLst/>
          </a:prstGeom>
          <a:solidFill>
            <a:schemeClr val="accent6">
              <a:lumMod val="60000"/>
              <a:lumOff val="40000"/>
            </a:schemeClr>
          </a:solidFill>
        </p:spPr>
        <p:txBody>
          <a:bodyPr wrap="square" lIns="0" tIns="0" rIns="0" bIns="0" rtlCol="0">
            <a:spAutoFit/>
          </a:bodyPr>
          <a:lstStyle/>
          <a:p>
            <a:pPr algn="l">
              <a:lnSpc>
                <a:spcPct val="100000"/>
              </a:lnSpc>
            </a:pPr>
            <a:r>
              <a:rPr lang="en-US" sz="1800" dirty="0"/>
              <a:t>Mask counter: 13</a:t>
            </a:r>
          </a:p>
        </p:txBody>
      </p:sp>
      <p:sp>
        <p:nvSpPr>
          <p:cNvPr id="17" name="TextBox 16">
            <a:extLst>
              <a:ext uri="{FF2B5EF4-FFF2-40B4-BE49-F238E27FC236}">
                <a16:creationId xmlns:a16="http://schemas.microsoft.com/office/drawing/2014/main" id="{0CD4F758-D753-4B9D-A9CC-7F9FF9C3924D}"/>
              </a:ext>
            </a:extLst>
          </p:cNvPr>
          <p:cNvSpPr txBox="1"/>
          <p:nvPr/>
        </p:nvSpPr>
        <p:spPr>
          <a:xfrm>
            <a:off x="7427164" y="3995335"/>
            <a:ext cx="4079631" cy="184665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200" dirty="0"/>
              <a:t>A passivation layer (silicon oxide, silicon nitride or organic layers) </a:t>
            </a:r>
            <a:r>
              <a:rPr lang="en-GB" altLang="en-US" sz="1200" dirty="0"/>
              <a:t>is deposited to protect the chip during subsequent handling and act as barrier from contamination</a:t>
            </a:r>
          </a:p>
          <a:p>
            <a:pPr marL="285750" indent="-285750">
              <a:buFont typeface="Arial" panose="020B0604020202020204" pitchFamily="34" charset="0"/>
              <a:buChar char="•"/>
            </a:pPr>
            <a:r>
              <a:rPr lang="en-GB" altLang="en-US" sz="1200" dirty="0"/>
              <a:t>The layer is the patterned to expose the pads for bonding</a:t>
            </a:r>
          </a:p>
          <a:p>
            <a:pPr marL="285750" indent="-285750">
              <a:buFont typeface="Arial" panose="020B0604020202020204" pitchFamily="34" charset="0"/>
              <a:buChar char="•"/>
            </a:pPr>
            <a:r>
              <a:rPr lang="en-GB" altLang="en-US" sz="1200" dirty="0"/>
              <a:t>A final annealing at about 400 C, in H</a:t>
            </a:r>
            <a:r>
              <a:rPr lang="en-GB" altLang="en-US" sz="1200" baseline="-25000" dirty="0"/>
              <a:t>2</a:t>
            </a:r>
            <a:r>
              <a:rPr lang="en-GB" altLang="en-US" sz="1200" dirty="0"/>
              <a:t>/N</a:t>
            </a:r>
            <a:r>
              <a:rPr lang="en-GB" altLang="en-US" sz="1200" baseline="-25000" dirty="0"/>
              <a:t>2</a:t>
            </a:r>
            <a:r>
              <a:rPr lang="en-GB" altLang="en-US" sz="1200" dirty="0"/>
              <a:t> is used to alloy metals and repair defects in active oxides</a:t>
            </a:r>
            <a:endParaRPr lang="en-US" altLang="en-US" sz="1200" dirty="0"/>
          </a:p>
          <a:p>
            <a:pPr marL="285750" indent="-285750" algn="l">
              <a:lnSpc>
                <a:spcPct val="100000"/>
              </a:lnSpc>
              <a:buFont typeface="Arial" panose="020B0604020202020204" pitchFamily="34" charset="0"/>
              <a:buChar char="•"/>
            </a:pPr>
            <a:endParaRPr lang="en-US" sz="1200" dirty="0"/>
          </a:p>
          <a:p>
            <a:pPr marL="285750" indent="-285750" algn="l">
              <a:lnSpc>
                <a:spcPct val="100000"/>
              </a:lnSpc>
              <a:buFont typeface="Arial" panose="020B0604020202020204" pitchFamily="34" charset="0"/>
              <a:buChar char="•"/>
            </a:pPr>
            <a:endParaRPr lang="en-US" sz="1200" dirty="0" err="1"/>
          </a:p>
        </p:txBody>
      </p:sp>
      <p:pic>
        <p:nvPicPr>
          <p:cNvPr id="19" name="Picture 18">
            <a:extLst>
              <a:ext uri="{FF2B5EF4-FFF2-40B4-BE49-F238E27FC236}">
                <a16:creationId xmlns:a16="http://schemas.microsoft.com/office/drawing/2014/main" id="{E514CEB4-63AE-F3B4-9F6E-443F5D8FF6CB}"/>
              </a:ext>
            </a:extLst>
          </p:cNvPr>
          <p:cNvPicPr>
            <a:picLocks noChangeAspect="1"/>
          </p:cNvPicPr>
          <p:nvPr/>
        </p:nvPicPr>
        <p:blipFill>
          <a:blip r:embed="rId3"/>
          <a:stretch>
            <a:fillRect/>
          </a:stretch>
        </p:blipFill>
        <p:spPr>
          <a:xfrm>
            <a:off x="196937" y="1477537"/>
            <a:ext cx="4022195" cy="4563192"/>
          </a:xfrm>
          <a:prstGeom prst="rect">
            <a:avLst/>
          </a:prstGeom>
        </p:spPr>
      </p:pic>
      <p:pic>
        <p:nvPicPr>
          <p:cNvPr id="21" name="Picture 20">
            <a:extLst>
              <a:ext uri="{FF2B5EF4-FFF2-40B4-BE49-F238E27FC236}">
                <a16:creationId xmlns:a16="http://schemas.microsoft.com/office/drawing/2014/main" id="{6D51CEE2-3E4D-30B3-3498-23CA827CDD43}"/>
              </a:ext>
            </a:extLst>
          </p:cNvPr>
          <p:cNvPicPr>
            <a:picLocks noChangeAspect="1"/>
          </p:cNvPicPr>
          <p:nvPr/>
        </p:nvPicPr>
        <p:blipFill>
          <a:blip r:embed="rId4"/>
          <a:stretch>
            <a:fillRect/>
          </a:stretch>
        </p:blipFill>
        <p:spPr>
          <a:xfrm>
            <a:off x="4417436" y="1136975"/>
            <a:ext cx="1998661" cy="2363212"/>
          </a:xfrm>
          <a:prstGeom prst="rect">
            <a:avLst/>
          </a:prstGeom>
        </p:spPr>
      </p:pic>
      <p:pic>
        <p:nvPicPr>
          <p:cNvPr id="23" name="Picture 22">
            <a:extLst>
              <a:ext uri="{FF2B5EF4-FFF2-40B4-BE49-F238E27FC236}">
                <a16:creationId xmlns:a16="http://schemas.microsoft.com/office/drawing/2014/main" id="{36903CD6-208A-205A-9B7D-D362826E7652}"/>
              </a:ext>
            </a:extLst>
          </p:cNvPr>
          <p:cNvPicPr>
            <a:picLocks noChangeAspect="1"/>
          </p:cNvPicPr>
          <p:nvPr/>
        </p:nvPicPr>
        <p:blipFill>
          <a:blip r:embed="rId5"/>
          <a:stretch>
            <a:fillRect/>
          </a:stretch>
        </p:blipFill>
        <p:spPr>
          <a:xfrm>
            <a:off x="4692914" y="3726612"/>
            <a:ext cx="1723183" cy="2370328"/>
          </a:xfrm>
          <a:prstGeom prst="rect">
            <a:avLst/>
          </a:prstGeom>
        </p:spPr>
      </p:pic>
    </p:spTree>
    <p:extLst>
      <p:ext uri="{BB962C8B-B14F-4D97-AF65-F5344CB8AC3E}">
        <p14:creationId xmlns:p14="http://schemas.microsoft.com/office/powerpoint/2010/main" val="18494051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E5001321-C216-9DC8-6EA4-92EF49F701D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a:lnSpc>
                <a:spcPct val="100000"/>
              </a:lnSpc>
              <a:spcBef>
                <a:spcPct val="0"/>
              </a:spcBef>
              <a:buClr>
                <a:srgbClr val="F68933"/>
              </a:buClr>
              <a:buFontTx/>
              <a:buNone/>
            </a:pPr>
            <a:r>
              <a:rPr lang="en-US" altLang="en-US" sz="800"/>
              <a:t>Page </a:t>
            </a:r>
            <a:fld id="{997F1B51-233C-479C-815C-3881BED57D90}" type="slidenum">
              <a:rPr lang="en-US" altLang="en-US" sz="800"/>
              <a:pPr>
                <a:lnSpc>
                  <a:spcPct val="100000"/>
                </a:lnSpc>
                <a:spcBef>
                  <a:spcPct val="0"/>
                </a:spcBef>
                <a:buClr>
                  <a:srgbClr val="F68933"/>
                </a:buClr>
                <a:buFontTx/>
                <a:buNone/>
              </a:pPr>
              <a:t>60</a:t>
            </a:fld>
            <a:endParaRPr lang="en-US" altLang="en-US" sz="800"/>
          </a:p>
        </p:txBody>
      </p:sp>
      <p:sp>
        <p:nvSpPr>
          <p:cNvPr id="54275" name="Rectangle 2">
            <a:extLst>
              <a:ext uri="{FF2B5EF4-FFF2-40B4-BE49-F238E27FC236}">
                <a16:creationId xmlns:a16="http://schemas.microsoft.com/office/drawing/2014/main" id="{8C540A95-E87F-BAFA-9E76-45FA7E0E8224}"/>
              </a:ext>
            </a:extLst>
          </p:cNvPr>
          <p:cNvSpPr>
            <a:spLocks noGrp="1" noChangeArrowheads="1"/>
          </p:cNvSpPr>
          <p:nvPr>
            <p:ph type="title"/>
          </p:nvPr>
        </p:nvSpPr>
        <p:spPr/>
        <p:txBody>
          <a:bodyPr/>
          <a:lstStyle/>
          <a:p>
            <a:pPr eaLnBrk="1" hangingPunct="1"/>
            <a:r>
              <a:rPr lang="en-GB" altLang="en-US"/>
              <a:t>Some real transistors</a:t>
            </a:r>
            <a:endParaRPr lang="en-US" altLang="en-US"/>
          </a:p>
        </p:txBody>
      </p:sp>
      <p:pic>
        <p:nvPicPr>
          <p:cNvPr id="54276" name="Picture 4">
            <a:extLst>
              <a:ext uri="{FF2B5EF4-FFF2-40B4-BE49-F238E27FC236}">
                <a16:creationId xmlns:a16="http://schemas.microsoft.com/office/drawing/2014/main" id="{C93D93AB-7596-4FC6-B40C-4C0EFB688B46}"/>
              </a:ext>
            </a:extLst>
          </p:cNvPr>
          <p:cNvPicPr>
            <a:picLocks noChangeAspect="1" noChangeArrowheads="1"/>
          </p:cNvPicPr>
          <p:nvPr/>
        </p:nvPicPr>
        <p:blipFill>
          <a:blip r:embed="rId2">
            <a:lum bright="-12000" contrast="54000"/>
            <a:extLst>
              <a:ext uri="{28A0092B-C50C-407E-A947-70E740481C1C}">
                <a14:useLocalDpi xmlns:a14="http://schemas.microsoft.com/office/drawing/2010/main" val="0"/>
              </a:ext>
            </a:extLst>
          </a:blip>
          <a:srcRect/>
          <a:stretch>
            <a:fillRect/>
          </a:stretch>
        </p:blipFill>
        <p:spPr bwMode="auto">
          <a:xfrm>
            <a:off x="2052639" y="1035051"/>
            <a:ext cx="7254875"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270342" name="Text Box 6">
            <a:extLst>
              <a:ext uri="{FF2B5EF4-FFF2-40B4-BE49-F238E27FC236}">
                <a16:creationId xmlns:a16="http://schemas.microsoft.com/office/drawing/2014/main" id="{48965067-7C1F-5B60-E19F-4BB7520488CB}"/>
              </a:ext>
            </a:extLst>
          </p:cNvPr>
          <p:cNvSpPr txBox="1">
            <a:spLocks noChangeArrowheads="1"/>
          </p:cNvSpPr>
          <p:nvPr/>
        </p:nvSpPr>
        <p:spPr bwMode="auto">
          <a:xfrm>
            <a:off x="2405064" y="5781675"/>
            <a:ext cx="2073275" cy="29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dirty="0"/>
              <a:t>Silicon substrate</a:t>
            </a:r>
            <a:endParaRPr lang="en-US" altLang="en-US" sz="1400" b="1" dirty="0"/>
          </a:p>
        </p:txBody>
      </p:sp>
      <p:grpSp>
        <p:nvGrpSpPr>
          <p:cNvPr id="2" name="Group 15">
            <a:extLst>
              <a:ext uri="{FF2B5EF4-FFF2-40B4-BE49-F238E27FC236}">
                <a16:creationId xmlns:a16="http://schemas.microsoft.com/office/drawing/2014/main" id="{0E8213B7-CA80-1476-0496-592298A12C24}"/>
              </a:ext>
            </a:extLst>
          </p:cNvPr>
          <p:cNvGrpSpPr>
            <a:grpSpLocks/>
          </p:cNvGrpSpPr>
          <p:nvPr/>
        </p:nvGrpSpPr>
        <p:grpSpPr bwMode="auto">
          <a:xfrm>
            <a:off x="5589589" y="4881563"/>
            <a:ext cx="2433637" cy="1154112"/>
            <a:chOff x="2561" y="3075"/>
            <a:chExt cx="1533" cy="727"/>
          </a:xfrm>
        </p:grpSpPr>
        <p:sp>
          <p:nvSpPr>
            <p:cNvPr id="54296" name="Oval 7">
              <a:extLst>
                <a:ext uri="{FF2B5EF4-FFF2-40B4-BE49-F238E27FC236}">
                  <a16:creationId xmlns:a16="http://schemas.microsoft.com/office/drawing/2014/main" id="{29B958AA-E01F-5069-C2A8-E5CCC114739C}"/>
                </a:ext>
              </a:extLst>
            </p:cNvPr>
            <p:cNvSpPr>
              <a:spLocks noChangeArrowheads="1"/>
            </p:cNvSpPr>
            <p:nvPr/>
          </p:nvSpPr>
          <p:spPr bwMode="auto">
            <a:xfrm>
              <a:off x="2561" y="3333"/>
              <a:ext cx="463" cy="174"/>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buFont typeface="Times" panose="02020603050405020304" pitchFamily="18" charset="0"/>
                <a:buNone/>
              </a:pPr>
              <a:endParaRPr lang="en-US" altLang="en-US" sz="2000"/>
            </a:p>
          </p:txBody>
        </p:sp>
        <p:sp>
          <p:nvSpPr>
            <p:cNvPr id="54297" name="Oval 8">
              <a:extLst>
                <a:ext uri="{FF2B5EF4-FFF2-40B4-BE49-F238E27FC236}">
                  <a16:creationId xmlns:a16="http://schemas.microsoft.com/office/drawing/2014/main" id="{93758C39-E05C-DF5A-9932-5658DA8E8CB9}"/>
                </a:ext>
              </a:extLst>
            </p:cNvPr>
            <p:cNvSpPr>
              <a:spLocks noChangeArrowheads="1"/>
            </p:cNvSpPr>
            <p:nvPr/>
          </p:nvSpPr>
          <p:spPr bwMode="auto">
            <a:xfrm>
              <a:off x="3734" y="3343"/>
              <a:ext cx="360" cy="206"/>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buFont typeface="Times" panose="02020603050405020304" pitchFamily="18" charset="0"/>
                <a:buNone/>
              </a:pPr>
              <a:endParaRPr lang="en-US" altLang="en-US" sz="2000"/>
            </a:p>
          </p:txBody>
        </p:sp>
        <p:sp>
          <p:nvSpPr>
            <p:cNvPr id="54298" name="Oval 9">
              <a:extLst>
                <a:ext uri="{FF2B5EF4-FFF2-40B4-BE49-F238E27FC236}">
                  <a16:creationId xmlns:a16="http://schemas.microsoft.com/office/drawing/2014/main" id="{5F0A890C-57C7-6687-4C03-7878C93B8632}"/>
                </a:ext>
              </a:extLst>
            </p:cNvPr>
            <p:cNvSpPr>
              <a:spLocks noChangeArrowheads="1"/>
            </p:cNvSpPr>
            <p:nvPr/>
          </p:nvSpPr>
          <p:spPr bwMode="auto">
            <a:xfrm>
              <a:off x="3034" y="3075"/>
              <a:ext cx="659" cy="206"/>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buFont typeface="Times" panose="02020603050405020304" pitchFamily="18" charset="0"/>
                <a:buNone/>
              </a:pPr>
              <a:endParaRPr lang="en-US" altLang="en-US" sz="2000"/>
            </a:p>
          </p:txBody>
        </p:sp>
        <p:sp>
          <p:nvSpPr>
            <p:cNvPr id="54299" name="Line 10">
              <a:extLst>
                <a:ext uri="{FF2B5EF4-FFF2-40B4-BE49-F238E27FC236}">
                  <a16:creationId xmlns:a16="http://schemas.microsoft.com/office/drawing/2014/main" id="{D13F6F04-9CDE-3EF6-7C7A-B15D2FC8FF41}"/>
                </a:ext>
              </a:extLst>
            </p:cNvPr>
            <p:cNvSpPr>
              <a:spLocks noChangeShapeType="1"/>
            </p:cNvSpPr>
            <p:nvPr/>
          </p:nvSpPr>
          <p:spPr bwMode="auto">
            <a:xfrm flipH="1" flipV="1">
              <a:off x="2891" y="3497"/>
              <a:ext cx="298" cy="17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54300" name="Text Box 11">
              <a:extLst>
                <a:ext uri="{FF2B5EF4-FFF2-40B4-BE49-F238E27FC236}">
                  <a16:creationId xmlns:a16="http://schemas.microsoft.com/office/drawing/2014/main" id="{7BE4DDC5-44C0-6890-6501-66F97FE222B0}"/>
                </a:ext>
              </a:extLst>
            </p:cNvPr>
            <p:cNvSpPr txBox="1">
              <a:spLocks noChangeArrowheads="1"/>
            </p:cNvSpPr>
            <p:nvPr/>
          </p:nvSpPr>
          <p:spPr bwMode="auto">
            <a:xfrm>
              <a:off x="3182" y="3596"/>
              <a:ext cx="399" cy="206"/>
            </a:xfrm>
            <a:prstGeom prst="rect">
              <a:avLst/>
            </a:prstGeom>
            <a:noFill/>
            <a:ln w="28575" algn="ctr">
              <a:solidFill>
                <a:srgbClr val="646464"/>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buFont typeface="Times" panose="02020603050405020304" pitchFamily="18" charset="0"/>
                <a:buNone/>
              </a:pPr>
              <a:r>
                <a:rPr lang="en-GB" altLang="en-US" sz="1600" b="1" dirty="0"/>
                <a:t>TiSi</a:t>
              </a:r>
              <a:r>
                <a:rPr lang="en-GB" altLang="en-US" sz="1600" b="1" baseline="-25000" dirty="0"/>
                <a:t>2</a:t>
              </a:r>
              <a:endParaRPr lang="en-US" altLang="en-US" sz="1600" b="1" dirty="0"/>
            </a:p>
          </p:txBody>
        </p:sp>
        <p:sp>
          <p:nvSpPr>
            <p:cNvPr id="54301" name="Line 13">
              <a:extLst>
                <a:ext uri="{FF2B5EF4-FFF2-40B4-BE49-F238E27FC236}">
                  <a16:creationId xmlns:a16="http://schemas.microsoft.com/office/drawing/2014/main" id="{0A6A3626-DE2B-F7E2-3C3E-264111EA4376}"/>
                </a:ext>
              </a:extLst>
            </p:cNvPr>
            <p:cNvSpPr>
              <a:spLocks noChangeShapeType="1"/>
            </p:cNvSpPr>
            <p:nvPr/>
          </p:nvSpPr>
          <p:spPr bwMode="auto">
            <a:xfrm flipH="1" flipV="1">
              <a:off x="3333" y="3261"/>
              <a:ext cx="61" cy="329"/>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54302" name="Line 14">
              <a:extLst>
                <a:ext uri="{FF2B5EF4-FFF2-40B4-BE49-F238E27FC236}">
                  <a16:creationId xmlns:a16="http://schemas.microsoft.com/office/drawing/2014/main" id="{5AEB6B28-CC66-8880-B000-6D8BB007A7AB}"/>
                </a:ext>
              </a:extLst>
            </p:cNvPr>
            <p:cNvSpPr>
              <a:spLocks noChangeShapeType="1"/>
            </p:cNvSpPr>
            <p:nvPr/>
          </p:nvSpPr>
          <p:spPr bwMode="auto">
            <a:xfrm flipV="1">
              <a:off x="3590" y="3405"/>
              <a:ext cx="308" cy="18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sp>
        <p:nvSpPr>
          <p:cNvPr id="270352" name="Text Box 16">
            <a:extLst>
              <a:ext uri="{FF2B5EF4-FFF2-40B4-BE49-F238E27FC236}">
                <a16:creationId xmlns:a16="http://schemas.microsoft.com/office/drawing/2014/main" id="{D4083BCC-D18C-B4F5-F4EF-F5328126027D}"/>
              </a:ext>
            </a:extLst>
          </p:cNvPr>
          <p:cNvSpPr txBox="1">
            <a:spLocks noChangeArrowheads="1"/>
          </p:cNvSpPr>
          <p:nvPr/>
        </p:nvSpPr>
        <p:spPr bwMode="auto">
          <a:xfrm>
            <a:off x="5971660" y="4379214"/>
            <a:ext cx="1255712" cy="306388"/>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a:t>Poly-Si gate</a:t>
            </a:r>
            <a:endParaRPr lang="en-US" altLang="en-US" sz="1400" b="1"/>
          </a:p>
        </p:txBody>
      </p:sp>
      <p:sp>
        <p:nvSpPr>
          <p:cNvPr id="270353" name="Line 17">
            <a:extLst>
              <a:ext uri="{FF2B5EF4-FFF2-40B4-BE49-F238E27FC236}">
                <a16:creationId xmlns:a16="http://schemas.microsoft.com/office/drawing/2014/main" id="{589BBC93-6835-FA74-C8D8-B53584D6AFB5}"/>
              </a:ext>
            </a:extLst>
          </p:cNvPr>
          <p:cNvSpPr>
            <a:spLocks noChangeShapeType="1"/>
          </p:cNvSpPr>
          <p:nvPr/>
        </p:nvSpPr>
        <p:spPr bwMode="auto">
          <a:xfrm>
            <a:off x="6391103" y="4611747"/>
            <a:ext cx="244475" cy="45720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dirty="0"/>
          </a:p>
        </p:txBody>
      </p:sp>
      <p:sp>
        <p:nvSpPr>
          <p:cNvPr id="270354" name="Text Box 18">
            <a:extLst>
              <a:ext uri="{FF2B5EF4-FFF2-40B4-BE49-F238E27FC236}">
                <a16:creationId xmlns:a16="http://schemas.microsoft.com/office/drawing/2014/main" id="{827B5C25-1177-FE5D-B5CB-8B8D6A647BBB}"/>
              </a:ext>
            </a:extLst>
          </p:cNvPr>
          <p:cNvSpPr txBox="1">
            <a:spLocks noChangeArrowheads="1"/>
          </p:cNvSpPr>
          <p:nvPr/>
        </p:nvSpPr>
        <p:spPr bwMode="auto">
          <a:xfrm>
            <a:off x="6965950" y="4202114"/>
            <a:ext cx="946150" cy="306387"/>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a:t>Spacers</a:t>
            </a:r>
            <a:endParaRPr lang="en-US" altLang="en-US" sz="1400" b="1"/>
          </a:p>
        </p:txBody>
      </p:sp>
      <p:sp>
        <p:nvSpPr>
          <p:cNvPr id="270355" name="Line 19">
            <a:extLst>
              <a:ext uri="{FF2B5EF4-FFF2-40B4-BE49-F238E27FC236}">
                <a16:creationId xmlns:a16="http://schemas.microsoft.com/office/drawing/2014/main" id="{3A170ABD-D4CA-F5DC-3C60-4A7A7B3C4D58}"/>
              </a:ext>
            </a:extLst>
          </p:cNvPr>
          <p:cNvSpPr>
            <a:spLocks noChangeShapeType="1"/>
          </p:cNvSpPr>
          <p:nvPr/>
        </p:nvSpPr>
        <p:spPr bwMode="auto">
          <a:xfrm flipH="1">
            <a:off x="6324601" y="4556126"/>
            <a:ext cx="1012825" cy="620713"/>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56" name="Line 20">
            <a:extLst>
              <a:ext uri="{FF2B5EF4-FFF2-40B4-BE49-F238E27FC236}">
                <a16:creationId xmlns:a16="http://schemas.microsoft.com/office/drawing/2014/main" id="{E445850F-472D-8355-C3F6-8346ADD34B31}"/>
              </a:ext>
            </a:extLst>
          </p:cNvPr>
          <p:cNvSpPr>
            <a:spLocks noChangeShapeType="1"/>
          </p:cNvSpPr>
          <p:nvPr/>
        </p:nvSpPr>
        <p:spPr bwMode="auto">
          <a:xfrm>
            <a:off x="7451725" y="4538663"/>
            <a:ext cx="0" cy="620712"/>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57" name="Text Box 21">
            <a:extLst>
              <a:ext uri="{FF2B5EF4-FFF2-40B4-BE49-F238E27FC236}">
                <a16:creationId xmlns:a16="http://schemas.microsoft.com/office/drawing/2014/main" id="{108D96B4-D006-3AA1-11D0-836ACDFDDB2F}"/>
              </a:ext>
            </a:extLst>
          </p:cNvPr>
          <p:cNvSpPr txBox="1">
            <a:spLocks noChangeArrowheads="1"/>
          </p:cNvSpPr>
          <p:nvPr/>
        </p:nvSpPr>
        <p:spPr bwMode="auto">
          <a:xfrm>
            <a:off x="3467101" y="4751389"/>
            <a:ext cx="1012825" cy="306387"/>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dirty="0"/>
              <a:t>Contacts</a:t>
            </a:r>
            <a:endParaRPr lang="en-US" altLang="en-US" sz="1400" b="1" dirty="0"/>
          </a:p>
        </p:txBody>
      </p:sp>
      <p:sp>
        <p:nvSpPr>
          <p:cNvPr id="270358" name="Line 22">
            <a:extLst>
              <a:ext uri="{FF2B5EF4-FFF2-40B4-BE49-F238E27FC236}">
                <a16:creationId xmlns:a16="http://schemas.microsoft.com/office/drawing/2014/main" id="{CE38B372-D719-2CA6-53B8-566F48212984}"/>
              </a:ext>
            </a:extLst>
          </p:cNvPr>
          <p:cNvSpPr>
            <a:spLocks noChangeShapeType="1"/>
          </p:cNvSpPr>
          <p:nvPr/>
        </p:nvSpPr>
        <p:spPr bwMode="auto">
          <a:xfrm flipV="1">
            <a:off x="4462464" y="4522789"/>
            <a:ext cx="376237" cy="21272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59" name="Line 23">
            <a:extLst>
              <a:ext uri="{FF2B5EF4-FFF2-40B4-BE49-F238E27FC236}">
                <a16:creationId xmlns:a16="http://schemas.microsoft.com/office/drawing/2014/main" id="{AA4C5F09-D67C-A3C8-D39D-9A0B805FF1B0}"/>
              </a:ext>
            </a:extLst>
          </p:cNvPr>
          <p:cNvSpPr>
            <a:spLocks noChangeShapeType="1"/>
          </p:cNvSpPr>
          <p:nvPr/>
        </p:nvSpPr>
        <p:spPr bwMode="auto">
          <a:xfrm flipH="1" flipV="1">
            <a:off x="3319463" y="4522789"/>
            <a:ext cx="360362" cy="24447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60" name="Text Box 24">
            <a:extLst>
              <a:ext uri="{FF2B5EF4-FFF2-40B4-BE49-F238E27FC236}">
                <a16:creationId xmlns:a16="http://schemas.microsoft.com/office/drawing/2014/main" id="{DF6AD6E6-9986-88FC-D924-5D0F04624325}"/>
              </a:ext>
            </a:extLst>
          </p:cNvPr>
          <p:cNvSpPr txBox="1">
            <a:spLocks noChangeArrowheads="1"/>
          </p:cNvSpPr>
          <p:nvPr/>
        </p:nvSpPr>
        <p:spPr bwMode="auto">
          <a:xfrm>
            <a:off x="2525713" y="3429000"/>
            <a:ext cx="800100" cy="306388"/>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a:t>Metal1</a:t>
            </a:r>
            <a:endParaRPr lang="en-US" altLang="en-US" sz="1400" b="1"/>
          </a:p>
        </p:txBody>
      </p:sp>
      <p:sp>
        <p:nvSpPr>
          <p:cNvPr id="270361" name="Line 25">
            <a:extLst>
              <a:ext uri="{FF2B5EF4-FFF2-40B4-BE49-F238E27FC236}">
                <a16:creationId xmlns:a16="http://schemas.microsoft.com/office/drawing/2014/main" id="{45004A49-7F68-A10B-8FF9-57FD5D200A7D}"/>
              </a:ext>
            </a:extLst>
          </p:cNvPr>
          <p:cNvSpPr>
            <a:spLocks noChangeShapeType="1"/>
          </p:cNvSpPr>
          <p:nvPr/>
        </p:nvSpPr>
        <p:spPr bwMode="auto">
          <a:xfrm>
            <a:off x="3254376" y="3673475"/>
            <a:ext cx="1241425" cy="31115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62" name="Line 26">
            <a:extLst>
              <a:ext uri="{FF2B5EF4-FFF2-40B4-BE49-F238E27FC236}">
                <a16:creationId xmlns:a16="http://schemas.microsoft.com/office/drawing/2014/main" id="{8F280BA5-860F-199A-11F9-F2D65F600C6D}"/>
              </a:ext>
            </a:extLst>
          </p:cNvPr>
          <p:cNvSpPr>
            <a:spLocks noChangeShapeType="1"/>
          </p:cNvSpPr>
          <p:nvPr/>
        </p:nvSpPr>
        <p:spPr bwMode="auto">
          <a:xfrm>
            <a:off x="2868613" y="3678238"/>
            <a:ext cx="539750" cy="328612"/>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63" name="Text Box 27">
            <a:extLst>
              <a:ext uri="{FF2B5EF4-FFF2-40B4-BE49-F238E27FC236}">
                <a16:creationId xmlns:a16="http://schemas.microsoft.com/office/drawing/2014/main" id="{FB9EA0EA-AF3B-946D-98F8-6A798C3F2364}"/>
              </a:ext>
            </a:extLst>
          </p:cNvPr>
          <p:cNvSpPr txBox="1">
            <a:spLocks noChangeArrowheads="1"/>
          </p:cNvSpPr>
          <p:nvPr/>
        </p:nvSpPr>
        <p:spPr bwMode="auto">
          <a:xfrm>
            <a:off x="2678113" y="2279650"/>
            <a:ext cx="800100" cy="306388"/>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a:t>Metal2</a:t>
            </a:r>
            <a:endParaRPr lang="en-US" altLang="en-US" sz="1400" b="1"/>
          </a:p>
        </p:txBody>
      </p:sp>
      <p:sp>
        <p:nvSpPr>
          <p:cNvPr id="270365" name="Line 29">
            <a:extLst>
              <a:ext uri="{FF2B5EF4-FFF2-40B4-BE49-F238E27FC236}">
                <a16:creationId xmlns:a16="http://schemas.microsoft.com/office/drawing/2014/main" id="{6E805CAE-A9F7-7B03-19B4-AC48A5B9117A}"/>
              </a:ext>
            </a:extLst>
          </p:cNvPr>
          <p:cNvSpPr>
            <a:spLocks noChangeShapeType="1"/>
          </p:cNvSpPr>
          <p:nvPr/>
        </p:nvSpPr>
        <p:spPr bwMode="auto">
          <a:xfrm>
            <a:off x="3021013" y="2592388"/>
            <a:ext cx="539750" cy="328612"/>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66" name="Text Box 30">
            <a:extLst>
              <a:ext uri="{FF2B5EF4-FFF2-40B4-BE49-F238E27FC236}">
                <a16:creationId xmlns:a16="http://schemas.microsoft.com/office/drawing/2014/main" id="{4881ECD7-3DC9-0714-82A9-AE280DE03D29}"/>
              </a:ext>
            </a:extLst>
          </p:cNvPr>
          <p:cNvSpPr txBox="1">
            <a:spLocks noChangeArrowheads="1"/>
          </p:cNvSpPr>
          <p:nvPr/>
        </p:nvSpPr>
        <p:spPr bwMode="auto">
          <a:xfrm>
            <a:off x="6324600" y="3122614"/>
            <a:ext cx="800100" cy="306387"/>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a:t>Vias</a:t>
            </a:r>
            <a:endParaRPr lang="en-US" altLang="en-US" sz="1400" b="1"/>
          </a:p>
        </p:txBody>
      </p:sp>
      <p:sp>
        <p:nvSpPr>
          <p:cNvPr id="270367" name="Line 31">
            <a:extLst>
              <a:ext uri="{FF2B5EF4-FFF2-40B4-BE49-F238E27FC236}">
                <a16:creationId xmlns:a16="http://schemas.microsoft.com/office/drawing/2014/main" id="{C1F5CD39-1833-1551-0C95-0B9633897C25}"/>
              </a:ext>
            </a:extLst>
          </p:cNvPr>
          <p:cNvSpPr>
            <a:spLocks noChangeShapeType="1"/>
          </p:cNvSpPr>
          <p:nvPr/>
        </p:nvSpPr>
        <p:spPr bwMode="auto">
          <a:xfrm flipH="1">
            <a:off x="5051426" y="3119438"/>
            <a:ext cx="1306513" cy="309562"/>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0368" name="Line 32">
            <a:extLst>
              <a:ext uri="{FF2B5EF4-FFF2-40B4-BE49-F238E27FC236}">
                <a16:creationId xmlns:a16="http://schemas.microsoft.com/office/drawing/2014/main" id="{8861B195-A15D-D3CC-C853-B0EA1A5BF54C}"/>
              </a:ext>
            </a:extLst>
          </p:cNvPr>
          <p:cNvSpPr>
            <a:spLocks noChangeShapeType="1"/>
          </p:cNvSpPr>
          <p:nvPr/>
        </p:nvSpPr>
        <p:spPr bwMode="auto">
          <a:xfrm>
            <a:off x="7140575" y="3135314"/>
            <a:ext cx="1568450" cy="293687"/>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6" name="Text Box 6">
            <a:extLst>
              <a:ext uri="{FF2B5EF4-FFF2-40B4-BE49-F238E27FC236}">
                <a16:creationId xmlns:a16="http://schemas.microsoft.com/office/drawing/2014/main" id="{ADDA386D-3DB1-5204-E14C-3DA9FCD64C36}"/>
              </a:ext>
            </a:extLst>
          </p:cNvPr>
          <p:cNvSpPr txBox="1">
            <a:spLocks noChangeArrowheads="1"/>
          </p:cNvSpPr>
          <p:nvPr/>
        </p:nvSpPr>
        <p:spPr bwMode="auto">
          <a:xfrm>
            <a:off x="3813877" y="5411646"/>
            <a:ext cx="2073275" cy="29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1400" b="1" dirty="0"/>
              <a:t>STI</a:t>
            </a:r>
            <a:endParaRPr lang="en-US" altLang="en-US" sz="14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03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03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035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035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703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03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035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2703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035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035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2703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036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036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27036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703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036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27036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70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2" grpId="0"/>
      <p:bldP spid="270352" grpId="0" animBg="1"/>
      <p:bldP spid="270354" grpId="0" animBg="1"/>
      <p:bldP spid="270354" grpId="1" animBg="1"/>
      <p:bldP spid="270357" grpId="0" animBg="1"/>
      <p:bldP spid="270360" grpId="0" animBg="1"/>
      <p:bldP spid="270363" grpId="0" animBg="1"/>
      <p:bldP spid="270366" grpId="0" animBg="1"/>
      <p:bldP spid="6" grpId="0"/>
      <p:bldP spid="6"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a:extLst>
              <a:ext uri="{FF2B5EF4-FFF2-40B4-BE49-F238E27FC236}">
                <a16:creationId xmlns:a16="http://schemas.microsoft.com/office/drawing/2014/main" id="{83D4437A-5F55-54E1-F659-11FBCF7AFC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a:lnSpc>
                <a:spcPct val="100000"/>
              </a:lnSpc>
              <a:spcBef>
                <a:spcPct val="0"/>
              </a:spcBef>
              <a:buClr>
                <a:srgbClr val="F68933"/>
              </a:buClr>
              <a:buFontTx/>
              <a:buNone/>
            </a:pPr>
            <a:r>
              <a:rPr lang="en-US" altLang="en-US" sz="800"/>
              <a:t>Page </a:t>
            </a:r>
            <a:fld id="{E2335F62-2BF9-40A7-9F6F-6AE12F74AE48}" type="slidenum">
              <a:rPr lang="en-US" altLang="en-US" sz="800"/>
              <a:pPr>
                <a:lnSpc>
                  <a:spcPct val="100000"/>
                </a:lnSpc>
                <a:spcBef>
                  <a:spcPct val="0"/>
                </a:spcBef>
                <a:buClr>
                  <a:srgbClr val="F68933"/>
                </a:buClr>
                <a:buFontTx/>
                <a:buNone/>
              </a:pPr>
              <a:t>61</a:t>
            </a:fld>
            <a:endParaRPr lang="en-US" altLang="en-US" sz="800"/>
          </a:p>
        </p:txBody>
      </p:sp>
      <p:sp>
        <p:nvSpPr>
          <p:cNvPr id="55299" name="Rectangle 2">
            <a:extLst>
              <a:ext uri="{FF2B5EF4-FFF2-40B4-BE49-F238E27FC236}">
                <a16:creationId xmlns:a16="http://schemas.microsoft.com/office/drawing/2014/main" id="{A9D89A08-941D-1E62-1D9C-61EE5DCFFDF2}"/>
              </a:ext>
            </a:extLst>
          </p:cNvPr>
          <p:cNvSpPr>
            <a:spLocks noGrp="1" noChangeArrowheads="1"/>
          </p:cNvSpPr>
          <p:nvPr>
            <p:ph type="title"/>
          </p:nvPr>
        </p:nvSpPr>
        <p:spPr/>
        <p:txBody>
          <a:bodyPr/>
          <a:lstStyle/>
          <a:p>
            <a:pPr eaLnBrk="1" hangingPunct="1"/>
            <a:r>
              <a:rPr lang="en-GB" altLang="en-US"/>
              <a:t>Some real multi-layer metals</a:t>
            </a:r>
            <a:endParaRPr lang="en-US" altLang="en-US"/>
          </a:p>
        </p:txBody>
      </p:sp>
      <p:pic>
        <p:nvPicPr>
          <p:cNvPr id="55301" name="Picture 5">
            <a:extLst>
              <a:ext uri="{FF2B5EF4-FFF2-40B4-BE49-F238E27FC236}">
                <a16:creationId xmlns:a16="http://schemas.microsoft.com/office/drawing/2014/main" id="{4ED3CB39-9BDB-57E8-2674-E7FBB7491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722" y="1219200"/>
            <a:ext cx="8148278" cy="513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55303" name="Text Box 7">
            <a:extLst>
              <a:ext uri="{FF2B5EF4-FFF2-40B4-BE49-F238E27FC236}">
                <a16:creationId xmlns:a16="http://schemas.microsoft.com/office/drawing/2014/main" id="{CD3312B6-CE74-1760-229A-397AAFE2D700}"/>
              </a:ext>
            </a:extLst>
          </p:cNvPr>
          <p:cNvSpPr txBox="1">
            <a:spLocks noChangeArrowheads="1"/>
          </p:cNvSpPr>
          <p:nvPr/>
        </p:nvSpPr>
        <p:spPr bwMode="auto">
          <a:xfrm>
            <a:off x="61912" y="926592"/>
            <a:ext cx="2924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ＭＳ Ｐゴシック"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Font typeface="Times" panose="02020603050405020304" pitchFamily="18" charset="0"/>
              <a:buNone/>
            </a:pPr>
            <a:r>
              <a:rPr lang="en-GB" altLang="en-US" sz="2000" b="1" dirty="0"/>
              <a:t>Intel 32 nm process</a:t>
            </a:r>
            <a:endParaRPr lang="en-US" altLang="en-US" sz="2000" b="1" dirty="0"/>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2.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52</TotalTime>
  <Words>4086</Words>
  <Application>Microsoft Office PowerPoint</Application>
  <PresentationFormat>Widescreen</PresentationFormat>
  <Paragraphs>974</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Symbol</vt:lpstr>
      <vt:lpstr>Times</vt:lpstr>
      <vt:lpstr>Verdana</vt:lpstr>
      <vt:lpstr>Wingdings</vt:lpstr>
      <vt:lpstr>Micron</vt:lpstr>
      <vt:lpstr>CMOS process flow</vt:lpstr>
      <vt:lpstr>Outline</vt:lpstr>
      <vt:lpstr>Process flow slide structure</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Shallow Trench Isolation (STI)</vt:lpstr>
      <vt:lpstr>P-well</vt:lpstr>
      <vt:lpstr>P-well</vt:lpstr>
      <vt:lpstr>P-well</vt:lpstr>
      <vt:lpstr>n-well</vt:lpstr>
      <vt:lpstr>n-well</vt:lpstr>
      <vt:lpstr>Gate formation</vt:lpstr>
      <vt:lpstr>Gate formation</vt:lpstr>
      <vt:lpstr>Gate formation</vt:lpstr>
      <vt:lpstr>Gate formation</vt:lpstr>
      <vt:lpstr>Gate formation</vt:lpstr>
      <vt:lpstr>Gate formation</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LDD: Lightly doped drain (graded junctions)</vt:lpstr>
      <vt:lpstr>Local interconnections</vt:lpstr>
      <vt:lpstr>Local interconnections</vt:lpstr>
      <vt:lpstr>Local interconnections</vt:lpstr>
      <vt:lpstr>Local interconnections</vt:lpstr>
      <vt:lpstr>Contacts</vt:lpstr>
      <vt:lpstr>Contacts</vt:lpstr>
      <vt:lpstr>Contacts</vt:lpstr>
      <vt:lpstr>Contacts</vt:lpstr>
      <vt:lpstr>Contacts</vt:lpstr>
      <vt:lpstr>Contacts</vt:lpstr>
      <vt:lpstr>Contacts</vt:lpstr>
      <vt:lpstr>Contacts</vt:lpstr>
      <vt:lpstr>Multi level metals: metal 1</vt:lpstr>
      <vt:lpstr>Multi level metals: vias 1</vt:lpstr>
      <vt:lpstr>Multi level metals: vias 1</vt:lpstr>
      <vt:lpstr>Multi level metals: bonding pads</vt:lpstr>
      <vt:lpstr>Passivation and pad opening</vt:lpstr>
      <vt:lpstr>Some real transistors</vt:lpstr>
      <vt:lpstr>Some real multi-layer metals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1</cp:revision>
  <dcterms:created xsi:type="dcterms:W3CDTF">2025-02-14T08:32:36Z</dcterms:created>
  <dcterms:modified xsi:type="dcterms:W3CDTF">2025-02-14T09:54:17Z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2025-02-14T09:54:16Z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5278324e-89ba-4313-ba6b-18e014692859</vt:lpwstr>
  </property>
  <property fmtid="{D5CDD505-2E9C-101B-9397-08002B2CF9AE}" pid="17" name="MSIP_Label_6fdea275-d6f3-438f-b8d8-013cab2023d3_ContentBits">
    <vt:lpwstr>0</vt:lpwstr>
  </property>
</Properties>
</file>